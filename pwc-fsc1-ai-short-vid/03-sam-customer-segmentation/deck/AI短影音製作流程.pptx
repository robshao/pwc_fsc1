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7"/>
  </p:notesMasterIdLst>
  <p:sldIdLst>
    <p:sldId id="261" r:id="rId5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267" autoAdjust="0"/>
  </p:normalViewPr>
  <p:slideViewPr>
    <p:cSldViewPr snapToGrid="0">
      <p:cViewPr varScale="1">
        <p:scale>
          <a:sx n="105" d="100"/>
          <a:sy n="105" d="100"/>
        </p:scale>
        <p:origin x="720" y="336"/>
      </p:cViewPr>
      <p:guideLst/>
    </p:cSldViewPr>
  </p:slideViewPr>
  <p:outlineViewPr>
    <p:cViewPr>
      <p:scale>
        <a:sx n="33" d="100"/>
        <a:sy n="33" d="100"/>
      </p:scale>
      <p:origin x="-64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1" d="100"/>
        <a:sy n="21" d="100"/>
      </p:scale>
      <p:origin x="0" y="-219"/>
    </p:cViewPr>
  </p:sorterViewPr>
  <p:notesViewPr>
    <p:cSldViewPr snapToGrid="0">
      <p:cViewPr varScale="1">
        <p:scale>
          <a:sx n="65" d="100"/>
          <a:sy n="65" d="100"/>
        </p:scale>
        <p:origin x="2565" y="3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10/11/2026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這份簡報整理我們做客戶分層樣片的完整流程：流程可以標準化成 7 個步驟；第一支約 2.5 個工作天，之後沿用角色、場景與後製模板可縮短到 1–1.5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由左到右：前三步是文字工作，決定故事好不好；第四、五步交給 AI 生成畫面與影片；第六、七步是後製與審查。橘色虛線是修改回圈，這支片共跑了 11 個版本。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這是估計值，不是精確工時紀錄。最花時間的是第五到第七步：AI 生成常要重來，後製的字幕對齊和轉場也要來回調。第二支起沿用角色、場景與後製模板，約可省一半。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這六個都是這支片真的遇到的問題。前三個寫進提示詞範本，在生成階段預防；後三個是後製的標準做法。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下一支片只要先確認這五項，就能直接從劇本和分鏡開始。第五項最能省時間：已經做好的顧問角色和場景都可以直接沿用。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cover image</a:t>
            </a:r>
          </a:p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 dirty="0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8181" y="781004"/>
            <a:ext cx="5670320" cy="3219495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22340" y="781329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491579" y="781329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1949" y="890680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8978" y="890680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824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BFC34-8CB2-CC41-3972-5FC87B9BDCE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9888" y="1924050"/>
            <a:ext cx="5285403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37A09F-4048-050A-FDB3-83EC9C3725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49975" y="1924050"/>
            <a:ext cx="5285403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24C1953-6774-4962-D21C-79F931E8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702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2"/>
            <a:ext cx="11453638" cy="4046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41698-5CD8-C604-8076-E2C717447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9364" y="886968"/>
            <a:ext cx="11454336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64D4B-08FC-0F72-14EE-FFE49CBE3E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8301" y="1924050"/>
            <a:ext cx="5284844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630663-0430-1D7C-EBF0-D28C79961C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975" y="1924050"/>
            <a:ext cx="528484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831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96065" y="370158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第二層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1"/>
            <a:ext cx="3855863" cy="5602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90686" y="370158"/>
            <a:ext cx="3649948" cy="2486022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43016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第二層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0686" y="2960903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43016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第二層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557" y="1409922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59847" y="1399935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0557" y="3492323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59847" y="3492323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第二層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9536" y="1409922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43017" y="1399935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第二層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9536" y="3492323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43017" y="3492323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按一下以編輯母片文字樣式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TW" altLang="en-US"/>
              <a:t>第二層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847D5-ADA8-3259-2549-281D1A6D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3E9A5D-D94B-2C14-C57F-8CEEA73EB9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89906B8-D3A9-4BCE-6015-ACFE378C72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E0E6B83-F5A0-569B-4BAB-B7F61D7D08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4025" y="1924049"/>
            <a:ext cx="3235512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6DFEB0B-173F-2B4F-16A8-263FCC6C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027B2-3AF9-ACB0-EFBF-E307D2CA3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776" y="886968"/>
            <a:ext cx="11455924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015D90A-43B1-2686-2FB5-24977CABC7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05BD07F-9015-08E7-A1B9-CEE3998C38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6E79EC7-3C5A-2B86-5F55-4E1518901C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74025" y="1924049"/>
            <a:ext cx="3235512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9704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9C1A15D-9D72-ADF5-F762-A0FCDB4299C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94016E-E9A2-621D-7E7E-4C60EA7D14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B0989A2-BAE8-DBCB-9B68-2A6A9EEEC5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4025" y="1924049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661239-E68D-0808-F96A-FE85956F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0062" y="1407233"/>
            <a:ext cx="5229293" cy="4564941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EE09F-88BE-B892-E588-CE1A64CF45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975" y="2441575"/>
            <a:ext cx="2781300" cy="353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9862BAD-5A88-900F-A59B-68B96AB414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2400" y="2441575"/>
            <a:ext cx="2781300" cy="353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A847B6-5ED7-CD22-AC77-BE2F8741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64683" y="1933273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46331-F0CB-B769-2ED0-10C215328D5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5125" y="3603812"/>
            <a:ext cx="3335338" cy="2476313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09C51E-8610-C513-8EEC-D5CB091B65E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25925" y="1933575"/>
            <a:ext cx="3280410" cy="41465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FE232A4-E7EE-98E3-AD8F-428E48A336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87167" y="1933575"/>
            <a:ext cx="3280410" cy="41465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39229A9-9F4B-8863-1C67-62C2859D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0062" y="1927894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B415381-8D1E-8A6F-693B-DB90EB881D1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5125" y="3603812"/>
            <a:ext cx="3335338" cy="2476313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8D28FD-FF5F-398A-38AD-0E9B9DE0EC1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25925" y="1924050"/>
            <a:ext cx="3740150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2C8463D-8B6E-9FF2-1B5C-72452E9273E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25925" y="4006850"/>
            <a:ext cx="3740150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39DE996C-A166-458A-310E-FEBC9C52A70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87920" y="1924050"/>
            <a:ext cx="3740150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134591D3-6AC4-CADD-BA45-13112332007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087920" y="4006850"/>
            <a:ext cx="3740150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3601CD4-0BCA-521B-0F56-3E84B8C9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7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8CA74-2A20-C79E-AB93-415F841BF9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8300" y="1924049"/>
            <a:ext cx="3548063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A2F6DA-84DB-C19E-4C0E-907410D65A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25925" y="1924049"/>
            <a:ext cx="3621405" cy="1663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1E96ECE-0D5F-0C73-B9DA-305E820717B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84820" y="1924049"/>
            <a:ext cx="3621405" cy="16636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FB0C79D-C35F-8072-C668-9D9D7A93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3155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1060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79441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658801-9D03-6822-31B7-920A8C4C5D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8300" y="4000500"/>
            <a:ext cx="3621405" cy="2079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E8465518-586C-3585-5D66-F8C5F784114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1059" y="4000500"/>
            <a:ext cx="3621405" cy="2079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A0F579-2C59-6C73-6CB2-7D28A65E2EE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2597" y="4000500"/>
            <a:ext cx="3621405" cy="2079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C860A8A-DDDD-D41D-7D92-718D7B4F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2723"/>
            <a:ext cx="3389473" cy="19694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72399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72399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2DDC5-30CC-4253-DAE0-02B6367366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1800" y="4002088"/>
            <a:ext cx="3621405" cy="20780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C4F89F3-153E-1F6B-8CFE-E1D4D68749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84820" y="4002088"/>
            <a:ext cx="3621405" cy="20780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18F79E-2EEB-FEB6-9FD2-CF00E69E39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50CDAE4-0C34-CA3B-8150-C653F96325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2934F70-692D-5369-94C8-0030A3CD43F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75F0D866-D99D-B922-92B9-43D8C80FC3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2400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8C2AC20-FA64-9BFB-4B6C-CC4DC765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0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AE7EEF-B347-4D56-A6AE-448368A5BE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364" y="886968"/>
            <a:ext cx="11453639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5EB01E0-E6A4-D360-2FD4-9B71B2DE0D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626FCF7-D9DB-AA92-E09A-63795E0A9B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EAED7B3-1E01-DB3C-A9C0-C02BF6D0CA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1DF4DD5F-AF74-EA4E-244D-3B8BF6C634D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2400" y="1924050"/>
            <a:ext cx="27844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709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7B41B5-877C-16C0-86C3-0049A6AEFD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82975"/>
            <a:ext cx="3444875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F5BE851-36FB-AE1C-238B-97C05E05B1A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9222" y="3482975"/>
            <a:ext cx="3444875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3EBFD86-34DE-5EF4-510C-8C6F417E64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7870" y="3482975"/>
            <a:ext cx="3444875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7ADAD20-05B4-05C7-E934-6F9C1436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7CA4CE-E47A-514D-5828-6AA4EAEAA5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82975"/>
            <a:ext cx="2784475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E81782A-2131-81EC-B274-273228A022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3482975"/>
            <a:ext cx="2784475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C7B2FA3-BB01-C042-C3E2-CE1E30B4DC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3482975"/>
            <a:ext cx="2784475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817751D-AEF1-E60E-A99F-8E78DF21FF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2400" y="3482975"/>
            <a:ext cx="2784475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C495E7E-4FB5-532A-2A69-899751FD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E25965-5FF0-06E1-006B-1D9AEC33DC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8300" y="1406525"/>
            <a:ext cx="4711700" cy="14478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48317B-0C78-D1D7-C7AA-97B940FCDF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68300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9E1EEBC7-B3D2-0C33-A1E4-86D938D57B9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57550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E61D85C-E065-C899-A314-61A97478995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9975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AC1B240-8DE4-93F4-7F67-7A0D12BFCB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039225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6AF7A0A-28F9-E71C-DA0E-449F854A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062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2926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55753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972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769020-22C9-8DED-D532-40F11F2D33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8300" y="4000500"/>
            <a:ext cx="2692400" cy="2079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BE4E3AAB-764D-686D-74DE-DD6CA156031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2926" y="3998912"/>
            <a:ext cx="2692400" cy="2079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2BEB6BEE-26A1-CA65-94AF-66C85CEB8FB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49975" y="3998912"/>
            <a:ext cx="2692400" cy="2079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E50EC622-9E3E-7826-5B6E-3F05131728C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972" y="3998912"/>
            <a:ext cx="2692400" cy="20796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7CC549C-7C7A-4C05-D6A7-8187C415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054" y="1407234"/>
            <a:ext cx="5669646" cy="248214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3BE73-FFB9-9122-4626-1B97EB913F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9888" y="1406525"/>
            <a:ext cx="2782887" cy="456565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EA7D05-D7C0-FDE4-0EBC-5FC8729460E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7550" y="1406525"/>
            <a:ext cx="2784475" cy="45656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3B30585-2E0B-0145-792D-87F4CBF909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9975" y="4000500"/>
            <a:ext cx="2781300" cy="1971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CF1ADCBF-761E-4BC8-95AF-5ED8A304B9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042400" y="4000500"/>
            <a:ext cx="2781300" cy="1971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D1333CB-59A1-E4BE-4739-1CA1A660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E147C2-A10D-59C4-CC48-6D69F1DA61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86AE55E-C7BC-EC71-C728-F72A80B86C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55CDC6F-9090-45B3-C7DF-1D1A5E390D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CB40FF7B-D30A-160F-9C8B-1003AE57EE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97083C73-43EE-6C29-DF37-8BDBD14592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FAAF6896-CE8D-11B6-CDB6-B5581B467D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004425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E952CC9-7B70-01FB-582B-30F68D4C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18B1A-B52B-AC9A-63B1-F00217B38E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9364" y="886968"/>
            <a:ext cx="11453639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50835-224A-C855-A540-11B95474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A6C828-337E-DF3F-E796-CD513517E4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5039018F-04C9-76F6-FBBC-358D2F0A10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0641CF8-17DD-D58B-57D0-9302944604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F8C87661-3C9C-724E-425D-6BFB684FAA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1CA5D93-F653-F2C0-8751-8A90F765D4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59DA2641-90BA-C589-4AC5-93DB0472E74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004425" y="1924050"/>
            <a:ext cx="181927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73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0062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4159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27490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46253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75774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999916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9822908B-8C98-3E38-BAF1-87309A19DE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92819"/>
            <a:ext cx="1819275" cy="24793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0C24A9A-AB7A-C92C-EABC-107D1A3E30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3492819"/>
            <a:ext cx="1819275" cy="24793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1BE33546-5281-3759-9C24-7C92D3AB81E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3492819"/>
            <a:ext cx="1819275" cy="24793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D8F01FB-26C3-D412-CD60-13931D0A16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3492819"/>
            <a:ext cx="1819275" cy="24793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D6BCE3-5DC0-F54B-0BF2-1E8CB838F9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3492819"/>
            <a:ext cx="1819275" cy="24793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954D3D35-7293-9CD0-B576-44307004CC3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0004425" y="3492819"/>
            <a:ext cx="1819275" cy="24793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919F7E4-902E-17BD-9A23-BEC353B5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2377" y="1306772"/>
            <a:ext cx="5668962" cy="373195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070464-B6E7-0612-AE11-56A546D97B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37465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46096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062" y="3485571"/>
            <a:ext cx="5498502" cy="248660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72355"/>
            <a:ext cx="5671662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4716BEF-8A35-16AB-2612-D5ADC74B28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50276" y="5038725"/>
            <a:ext cx="5673424" cy="93345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 dirty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 dirty="0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617E1E3-DEC2-78E7-9998-E4FF637CE3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51729" y="4005692"/>
            <a:ext cx="5455771" cy="921908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20F89DA-180E-8B5A-DBF0-E46D4BE19F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46CDA39-33E4-3C95-FE9D-6263CE3649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31972B4-0D39-C3FB-E17F-DC8EC7D118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48F1255-B234-8F3E-2E95-66C55731FF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010" y="3491244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84776" y="368299"/>
            <a:ext cx="6638214" cy="5603875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2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84774" y="370062"/>
            <a:ext cx="6637163" cy="5562780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119A16-4429-1C3B-93F5-9356F9F7EC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9888" y="2959100"/>
            <a:ext cx="3744912" cy="30130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2446693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57550" y="368299"/>
            <a:ext cx="8566150" cy="5603875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FE9E2-DC3E-0EAB-DFB7-B3E4A12323B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300" y="3482975"/>
            <a:ext cx="2784475" cy="2489200"/>
          </a:xfrm>
        </p:spPr>
        <p:txBody>
          <a:bodyPr/>
          <a:lstStyle/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891325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BB20E5E-A5D8-1921-9B3B-F7258AF1BE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891325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E8A4846-D27E-80FC-9B7E-3CE63CD42E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70062" y="3492183"/>
            <a:ext cx="3744738" cy="2479992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08803"/>
            <a:ext cx="1804072" cy="1445521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65506"/>
            <a:ext cx="1804072" cy="1432559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9292-477B-B167-FA09-34ABA37250D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12000" y="1406525"/>
            <a:ext cx="4711700" cy="144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096CD5-F472-2FF7-8821-A2FC9AB7EEC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112000" y="2966384"/>
            <a:ext cx="4711700" cy="144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1E7B3D-67E9-63CB-5191-3A7FBCE6F83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12000" y="4520863"/>
            <a:ext cx="4711700" cy="144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EABDFC4-9BD0-55BC-2846-2FA45EAB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6B0ED-8AF6-B2AA-E6DF-421FC9028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49975" y="3482975"/>
            <a:ext cx="5673725" cy="2489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 dirty="0"/>
              <a:t>0,000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0062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31506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71461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DD9F-C4DB-21BA-6151-16846D00A1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8301" y="3482975"/>
            <a:ext cx="3310128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EBB524E-5A84-8775-0998-D7CE79E36DC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26" y="3482975"/>
            <a:ext cx="3310128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FB583A4-A0D5-B473-CEAF-7EDB869751B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71461" y="3482975"/>
            <a:ext cx="3310128" cy="25971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FF63D470-D7BD-0CB6-AB02-AD298B18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0062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6710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53663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CEDE5A-24B5-302A-F9C9-38D8A4ED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4F1DDBE-5AF8-4AE5-035D-1455CB119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9888" y="3482975"/>
            <a:ext cx="2396050" cy="2794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0506503A-B70F-E2C2-7E96-19228D38F7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1236" y="3482975"/>
            <a:ext cx="2396050" cy="2794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5">
            <a:extLst>
              <a:ext uri="{FF2B5EF4-FFF2-40B4-BE49-F238E27FC236}">
                <a16:creationId xmlns:a16="http://schemas.microsoft.com/office/drawing/2014/main" id="{099901CA-C5DD-EA1C-B029-123F8C58061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49975" y="3482975"/>
            <a:ext cx="2396050" cy="2794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9" name="Content Placeholder 15">
            <a:extLst>
              <a:ext uri="{FF2B5EF4-FFF2-40B4-BE49-F238E27FC236}">
                <a16:creationId xmlns:a16="http://schemas.microsoft.com/office/drawing/2014/main" id="{066BC0D1-1139-9685-3799-963F80B0C9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405" y="3482975"/>
            <a:ext cx="2396050" cy="2794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88305" y="1930138"/>
            <a:ext cx="5670195" cy="4042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172550-E933-8167-0222-DD1326B0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478187-E2B9-385E-A350-C3EAF7AF28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8300" y="3482975"/>
            <a:ext cx="3746500" cy="2489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062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7127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0423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8340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35449-0894-A02C-8F55-DCFAB1AE4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A4954E-F516-8DC7-20A3-B649BF25576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696610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8FE92CD-7709-9DB8-6AAE-AA80F067440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67127" y="4518025"/>
            <a:ext cx="2696610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2951703-E32B-EAF8-80B8-BAFE647F14A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1846" y="4518025"/>
            <a:ext cx="2696610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66FE3CF3-7037-DD51-3661-1034378DCD3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48340" y="4518025"/>
            <a:ext cx="2696610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586" y="1924016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8300" y="4012229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5682" y="1927615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5682" y="4006850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84C67F-7F12-B485-C133-36761942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4995FEB-FD4F-B089-F6E6-2920F4574AB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924016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27422C95-30AE-DA35-26C7-4D859468EE8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4006850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EB8C9608-59D0-BF46-B719-9598B6A020E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5164" y="1924016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83B437C6-3E7C-2B00-379C-58EBBE522843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5164" y="4006850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1957033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06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961864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157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30530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70157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63232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062" y="373155"/>
            <a:ext cx="11453638" cy="351622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4437010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5493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760CE5-544A-F30C-8082-D31FCC54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25B3EF-B02C-F8B5-CF3D-C9F9193AA5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8523288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5" r:id="rId5"/>
    <p:sldLayoutId id="2147483746" r:id="rId6"/>
    <p:sldLayoutId id="2147483651" r:id="rId7"/>
    <p:sldLayoutId id="2147483659" r:id="rId8"/>
    <p:sldLayoutId id="2147483660" r:id="rId9"/>
    <p:sldLayoutId id="2147483733" r:id="rId10"/>
    <p:sldLayoutId id="2147483738" r:id="rId11"/>
    <p:sldLayoutId id="2147483739" r:id="rId12"/>
    <p:sldLayoutId id="2147483741" r:id="rId13"/>
    <p:sldLayoutId id="2147483740" r:id="rId14"/>
    <p:sldLayoutId id="2147483696" r:id="rId15"/>
    <p:sldLayoutId id="2147483697" r:id="rId16"/>
    <p:sldLayoutId id="2147483723" r:id="rId17"/>
    <p:sldLayoutId id="2147483724" r:id="rId18"/>
    <p:sldLayoutId id="2147483702" r:id="rId19"/>
    <p:sldLayoutId id="2147483752" r:id="rId20"/>
    <p:sldLayoutId id="2147483684" r:id="rId21"/>
    <p:sldLayoutId id="2147483753" r:id="rId22"/>
    <p:sldLayoutId id="2147483703" r:id="rId23"/>
    <p:sldLayoutId id="2147483704" r:id="rId24"/>
    <p:sldLayoutId id="2147483705" r:id="rId25"/>
    <p:sldLayoutId id="2147483685" r:id="rId26"/>
    <p:sldLayoutId id="2147483754" r:id="rId27"/>
    <p:sldLayoutId id="2147483706" r:id="rId28"/>
    <p:sldLayoutId id="2147483719" r:id="rId29"/>
    <p:sldLayoutId id="2147483717" r:id="rId30"/>
    <p:sldLayoutId id="2147483718" r:id="rId31"/>
    <p:sldLayoutId id="2147483707" r:id="rId32"/>
    <p:sldLayoutId id="2147483708" r:id="rId33"/>
    <p:sldLayoutId id="2147483709" r:id="rId34"/>
    <p:sldLayoutId id="2147483686" r:id="rId35"/>
    <p:sldLayoutId id="2147483755" r:id="rId36"/>
    <p:sldLayoutId id="2147483722" r:id="rId37"/>
    <p:sldLayoutId id="2147483721" r:id="rId38"/>
    <p:sldLayoutId id="2147483714" r:id="rId39"/>
    <p:sldLayoutId id="2147483710" r:id="rId40"/>
    <p:sldLayoutId id="2147483711" r:id="rId41"/>
    <p:sldLayoutId id="2147483687" r:id="rId42"/>
    <p:sldLayoutId id="2147483756" r:id="rId43"/>
    <p:sldLayoutId id="2147483713" r:id="rId44"/>
    <p:sldLayoutId id="2147483662" r:id="rId45"/>
    <p:sldLayoutId id="2147483699" r:id="rId46"/>
    <p:sldLayoutId id="2147483689" r:id="rId47"/>
    <p:sldLayoutId id="2147483664" r:id="rId48"/>
    <p:sldLayoutId id="2147483690" r:id="rId49"/>
    <p:sldLayoutId id="2147483691" r:id="rId50"/>
    <p:sldLayoutId id="2147483692" r:id="rId51"/>
    <p:sldLayoutId id="2147483671" r:id="rId52"/>
    <p:sldLayoutId id="2147483700" r:id="rId53"/>
    <p:sldLayoutId id="2147483701" r:id="rId54"/>
    <p:sldLayoutId id="2147483693" r:id="rId55"/>
    <p:sldLayoutId id="2147483694" r:id="rId56"/>
    <p:sldLayoutId id="2147483673" r:id="rId57"/>
    <p:sldLayoutId id="2147483676" r:id="rId58"/>
    <p:sldLayoutId id="2147483715" r:id="rId59"/>
    <p:sldLayoutId id="2147483716" r:id="rId60"/>
    <p:sldLayoutId id="2147483678" r:id="rId61"/>
    <p:sldLayoutId id="2147483679" r:id="rId62"/>
    <p:sldLayoutId id="2147483680" r:id="rId63"/>
    <p:sldLayoutId id="2147483666" r:id="rId64"/>
    <p:sldLayoutId id="2147483720" r:id="rId65"/>
    <p:sldLayoutId id="2147483654" r:id="rId66"/>
    <p:sldLayoutId id="2147483655" r:id="rId67"/>
    <p:sldLayoutId id="2147483681" r:id="rId68"/>
    <p:sldLayoutId id="2147483725" r:id="rId69"/>
    <p:sldLayoutId id="2147483726" r:id="rId70"/>
    <p:sldLayoutId id="2147483727" r:id="rId71"/>
    <p:sldLayoutId id="2147483742" r:id="rId7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3" pos="232" userDrawn="1">
          <p15:clr>
            <a:srgbClr val="F26B43"/>
          </p15:clr>
        </p15:guide>
        <p15:guide id="4" pos="7448" userDrawn="1">
          <p15:clr>
            <a:srgbClr val="F26B43"/>
          </p15:clr>
        </p15:guide>
        <p15:guide id="11" orient="horz" pos="4088" userDrawn="1">
          <p15:clr>
            <a:srgbClr val="F26B43"/>
          </p15:clr>
        </p15:guide>
        <p15:guide id="12" pos="778" userDrawn="1">
          <p15:clr>
            <a:srgbClr val="F26B43"/>
          </p15:clr>
        </p15:guide>
        <p15:guide id="13" pos="840" userDrawn="1">
          <p15:clr>
            <a:srgbClr val="F26B43"/>
          </p15:clr>
        </p15:guide>
        <p15:guide id="14" pos="1378" userDrawn="1">
          <p15:clr>
            <a:srgbClr val="F26B43"/>
          </p15:clr>
        </p15:guide>
        <p15:guide id="15" pos="1446" userDrawn="1">
          <p15:clr>
            <a:srgbClr val="F26B43"/>
          </p15:clr>
        </p15:guide>
        <p15:guide id="16" pos="1986" userDrawn="1">
          <p15:clr>
            <a:srgbClr val="F26B43"/>
          </p15:clr>
        </p15:guide>
        <p15:guide id="17" pos="2052" userDrawn="1">
          <p15:clr>
            <a:srgbClr val="F26B43"/>
          </p15:clr>
        </p15:guide>
        <p15:guide id="18" pos="2592" userDrawn="1">
          <p15:clr>
            <a:srgbClr val="F26B43"/>
          </p15:clr>
        </p15:guide>
        <p15:guide id="19" pos="2662" userDrawn="1">
          <p15:clr>
            <a:srgbClr val="F26B43"/>
          </p15:clr>
        </p15:guide>
        <p15:guide id="20" pos="3200" userDrawn="1">
          <p15:clr>
            <a:srgbClr val="F26B43"/>
          </p15:clr>
        </p15:guide>
        <p15:guide id="21" pos="3266" userDrawn="1">
          <p15:clr>
            <a:srgbClr val="F26B43"/>
          </p15:clr>
        </p15:guide>
        <p15:guide id="22" pos="3806" userDrawn="1">
          <p15:clr>
            <a:srgbClr val="F26B43"/>
          </p15:clr>
        </p15:guide>
        <p15:guide id="23" pos="3874" userDrawn="1">
          <p15:clr>
            <a:srgbClr val="F26B43"/>
          </p15:clr>
        </p15:guide>
        <p15:guide id="24" pos="4414" userDrawn="1">
          <p15:clr>
            <a:srgbClr val="F26B43"/>
          </p15:clr>
        </p15:guide>
        <p15:guide id="25" pos="5018" userDrawn="1">
          <p15:clr>
            <a:srgbClr val="F26B43"/>
          </p15:clr>
        </p15:guide>
        <p15:guide id="26" pos="4480" userDrawn="1">
          <p15:clr>
            <a:srgbClr val="F26B43"/>
          </p15:clr>
        </p15:guide>
        <p15:guide id="27" pos="5086" userDrawn="1">
          <p15:clr>
            <a:srgbClr val="F26B43"/>
          </p15:clr>
        </p15:guide>
        <p15:guide id="28" pos="5626" userDrawn="1">
          <p15:clr>
            <a:srgbClr val="F26B43"/>
          </p15:clr>
        </p15:guide>
        <p15:guide id="29" pos="5694" userDrawn="1">
          <p15:clr>
            <a:srgbClr val="F26B43"/>
          </p15:clr>
        </p15:guide>
        <p15:guide id="30" pos="6232" userDrawn="1">
          <p15:clr>
            <a:srgbClr val="F26B43"/>
          </p15:clr>
        </p15:guide>
        <p15:guide id="31" pos="6300" userDrawn="1">
          <p15:clr>
            <a:srgbClr val="F26B43"/>
          </p15:clr>
        </p15:guide>
        <p15:guide id="32" pos="6840" userDrawn="1">
          <p15:clr>
            <a:srgbClr val="F26B43"/>
          </p15:clr>
        </p15:guide>
        <p15:guide id="33" pos="6908" userDrawn="1">
          <p15:clr>
            <a:srgbClr val="F26B43"/>
          </p15:clr>
        </p15:guide>
        <p15:guide id="34" orient="horz" pos="488" userDrawn="1">
          <p15:clr>
            <a:srgbClr val="F26B43"/>
          </p15:clr>
        </p15:guide>
        <p15:guide id="35" orient="horz" pos="560" userDrawn="1">
          <p15:clr>
            <a:srgbClr val="F26B43"/>
          </p15:clr>
        </p15:guide>
        <p15:guide id="36" orient="horz" pos="816" userDrawn="1">
          <p15:clr>
            <a:srgbClr val="F26B43"/>
          </p15:clr>
        </p15:guide>
        <p15:guide id="37" orient="horz" pos="886" userDrawn="1">
          <p15:clr>
            <a:srgbClr val="F26B43"/>
          </p15:clr>
        </p15:guide>
        <p15:guide id="38" orient="horz" pos="1144" userDrawn="1">
          <p15:clr>
            <a:srgbClr val="F26B43"/>
          </p15:clr>
        </p15:guide>
        <p15:guide id="39" orient="horz" pos="1212" userDrawn="1">
          <p15:clr>
            <a:srgbClr val="F26B43"/>
          </p15:clr>
        </p15:guide>
        <p15:guide id="40" orient="horz" pos="1472" userDrawn="1">
          <p15:clr>
            <a:srgbClr val="F26B43"/>
          </p15:clr>
        </p15:guide>
        <p15:guide id="41" orient="horz" pos="1798" userDrawn="1">
          <p15:clr>
            <a:srgbClr val="F26B43"/>
          </p15:clr>
        </p15:guide>
        <p15:guide id="42" orient="horz" pos="1864" userDrawn="1">
          <p15:clr>
            <a:srgbClr val="F26B43"/>
          </p15:clr>
        </p15:guide>
        <p15:guide id="43" orient="horz" pos="2124" userDrawn="1">
          <p15:clr>
            <a:srgbClr val="F26B43"/>
          </p15:clr>
        </p15:guide>
        <p15:guide id="44" orient="horz" pos="2194" userDrawn="1">
          <p15:clr>
            <a:srgbClr val="F26B43"/>
          </p15:clr>
        </p15:guide>
        <p15:guide id="45" orient="horz" pos="2450" userDrawn="1">
          <p15:clr>
            <a:srgbClr val="F26B43"/>
          </p15:clr>
        </p15:guide>
        <p15:guide id="46" orient="horz" pos="2520" userDrawn="1">
          <p15:clr>
            <a:srgbClr val="F26B43"/>
          </p15:clr>
        </p15:guide>
        <p15:guide id="47" orient="horz" pos="2778" userDrawn="1">
          <p15:clr>
            <a:srgbClr val="F26B43"/>
          </p15:clr>
        </p15:guide>
        <p15:guide id="48" orient="horz" pos="2846" userDrawn="1">
          <p15:clr>
            <a:srgbClr val="F26B43"/>
          </p15:clr>
        </p15:guide>
        <p15:guide id="49" orient="horz" pos="3104" userDrawn="1">
          <p15:clr>
            <a:srgbClr val="F26B43"/>
          </p15:clr>
        </p15:guide>
        <p15:guide id="50" orient="horz" pos="3174" userDrawn="1">
          <p15:clr>
            <a:srgbClr val="F26B43"/>
          </p15:clr>
        </p15:guide>
        <p15:guide id="51" orient="horz" pos="3432" userDrawn="1">
          <p15:clr>
            <a:srgbClr val="F26B43"/>
          </p15:clr>
        </p15:guide>
        <p15:guide id="52" orient="horz" pos="3498" userDrawn="1">
          <p15:clr>
            <a:srgbClr val="F26B43"/>
          </p15:clr>
        </p15:guide>
        <p15:guide id="53" orient="horz" pos="3762" userDrawn="1">
          <p15:clr>
            <a:srgbClr val="F26B43"/>
          </p15:clr>
        </p15:guide>
        <p15:guide id="54" orient="horz" pos="3830" userDrawn="1">
          <p15:clr>
            <a:srgbClr val="F26B43"/>
          </p15:clr>
        </p15:guide>
        <p15:guide id="55" orient="horz" pos="153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F121-4939-9A21-A839-230CC776A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ea typeface="Microsoft JhengHei"/>
              </a:rPr>
              <a:t>AI 短影音製作流程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D45FBCF-F654-37CF-10CA-7AB40D869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>
                <a:ea typeface="Microsoft JhengHei"/>
              </a:rPr>
              <a:t>從主題到成片：7 個步驟｜首支約 2.5 個工作天</a:t>
            </a:r>
          </a:p>
          <a:p>
            <a:r>
              <a:rPr>
                <a:ea typeface="Microsoft JhengHei"/>
              </a:rPr>
              <a:t>PwC FSC1 內部分享｜2026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86585481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Microsoft JhengHei"/>
              </a:rPr>
              <a:t>製作流程圖：7 個步驟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1188000"/>
            <a:ext cx="11448000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>
                <a:solidFill>
                  <a:srgbClr val="5F6670"/>
                </a:solidFill>
                <a:ea typeface="Microsoft JhengHei"/>
              </a:rPr>
              <a:t>每一步都有固定的工具與產出；前一步的產出，就是下一步的輸入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1655999"/>
            <a:ext cx="4870285" cy="360000"/>
          </a:xfrm>
          <a:prstGeom prst="rect">
            <a:avLst/>
          </a:prstGeom>
          <a:solidFill>
            <a:srgbClr val="FF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ctr"/>
            <a:r>
              <a:rPr sz="1400" b="1">
                <a:solidFill>
                  <a:srgbClr val="000000"/>
                </a:solidFill>
                <a:ea typeface="Microsoft JhengHei"/>
              </a:rPr>
              <a:t>前製｜文字工作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4285" y="1655999"/>
            <a:ext cx="3234857" cy="360000"/>
          </a:xfrm>
          <a:prstGeom prst="rect">
            <a:avLst/>
          </a:prstGeom>
          <a:solidFill>
            <a:srgbClr val="FF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ctr"/>
            <a:r>
              <a:rPr sz="1400" b="1">
                <a:solidFill>
                  <a:srgbClr val="000000"/>
                </a:solidFill>
                <a:ea typeface="Microsoft JhengHei"/>
              </a:rPr>
              <a:t>製作｜AI 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8555142" y="1655999"/>
            <a:ext cx="3234857" cy="360000"/>
          </a:xfrm>
          <a:prstGeom prst="rect">
            <a:avLst/>
          </a:prstGeom>
          <a:solidFill>
            <a:srgbClr val="FF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ctr"/>
            <a:r>
              <a:rPr sz="1400" b="1">
                <a:solidFill>
                  <a:srgbClr val="000000"/>
                </a:solidFill>
                <a:ea typeface="Microsoft JhengHei"/>
              </a:rPr>
              <a:t>後製與審查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77714" y="2772000"/>
            <a:ext cx="9812571" cy="0"/>
          </a:xfrm>
          <a:prstGeom prst="line">
            <a:avLst/>
          </a:prstGeom>
          <a:ln w="381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35714" y="2430000"/>
            <a:ext cx="684000" cy="684000"/>
          </a:xfrm>
          <a:prstGeom prst="ellipse">
            <a:avLst/>
          </a:prstGeom>
          <a:solidFill>
            <a:srgbClr val="FFA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  <a:ea typeface="Microsoft JhengHe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3240000"/>
            <a:ext cx="1563428" cy="11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1600" b="1">
                <a:solidFill>
                  <a:srgbClr val="000000"/>
                </a:solidFill>
                <a:ea typeface="Microsoft JhengHei"/>
              </a:rPr>
              <a:t>主題與目的</a:t>
            </a:r>
          </a:p>
          <a:p>
            <a:pPr algn="ctr"/>
            <a:r>
              <a:rPr sz="1300">
                <a:solidFill>
                  <a:srgbClr val="5F6670"/>
                </a:solidFill>
                <a:ea typeface="Microsoft JhengHei"/>
              </a:rPr>
              <a:t>主管需求</a:t>
            </a:r>
          </a:p>
          <a:p>
            <a:pPr algn="ctr"/>
            <a:r>
              <a:rPr sz="1300">
                <a:solidFill>
                  <a:srgbClr val="000000"/>
                </a:solidFill>
                <a:ea typeface="Microsoft JhengHei"/>
              </a:rPr>
              <a:t>目的・觀眾・訊息</a:t>
            </a:r>
          </a:p>
        </p:txBody>
      </p:sp>
      <p:sp>
        <p:nvSpPr>
          <p:cNvPr id="10" name="Oval 9"/>
          <p:cNvSpPr/>
          <p:nvPr/>
        </p:nvSpPr>
        <p:spPr>
          <a:xfrm>
            <a:off x="2471142" y="2430000"/>
            <a:ext cx="684000" cy="684000"/>
          </a:xfrm>
          <a:prstGeom prst="ellipse">
            <a:avLst/>
          </a:prstGeom>
          <a:solidFill>
            <a:srgbClr val="FFA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  <a:ea typeface="Microsoft JhengHe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1428" y="3240000"/>
            <a:ext cx="1563428" cy="11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1600" b="1">
                <a:solidFill>
                  <a:srgbClr val="000000"/>
                </a:solidFill>
                <a:ea typeface="Microsoft JhengHei"/>
              </a:rPr>
              <a:t>大綱・人物誌</a:t>
            </a:r>
          </a:p>
          <a:p>
            <a:pPr algn="ctr"/>
            <a:r>
              <a:rPr sz="1300">
                <a:solidFill>
                  <a:srgbClr val="5F6670"/>
                </a:solidFill>
                <a:ea typeface="Microsoft JhengHei"/>
              </a:rPr>
              <a:t>人物誌＋分層框架</a:t>
            </a:r>
          </a:p>
          <a:p>
            <a:pPr algn="ctr"/>
            <a:r>
              <a:rPr sz="1300">
                <a:solidFill>
                  <a:srgbClr val="000000"/>
                </a:solidFill>
                <a:ea typeface="Microsoft JhengHei"/>
              </a:rPr>
              <a:t>大綱五要素</a:t>
            </a:r>
          </a:p>
        </p:txBody>
      </p:sp>
      <p:sp>
        <p:nvSpPr>
          <p:cNvPr id="12" name="Oval 11"/>
          <p:cNvSpPr/>
          <p:nvPr/>
        </p:nvSpPr>
        <p:spPr>
          <a:xfrm>
            <a:off x="4106571" y="2430000"/>
            <a:ext cx="684000" cy="684000"/>
          </a:xfrm>
          <a:prstGeom prst="ellipse">
            <a:avLst/>
          </a:prstGeom>
          <a:solidFill>
            <a:srgbClr val="FFA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  <a:ea typeface="Microsoft JhengHe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66857" y="3240000"/>
            <a:ext cx="1563428" cy="11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1600" b="1">
                <a:solidFill>
                  <a:srgbClr val="000000"/>
                </a:solidFill>
                <a:ea typeface="Microsoft JhengHei"/>
              </a:rPr>
              <a:t>劇本・分鏡</a:t>
            </a:r>
          </a:p>
          <a:p>
            <a:pPr algn="ctr"/>
            <a:r>
              <a:rPr sz="1300">
                <a:solidFill>
                  <a:srgbClr val="5F6670"/>
                </a:solidFill>
                <a:ea typeface="Microsoft JhengHei"/>
              </a:rPr>
              <a:t>Claude</a:t>
            </a:r>
          </a:p>
          <a:p>
            <a:pPr algn="ctr"/>
            <a:r>
              <a:rPr sz="1300">
                <a:solidFill>
                  <a:srgbClr val="000000"/>
                </a:solidFill>
                <a:ea typeface="Microsoft JhengHei"/>
              </a:rPr>
              <a:t>分鏡表＋全套提示詞</a:t>
            </a:r>
          </a:p>
        </p:txBody>
      </p:sp>
      <p:sp>
        <p:nvSpPr>
          <p:cNvPr id="14" name="Oval 13"/>
          <p:cNvSpPr/>
          <p:nvPr/>
        </p:nvSpPr>
        <p:spPr>
          <a:xfrm>
            <a:off x="5742000" y="2430000"/>
            <a:ext cx="684000" cy="68400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  <a:ea typeface="Microsoft JhengHe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2285" y="3240000"/>
            <a:ext cx="1563428" cy="11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1600" b="1">
                <a:solidFill>
                  <a:srgbClr val="000000"/>
                </a:solidFill>
                <a:ea typeface="Microsoft JhengHei"/>
              </a:rPr>
              <a:t>參考圖生成</a:t>
            </a:r>
          </a:p>
          <a:p>
            <a:pPr algn="ctr"/>
            <a:r>
              <a:rPr sz="1300">
                <a:solidFill>
                  <a:srgbClr val="5F6670"/>
                </a:solidFill>
                <a:ea typeface="Microsoft JhengHei"/>
              </a:rPr>
              <a:t>Gemini</a:t>
            </a:r>
          </a:p>
          <a:p>
            <a:pPr algn="ctr"/>
            <a:r>
              <a:rPr sz="1300">
                <a:solidFill>
                  <a:srgbClr val="000000"/>
                </a:solidFill>
                <a:ea typeface="Microsoft JhengHei"/>
              </a:rPr>
              <a:t>角色設定＋關鍵畫面</a:t>
            </a:r>
          </a:p>
        </p:txBody>
      </p:sp>
      <p:sp>
        <p:nvSpPr>
          <p:cNvPr id="16" name="Oval 15"/>
          <p:cNvSpPr/>
          <p:nvPr/>
        </p:nvSpPr>
        <p:spPr>
          <a:xfrm>
            <a:off x="7377428" y="2430000"/>
            <a:ext cx="684000" cy="68400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  <a:ea typeface="Microsoft JhengHe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7714" y="3240000"/>
            <a:ext cx="1563428" cy="11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1600" b="1">
                <a:solidFill>
                  <a:srgbClr val="000000"/>
                </a:solidFill>
                <a:ea typeface="Microsoft JhengHei"/>
              </a:rPr>
              <a:t>影片生成</a:t>
            </a:r>
          </a:p>
          <a:p>
            <a:pPr algn="ctr"/>
            <a:r>
              <a:rPr sz="1300">
                <a:solidFill>
                  <a:srgbClr val="5F6670"/>
                </a:solidFill>
                <a:ea typeface="Microsoft JhengHei"/>
              </a:rPr>
              <a:t>Seedance</a:t>
            </a:r>
          </a:p>
          <a:p>
            <a:pPr algn="ctr"/>
            <a:r>
              <a:rPr sz="1300">
                <a:solidFill>
                  <a:srgbClr val="000000"/>
                </a:solidFill>
                <a:ea typeface="Microsoft JhengHei"/>
              </a:rPr>
              <a:t>4–15 秒有聲片段</a:t>
            </a:r>
          </a:p>
        </p:txBody>
      </p:sp>
      <p:sp>
        <p:nvSpPr>
          <p:cNvPr id="18" name="Oval 17"/>
          <p:cNvSpPr/>
          <p:nvPr/>
        </p:nvSpPr>
        <p:spPr>
          <a:xfrm>
            <a:off x="9012857" y="2430000"/>
            <a:ext cx="684000" cy="6840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  <a:ea typeface="Microsoft JhengHei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73142" y="3240000"/>
            <a:ext cx="1563428" cy="11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1600" b="1">
                <a:solidFill>
                  <a:srgbClr val="000000"/>
                </a:solidFill>
                <a:ea typeface="Microsoft JhengHei"/>
              </a:rPr>
              <a:t>後製合成</a:t>
            </a:r>
          </a:p>
          <a:p>
            <a:pPr algn="ctr"/>
            <a:r>
              <a:rPr sz="1300">
                <a:solidFill>
                  <a:srgbClr val="5F6670"/>
                </a:solidFill>
                <a:ea typeface="Microsoft JhengHei"/>
              </a:rPr>
              <a:t>ffmpeg／CapCut</a:t>
            </a:r>
          </a:p>
          <a:p>
            <a:pPr algn="ctr"/>
            <a:r>
              <a:rPr sz="1300">
                <a:solidFill>
                  <a:srgbClr val="000000"/>
                </a:solidFill>
                <a:ea typeface="Microsoft JhengHei"/>
              </a:rPr>
              <a:t>字幕・轉場・配樂</a:t>
            </a:r>
          </a:p>
        </p:txBody>
      </p:sp>
      <p:sp>
        <p:nvSpPr>
          <p:cNvPr id="20" name="Oval 19"/>
          <p:cNvSpPr/>
          <p:nvPr/>
        </p:nvSpPr>
        <p:spPr>
          <a:xfrm>
            <a:off x="10648285" y="2430000"/>
            <a:ext cx="684000" cy="6840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  <a:ea typeface="Microsoft JhengHei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08571" y="3240000"/>
            <a:ext cx="1563428" cy="11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1600" b="1">
                <a:solidFill>
                  <a:srgbClr val="000000"/>
                </a:solidFill>
                <a:ea typeface="Microsoft JhengHei"/>
              </a:rPr>
              <a:t>審查・迭代</a:t>
            </a:r>
          </a:p>
          <a:p>
            <a:pPr algn="ctr"/>
            <a:r>
              <a:rPr sz="1300">
                <a:solidFill>
                  <a:srgbClr val="5F6670"/>
                </a:solidFill>
                <a:ea typeface="Microsoft JhengHei"/>
              </a:rPr>
              <a:t>導演式看片</a:t>
            </a:r>
          </a:p>
          <a:p>
            <a:pPr algn="ctr"/>
            <a:r>
              <a:rPr sz="1300">
                <a:solidFill>
                  <a:srgbClr val="000000"/>
                </a:solidFill>
                <a:ea typeface="Microsoft JhengHei"/>
              </a:rPr>
              <a:t>修改清單→成片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90285" y="4392000"/>
            <a:ext cx="0" cy="324000"/>
          </a:xfrm>
          <a:prstGeom prst="line">
            <a:avLst/>
          </a:prstGeom>
          <a:ln w="25400">
            <a:solidFill>
              <a:srgbClr val="FD510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719428" y="4716000"/>
            <a:ext cx="3270857" cy="0"/>
          </a:xfrm>
          <a:prstGeom prst="line">
            <a:avLst/>
          </a:prstGeom>
          <a:ln w="25400">
            <a:solidFill>
              <a:srgbClr val="FD510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19428" y="4392000"/>
            <a:ext cx="0" cy="324000"/>
          </a:xfrm>
          <a:prstGeom prst="line">
            <a:avLst/>
          </a:prstGeom>
          <a:ln w="25400">
            <a:solidFill>
              <a:srgbClr val="FD51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539428" y="4806000"/>
            <a:ext cx="3630857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300" b="1">
                <a:solidFill>
                  <a:srgbClr val="FD5108"/>
                </a:solidFill>
                <a:ea typeface="Microsoft JhengHei"/>
              </a:rPr>
              <a:t>審查不通過 → 回到第 5 步重新生成</a:t>
            </a:r>
          </a:p>
          <a:p>
            <a:pPr algn="ctr"/>
            <a:r>
              <a:rPr sz="1300" b="1">
                <a:solidFill>
                  <a:srgbClr val="FD5108"/>
                </a:solidFill>
                <a:ea typeface="Microsoft JhengHei"/>
              </a:rPr>
              <a:t>（本片共迭代 11 版）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4680000"/>
            <a:ext cx="6660000" cy="1152000"/>
          </a:xfrm>
          <a:prstGeom prst="rect">
            <a:avLst/>
          </a:prstGeom>
          <a:solidFill>
            <a:srgbClr val="FF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2000" rIns="162000" tIns="162000" bIns="162000"/>
          <a:lstStyle/>
          <a:p>
            <a:pPr algn="l"/>
            <a:r>
              <a:rPr sz="1400" b="1">
                <a:solidFill>
                  <a:srgbClr val="FD5108"/>
                </a:solidFill>
                <a:ea typeface="Microsoft JhengHei"/>
              </a:rPr>
              <a:t>分工原則</a:t>
            </a:r>
          </a:p>
          <a:p>
            <a:pPr algn="l"/>
            <a:r>
              <a:rPr sz="1600">
                <a:solidFill>
                  <a:srgbClr val="000000"/>
                </a:solidFill>
                <a:ea typeface="Microsoft JhengHei"/>
              </a:rPr>
              <a:t>Gemini 只做參考圖，Seedance 只做影片；字幕、金融數字與品牌元素一律在後製加上。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ea typeface="Microsoft JhengHei"/>
              </a:rPr>
              <a:t>AI 短影音製作流程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  <a:fld id="{B6F15528-21DE-4FAA-801E-634DDDAF4B2B}" type="slidenum"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Microsoft JhengHei"/>
              </a:rPr>
              <a:t>時間估算：一支 45 秒影片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440000"/>
          <a:ext cx="7560000" cy="3078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72000"/>
                <a:gridCol w="1080000"/>
                <a:gridCol w="1152000"/>
                <a:gridCol w="3456000"/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Microsoft JhengHei"/>
                        </a:rPr>
                        <a:t>步驟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ea typeface="Microsoft JhengHei"/>
                        </a:rPr>
                        <a:t>首支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ea typeface="Microsoft JhengHei"/>
                        </a:rPr>
                        <a:t>第二支起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D51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Microsoft JhengHei"/>
                        </a:rPr>
                        <a:t>時間主要花在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D5108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1 主題與目的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0.5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0.5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確認目的、觀眾、核心訊息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2 大綱・人物誌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1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0.5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對齊人物誌與分層框架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3 劇本・分鏡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3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1.5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台詞字數配合鏡頭秒數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4 參考圖生成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2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1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角色一致性、挑圖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5 影片生成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4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2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無聲、手部畸形的重新生成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6 後製合成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4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2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字幕對齊、轉場、配樂、螢幕替換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7 審查・迭代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4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2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ea typeface="Microsoft JhengHei"/>
                        </a:rPr>
                        <a:t>每輪看片→修改清單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ea typeface="Microsoft JhengHei"/>
                        </a:rPr>
                        <a:t>合計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ea typeface="Microsoft JhengHei"/>
                        </a:rPr>
                        <a:t>18.5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ea typeface="Microsoft JhengHei"/>
                        </a:rPr>
                        <a:t>9.5 小時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ea typeface="Microsoft JhengHei"/>
                        </a:rPr>
                        <a:t>約省一半</a:t>
                      </a:r>
                    </a:p>
                  </a:txBody>
                  <a:tcPr marL="72000" marR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BD1D6"/>
                      </a:solidFill>
                    </a:lnB>
                    <a:solidFill>
                      <a:srgbClr val="FFE8D6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352000" y="1440000"/>
            <a:ext cx="3456000" cy="12960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ctr"/>
            <a:r>
              <a:rPr sz="1200">
                <a:solidFill>
                  <a:srgbClr val="FFFFFF"/>
                </a:solidFill>
                <a:ea typeface="Microsoft JhengHei"/>
              </a:rPr>
              <a:t>首支（從零開始）</a:t>
            </a:r>
          </a:p>
          <a:p>
            <a:r>
              <a:rPr sz="4000">
                <a:solidFill>
                  <a:srgbClr val="FFFFFF"/>
                </a:solidFill>
                <a:latin typeface="Georgia"/>
                <a:ea typeface="Microsoft JhengHei"/>
              </a:rPr>
              <a:t>約 2.5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8352000" y="2844000"/>
            <a:ext cx="3456000" cy="1296000"/>
          </a:xfrm>
          <a:prstGeom prst="rect">
            <a:avLst/>
          </a:prstGeom>
          <a:solidFill>
            <a:srgbClr val="FF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ctr"/>
            <a:r>
              <a:rPr sz="1200">
                <a:solidFill>
                  <a:srgbClr val="000000"/>
                </a:solidFill>
                <a:ea typeface="Microsoft JhengHei"/>
              </a:rPr>
              <a:t>第二支起（沿用資產）</a:t>
            </a:r>
          </a:p>
          <a:p>
            <a:r>
              <a:rPr sz="4000">
                <a:solidFill>
                  <a:srgbClr val="FD5108"/>
                </a:solidFill>
                <a:latin typeface="Georgia"/>
                <a:ea typeface="Microsoft JhengHei"/>
              </a:rPr>
              <a:t>1–1.5 天</a:t>
            </a:r>
          </a:p>
        </p:txBody>
      </p:sp>
      <p:sp>
        <p:nvSpPr>
          <p:cNvPr id="6" name="Rectangle 5"/>
          <p:cNvSpPr/>
          <p:nvPr/>
        </p:nvSpPr>
        <p:spPr>
          <a:xfrm>
            <a:off x="8352000" y="4248000"/>
            <a:ext cx="3456000" cy="6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100">
                <a:solidFill>
                  <a:srgbClr val="5F6670"/>
                </a:solidFill>
                <a:ea typeface="Microsoft JhengHei"/>
              </a:rPr>
              <a:t>沿用：顧問角色、客廳與咖啡店場景、字卡與轉場模板、配樂與混音設定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4932000"/>
            <a:ext cx="11448000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900">
                <a:solidFill>
                  <a:srgbClr val="5F6670"/>
                </a:solidFill>
                <a:ea typeface="Microsoft JhengHei"/>
              </a:rPr>
              <a:t>依本片實際製作經驗估算（10/12–10/13，11 個版本），以一天 8 小時計；不含主管與法遵審核等待、配樂授權採購。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ea typeface="Microsoft JhengHei"/>
              </a:rPr>
              <a:t>AI 短影音製作流程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  <a:fld id="{B6F15528-21DE-4FAA-801E-634DDDAF4B2B}" type="slidenum"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ea typeface="Microsoft JhengHei"/>
              </a:rPr>
              <a:t>這支片實際遇到的 6 個問題：前三個在生成階段預防，後三個在後製處理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Microsoft JhengHei"/>
              </a:rPr>
              <a:t>常見問題與標準解法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sz="1500" b="1">
                <a:ea typeface="Microsoft JhengHei"/>
              </a:rPr>
              <a:t>角色每個鏡頭都不一樣</a:t>
            </a:r>
          </a:p>
          <a:p>
            <a:pPr lvl="1"/>
            <a:r>
              <a:rPr sz="1300">
                <a:ea typeface="Microsoft JhengHei"/>
              </a:rPr>
              <a:t>先做角色設定圖；每段提示詞都上傳它，並寫明「臉、髮型、服裝不變」。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sz="1500" b="1">
                <a:ea typeface="Microsoft JhengHei"/>
              </a:rPr>
              <a:t>生成的影片沒有聲音</a:t>
            </a:r>
          </a:p>
          <a:p>
            <a:pPr lvl="1"/>
            <a:r>
              <a:rPr sz="1300">
                <a:ea typeface="Microsoft JhengHei"/>
              </a:rPr>
              <a:t>提示詞開頭與聲音段都寫「必須有聲音」；下載前先在預覽裡聽過。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rPr sz="1500" b="1">
                <a:ea typeface="Microsoft JhengHei"/>
              </a:rPr>
              <a:t>台詞太長被切掉</a:t>
            </a:r>
          </a:p>
          <a:p>
            <a:pPr lvl="1"/>
            <a:r>
              <a:rPr sz="1300">
                <a:ea typeface="Microsoft JhengHei"/>
              </a:rPr>
              <a:t>以每秒 4–5 個字估算；一句台詞要放得進 4–7 秒的鏡頭。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500" b="1">
                <a:ea typeface="Microsoft JhengHei"/>
              </a:rPr>
              <a:t>場景跳接看不懂</a:t>
            </a:r>
          </a:p>
          <a:p>
            <a:pPr lvl="1"/>
            <a:r>
              <a:rPr sz="1300">
                <a:ea typeface="Microsoft JhengHei"/>
              </a:rPr>
              <a:t>過渡字卡＋掛斷音效＋環境音先進場（J-cut）；倒帶要慢到看得出來。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/>
            <a:r>
              <a:rPr sz="1500" b="1">
                <a:ea typeface="Microsoft JhengHei"/>
              </a:rPr>
              <a:t>AI 生成的字是亂碼</a:t>
            </a:r>
          </a:p>
          <a:p>
            <a:pPr lvl="1"/>
            <a:r>
              <a:rPr sz="1300">
                <a:ea typeface="Microsoft JhengHei"/>
              </a:rPr>
              <a:t>金融數字與介面文字一律後製貼上，例如平板螢幕替換。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/>
            <a:r>
              <a:rPr sz="1500" b="1">
                <a:ea typeface="Microsoft JhengHei"/>
              </a:rPr>
              <a:t>手部畸形、多手指</a:t>
            </a:r>
          </a:p>
          <a:p>
            <a:pPr lvl="1"/>
            <a:r>
              <a:rPr sz="1300">
                <a:ea typeface="Microsoft JhengHei"/>
              </a:rPr>
              <a:t>改用乾淨的段落；或局部重繪後當首幀再生成一次。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710000"/>
            <a:ext cx="1835999" cy="43200"/>
          </a:xfrm>
          <a:prstGeom prst="rect">
            <a:avLst/>
          </a:prstGeom>
          <a:solidFill>
            <a:srgbClr val="FFA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>
                <a:ea typeface="Microsoft JhengHe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289600" y="1710000"/>
            <a:ext cx="1835999" cy="43200"/>
          </a:xfrm>
          <a:prstGeom prst="rect">
            <a:avLst/>
          </a:prstGeom>
          <a:solidFill>
            <a:srgbClr val="FFA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>
                <a:ea typeface="Microsoft JhengHe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219200" y="1710000"/>
            <a:ext cx="1835999" cy="43200"/>
          </a:xfrm>
          <a:prstGeom prst="rect">
            <a:avLst/>
          </a:prstGeom>
          <a:solidFill>
            <a:srgbClr val="FFA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>
                <a:ea typeface="Microsoft JhengHe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148800" y="1710000"/>
            <a:ext cx="1835999" cy="43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>
                <a:ea typeface="Microsoft JhengHe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078400" y="1710000"/>
            <a:ext cx="1835999" cy="43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>
                <a:ea typeface="Microsoft JhengHe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0008000" y="1710000"/>
            <a:ext cx="1835999" cy="43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>
                <a:ea typeface="Microsoft JhengHei"/>
              </a:rPr>
              <a:t/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ea typeface="Microsoft JhengHei"/>
              </a:rPr>
              <a:t>AI 短影音製作流程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ea typeface="Microsoft JhengHei"/>
              </a:rPr>
              <a:t>下一支影片：先準備 5 項輸入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Microsoft JhengHei"/>
              </a:rPr>
              <a:t>1  </a:t>
            </a:r>
            <a:r>
              <a:rPr sz="1600" b="1">
                <a:solidFill>
                  <a:srgbClr val="000000"/>
                </a:solidFill>
                <a:ea typeface="Microsoft JhengHei"/>
              </a:rPr>
              <a:t>主題與目的｜</a:t>
            </a:r>
            <a:r>
              <a:rPr sz="1400" b="0">
                <a:solidFill>
                  <a:srgbClr val="5F6670"/>
                </a:solidFill>
                <a:ea typeface="Microsoft JhengHei"/>
              </a:rPr>
              <a:t>要說服誰？看完要讓他們做什麼決定？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Microsoft JhengHei"/>
              </a:rPr>
              <a:t>2  </a:t>
            </a:r>
            <a:r>
              <a:rPr sz="1600" b="1">
                <a:solidFill>
                  <a:srgbClr val="000000"/>
                </a:solidFill>
                <a:ea typeface="Microsoft JhengHei"/>
              </a:rPr>
              <a:t>目標客群與人物誌｜</a:t>
            </a:r>
            <a:r>
              <a:rPr sz="1400" b="0">
                <a:solidFill>
                  <a:srgbClr val="5F6670"/>
                </a:solidFill>
                <a:ea typeface="Microsoft JhengHei"/>
              </a:rPr>
              <a:t>例：新婚首購族、退休準備族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Microsoft JhengHei"/>
              </a:rPr>
              <a:t>3  </a:t>
            </a:r>
            <a:r>
              <a:rPr sz="1600" b="1">
                <a:solidFill>
                  <a:srgbClr val="000000"/>
                </a:solidFill>
                <a:ea typeface="Microsoft JhengHei"/>
              </a:rPr>
              <a:t>片長與使用場景｜</a:t>
            </a:r>
            <a:r>
              <a:rPr sz="1400" b="0">
                <a:solidFill>
                  <a:srgbClr val="5F6670"/>
                </a:solidFill>
                <a:ea typeface="Microsoft JhengHei"/>
              </a:rPr>
              <a:t>提案開場、研討會，或社群短影音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Microsoft JhengHei"/>
              </a:rPr>
              <a:t>4  </a:t>
            </a:r>
            <a:r>
              <a:rPr sz="1600" b="1">
                <a:solidFill>
                  <a:srgbClr val="000000"/>
                </a:solidFill>
                <a:ea typeface="Microsoft JhengHei"/>
              </a:rPr>
              <a:t>品牌與法遵限制｜</a:t>
            </a:r>
            <a:r>
              <a:rPr sz="1400" b="0">
                <a:solidFill>
                  <a:srgbClr val="5F6670"/>
                </a:solidFill>
                <a:ea typeface="Microsoft JhengHei"/>
              </a:rPr>
              <a:t>標誌露出、疾病情節、數字與配樂授權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Microsoft JhengHei"/>
              </a:rPr>
              <a:t>5  </a:t>
            </a:r>
            <a:r>
              <a:rPr sz="1600" b="1">
                <a:solidFill>
                  <a:srgbClr val="000000"/>
                </a:solidFill>
                <a:ea typeface="Microsoft JhengHei"/>
              </a:rPr>
              <a:t>可沿用的資產｜</a:t>
            </a:r>
            <a:r>
              <a:rPr sz="1400" b="0">
                <a:solidFill>
                  <a:srgbClr val="5F6670"/>
                </a:solidFill>
                <a:ea typeface="Microsoft JhengHei"/>
              </a:rPr>
              <a:t>顧問角色、客廳與咖啡店場景、字卡與轉場模板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000" y="4752000"/>
            <a:ext cx="6263999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62000" bIns="162000"/>
          <a:lstStyle/>
          <a:p>
            <a:pPr algn="ctr"/>
            <a:r>
              <a:rPr sz="1400" b="1">
                <a:solidFill>
                  <a:srgbClr val="000000"/>
                </a:solidFill>
                <a:ea typeface="Microsoft JhengHei"/>
              </a:rPr>
              <a:t>5 項到齊後，從第 3 步「劇本・分鏡」開始，約 1–1.5 個工作天交付初版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ea typeface="Microsoft JhengHei"/>
              </a:rPr>
              <a:t>AI 短影音製作流程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  <a:fld id="{B6F15528-21DE-4FAA-801E-634DDDAF4B2B}" type="slidenum"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5BC67D8D-EF23-374C-8C54-E7AC3CBFA581}" vid="{A1C02B5A-F849-624C-9DF9-F10A3E7A73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8ab111-feee-43d5-ae39-1cc54109b907">
      <Terms xmlns="http://schemas.microsoft.com/office/infopath/2007/PartnerControls"/>
    </lcf76f155ced4ddcb4097134ff3c332f>
    <TaxCatchAll xmlns="c073b921-ad56-4673-b5d9-a195076553f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FA7CF8C63F16419874BC6FAEE810E1" ma:contentTypeVersion="10" ma:contentTypeDescription="Create a new document." ma:contentTypeScope="" ma:versionID="045d3df268c4a194119706fbe5127878">
  <xsd:schema xmlns:xsd="http://www.w3.org/2001/XMLSchema" xmlns:xs="http://www.w3.org/2001/XMLSchema" xmlns:p="http://schemas.microsoft.com/office/2006/metadata/properties" xmlns:ns2="ed8ab111-feee-43d5-ae39-1cc54109b907" xmlns:ns3="c073b921-ad56-4673-b5d9-a195076553fc" targetNamespace="http://schemas.microsoft.com/office/2006/metadata/properties" ma:root="true" ma:fieldsID="89f9d691001f2c56f557dea238045b8e" ns2:_="" ns3:_="">
    <xsd:import namespace="ed8ab111-feee-43d5-ae39-1cc54109b907"/>
    <xsd:import namespace="c073b921-ad56-4673-b5d9-a195076553fc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ab111-feee-43d5-ae39-1cc54109b90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3b921-ad56-4673-b5d9-a195076553f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0150f3e-ab4c-44e4-a5fe-144745a1687e}" ma:internalName="TaxCatchAll" ma:showField="CatchAllData" ma:web="c073b921-ad56-4673-b5d9-a195076553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758F2C-2961-4F3E-AF6C-A7AAF8C806B2}">
  <ds:schemaRefs>
    <ds:schemaRef ds:uri="http://schemas.microsoft.com/office/2006/metadata/properties"/>
    <ds:schemaRef ds:uri="http://schemas.microsoft.com/office/infopath/2007/PartnerControls"/>
    <ds:schemaRef ds:uri="c011f47f-2d48-4444-b183-f954f114b012"/>
    <ds:schemaRef ds:uri="ed8ab111-feee-43d5-ae39-1cc54109b907"/>
    <ds:schemaRef ds:uri="c073b921-ad56-4673-b5d9-a195076553fc"/>
  </ds:schemaRefs>
</ds:datastoreItem>
</file>

<file path=customXml/itemProps2.xml><?xml version="1.0" encoding="utf-8"?>
<ds:datastoreItem xmlns:ds="http://schemas.openxmlformats.org/officeDocument/2006/customXml" ds:itemID="{68D53C4A-ECE1-43EB-89FD-C8AD849B10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8ab111-feee-43d5-ae39-1cc54109b907"/>
    <ds:schemaRef ds:uri="c073b921-ad56-4673-b5d9-a195076553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PwC_ppt_template</Template>
  <TotalTime>1</TotalTime>
  <Words>9734</Words>
  <Application>Microsoft Office PowerPoint</Application>
  <PresentationFormat>寬螢幕</PresentationFormat>
  <Paragraphs>1841</Paragraphs>
  <Slides>102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102</vt:i4>
      </vt:variant>
    </vt:vector>
  </HeadingPairs>
  <TitlesOfParts>
    <vt:vector size="107" baseType="lpstr">
      <vt:lpstr>Arial</vt:lpstr>
      <vt:lpstr>Georgia</vt:lpstr>
      <vt:lpstr>Symbol</vt:lpstr>
      <vt:lpstr>Wingdings</vt:lpstr>
      <vt:lpstr>PwC Slide Master</vt:lpstr>
      <vt:lpstr>Cover slide    </vt:lpstr>
      <vt:lpstr>Cover slide image</vt:lpstr>
      <vt:lpstr>Title and content text goes here</vt:lpstr>
      <vt:lpstr>Divider title here lorem ipsum</vt:lpstr>
      <vt:lpstr>Divider title here lorem ipsum </vt:lpstr>
      <vt:lpstr>Divider title here lorem ipsum  </vt:lpstr>
      <vt:lpstr>Title for accessibility</vt:lpstr>
      <vt:lpstr>Title for accessibility     </vt:lpstr>
      <vt:lpstr>Title for accessibility           </vt:lpstr>
      <vt:lpstr>Title for accessibility                  </vt:lpstr>
      <vt:lpstr>Title for accessibility                                                </vt:lpstr>
      <vt:lpstr>Title for accessibility                           </vt:lpstr>
      <vt:lpstr>Title for accessibility                                           </vt:lpstr>
      <vt:lpstr>Content with image. Lorem ipsum dolor sit amet, consectetur adipiscing elit, sed diam nonummy nibh.</vt:lpstr>
      <vt:lpstr>Title for accessibility                                       </vt:lpstr>
      <vt:lpstr>Title for accessibility  </vt:lpstr>
      <vt:lpstr>Agenda</vt:lpstr>
      <vt:lpstr>Agenda </vt:lpstr>
      <vt:lpstr>Agenda  </vt:lpstr>
      <vt:lpstr>Agenda   </vt:lpstr>
      <vt:lpstr>Title for accessibility                                                   </vt:lpstr>
      <vt:lpstr>Content with image. Lorem ipsum dolor sit amet, consectetur adipiscing elit, sed diam nonummy nibh. </vt:lpstr>
      <vt:lpstr>Content with image</vt:lpstr>
      <vt:lpstr>Content  with image</vt:lpstr>
      <vt:lpstr>One content</vt:lpstr>
      <vt:lpstr>One content</vt:lpstr>
      <vt:lpstr>Two content</vt:lpstr>
      <vt:lpstr>Two content</vt:lpstr>
      <vt:lpstr>Two columns with images, lorem ipsum dolor sit amet, consectetur adipiscing elit sed diam</vt:lpstr>
      <vt:lpstr>Two columns with images, lorem ipsum dolor sit amet, consectetur adipiscing elit sed diam </vt:lpstr>
      <vt:lpstr>Two columns with images</vt:lpstr>
      <vt:lpstr>Three content</vt:lpstr>
      <vt:lpstr>Three content</vt:lpstr>
      <vt:lpstr>Three content </vt:lpstr>
      <vt:lpstr>Three content two small images</vt:lpstr>
      <vt:lpstr>Lorem ipsum dolor sit amet</vt:lpstr>
      <vt:lpstr>Three columns with images</vt:lpstr>
      <vt:lpstr>Three columns with images, lorem ipsum dolor sit amet, consect adipiscing elit </vt:lpstr>
      <vt:lpstr>Four content</vt:lpstr>
      <vt:lpstr>Four content</vt:lpstr>
      <vt:lpstr>Four content with images</vt:lpstr>
      <vt:lpstr>Four content with image</vt:lpstr>
      <vt:lpstr>Six content</vt:lpstr>
      <vt:lpstr>Six content</vt:lpstr>
      <vt:lpstr>Six content with numbers</vt:lpstr>
      <vt:lpstr>Six content, numbers, heavy text</vt:lpstr>
      <vt:lpstr>Pictograms</vt:lpstr>
      <vt:lpstr>Pictograms </vt:lpstr>
      <vt:lpstr>Pictograms    </vt:lpstr>
      <vt:lpstr>Pictograms       </vt:lpstr>
      <vt:lpstr>Text and large stat</vt:lpstr>
      <vt:lpstr>Four content infographic</vt:lpstr>
      <vt:lpstr>Three content infographic</vt:lpstr>
      <vt:lpstr>Data and two content</vt:lpstr>
      <vt:lpstr>Data and four stats</vt:lpstr>
      <vt:lpstr>Text and large stat  lorem ipsum dolor sit amet, consectetuer adipiscing elit </vt:lpstr>
      <vt:lpstr>Text and large stat lorem ipsum dolor sit amet, consectetuer adipiscing elit </vt:lpstr>
      <vt:lpstr>Chart and two content</vt:lpstr>
      <vt:lpstr>One column chart </vt:lpstr>
      <vt:lpstr>Three images three content</vt:lpstr>
      <vt:lpstr>Table slide sample</vt:lpstr>
      <vt:lpstr>Table slide sample </vt:lpstr>
      <vt:lpstr>Table slide sample   </vt:lpstr>
      <vt:lpstr>Table slide sample    </vt:lpstr>
      <vt:lpstr>Four team images</vt:lpstr>
      <vt:lpstr>Four team images stacked</vt:lpstr>
      <vt:lpstr>Icons</vt:lpstr>
      <vt:lpstr>Icon library</vt:lpstr>
      <vt:lpstr>Icon library</vt:lpstr>
      <vt:lpstr>Icon library</vt:lpstr>
      <vt:lpstr>Pictograms</vt:lpstr>
      <vt:lpstr>Pictogram library</vt:lpstr>
      <vt:lpstr>Pictogram library</vt:lpstr>
      <vt:lpstr>Pictogram library</vt:lpstr>
      <vt:lpstr>Pictogram library </vt:lpstr>
      <vt:lpstr>Pictogram library </vt:lpstr>
      <vt:lpstr>Pictogram library </vt:lpstr>
      <vt:lpstr>Pictogram library </vt:lpstr>
      <vt:lpstr>Pictogram library </vt:lpstr>
      <vt:lpstr>Pictogram library </vt:lpstr>
      <vt:lpstr>Pictogram library </vt:lpstr>
      <vt:lpstr>Thank you</vt:lpstr>
      <vt:lpstr>Thank you</vt:lpstr>
      <vt:lpstr>Conclusion 1</vt:lpstr>
      <vt:lpstr>Conclusion 2</vt:lpstr>
      <vt:lpstr>Conclusion 3</vt:lpstr>
      <vt:lpstr>Conclusion Photo 1</vt:lpstr>
      <vt:lpstr>Training</vt:lpstr>
      <vt:lpstr>Colour palette</vt:lpstr>
      <vt:lpstr>12 x 12 grid</vt:lpstr>
      <vt:lpstr>How to create a chart template</vt:lpstr>
      <vt:lpstr>How to create charts  from a chart template</vt:lpstr>
      <vt:lpstr>Four brand table styles programmed in templates</vt:lpstr>
      <vt:lpstr>Table design style options  allow custom formats</vt:lpstr>
      <vt:lpstr>Four brand table styles  programmed in templates </vt:lpstr>
      <vt:lpstr>Brand table 1</vt:lpstr>
      <vt:lpstr>Brand table 2</vt:lpstr>
      <vt:lpstr>Brand table 3 </vt:lpstr>
      <vt:lpstr>Brand table 4</vt:lpstr>
      <vt:lpstr>Dashboard table sample slide</vt:lpstr>
      <vt:lpstr>Accessibility check</vt:lpstr>
      <vt:lpstr>PowerPoint keyboard shortcuts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Shih-Chuan Shao (TW)</dc:creator>
  <cp:lastModifiedBy>Shih-Chuan Shao (TW)</cp:lastModifiedBy>
  <cp:revision>1</cp:revision>
  <dcterms:created xsi:type="dcterms:W3CDTF">2026-10-11T09:09:50Z</dcterms:created>
  <dcterms:modified xsi:type="dcterms:W3CDTF">2026-10-11T09:11:09Z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0x01010039FA7CF8C63F16419874BC6FAEE810E1</vt:lpwstr>
  </property>
</Properties>
</file>