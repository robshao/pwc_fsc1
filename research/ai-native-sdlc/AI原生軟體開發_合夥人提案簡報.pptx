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  <p:sldId id="285" r:id="rId46"/>
    <p:sldId id="286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45" Type="http://schemas.openxmlformats.org/officeDocument/2006/relationships/slide" Target="slides/slide29.xml"/><Relationship Id="rId46" Type="http://schemas.openxmlformats.org/officeDocument/2006/relationships/slide" Target="slides/slide30.xml"/><Relationship Id="rId47" Type="http://schemas.openxmlformats.org/officeDocument/2006/relationships/slide" Target="slides/slide31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1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2.pn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infoq.com/news/2025/09/dora-state-of-ai-in-dev-2025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amp.claimsjournal.com/news/national/2025/11/17/334094.htm" TargetMode="External"/><Relationship Id="rId10" Type="http://schemas.openxmlformats.org/officeDocument/2006/relationships/hyperlink" Target="https://www.mckinsey.com/capabilities/tech-and-ai/our-insights/the-top-trends-in-tech" TargetMode="External"/><Relationship Id="rId11" Type="http://schemas.openxmlformats.org/officeDocument/2006/relationships/hyperlink" Target="https://www.allenandgledhill.com/sg/publication/articles/29565/mas-publishes-information-paper-on-ai-model-risk-management" TargetMode="External"/><Relationship Id="rId12" Type="http://schemas.openxmlformats.org/officeDocument/2006/relationships/hyperlink" Target="https://www.leeandli.com/TW/Newsletters/7525.htm" TargetMode="External"/><Relationship Id="rId13" Type="http://schemas.openxmlformats.org/officeDocument/2006/relationships/hyperlink" Target="https://law.lia-roc.org.tw/Law/GetFile/0000394231" TargetMode="External"/><Relationship Id="rId14" Type="http://schemas.openxmlformats.org/officeDocument/2006/relationships/hyperlink" Target="https://www.fsc.gov.tw/websitedowndoc?file=chfsc/202408231741530.pd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原生軟體開發：</a:t>
            </a:r>
          </a:p>
          <a:p>
            <a:r>
              <a:rPr sz="2800">
                <a:latin typeface="Georgia"/>
                <a:ea typeface="微軟正黑體"/>
              </a:rPr>
              <a:t>從一個用例開始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內部｜請 Sam 決定：是否以本提案接觸首批保險客戶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內部審閱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建議：同意以「診斷＋一個用例試點」接觸 1–2 家保險公司；第 13 頁示範完成後再對外。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70332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請您決定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57984"/>
            <a:ext cx="3703320" cy="207735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① 是否同意以本提案接觸首批客戶（候選名單：[待填]）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② 附錄 C 對客戶是否保留同業公司名稱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③ 請 IT 確認第 13 頁示範素材可對外使用，並補一張合併核准紀錄截圖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④ 試點帶隊人：[待填]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推案前要先確認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157984"/>
            <a:ext cx="3703320" cy="20773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・獨立性：候選客戶若為審計客戶，先經 R&amp;Q 確認（尚未檢查）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・客戶關係：先取得負責該客戶的合夥人同意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・責任範圍：AI 產出的責任歸屬寫進合約，待 Legal 確認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・駐點外包廠商：AI 會減少人天，試點前先和客戶 IT 談好廠商角色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055863" y="1691640"/>
            <a:ext cx="370332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規模與資源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2157984"/>
            <a:ext cx="3703320" cy="207735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・診斷約 4–6 週＋試點約 6–8 週（第 17 頁）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・人力配置與報價：[待填]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・團隊分工與決定權見第 3 頁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4404914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考慮過的做法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3977639" y="4404914"/>
            <a:ext cx="5678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評估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692640" y="4404914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結論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777989"/>
            <a:ext cx="3529584" cy="47482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A　診斷＋一個用例試點（建議）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3977639" y="4777989"/>
            <a:ext cx="5678424" cy="47482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金額小、客戶容易說好；試點同時產出對外實績與工具包第一版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692640" y="4777989"/>
            <a:ext cx="2066543" cy="47482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採用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286728"/>
            <a:ext cx="3529584" cy="4748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B　直接賣工具包，客戶自己做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3977639" y="5286728"/>
            <a:ext cx="5678424" cy="4748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我們還沒有對外實績，客戶難以信任方法；維護成本也較高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92640" y="5286728"/>
            <a:ext cx="2066543" cy="4748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實績累積後再推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795467"/>
            <a:ext cx="3529584" cy="47482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C　等示範完成再決定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977639" y="5795467"/>
            <a:ext cx="5678424" cy="47482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風險最低，但獨立性與客戶關係的確認可以先並行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692640" y="5795467"/>
            <a:ext cx="2066543" cy="47482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不等：先做確認，示範完成即出門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內部｜FSC1 團隊分工：BA 管業務與法規，IT 管實作與證明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內部審閱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客戶買的是兩種別人難以複製的能力；決定權先講清楚，示範與報價才不會卡住。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8074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角色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828800" y="1691640"/>
            <a:ext cx="339242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對客戶的定位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257800" y="1691640"/>
            <a:ext cx="197510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對口的客戶角色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269480" y="1691640"/>
            <a:ext cx="448970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負責與決定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30799"/>
            <a:ext cx="1380744" cy="3645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BA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828800" y="2030799"/>
            <a:ext cx="3392424" cy="3645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懂保險業務與法規，讓 AI 一開始就拿到對的需求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257800" y="2030799"/>
            <a:ext cx="1975104" cy="3645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業務單位、法遵與風控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7269480" y="2030799"/>
            <a:ext cx="4489704" cy="3645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主導需求分析與「接受需求」紀錄；提出法規檢查清單（法遵審定）；把工程語言翻成管理層聽得懂的話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429311"/>
            <a:ext cx="138074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Rex（IT）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828800" y="2429311"/>
            <a:ext cx="339242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這套方法的設計者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5257800" y="2429311"/>
            <a:ext cx="197510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IT 主管、架構師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269480" y="2429311"/>
            <a:ext cx="448970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v3 流程與五個關卡；決定示範用例與四象限分類；試點中的技術決定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2827823"/>
            <a:ext cx="138074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Kenny（IT）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828800" y="2827823"/>
            <a:ext cx="339242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每天實際在用的人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5257800" y="2827823"/>
            <a:ext cx="197510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7269480" y="2827823"/>
            <a:ext cx="448970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現場示範與實績表；建置範本、規則與關卡；帶客戶工程師實作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226335"/>
            <a:ext cx="138074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Sam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828800" y="3226335"/>
            <a:ext cx="339242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決策者，也是開門的人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5257800" y="3226335"/>
            <a:ext cx="197510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管理層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7269480" y="3226335"/>
            <a:ext cx="448970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決定推案、對外承諾、報價與人力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624847"/>
            <a:ext cx="138074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Luke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828800" y="3624847"/>
            <a:ext cx="339242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定價與人力（職稱待確認）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257800" y="3624847"/>
            <a:ext cx="197510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採購與財務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269480" y="3624847"/>
            <a:ext cx="448970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提出報價與人力配置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4023359"/>
            <a:ext cx="138074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R&amp;Q、法遵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828800" y="4023359"/>
            <a:ext cx="339242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把關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5257800" y="4023359"/>
            <a:ext cx="197510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269480" y="4023359"/>
            <a:ext cx="448970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決定獨立性；審定法規檢查清單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4532098"/>
            <a:ext cx="325526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客戶可能會問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3703320" y="4532098"/>
            <a:ext cx="805586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建議回答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4871258"/>
            <a:ext cx="325526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跟國際顧問的方案比，我們贏在哪？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3703320" y="4871258"/>
            <a:ext cx="805586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在地法規與可稽核關卡綁在一起，BA 與 IT 同一組人，從客戶的一個真實需求開始（第 18 頁）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411480" y="5269770"/>
            <a:ext cx="325526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寫的程式出事，責任算誰的？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3703320" y="5269770"/>
            <a:ext cx="8055864" cy="3645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能不能上線由客戶指定的人授權，誰核准都查得到（第 16 頁）；合約責任範圍待 Legal 確認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411480" y="5668282"/>
            <a:ext cx="325526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怎麼證明有效？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3703320" y="5668282"/>
            <a:ext cx="8055864" cy="3645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試點前以基準訂好合格線，達標才擴大，未達標就停（第 17 頁）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411480" y="6126147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微軟正黑體"/>
                <a:ea typeface="微軟正黑體"/>
              </a:rPr>
              <a:t>交接點：IT→BA 的示範截圖與數字未交，不約推案會議；BA→IT 的需求說明沒有核准紀錄，不進 SA&amp;D。名字與分工依內部會議資料整理，待確認。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一頁看懂：從一個用例開始，讓 AI 開發可稽核、也更快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週單一用例試點；達到事先講好的標準，才擴大到下一個系統。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7、16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DORA 2025：AI 讓交付變快，但交付穩定度仍在下降。效益取決於需求、審查、上線與控制方式有沒有一起改。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10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自己已經用這套流程開發；懂保險業務與法規的 BA 和實作的 IT 同一組人，從貴公司的一個真實需求開始。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13、18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個候選用例，啟動準備度診斷。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從為什麼現在要做、怎麼做，到帶來什麼價值與如何擴大，說明從一個用例開始的導入方式。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6–8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9–13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價值與衡量、給法遵與風控、你買到什麼、為什麼選我們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14–18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可擴充、可複製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從一個用例逐步擴大、如何開始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19–21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示範情境、延伸方式、同業參考、法規清單、示範追溯、試點風險、研究整合、資料來源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22–31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產出的最終責任已落在保險公司；開發流程要留下「誰要求、AI 做了什麼、誰核准」的紀錄。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責任落在保險公司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2025-12-31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保險業作業委外新辦法施行；AI 自律規範要求保險公司對 AI 結果負最終責任。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來源：理律法律事務所；壽險／產險公會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45864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監理要求可問責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45864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2024-06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245864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金管會 AI 指引要求治理及問責、透明性；新加坡金管局 2024-12 檢視銀行後指出，多數已建 AI 清冊，高風險 AI 須獨立驗證。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245864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來源：金管會；新加坡金融管理局（MAS）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80247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開發需求集中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80247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2026-01-01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80247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IFRS 17 與 TW-ICS 接軌上路，財務、精算與報表相關系統都要跟著調整，新的開發需求集中出現。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080247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來源：金管會保險局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意涵：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紀錄必須在流程裡設計好，不能事後補；新制帶來的系統調整，正好是把 AI 與治理一起導入的時機。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依經驗推估：IT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假設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角色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17007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採購中的角色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43400" y="1691640"/>
            <a:ext cx="38953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他們的問題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27532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我們給的答案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決策與付費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2064715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交付跟不上業務與新制需求；AI 工具用了，整體卻沒變快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275320" y="2064715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一個可量測的用例試點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85428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85428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提出需求、共同贊助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343400" y="2785428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需求來回多輪、上線時間難預期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275320" y="2785428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506142"/>
            <a:ext cx="21579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506142"/>
            <a:ext cx="17007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否決權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343400" y="3506142"/>
            <a:ext cx="389534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委外、個資與 AI 責任；稽核要拿得出紀錄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275320" y="3506142"/>
            <a:ext cx="3483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法規檢查清單、人工關卡、完整紀錄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26855"/>
            <a:ext cx="21579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26855"/>
            <a:ext cx="17007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核准預算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343400" y="4226855"/>
            <a:ext cx="389534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投資要看到回報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275320" y="4226855"/>
            <a:ext cx="3483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小範圍起步，先講好成功標準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040837"/>
            <a:ext cx="11384280" cy="72071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優先客群的條件：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有自建或駐點開發團隊；已有版本控制與 CI；近期有新制相關或核心系統周邊的開發需求。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使用率已達八至九成，但交付穩定度下降；DORA 2026 指出，只買授權不保證回報。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706624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技術團隊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706624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約 90%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在工作中使用 AI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5001768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001768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296912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296912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592055" y="1691640"/>
            <a:ext cx="2203703" cy="33915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592055" y="2073194"/>
            <a:ext cx="2203703" cy="97508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高階主管把生成式 AI 列為 2026 年首要科技投資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交付表現（DORA 2025）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交付速度：轉為正相關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交付穩定度：仍為負相關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既有系統的效益較小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新開發的簡單任務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複雜的既有系統（常見）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研究結論（DORA 2026）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放大器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回報來自內部平台、清楚的流程與團隊協作，不是工具本身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7361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來源：Stack Overflow 2025；Google DORA 2024、2025、2026；JPMorgan（公司自述）；Deloitte Insights 2025；PwC 保險高階主管調查。完整連結見附錄 I。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99048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既有系統的生產力數字為 DORA 2026 引述的 Stanford 研究。DORA 2024 模型估計：AI 採用率每增加 25%，穩定度 −7.2%、速度 −1.5%。顧問業者已推出相關方案（附錄 C）。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可以一路做到正式環境的門口，但不能自己開門。本方法不綁特定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協作開發流程與產出範本〉v3。DORA 2026 建議以不可略過的檢查點、提交前自動檢查、小批次與版本控制承接 AI 帶來的審查負擔，與三個機制一致（附錄 I）。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需要判斷」分四類；第一個試點用例，優先挑左上角工作多的需求。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001000" y="1734034"/>
            <a:ext cx="3794760" cy="3730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對貴公司的意義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先挑左上角：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第一個試點用例，優先挑這類工作多的需求，最快看到效果。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右下角就是五個關卡：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這些決定由貴公司指定的人做，AI 只提供資料（第 11 頁）。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依實際專案調整：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分類在準備度診斷時，依貴公司的專案與規範確認（第 17 頁）。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FSC1 開發流程實務；方法參考 MIT Sloan Management Review，2024。分類為初步判斷。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現場示範：再保險系統主檔模組，從業務規則到上線畫面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團隊的實作為例：業務規則、規格、任務與測試一路相連，每一步都留下文件與紀錄。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08" name="Picture 307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91" y="2098631"/>
            <a:ext cx="2074881" cy="1517737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11480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2" name="Picture 311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035" y="2098631"/>
            <a:ext cx="2074881" cy="1517737"/>
          </a:xfrm>
          <a:prstGeom prst="rect">
            <a:avLst/>
          </a:prstGeom>
        </p:spPr>
      </p:pic>
      <p:sp>
        <p:nvSpPr>
          <p:cNvPr id="313" name="Rectangle 312"/>
          <p:cNvSpPr/>
          <p:nvPr/>
        </p:nvSpPr>
        <p:spPr>
          <a:xfrm>
            <a:off x="2706624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001768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6" name="Picture 315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6179" y="2098631"/>
            <a:ext cx="2074881" cy="1517737"/>
          </a:xfrm>
          <a:prstGeom prst="rect">
            <a:avLst/>
          </a:prstGeom>
        </p:spPr>
      </p:pic>
      <p:sp>
        <p:nvSpPr>
          <p:cNvPr id="317" name="Rectangle 316"/>
          <p:cNvSpPr/>
          <p:nvPr/>
        </p:nvSpPr>
        <p:spPr>
          <a:xfrm>
            <a:off x="5001768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列明驗收場景，最多改 5 個檔案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296912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0" name="Picture 319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1323" y="2098631"/>
            <a:ext cx="2074881" cy="1517737"/>
          </a:xfrm>
          <a:prstGeom prst="rect">
            <a:avLst/>
          </a:prstGeom>
        </p:spPr>
      </p:pic>
      <p:sp>
        <p:nvSpPr>
          <p:cNvPr id="321" name="Rectangle 320"/>
          <p:cNvSpPr/>
          <p:nvPr/>
        </p:nvSpPr>
        <p:spPr>
          <a:xfrm>
            <a:off x="7296912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10 個測試案例，覆蓋率 &gt; 90%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核准與紀錄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592056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4" name="Picture 323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467" y="2098631"/>
            <a:ext cx="2074881" cy="1517737"/>
          </a:xfrm>
          <a:prstGeom prst="rect">
            <a:avLst/>
          </a:prstGeom>
        </p:spPr>
      </p:pic>
      <p:sp>
        <p:nvSpPr>
          <p:cNvPr id="325" name="Rectangle 324"/>
          <p:cNvSpPr/>
          <p:nvPr/>
        </p:nvSpPr>
        <p:spPr>
          <a:xfrm>
            <a:off x="9592056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任務回溯規則代碼，寫入審計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7" name="Picture 326" descr="screen_currenc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7387" y="4303166"/>
            <a:ext cx="2351504" cy="1322721"/>
          </a:xfrm>
          <a:prstGeom prst="rect">
            <a:avLst/>
          </a:prstGeom>
        </p:spPr>
      </p:pic>
      <p:sp>
        <p:nvSpPr>
          <p:cNvPr id="328" name="Rectangle 327"/>
          <p:cNvSpPr/>
          <p:nvPr/>
        </p:nvSpPr>
        <p:spPr>
          <a:xfrm>
            <a:off x="411480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結算幣別選單：清單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233672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30" name="Picture 329" descr="screen_countrie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09579" y="4303166"/>
            <a:ext cx="2351504" cy="1322721"/>
          </a:xfrm>
          <a:prstGeom prst="rect">
            <a:avLst/>
          </a:prstGeom>
        </p:spPr>
      </p:pic>
      <p:sp>
        <p:nvSpPr>
          <p:cNvPr id="331" name="Rectangle 330"/>
          <p:cNvSpPr/>
          <p:nvPr/>
        </p:nvSpPr>
        <p:spPr>
          <a:xfrm>
            <a:off x="4233672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國家選單：新增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055863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33" name="Picture 332" descr="screen_regi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31771" y="4303166"/>
            <a:ext cx="2351504" cy="1322721"/>
          </a:xfrm>
          <a:prstGeom prst="rect">
            <a:avLst/>
          </a:prstGeom>
        </p:spPr>
      </p:pic>
      <p:sp>
        <p:nvSpPr>
          <p:cNvPr id="334" name="Rectangle 333"/>
          <p:cNvSpPr/>
          <p:nvPr/>
        </p:nvSpPr>
        <p:spPr>
          <a:xfrm>
            <a:off x="8055863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區域選單：新增與提醒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文件為 TASK-000013「金融機構主檔」任務包原文節錄；畫面取自同一系統的示範錄影，使用測試資料。追溯表見附錄 E。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帶來什麼價值：每個痛點對應一項成果與衡量指標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試點以流程指標驗收；DORA 四項交付指標需要較長期間與足夠的上線次數，於擴大階段起追蹤。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606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解決方式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53212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商業價值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8458200" y="1691640"/>
            <a:ext cx="3300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微軟正黑體"/>
                <a:ea typeface="微軟正黑體"/>
              </a:rPr>
              <a:t>→ 衡量指標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需求來回多輪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606040" y="2064715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業務和 AI 一起寫需求說明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532120" y="2064715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新功能更快上線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458200" y="2064715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從第一次討論到需求定稿的時間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76949"/>
            <a:ext cx="2157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審查排隊、品質看人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606040" y="2776949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先審、人判斷風險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5532120" y="2776949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工程師把時間花在需要判斷的工作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8458200" y="2776949"/>
            <a:ext cx="3300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第一次審查的等待時間、返工次數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489184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2606040" y="3489184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每次改動自行測試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5532120" y="3489184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上線事故減少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458200" y="3489184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變更失敗率、復原時間（DORA，擴大階段）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201418"/>
            <a:ext cx="2157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法規與稽核壓力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2606040" y="4201418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規範規則＋自動關卡＋紀錄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5532120" y="4201418"/>
            <a:ext cx="288950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金檢與內稽時拿得出佐證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8458200" y="4201418"/>
            <a:ext cx="3300984" cy="6783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內稽調閱佐證所需時間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913653"/>
            <a:ext cx="2157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交付慢且難預期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606040" y="4913653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每階段交出檔案，下一步直接接手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532120" y="4913653"/>
            <a:ext cx="288950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交付時間可預期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8458200" y="4913653"/>
            <a:ext cx="3300984" cy="67831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交付時間、部署頻率（DORA，擴大階段）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76155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四項指標（部署頻率、交付時間、變更失敗率、復原時間）為業界通用的交付績效指標。效益不預先承諾數字，以實測為準。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DORA 2026：回收期 6–9 個月是敏捷團隊的優異目標；需要大量治理的大型企業導入，12–18 個月屬可接受。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給法遵與風控：每一個 AI 產出，都查得到誰要求、誰核准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金檢與內稽會問的五個問題，在流程中都有對應的做法與紀錄；條文對照見附錄 D，實例見附錄 E。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2552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金檢與內稽會問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703320" y="1691640"/>
            <a:ext cx="50840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流程中的做法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59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留下的紀錄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AI 工具有沒有納入委外管理與 AI 清冊？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703320" y="2064715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診斷時判斷是否屬委外並登錄 AI 清冊；高風險用途加審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59" y="2064715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委外判斷紀錄、AI 清冊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692159"/>
            <a:ext cx="32552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客戶個資有沒有進到 AI？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3703320" y="2692159"/>
            <a:ext cx="50840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資料分級；集中設定禁止讀取機密檔與金鑰；試點用假資料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59" y="2692159"/>
            <a:ext cx="293522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設定檔與存取紀錄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319604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這個改動是誰核准上線的？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3703320" y="3319604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五個關卡各有指定核准人；寫程式的 AI 不能核准自己的程式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59" y="3319604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核准紀錄（人、時間、版本）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947049"/>
            <a:ext cx="32552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出事能不能退回？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703320" y="3947049"/>
            <a:ext cx="50840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退版流程事先演練；AI 建議退版，服務負責人核准後執行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59" y="3947049"/>
            <a:ext cx="293522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演練與事件紀錄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4574493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AI 做了什麼，事後查得到嗎？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3703320" y="4574493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需求說明、規格、實作計畫與測試結果版本化保存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823959" y="4574493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完整的文件軌跡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33760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502920" y="533760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對法遵的意義：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使用從「難以稽核的個人行為」變成「有紀錄的流程」。法規檢查清單為草稿，診斷時與貴公司法遵逐條確認。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你買到什麼：先診斷，再做一個用例的試點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・挑出第一個用例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瓶頸地圖、法規檢查結果、用例建議、導入藍圖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一個用例的試點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41650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・合格線：以診斷期量到的基準，試點前約定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擴大到下一個用例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786468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786468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379997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5379997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我們的團隊：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懂保險業務與法規的 BA 主導需求與法規檢查，IT 主導實作與示範；同一組人從診斷做到試點。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期程依範圍確認。擴大階段、工具包授權與駐點支援可依需求討論。試點風險與因應見附錄 F。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為什麼選我們：已在用的做法，加上在地法規與可稽核關卡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國際方案多以預建代理與藍圖為主；我們綁上在地法規與可稽核關卡，從貴公司的一個真實需求開始。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差異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2788920" y="1691640"/>
            <a:ext cx="5998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貴公司得到什麼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證據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23408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788920" y="2064715"/>
            <a:ext cx="599846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我們自己的開發流程已經這樣運作：各階段的產出、AI 分工與檢查點都已定義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60" y="2064715"/>
            <a:ext cx="2935224" cy="91573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現場示範（第 13 頁）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014361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台灣保險法規內建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788920" y="3014361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自律規範與金管會指引，對應到開發的每一步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60" y="3014361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法規檢查清單（附錄 D）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964007"/>
            <a:ext cx="23408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懂保險業務與在地系統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2788920" y="3964007"/>
            <a:ext cx="599846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用例直接選理賠、核保、核心系統周邊等真實流程，不必從頭解釋業務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3964007"/>
            <a:ext cx="29352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[待補：2–3 個 FSC1 保險業專案]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913653"/>
            <a:ext cx="23408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2788920" y="4913653"/>
            <a:ext cx="599846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誰核准、何時核准都查得到；寫程式的 AI 不能核准自己的程式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60" y="4913653"/>
            <a:ext cx="29352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關卡設計（第 11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同業具體產品與來源見附錄 C。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可擴充、可複製</a:t>
            </a:r>
          </a:p>
          <a:p>
            <a:r>
              <a:rPr sz="3000">
                <a:latin typeface="Georgia"/>
                <a:ea typeface="微軟正黑體"/>
              </a:rPr>
              <a:t>Scalable and repeatable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從一個用例開始，驗證價值後再逐步擴大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每一步只承諾下一步、每一步都可以停，不必一開始就承諾全面轉型。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811385"/>
            <a:ext cx="2057400" cy="118705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1　一個用例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試點一個範圍小、可量測的需求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560320" y="3175461"/>
            <a:ext cx="2057400" cy="1822981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對照試點前講好的成功標準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256032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709160" y="2539538"/>
            <a:ext cx="2057400" cy="245890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3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70916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承諾：下一個用例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858000" y="1903614"/>
            <a:ext cx="2057400" cy="309482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集中管理設定，統一關卡與紀錄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858000" y="5057795"/>
            <a:ext cx="205740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98280" y="1691640"/>
            <a:ext cx="2697480" cy="387489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風險小：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第一步只動一個用例。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成本可控：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有數據才擴大：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每一步都對照同一套指標。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越做越快：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範本與規則沿用，下一個用例不必從頭來。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先講好 J 曲線：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DORA 2026 指出導入初期會有短暫下滑，常見的失敗是在低谷時撤資；成功標準與期間事先講好。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571915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各用例可沿用與需客製的內容、延伸到其他系統與產業的方式，見附錄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如何開始：先看現場示範，再挑一個用例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從現場示範到啟動診斷共三步；請貴公司先指定窗口，並提供候選需求清單。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選定用例與成功標準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用例試點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用貴公司提供的一個需求，示範從需求說明到核准紀錄。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對齊工作坊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挑 1–2 個候選用例，確認前提與限制。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啟動準備度診斷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確認範圍與雙方窗口，開始盤點現況與法規檢查。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前一個用例達標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貴公司的資安與命名規範、系統與工具串接、資料分級與核准人、用例題目與基準、委外安排。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E｜示範案例：每條業務規則都追溯到測試與任務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以再保險系統「金融機構主檔」為例；稽核時從任一條規則，都找得到對應的使用案例、測試與程式範圍。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業務規則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0690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使用案例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44652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測試案例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開發任務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BR-FI-01　代碼唯一性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06908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44652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TC-FI-03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823960" y="2064715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3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39538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BR-FI-02　引用後鎖定唯讀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06908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4652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2539538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14361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BR-FI-03　引用防刪與軟作廢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06908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UC-FI-04、UC-FI-06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44652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TC-FI-07、TC-FI-08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823960" y="3014361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89184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BR-FI-04　SWIFT/BIC 格式檢核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06908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44652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823960" y="3489184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4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64007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BR-FI-05　作廢資料隔離與追溯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06908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UC-FI-06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44652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8823960" y="3964007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38830"/>
            <a:ext cx="36210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BR-FI-06　制裁連動與主管覆核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06908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UC-FI-03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44652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TC-FI-05、TC-FI-06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823960" y="4438830"/>
            <a:ext cx="29352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13653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BR-FI-07　順序自動計算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06908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44652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TC-FI-02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8823960" y="4913653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2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42239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42239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追溯表的用處：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缺口一眼看得出來：BR-FI-02、BR-FI-05 目前沒有對應的測試案例；任務包只附 001 與 005 兩個任務。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605831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TASK-000013 任務包（SA、使用案例、QA 規格與任務文件）；任務與規則的對應依任務內容判讀，待 IT 團隊確認。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F｜試點風險與因應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試點前就講好可能出問題的地方、怎麼提早發現，以及誰負責處理。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風險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提早發現的訊號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事前降低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98079" y="1691640"/>
            <a:ext cx="2386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發生時的應變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用例效益偏低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用例落在複雜的既有系統，重複性工作少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892040" y="2064715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診斷時優先挑「常發生、判斷少」工作多的需求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98079" y="2064715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調整範圍或換用例，不硬撐到底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921240" y="2064715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PwC（BA、IT）＋貴公司 IT 主管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85428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初期下滑被誤判（J 曲線）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85428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前幾週需求定稿與審查時間變長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892040" y="2785428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試點前講好預期的下滑與觀察期間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98079" y="2785428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依約定期間判斷，不在低谷時中止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921240" y="2785428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貴公司管理層＋PwC 帶隊人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506142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個資或機密進入 AI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506142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設定或存取紀錄出現例外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892040" y="3506142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資料分級；試點用假資料；集中設定禁止讀取機密檔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98079" y="3506142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立即停用該工具、通報並檢討設定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21240" y="3506142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貴公司資安＋PwC 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26855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工具未獲內部核准，時程延誤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4226855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 2 週仍未完成委外判斷與清冊登錄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226855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診斷第一週就啟動委外判斷與清冊登錄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98079" y="4226855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先用已核准的工具試點，或調整時程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4226855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貴公司法遵、IT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947569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駐點團隊配合度低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947569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試點任務排不進工作、出席率低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892040" y="4947569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試點前與 IT 主管談好駐點團隊的角色與工時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98079" y="4947569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改由貴公司自有人員或 PwC 補位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921240" y="4947569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貴公司 IT 主管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依 DORA 2026（J 曲線、既有系統效益）與試點規劃整理；正式清單於診斷時與貴公司共同確認。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G｜示範錄影：再保險系統主檔模組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內部參考：IT 團隊的三段示範錄影（各約 5 秒），點擊畫面播放；對外以現場示範為主。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pic>
        <p:nvPicPr>
          <p:cNvPr id="306" name="video_countrie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1480" y="1818824"/>
            <a:ext cx="3703320" cy="2083117"/>
          </a:xfrm>
          <a:prstGeom prst="rect">
            <a:avLst/>
          </a:prstGeom>
        </p:spPr>
      </p:pic>
      <p:sp>
        <p:nvSpPr>
          <p:cNvPr id="307" name="Rectangle 306"/>
          <p:cNvSpPr/>
          <p:nvPr/>
        </p:nvSpPr>
        <p:spPr>
          <a:xfrm>
            <a:off x="411480" y="3969774"/>
            <a:ext cx="3703320" cy="2967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Georgia"/>
                <a:ea typeface="微軟正黑體"/>
              </a:rPr>
              <a:t>國家選單</a:t>
            </a:r>
          </a:p>
        </p:txBody>
      </p:sp>
      <p:pic>
        <p:nvPicPr>
          <p:cNvPr id="308" name="video_regions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233672" y="1818824"/>
            <a:ext cx="3703320" cy="2083117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233672" y="3969774"/>
            <a:ext cx="3703320" cy="2967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Georgia"/>
                <a:ea typeface="微軟正黑體"/>
              </a:rPr>
              <a:t>區域選單</a:t>
            </a:r>
          </a:p>
        </p:txBody>
      </p:sp>
      <p:pic>
        <p:nvPicPr>
          <p:cNvPr id="310" name="video_currencies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55863" y="1818824"/>
            <a:ext cx="3703320" cy="2083117"/>
          </a:xfrm>
          <a:prstGeom prst="rect">
            <a:avLst/>
          </a:prstGeom>
        </p:spPr>
      </p:pic>
      <p:sp>
        <p:nvSpPr>
          <p:cNvPr id="311" name="Rectangle 310"/>
          <p:cNvSpPr/>
          <p:nvPr/>
        </p:nvSpPr>
        <p:spPr>
          <a:xfrm>
            <a:off x="8055863" y="3969774"/>
            <a:ext cx="3703320" cy="2967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Georgia"/>
                <a:ea typeface="微軟正黑體"/>
              </a:rPr>
              <a:t>結算幣別選單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錄影使用測試資料；對外使用前請 IT 確認不含客戶資料或客戶專屬設計。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0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0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10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H｜研究整合：兩份研究互補，衝突處的取捨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內部參考：兩份研究的差異，以及本提案採用哪一邊、為什麼。提交客戶前移除本頁。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426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主題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874520" y="1691640"/>
            <a:ext cx="29809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研究一：FSC1 開發流程 v3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研究二：AI 原生 SDLC 說明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818120" y="1691640"/>
            <a:ext cx="394106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本提案的取捨與原因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流程階段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874520" y="2064715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五階段：需求分析、SA&amp;D、開發、測試、上版／交付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892040" y="2064715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六階段：規劃、設計、開發、測試、上線、維運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7818120" y="2064715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採研究一的名稱，加上維運：保險業 IT 熟悉這些用語；維運讓流程形成循環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26075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控制方式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874520" y="2726075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Prompt 撰寫原則＋IT 人工 Review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892040" y="2726075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技能、鉤子、集中管理設定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818120" y="2726075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分層：Prompt 為第一層，往規則與自動關卡加強；受監理行業需要可強制的控制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387436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關卡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874520" y="3387436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每階段文件確認後進下一階段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892040" y="3387436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五個關鍵決定由指定的人核准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7818120" y="3387436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保留研究一的檢查點，補上指定核准人與紀錄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048796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效益說法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874520" y="4048796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未提數字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892040" y="4048796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手冊預期「數週到數小時」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7818120" y="4048796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不承諾數字，以試點實測；外部證據改用 DORA 等獨立研究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710157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實作證據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874520" y="4710157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各階段案例頁待補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710157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實績頁待 IT 團隊填寫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818120" y="4710157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以 IT 示範補上：再保險系統主檔模組（第 13 頁）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371518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服務內容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874520" y="5371518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未涵蓋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892040" y="5371518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四個服務模組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818120" y="5371518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對外收斂為「診斷＋一個用例試點」，其餘依需求討論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I｜資料來源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 AI 原生軟體開發提案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992643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293647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594651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895655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InfoQ，DORA 2025 State of AI-assisted Software Development 整理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3196659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497663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798666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Claims Journal，PwC 保險高階主管調查（57%），2025-11-17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4099670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McKinsey，Technology Trends Outlook 2026（代理式軟體開發列為新趨勢）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00674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Allen &amp; Gledhill，MAS 發布 AI 模型風險管理資訊文件（2024-12-05）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701678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理律法律事務所，保險業作業委外新辦法（2025-12-31 施行）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002682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壽險／產險公會，保險業運用人工智慧系統自律規範（2025-04-10 備查）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303686"/>
            <a:ext cx="11384280" cy="27980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100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金管會，金融業運用人工智慧（AI）指引，2024-06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604690"/>
            <a:ext cx="11384280" cy="27980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