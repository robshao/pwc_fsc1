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hyperlink" Target="https://www.infoq.com/news/2025/09/dora-state-of-ai-in-dev-2025" TargetMode="External"/><Relationship Id="rId7" Type="http://schemas.openxmlformats.org/officeDocument/2006/relationships/hyperlink" Target="https://finance.yahoo.com/news/jpmorgan-engineers-efficiency-jumps-much-190410471.html" TargetMode="External"/><Relationship Id="rId8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9" Type="http://schemas.openxmlformats.org/officeDocument/2006/relationships/hyperlink" Target="https://amp.claimsjournal.com/news/national/2025/11/17/334094.htm" TargetMode="External"/><Relationship Id="rId10" Type="http://schemas.openxmlformats.org/officeDocument/2006/relationships/hyperlink" Target="https://www.mckinsey.com/capabilities/tech-and-ai/our-insights/the-top-trends-in-tech" TargetMode="External"/><Relationship Id="rId11" Type="http://schemas.openxmlformats.org/officeDocument/2006/relationships/hyperlink" Target="https://www.allenandgledhill.com/sg/publication/articles/29565/mas-publishes-information-paper-on-ai-model-risk-management" TargetMode="External"/><Relationship Id="rId12" Type="http://schemas.openxmlformats.org/officeDocument/2006/relationships/hyperlink" Target="https://www.leeandli.com/TW/Newsletters/7525.htm" TargetMode="External"/><Relationship Id="rId13" Type="http://schemas.openxmlformats.org/officeDocument/2006/relationships/hyperlink" Target="https://law.lia-roc.org.tw/Law/GetFile/0000394231" TargetMode="External"/><Relationship Id="rId14" Type="http://schemas.openxmlformats.org/officeDocument/2006/relationships/hyperlink" Target="https://www.fsc.gov.tw/websitedowndoc?file=chfsc/202408231741530.pd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原生軟體開發：</a:t>
            </a:r>
          </a:p>
          <a:p>
            <a:r>
              <a:rPr sz="2800">
                <a:latin typeface="Georgia"/>
                <a:ea typeface="微軟正黑體"/>
              </a:rPr>
              <a:t>從一個用例開始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內部｜請 Sam 決定：是否以本提案接觸首批保險客戶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內部審閱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建議：同意以「診斷＋一個用例試點」接觸 1–2 家保險公司；第 12 頁示範完成後再對外。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370332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請您決定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57984"/>
            <a:ext cx="3703320" cy="19925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① 是否同意以本提案接觸首批客戶（候選名單：[待填]）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② 附錄 C 對客戶是否保留同業公司名稱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③ 指派 IT 同仁完成第 12 頁示範畫面（目標日期：[待填]）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推案前要先確認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157984"/>
            <a:ext cx="3703320" cy="1992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・獨立性：候選客戶若為 PwC 審計客戶，先經 Risk &amp; Quality 確認（狀態：尚未檢查）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・責任範圍：上線由客戶指定的人授權；AI 產出的責任歸屬寫進合約，條文待 Legal 確認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・示範：畫面完成前，提案不對外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055863" y="1691640"/>
            <a:ext cx="370332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規模與資源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2157984"/>
            <a:ext cx="3703320" cy="1992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・準備度診斷約 4–6 週＋一個用例試點約 6–8 週（第 15 頁）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・人力配置與報價：[待填]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・IT 團隊：示範準備，以及試點期間的技術支援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4320124"/>
            <a:ext cx="32552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預期會被問的問題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3703320" y="4320124"/>
            <a:ext cx="8055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建議回答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693199"/>
            <a:ext cx="3255264" cy="54265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跟國際顧問的方案比，我們贏在哪？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3703320" y="4693199"/>
            <a:ext cx="8055864" cy="54265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在地法規與可稽核關卡綁在一起，並從客戶的一個真實需求開始（第 16 頁；同業見附錄 C）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269770"/>
            <a:ext cx="3255264" cy="54265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AI 寫的程式出事，責任算誰的？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703320" y="5269770"/>
            <a:ext cx="8055864" cy="54265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能不能上線由客戶指定的人授權，誰核准都查得到（第 10 頁）；合約責任範圍待 Legal 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846341"/>
            <a:ext cx="3255264" cy="54265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怎麼證明有效？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3703320" y="5846341"/>
            <a:ext cx="8055864" cy="54265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試點前雙方講好指標與合格線，達標才擴大，未達標就停（第 15 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一頁看懂：從一個用例開始，證明 AI 開發更快也可稽核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提案摘要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週單一用例試點；達到事先講好的標準，才擴大到下一個系統。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6 頁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DORA 2025：AI 讓交付變快，但交付穩定度仍在下降。效益取決於需求、審查、上線與控制方式有沒有一起改。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9 頁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自己已經用這套流程開發；台灣保險法規對應到每個關卡；從貴公司的一個真實需求開始，不必全面轉型。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12、16 頁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個候選用例，啟動準備度診斷。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議程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從為什麼現在要做、怎麼做，到帶來什麼價值與如何擴大，說明從一個用例開始的導入方式。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5–7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8–12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價值與衡量、你買到什麼、為什麼選我們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13–16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可擴充、可複製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從一個用例逐步擴大、如何開始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17–19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示範情境、延伸方式、同業參考、法規清單、研究整合、資料來源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20–26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產出的最終責任已落在保險公司；開發流程要留下「誰要求、AI 做了什麼、誰核准」的紀錄。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責任落在保險公司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2025-12-31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保險業作業委外新辦法施行；AI 自律規範要求保險公司對 AI 結果負最終責任。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來源：理律法律事務所；壽險／產險公會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45864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監理要求可問責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45864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2024-06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245864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金管會 AI 指引要求治理及問責、透明性；新加坡金管局 2024-12 檢視銀行後指出，多數已建 AI 清冊，高風險 AI 須獨立驗證。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245864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來源：金管會；新加坡金融管理局（MAS）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80247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開發需求集中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80247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2026-01-01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80247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IFRS 17 與 TW-ICS 接軌上路，財務、精算與報表相關系統都要跟著調整，新的開發需求集中出現。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080247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來源：金管會保險局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意涵：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紀錄必須在流程裡設計好，不能事後補；新制帶來的系統調整，正好是把 AI 與治理一起導入的時機。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依經驗推估：IT 主管決策與付費，法遵、風控與資安握有否決權；決策鏈需在診斷訪談中確認。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假設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角色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17007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採購中的角色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43400" y="1691640"/>
            <a:ext cx="38953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他們的問題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27532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我們給的答案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決策與付費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2064715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交付跟不上業務與新制需求；AI 工具用了，整體卻沒變快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275320" y="2064715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一個可量測的用例試點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85428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785428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提出需求、共同贊助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343400" y="2785428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需求來回多輪、上線時間難預期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275320" y="2785428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506142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506142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否決權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343400" y="3506142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委外、個資與 AI 責任；稽核要拿得出紀錄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275320" y="3506142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法規檢查清單、人工關卡、完整紀錄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226855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226855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核准預算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343400" y="4226855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投資要看到回報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275320" y="4226855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小範圍起步，先講好成功標準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040837"/>
            <a:ext cx="11384280" cy="72071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優先客群的條件：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有自建或駐點開發團隊；已有版本控制與 CI；近期有新制相關或核心系統周邊的開發需求。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使用率已達八至九成，但交付穩定度下降；DORA 2026 指出，只買授權不保證回報。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706624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技術團隊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706624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約 90%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在工作中使用 AI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5001768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001768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296912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296912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592055" y="1691640"/>
            <a:ext cx="2203703" cy="33915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592055" y="2073194"/>
            <a:ext cx="2203703" cy="97508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高階主管把生成式 AI 列為 2026 年首要科技投資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交付表現（DORA 2025）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交付速度：轉為正相關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交付穩定度：仍為負相關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既有系統的效益較小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新開發的簡單任務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複雜的既有系統（常見）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研究結論（DORA 2026）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放大器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回報來自內部平台、清楚的流程與團隊協作，不是工具本身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57361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來源：Stack Overflow 2025；Google DORA 2024、2025、2026；JPMorgan（公司自述）；Deloitte Insights 2025；PwC 保險高階主管調查。完整連結見附錄 F。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99048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既有系統的生產力數字為 DORA 2026 引述的 Stanford 研究。DORA 2024 模型估計：AI 採用率每增加 25%，穩定度 −7.2%、速度 −1.5%。顧問業者已推出相關方案（附錄 C）。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可以一路做到正式環境的門口，但不能自己開門。本方法不綁特定 AI 工具，依貴公司政策與合約選定。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協作開發流程與產出範本〉v3。DORA 2026 建議以不可略過的檢查點、提交前自動檢查、小批次與版本控制承接 AI 帶來的審查負擔，與三個機制一致（附錄 F）。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需要判斷」分四類；第一個試點用例，優先挑左上角工作多的需求。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001000" y="1734034"/>
            <a:ext cx="3794760" cy="3730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對貴公司的意義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先挑左上角：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第一個試點用例，優先挑這類工作多的需求，最快看到效果。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右下角就是五個關卡：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這些決定由貴公司指定的人做，AI 只提供資料（第 10 頁）。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依實際專案調整：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分類在準備度診斷時，依貴公司的專案與規範確認（第 15 頁）。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FSC1 開發流程實務；方法參考 MIT Sloan Management Review，2024。分類為初步判斷。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現場示範：用一個用例走完從需求到上線的每一步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FSC1 已在使用這套做法；現場可用貴公司提供的一個需求，走完以下五個步驟。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業務需求 → AI 追問 → 定稿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06624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起草，自動套用規範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001768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001768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核准前 AI 不能改程式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296912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296912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296912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自己跑測試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592056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核准與紀錄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592056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592056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誰核准、何時，查得到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4404914"/>
            <a:ext cx="370332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證明 1：不是概念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我們自己已經在用，畫面是實際操作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233672" y="4404914"/>
            <a:ext cx="370332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證明 2：每一步可稽核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每個關卡都有人核准、留下紀錄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55863" y="4404914"/>
            <a:ext cx="370332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證明 3：一個用例就能開始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不需要先改造整個 IT 部門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6478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示範畫面由 FSC1 IT 團隊提供，使用假資料，不含任何客戶資料。現場示範可用貴公司提供的一個需求進行。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帶來什麼價值：每個痛點對應一項成果與衡量指標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試點以流程指標驗收；DORA 四項交付指標需要較長期間與足夠的上線次數，於擴大階段起追蹤。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解決方式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53212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商業價值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458200" y="1691640"/>
            <a:ext cx="3300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衡量指標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需求來回多輪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532120" y="2064715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新功能更快上線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458200" y="2064715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從第一次討論到需求定稿的時間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76949"/>
            <a:ext cx="2157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審查排隊、品質看人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776949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先審、人判斷風險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5532120" y="2776949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工程師把時間花在需要判斷的工作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458200" y="2776949"/>
            <a:ext cx="3300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第一次審查的等待時間、返工次數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489184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489184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每次改動自行測試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5532120" y="3489184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上線事故減少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458200" y="3489184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變更失敗率、復原時間（DORA，擴大階段）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201418"/>
            <a:ext cx="2157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法規與稽核壓力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201418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規範規則＋自動關卡＋紀錄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5532120" y="4201418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金檢與內稽時拿得出佐證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458200" y="4201418"/>
            <a:ext cx="3300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內稽調閱佐證所需時間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913653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交付慢且難預期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606040" y="4913653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每階段交出檔案，下一步直接接手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532120" y="4913653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交付時間可預期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8458200" y="4913653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交付時間、部署頻率（DORA，擴大階段）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76155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四項指標（部署頻率、交付時間、變更失敗率、復原時間）為業界通用的交付績效指標。效益不預先承諾數字，以實測為準。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2026：回收期 6–9 個月是敏捷團隊的優異目標；需要大量治理的大型企業導入，12–18 個月屬可接受。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你買到什麼：先診斷，再做一個用例的試點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成功標準在試點前雙方講好，達標才擴大；固定範圍、固定價格，金額另行報價。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・挑出第一個用例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・雙方訂好成功標準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瓶頸地圖、法規檢查結果、用例建議、導入藍圖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50873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一個用例的試點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・建立範本、規範規則與關卡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818824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50873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242773"/>
            <a:ext cx="3520440" cy="2204535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・需求定稿時間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・第一次審查等待時間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・返工次數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・核准紀錄完整（流程內建的必要條件）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擴大到下一個用例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659283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4659283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295207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期程依範圍確認。擴大階段、工具包授權與駐點支援可依需求討論。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為什麼選我們：已在用的做法，加上在地法規與可稽核關卡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國際方案多以預建代理與藍圖為主；我們綁上在地法規與可稽核關卡，從貴公司的一個真實需求開始。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差異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2788920" y="1691640"/>
            <a:ext cx="5998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貴公司得到什麼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證據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23408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88920" y="2064715"/>
            <a:ext cx="59984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我們自己的開發流程已經這樣運作：各階段的產出、AI 分工與檢查點都已定義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60" y="2064715"/>
            <a:ext cx="293522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現場示範（第 12 頁）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014361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台灣保險法規內建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788920" y="3014361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自律規範與金管會指引，對應到開發的每一步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60" y="3014361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法規檢查清單（附錄 D）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964007"/>
            <a:ext cx="23408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懂保險業務與在地系統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788920" y="3964007"/>
            <a:ext cx="59984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用例直接選理賠、核保、核心系統周邊等真實流程，不必從頭解釋業務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3964007"/>
            <a:ext cx="29352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[待補：2–3 個 FSC1 保險業專案]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913653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2788920" y="4913653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誰核准、何時核准都查得到；寫程式的 AI 不能核准自己的程式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60" y="4913653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關卡設計（第 10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同業具體產品與來源見附錄 C。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可擴充、可複製</a:t>
            </a:r>
          </a:p>
          <a:p>
            <a:r>
              <a:rPr sz="3000">
                <a:latin typeface="Georgia"/>
                <a:ea typeface="微軟正黑體"/>
              </a:rPr>
              <a:t>Scalable and repeatable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從一個用例開始，驗證價值後再逐步擴大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每一步只承諾下一步、每一步都可以停，不必一開始就承諾全面轉型。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811385"/>
            <a:ext cx="2057400" cy="118705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1　一個用例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試點一個範圍小、可量測的需求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560320" y="3175461"/>
            <a:ext cx="2057400" cy="1822981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對照試點前講好的成功標準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56032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709160" y="2539538"/>
            <a:ext cx="2057400" cy="24589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3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70916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承諾：下一個用例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858000" y="1903614"/>
            <a:ext cx="2057400" cy="309482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集中管理設定，統一關卡與紀錄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85800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098280" y="1691640"/>
            <a:ext cx="2697480" cy="387489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為什麼這樣做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風險小：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第一步只動一個用例。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成本可控：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有數據才擴大：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每一步都對照同一套指標。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越做越快：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範本與規則沿用，下一個用例不必從頭來。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先講好 J 曲線：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DORA 2026 指出導入初期會有短暫下滑，常見的失敗是在低谷時撤資；成功標準與期間事先講好。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571915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各用例可沿用與需客製的內容、延伸到其他系統與產業的方式，見附錄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如何開始：先看現場示範，再挑一個用例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從現場示範到啟動診斷共三步；請貴公司先指定窗口，並提供候選需求清單。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選定用例與成功標準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用例試點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用貴公司提供的一個需求，示範從需求說明到核准紀錄。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對齊工作坊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挑 1–2 個候選用例，確認前提與限制。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啟動準備度診斷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確認範圍與雙方窗口，開始盤點現況與法規檢查。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前一個用例達標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貴公司的資安與命名規範、系統與工具串接、資料分級與核准人、用例題目與基準、委外安排。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E｜研究整合：兩份研究互補，衝突處的取捨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內部參考：兩份研究的差異，以及本提案採用哪一邊、為什麼。提交客戶前移除本頁。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426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主題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874520" y="1691640"/>
            <a:ext cx="29809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研究一：FSC1 開發流程 v3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研究二：AI 原生 SDLC 說明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818120" y="1691640"/>
            <a:ext cx="394106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本提案的取捨與原因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流程階段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874520" y="2064715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五階段：需求分析、SA&amp;D、開發、測試、上版／交付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892040" y="2064715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六階段：規劃、設計、開發、測試、上線、維運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7818120" y="2064715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採研究一的名稱，加上維運：保險業 IT 熟悉這些用語；維運讓流程形成循環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26075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控制方式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874520" y="2726075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Prompt 撰寫原則＋IT 人工 Review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892040" y="2726075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技能、鉤子、集中管理設定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818120" y="2726075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分層：Prompt 為第一層，往規則與自動關卡加強；受監理行業需要可強制的控制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387436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關卡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874520" y="3387436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每階段文件確認後進下一階段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892040" y="3387436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五個關鍵決定由指定的人核准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7818120" y="3387436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保留研究一的檢查點，補上指定核准人與紀錄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048796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效益說法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874520" y="4048796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未提數字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892040" y="4048796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手冊預期「數週到數小時」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7818120" y="4048796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不承諾數字，以試點實測；外部證據改用 DORA 等獨立研究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710157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實作證據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874520" y="4710157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各階段案例頁待補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710157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實績頁待 IT 團隊填寫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818120" y="4710157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以 IT 現場示範補上（第 12 頁）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371518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服務內容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874520" y="5371518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未涵蓋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892040" y="5371518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四個服務模組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7818120" y="5371518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對外收斂為「診斷＋一個用例試點」，其餘依需求討論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F｜資料來源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新聞稿（84%）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992643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293647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90%、速度與穩定度）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594651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DORA，The ROI of AI-assisted Software Development，v.2026.1（放大器、J 曲線、既有系統效益、回收期）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895655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InfoQ，DORA 2025 State of AI-assisted Software Development 整理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3196659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Yahoo Finance，JPMorgan 工程師使用寫程式助手效率提升至多 20%，2025-03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497663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Deloitte Insights，AI and bank software development，2025（Citi 3 萬名開發者）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3798666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Claims Journal，PwC 保險高階主管調查（57%），2025-11-17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4099670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McKinsey，Technology Trends Outlook 2026（代理式軟體開發列為新趨勢）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00674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Allen &amp; Gledhill，MAS 發布 AI 模型風險管理資訊文件（2024-12-05）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701678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理律法律事務所，保險業作業委外新辦法（2025-12-31 施行）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002682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壽險／產險公會，保險業運用人工智慧系統自律規範（2025-04-10 備查）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303686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4"/>
              </a:rPr>
              <a:t>金管會，金融業運用人工智慧（AI）指引，2024-06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604690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14. 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