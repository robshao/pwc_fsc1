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how-we-help-clients/insurance/global-insurance-pools" TargetMode="External"/><Relationship Id="rId8" Type="http://schemas.openxmlformats.org/officeDocument/2006/relationships/hyperlink" Target="https://www.mckinsey.com/industries/financial-services/our-insights/can-agentic-ai-finally-modernize-core-technologies-in-insurance" TargetMode="External"/><Relationship Id="rId9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amp.claimsjournal.com/news/national/2025/11/17/334094.htm" TargetMode="External"/><Relationship Id="rId3" Type="http://schemas.openxmlformats.org/officeDocument/2006/relationships/hyperlink" Target="https://www.bain.com/ko/results/reimagining-insurance-for-the-ai-era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law.lia-roc.org.tw/Law/GetFile/0000394231" TargetMode="External"/><Relationship Id="rId6" Type="http://schemas.openxmlformats.org/officeDocument/2006/relationships/hyperlink" Target="https://law.lia-roc.org.tw/Law/GetFile/0000419987" TargetMode="External"/><Relationship Id="rId7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從一個試點開始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一頁看懂：從一個試點開始，把 AI 用進整個開發流程，交付更快、每一步都查得到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1384280" cy="65836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Arial"/>
                <a:ea typeface="微軟正黑體"/>
              </a:rPr>
              <a:t>我們的主張：</a:t>
            </a:r>
            <a:r>
              <a:rPr sz="1350" b="0">
                <a:solidFill>
                  <a:srgbClr val="000000"/>
                </a:solidFill>
                <a:latin typeface="Arial"/>
                <a:ea typeface="微軟正黑體"/>
              </a:rPr>
              <a:t>協助保險公司把 AI 用進整個系統開發流程：交付更快、每一步可稽核，並把做法留在貴公司的團隊裡。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面向誰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Who we serve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有自建或駐點開發團隊的壽險、產險公司；IT 主管付費，法遵與風控把關，業務單位提出需求。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82696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解決什麼問題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Problems we solve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讓寫程式變快，但需求、審查、上線還是人工速度；新制上路與 AI 法規責任同時到來。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帶來什麼價值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Value we deliver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交接靠檔案、規範自動執行、關卡有人簽：更快上線、紀錄可查；成效以雙方先講好的指標證明。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97112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5128" y="2121408"/>
            <a:ext cx="2743200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4　可擴充、可複製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Scalable and repeatable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5128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流程、範本、規範規則與關卡可以沿用；從一個試點推到其他系統、團隊與新制相關專案。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19472"/>
            <a:ext cx="370332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現場示範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用貴公司一個需求示範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123944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33672" y="4919472"/>
            <a:ext cx="3703320" cy="73152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準備度診斷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挑試點、訂成功標準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46136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55863" y="4919472"/>
            <a:ext cx="370332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試點陪跑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達標才擴大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48640" y="141732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32588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32588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優先服務誰、誰決策與付費、為什麼是現在、問題的根源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32588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201168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05740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05740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框架怎麼運作、四個面向如何組成方案、具體賣什麼、為什麼選我們、我們自己已在用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5740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8–15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34440" y="274320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288036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78892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8892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價值鏈、導入前後對比情境、怎麼衡量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78892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16–19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347472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361188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352044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可擴充、可複製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352044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可重用與需客製的部分、延伸例子、前提與限制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352044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20–23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34440" y="420624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8640" y="4343400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425196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如何開始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425196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路線圖、成功標準與擴展方式、下一步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425196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24–27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34440" y="493776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48640" y="5074920"/>
            <a:ext cx="475488" cy="475488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4983480"/>
            <a:ext cx="2743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4983480"/>
            <a:ext cx="65836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研究整合、競爭參考來源、法規檢查清單、AI 任務分類、資料來源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4983480"/>
            <a:ext cx="11430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28–33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34440" y="566928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右側數字為頁碼。頁面右上方標示「建議」「示意」「假設」「待確認」；未標示者為有來源的事實或既有設計。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我們優先服務誰？誰決策與付費？他們有什麼值得現在投入預算的問題？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・客戶輪廓與決策鏈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・為什麼是現在：三件同時發生的事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・問題的根源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優先服務有自建開發團隊的壽險與產險公司：IT 主管付費，法遵與風控握有否決權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假設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203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325880"/>
            <a:ext cx="1655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採購中的角色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25880"/>
            <a:ext cx="37581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他們的問題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2588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我們給的答案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20370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IT／數位主管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728216"/>
            <a:ext cx="1655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決策與付費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28216"/>
            <a:ext cx="37581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728216"/>
            <a:ext cx="36210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流程改造＋一個可量測的試點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59736"/>
            <a:ext cx="220370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業務單位主管
（理賠、核保、商品）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459736"/>
            <a:ext cx="1655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提出需求、共同贊助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459736"/>
            <a:ext cx="37581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需求來回多輪、上線時間難預期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459736"/>
            <a:ext cx="36210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業務人員和 AI 一起寫需求說明，每階段交出檔案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91256"/>
            <a:ext cx="220370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法遵、風控、資安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3191256"/>
            <a:ext cx="1655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否決權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191256"/>
            <a:ext cx="37581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委外、個資與 AI 責任；稽核時要拿得出紀錄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3191256"/>
            <a:ext cx="36210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法規檢查清單、人工關卡、完整核准紀錄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22776"/>
            <a:ext cx="220370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3922776"/>
            <a:ext cx="1655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核准預算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922776"/>
            <a:ext cx="37581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投資看不到回報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922776"/>
            <a:ext cx="36210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小範圍試點，先講好成功標準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754880"/>
            <a:ext cx="11384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決策鏈為依經驗的假設，需在診斷訪談中與客戶確認。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為什麼是現在：新制上路、AI 投資要看到回報、法規責任落在保險公司身上，三件事同時發生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新制上路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Arial"/>
                <a:ea typeface="微軟正黑體"/>
              </a:rPr>
              <a:t>2026-01-01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IFRS 17 與 TW-ICS 接軌，財務、精算與報表相關系統都要跟著調整。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來源：金管會保險局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AI 投資要看到回報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FD5108"/>
                </a:solidFill>
                <a:latin typeface="Arial"/>
                <a:ea typeface="微軟正黑體"/>
              </a:rPr>
              <a:t>57%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保險高階主管把生成式與代理型 AI 列為 2026 年首要科技投資；跨產業則有 95% 投資 AI 的企業尚未看到可衡量回報。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來源：PwC 調查（Claims Journal，2025-11）；Bain 引述 MIT 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3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法規責任到位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3" y="1828800"/>
            <a:ext cx="370332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Arial"/>
                <a:ea typeface="微軟正黑體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3" y="2697480"/>
            <a:ext cx="3703320" cy="1600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3" y="4297680"/>
            <a:ext cx="370332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8348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98348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意涵：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開發需求變多、AI 預算要交代成果、監理要求留下紀錄。單靠買 AI 工具解決不了，流程要跟著改。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完整來源與連結見附錄 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問題的根源：寫程式變快了，但需求、審查、上線還是人工速度，品質與合規仍靠個人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85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595959"/>
                </a:solidFill>
                <a:latin typeface="Arial"/>
                <a:ea typeface="微軟正黑體"/>
              </a:rPr>
              <a:t>寫程式只是六個階段中的一段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37360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737360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340864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944368"/>
            <a:ext cx="1645920" cy="51206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944368"/>
            <a:ext cx="4160520" cy="5120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AI 已大幅加速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47872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547872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151376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4151376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80"/>
            <a:ext cx="1645920" cy="512064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4754880"/>
            <a:ext cx="4160520" cy="5120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仍是人工速度：開會、等待、交接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325880"/>
            <a:ext cx="530352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1　瓶頸移位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寫程式變快後，等待時間移到需求、審查與上線核准；程式量變多，審查反而排得更長。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651760"/>
            <a:ext cx="530352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2　交接靠開會與文件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每一段做完交給下一組人，退回一次就要重來。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977639"/>
            <a:ext cx="530352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3　規則靠個人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產出的品質取決於每個人的 Prompt 寫得好不好；公司規範有沒有被遵守，要靠人記得。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4864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整理自兩份研究：瓶頸移位見 Anthropic《The AI-Native SDLC Playbook》；「規則靠個人」見 FSC1〈AI 協作開發流程與產出範本〉v3 的 Prompt 撰寫原則。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框架怎麼解決這些問題？我們具體賣什麼？為什麼選我們？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・從直線到循環，以及三個機制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・四個面向如何組成完整方案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・服務套組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・市場參考、差異化與我們已在用的流程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我們的做法：五個開發階段加上維運串成循環，AI 參與每一步，關鍵決定由指定的人做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920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以前：一條直線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37360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40864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44368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47872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51376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754880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394960"/>
            <a:ext cx="1920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做完一段才交棒，退回一次就要重來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1325880"/>
            <a:ext cx="4114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現在：一個循環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92040" y="1920240"/>
            <a:ext cx="1385813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77853" y="2720340"/>
            <a:ext cx="0" cy="16002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892040" y="4320540"/>
            <a:ext cx="1385813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3506226" y="4320540"/>
            <a:ext cx="1385814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506226" y="2720339"/>
            <a:ext cx="0" cy="1600201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506226" y="1920240"/>
            <a:ext cx="1385814" cy="800099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206240" y="2834640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0" y="3154680"/>
            <a:ext cx="1371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參與每一步</a:t>
            </a:r>
          </a:p>
        </p:txBody>
      </p:sp>
      <p:sp>
        <p:nvSpPr>
          <p:cNvPr id="24" name="Oval 23"/>
          <p:cNvSpPr/>
          <p:nvPr/>
        </p:nvSpPr>
        <p:spPr>
          <a:xfrm>
            <a:off x="4411979" y="144018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11979" y="16916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26" name="Oval 25"/>
          <p:cNvSpPr/>
          <p:nvPr/>
        </p:nvSpPr>
        <p:spPr>
          <a:xfrm>
            <a:off x="5797793" y="224028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97793" y="24917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28" name="Oval 27"/>
          <p:cNvSpPr/>
          <p:nvPr/>
        </p:nvSpPr>
        <p:spPr>
          <a:xfrm>
            <a:off x="5797793" y="38404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97793" y="40919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30" name="Oval 29"/>
          <p:cNvSpPr/>
          <p:nvPr/>
        </p:nvSpPr>
        <p:spPr>
          <a:xfrm>
            <a:off x="4411979" y="46405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1979" y="48920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32" name="Oval 31"/>
          <p:cNvSpPr/>
          <p:nvPr/>
        </p:nvSpPr>
        <p:spPr>
          <a:xfrm>
            <a:off x="3026166" y="38404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26166" y="40919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34" name="Oval 33"/>
          <p:cNvSpPr/>
          <p:nvPr/>
        </p:nvSpPr>
        <p:spPr>
          <a:xfrm>
            <a:off x="3026166" y="2240279"/>
            <a:ext cx="960120" cy="96012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26166" y="24917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325880"/>
            <a:ext cx="448056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五個由人把關的關卡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0" y="1764792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764792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2295144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2295144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產品負責人（高風險加技術主管）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2825496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2825496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3355848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3355848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0" y="3886200"/>
            <a:ext cx="14173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78240" y="3886200"/>
            <a:ext cx="301752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480560"/>
            <a:ext cx="4480560" cy="9144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可以一路做到正式環境的門口，但不能自己開門；寫程式的 AI 沒有核准權限。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階段名稱沿用台灣保險業 IT 熟悉的用語，再加上維運形成循環。本方法不綁特定 AI 工具，依貴公司政策與合約選定。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三個機制讓循環守得住：交接靠檔案、規則自動執行、關卡有人簽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機制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325880"/>
            <a:ext cx="4809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怎麼運作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解決的問題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972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交付的元件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7922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交接靠檔案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1728216"/>
            <a:ext cx="48097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核准紀錄，下一步直接讀上一步的檔案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728216"/>
            <a:ext cx="2066543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需求反覆、交接失真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28216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三份範本（需求說明、規格、實作計畫）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596896"/>
            <a:ext cx="17922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規則自動執行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2596896"/>
            <a:ext cx="48097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資安、個資、委外規範寫成 AI 自動套用的規則；必守的事由自動關卡擋下違規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596896"/>
            <a:ext cx="2066543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合規與品質靠個人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2596896"/>
            <a:ext cx="25694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規範規則庫、自動關卡設定、Review Checklist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65576"/>
            <a:ext cx="17922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關卡有人簽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3465576"/>
            <a:ext cx="48097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五個關鍵決定由指定的人做，每次核准都有時間紀錄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465576"/>
            <a:ext cx="2066543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怕失控、稽核查不到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3465576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關卡設計、核准紀錄格式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3484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控制從「靠個人」走向「靠制度」的四層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800600"/>
            <a:ext cx="274320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　Prompt 撰寫原則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因人而異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154680" y="5010912"/>
            <a:ext cx="128016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82696" y="480060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　範本與團隊說明檔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格式一致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025896" y="5010912"/>
            <a:ext cx="128016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3912" y="480060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　規範規則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讓違規變少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897112" y="5010912"/>
            <a:ext cx="128016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25128" y="480060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　自動關卡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讓違規做不到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6235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第 1 層出自 FSC1〈AI 協作開發流程與產出範本〉v3；第 2–4 層依 Anthropic《The AI-Native SDLC Playbook》 的技能、鉤子與集中管理設定。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四個面向環環相扣：找對人、解對問題，用先講好的指標證明價值，再推到更多系統與團隊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面向誰　Who we serve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83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有自建開發團隊的壽險、產險公司；IT 付費、法遵把關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4–7 頁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1325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解決什麼問題　Problems we solve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1783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循環流程＋三個機制；三個服務套組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8–15 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611880"/>
            <a:ext cx="45720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帶來什麼價值　Value we deliver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4069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更快上線、規範自動執行、紀錄可查；以試點成功標準證明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16–19 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11880"/>
            <a:ext cx="4572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　可擴充、可複製　Scalable and repeatable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069080"/>
            <a:ext cx="45720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流程、範本、規則與關卡沿用；延伸到其他系統、團隊與新制專案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  <a:ea typeface="微軟正黑體"/>
              </a:rPr>
              <a:t>第 20–23 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331720"/>
            <a:ext cx="1874519" cy="2103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我們的主張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加快交付
每一步可稽核
能力留在
貴公司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20640" y="1554480"/>
            <a:ext cx="196596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9372600" y="3200400"/>
            <a:ext cx="292608" cy="384048"/>
          </a:xfrm>
          <a:prstGeom prst="down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eft Arrow 17"/>
          <p:cNvSpPr/>
          <p:nvPr/>
        </p:nvSpPr>
        <p:spPr>
          <a:xfrm>
            <a:off x="5120640" y="4846320"/>
            <a:ext cx="1965960" cy="292608"/>
          </a:xfrm>
          <a:prstGeom prst="lef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2560320" y="3200400"/>
            <a:ext cx="292608" cy="384048"/>
          </a:xfrm>
          <a:prstGeom prst="up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532120"/>
            <a:ext cx="9144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532120"/>
            <a:ext cx="1129284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循環：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每擴展到一個新系統或團隊，範本與規範規則就更完整，下一次導入更快。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具體賣什麼：三個服務套組，從診斷、試點到擴大，每一步都有明確交付與客戶配合事項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05840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1655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套組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325880"/>
            <a:ext cx="1746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適合誰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1325880"/>
            <a:ext cx="29809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交付成果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32588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期程（示意）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325880"/>
            <a:ext cx="2203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客戶需配合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0" y="1325880"/>
            <a:ext cx="15179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商業模式（建議）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28216"/>
            <a:ext cx="16550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　準備度診斷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728216"/>
            <a:ext cx="17465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想評估是否導入、從哪裡開始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6200" y="1728216"/>
            <a:ext cx="29809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瓶頸地圖、法規檢查結果、試點建議與成功標準、導入藍圖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1728216"/>
            <a:ext cx="1060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約 4–6 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728216"/>
            <a:ext cx="2203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IT 與業務窗口；現行流程與工具說明；候選需求清單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0" y="1728216"/>
            <a:ext cx="15179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固定範圍、固定價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596896"/>
            <a:ext cx="16550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　試點陪跑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2596896"/>
            <a:ext cx="17465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想先看到成效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2596896"/>
            <a:ext cx="298094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完成的試點；三份範本；規範規則與關卡設定；各角色教材；成效報告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2596896"/>
            <a:ext cx="10607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約 6–8 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2596896"/>
            <a:ext cx="22037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一個真實需求與團隊；測試環境；AI 工具合約或內部核准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2596896"/>
            <a:ext cx="15179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每個試點固定價，可設里程碑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65576"/>
            <a:ext cx="16550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C　擴大與內化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3465576"/>
            <a:ext cx="17465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試點達標，要推到更多團隊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86200" y="3465576"/>
            <a:ext cx="29809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擴大路線圖；規範規則庫；集中管理設定；各團隊教學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3720" y="3465576"/>
            <a:ext cx="1060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465576"/>
            <a:ext cx="22037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管理層核准；各團隊窗口與核准人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41280" y="3465576"/>
            <a:ext cx="15179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按團隊或階段計價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334256"/>
            <a:ext cx="16550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加購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4334256"/>
            <a:ext cx="17465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有特定需求時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4334256"/>
            <a:ext cx="29809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工具包授權；駐點支援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03720" y="4334256"/>
            <a:ext cx="10607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依需求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334256"/>
            <a:ext cx="22037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241280" y="4334256"/>
            <a:ext cx="15179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授權費；人月（駐點需先確認獨立性）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4406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套組對應研究二的四個服務模組：A＝現況診斷；B＝規範與控制設計＋試點陪跑與教學；C＝量測與擴大。期程依範圍確認，金額另行報價；按任務或成果計價的思路參考 MIT Sloan Management Review，2024。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市場參考：同業多以「預建資產＋顧問導入」包裝，我們借鏡其包裝方式，以在地落地區隔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8836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包裝型態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32588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代表產品（附錄 B）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132588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包裝與交付方式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325880"/>
            <a:ext cx="18836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值得借鏡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325880"/>
            <a:ext cx="19751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我們的差異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8836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加速器＋顧問導入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728216"/>
            <a:ext cx="270662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保險業代理型 AI 導入藍圖與預建代理 [B1]；IFRS 17 加速器 [B2][B3]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728216"/>
            <a:ext cx="275234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預建資產；評估 → 設計 → 試點 → 規模化；IFRS 17 加速器宣稱 90 天內產出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728216"/>
            <a:ext cx="188366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固定範圍與期程，降低客戶疑慮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728216"/>
            <a:ext cx="1975104" cy="8321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預建的是台灣保險法規規則與關卡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9689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核心系統＋AI 工具組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59689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核心系統 AI 工具組 [B4]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2596896"/>
            <a:ext cx="27523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圍繞特定核心系統產品的加速器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259689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鎖定明確情境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2596896"/>
            <a:ext cx="1975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不綁特定核心系統或 AI 工具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65576"/>
            <a:ext cx="18836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軟體／數據產品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3465576"/>
            <a:ext cx="2706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定價與核保軟體 [B5]；保險市場資料庫訂閱 [B6]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3465576"/>
            <a:ext cx="275234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授權或訂閱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65576"/>
            <a:ext cx="18836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標準化程度高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3465576"/>
            <a:ext cx="19751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先不做軟體，以試點累積可重用資產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3425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方法論與藍圖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433425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核心現代化方法 [B7]；AI-First 產險藍圖 [B8]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4334256"/>
            <a:ext cx="275234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顧問專案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4334256"/>
            <a:ext cx="18836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清楚的成熟度階段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4334256"/>
            <a:ext cx="1975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直接落地到可量測的試點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代表產品的公司名稱與來源連結見附錄 B；資料為業者公開資訊，未經獨立驗證，「宣稱」為業者自述。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為什麼選我們：三個差異都有對應的證據；尚缺的實作成果，以第一步的現場示範補上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差異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32588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貴公司得到什麼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1325880"/>
            <a:ext cx="2798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證據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38360" y="1325880"/>
            <a:ext cx="2020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狀態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2494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台灣保險法規內建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1728216"/>
            <a:ext cx="4169663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委外、雲端、AI 自律規範與金管會指引對應到開發的每一步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1728216"/>
            <a:ext cx="27980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法規檢查清單（附錄 C）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38360" y="1728216"/>
            <a:ext cx="20208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草稿完成，待法遵確認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05456"/>
            <a:ext cx="22494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懂保險業務與在地系統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505456"/>
            <a:ext cx="4169663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試點直接用理賠、核保、核心系統等真實流程，不必從頭解釋業務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2505456"/>
            <a:ext cx="27980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FSC1 已建立的 AI 協作開發流程與產出範本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8360" y="2505456"/>
            <a:ext cx="20208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流程已建立；實作成果待補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82696"/>
            <a:ext cx="22494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可稽核的人工關卡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3282696"/>
            <a:ext cx="4169663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03720" y="3282696"/>
            <a:ext cx="27980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關卡設計（第 9 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38360" y="3282696"/>
            <a:ext cx="20208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設計完成，試點驗證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059935"/>
            <a:ext cx="224942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現場示範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059935"/>
            <a:ext cx="4169663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用貴公司一個需求，示範從需求說明到實作計畫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4059935"/>
            <a:ext cx="279806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FSC1 IT 團隊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38360" y="4059935"/>
            <a:ext cx="202082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待安排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93776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3776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和同業的根本差別：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國際方案以預建代理與藍圖為主；我們把在地法規、在地系統與可稽核關卡綁在一起，從貴公司的真實需求開始。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「國際方案套到台灣客製化舊核心與在地法規需大量調整」為依公開資料的推論。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我們先用在自己身上：FSC1 已建立 AI 協作開發流程，產出、分工與檢查點都已定義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2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主要產出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325880"/>
            <a:ext cx="2843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IT Review 重點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4264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20" y="1728216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Prototype、欄位清單、業務流程圖／BPMN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728216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依需求產出 Prototype、整理欄位、繪製流程圖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728216"/>
            <a:ext cx="28437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畫面、欄位、流程與需求一致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50008"/>
            <a:ext cx="14264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20" y="2350008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Use Case、ERD、API 設計文件、架構圖、Test 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2350008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產出 Use Case、ERD、OpenAPI 初稿，檢查資料結構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2350008"/>
            <a:ext cx="284378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技術可行性、資料關聯、需求可追溯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14264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20" y="2971800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程式、API 實作、SQL／Migration、版本紀錄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2971800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依規格產生程式與 Unit Test，協助 Code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971800"/>
            <a:ext cx="28437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正確性、影響範圍、安全性、可維護性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93592"/>
            <a:ext cx="14264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20" y="3593592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Test Case、Test Data、Test Report、Bug List、UAT 紀錄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3593592"/>
            <a:ext cx="34838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產生正向、反向、邊界案例與測試資料，分析失敗原因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400" y="3593592"/>
            <a:ext cx="284378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覆蓋率、預期結果、缺陷原因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215384"/>
            <a:ext cx="14264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74520" y="4215384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Deploy Guide、Release Note、User Guide、Log 監控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4215384"/>
            <a:ext cx="34838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整理 Release Note 與 Deploy Guide，分析 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4215384"/>
            <a:ext cx="28437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與實際版本一致、包含 rollback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892040"/>
            <a:ext cx="557784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已具備：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五階段流程、各階段產出清單、IT 與 AI 分工、Review Checklist、Prompt 撰寫原則與範例。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892040"/>
            <a:ext cx="557784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待補：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各階段的實際案例畫面與量到的成效，提案前由 IT 團隊提供，或以現場示範呈現。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來源：研究一 FSC1〈AI 協作開發流程與產出範本〉v3。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貴公司買了之後得到什麼？怎麼證明？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微軟正黑體"/>
                <a:ea typeface="微軟正黑體"/>
              </a:rPr>
              <a:t>・痛點 → 解決方式 → 交付成果 → 商業效益 → 衡量指標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・導入前後對比：理賠進度自助查詢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・每個階段怎麼衡量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價值鏈：每個痛點都對應一項交付成果、一個商業效益和一個可以量測的指標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交付成果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325880"/>
            <a:ext cx="22951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商業效益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1325880"/>
            <a:ext cx="23865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19293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需求來回多輪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728216"/>
            <a:ext cx="23408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業務和 AI 一起寫需求說明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72821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需求說明範本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728216"/>
            <a:ext cx="22951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新功能更快上線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1728216"/>
            <a:ext cx="23865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從第一次討論到需求定稿的時間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459736"/>
            <a:ext cx="19293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審查排隊、品質看人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2459736"/>
            <a:ext cx="23408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先審、人判斷風險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45973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審查規則、Review Checklist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459736"/>
            <a:ext cx="229514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工程師時間花在需要判斷的工作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459736"/>
            <a:ext cx="23865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第一次審查的等待時間、返工次數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191256"/>
            <a:ext cx="19293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上線出錯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191256"/>
            <a:ext cx="23408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每次改動自行測試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19125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測試做法與合併條件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191256"/>
            <a:ext cx="22951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上線事故減少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3191256"/>
            <a:ext cx="23865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上線失敗率、上線後才發現的缺陷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19293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法規與稽核壓力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3922776"/>
            <a:ext cx="23408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規範規則＋自動關卡＋紀錄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92277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規範規則庫、法規檢查清單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3922776"/>
            <a:ext cx="229514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金檢與內稽時拿得出佐證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3922776"/>
            <a:ext cx="23865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54296"/>
            <a:ext cx="19293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知識只在個人腦中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4654296"/>
            <a:ext cx="23408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範本、團隊說明檔與教學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465429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教材、團隊說明檔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654296"/>
            <a:ext cx="229514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人員異動不影響交付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72600" y="4654296"/>
            <a:ext cx="23865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新成員獨立交付第一個改動的時間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4406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商業效益以試點前後同一套指標比較，不預先承諾數字。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導入前後對比：以「理賠進度自助查詢」為例，每一步都有人負責、有檔案交接、有紀錄可查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335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導入前（常見做法）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25880"/>
            <a:ext cx="5221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335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728216"/>
            <a:ext cx="28895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多次會議，再由專人寫成文件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28216"/>
            <a:ext cx="5221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0" y="1728216"/>
            <a:ext cx="1792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產品負責人接受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31720"/>
            <a:ext cx="1335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331720"/>
            <a:ext cx="28895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分析與設計分開做，規範靠人記得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331720"/>
            <a:ext cx="5221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60" y="2331720"/>
            <a:ext cx="1792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產品負責人確認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35224"/>
            <a:ext cx="1335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35224"/>
            <a:ext cx="28895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讀完設計就寫，做法只在個人腦中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2935224"/>
            <a:ext cx="5221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2935224"/>
            <a:ext cx="1792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工程師核准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38728"/>
            <a:ext cx="1335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538728"/>
            <a:ext cx="28895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階段末才測，問題晚發現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538728"/>
            <a:ext cx="5221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3538728"/>
            <a:ext cx="1792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142232"/>
            <a:ext cx="1335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142232"/>
            <a:ext cx="28895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逐行人工審查，排隊等待核准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4142232"/>
            <a:ext cx="5221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0" y="4142232"/>
            <a:ext cx="17922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45736"/>
            <a:ext cx="1335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745736"/>
            <a:ext cx="28895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事件常被擱置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4745736"/>
            <a:ext cx="5221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錯誤率異常時 AI 先診斷，必要時退回上一版，寫成新需求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4745736"/>
            <a:ext cx="17922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394960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為什麼選這個情境：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客服天天被問、業務看得懂、範圍小風險低、成果可量測。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9436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示範情境取自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怎麼衡量：每個階段一個指標，數據大多已在版本紀錄與 CI 系統中，不需要另外填表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20" y="1325880"/>
            <a:ext cx="4535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基準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期望方向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20" y="1728216"/>
            <a:ext cx="45354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72821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72821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縮短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7685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20" y="2276856"/>
            <a:ext cx="45354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27685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227685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減少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82549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20" y="2825496"/>
            <a:ext cx="45354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82549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282549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20" y="3374136"/>
            <a:ext cx="45354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337413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37413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14264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74520" y="3922776"/>
            <a:ext cx="45354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第一次審查的等待時間、上線失敗率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392277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922776"/>
            <a:ext cx="170078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縮短、降低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471416"/>
            <a:ext cx="14264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4520" y="4471416"/>
            <a:ext cx="45354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447141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80" y="4471416"/>
            <a:ext cx="170078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減少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1325880"/>
            <a:ext cx="1783080" cy="3657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原則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對外只引用自己試點量到的數字。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手冊所述「數週縮短到數小時」僅為預期，不作承諾。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指標定義依 Anthropic《The AI-Native SDLC Playbook》 各階段「How to measure it」，可搭配 DORA 指標。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哪些可以重複使用？哪些要客製？怎麼延伸到其他系統、客戶與產業？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・可重用的模組、資產與流程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・延伸到其他情境的例子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・前提與限制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可複製的關鍵：模組、資產與流程可以沿用，客製只集中在貴公司自己的規範、系統與核准人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可重用模組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74519"/>
            <a:ext cx="2743200" cy="27432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五階段加維運的循環流程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五個人工關卡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三份範本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Review Checklist 九項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2696" y="1325880"/>
            <a:ext cx="274320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可重用資產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874519"/>
            <a:ext cx="2743200" cy="27432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保險業規範規則（個資、委外、AI 責任）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法規檢查清單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指標定義與教材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AI 任務分類（附錄 D）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1325880"/>
            <a:ext cx="274320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可重用流程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3912" y="1874519"/>
            <a:ext cx="2743200" cy="27432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診斷方法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試點陪跑步驟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成功標準設定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✓　擴大決策規則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5128" y="1325880"/>
            <a:ext cx="2743200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需要客製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5128" y="1874519"/>
            <a:ext cx="2743200" cy="2743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貴公司的資安、命名規範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核心系統與 Jira、變更管理串接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資料分級與各關卡核准人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微軟正黑體"/>
                <a:ea typeface="微軟正黑體"/>
              </a:rPr>
              <a:t>●　試點題目、基準與委外安排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84632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4632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好處：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標準部分讓交付快、品質一致；客製部分讓方案符合貴公司規範。每個新系統都從更完整的資產開始，導入更快。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延伸方式：同一套資產，依序延伸到其他系統、新制專案、其他客戶與產業，各有前提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延伸方向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例子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沿用什麼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要新增什麼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前提／限制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206654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同一客戶的其他系統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728216"/>
            <a:ext cx="25694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核保規則調整、保單服務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72821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流程、範本、關卡、規範規則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72821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該系統的規範與核准人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72821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前一個試點達標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459736"/>
            <a:ext cx="206654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新制相關專案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2459736"/>
            <a:ext cx="25694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報表與資料調整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245973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流程、關卡、法規清單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45973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財會與精算規範、資料品質檢查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45973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財會、精算參與；高風險變更加審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191256"/>
            <a:ext cx="206654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AI 治理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191256"/>
            <a:ext cx="25694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清冊與模型驗證流程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319125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紀錄與關卡、自律規範對應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19125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模型驗證規則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319125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屬治理服務範疇，另行界定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22776"/>
            <a:ext cx="206654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其他保險公司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922776"/>
            <a:ext cx="25694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另一家壽險或產險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3922776"/>
            <a:ext cx="224942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全部標準模組與資產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392277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該公司規範與系統串接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392277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審計客戶需先確認獨立性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54296"/>
            <a:ext cx="206654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其他金融業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654296"/>
            <a:ext cx="25694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銀行、證券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4654296"/>
            <a:ext cx="224942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流程、關卡、指標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65429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該產業法規規則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465429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法規清單需重做；以金管會 AI 指引為共同基礎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前提與限制：先確認五個前提，並清楚說明這個方法做不到的地方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557784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導入前提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28800"/>
            <a:ext cx="5577840" cy="3108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1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有版本控制與 CI，或願意在試點中建立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試點範圍有自動測試，或先補上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3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可使用的 AI 工具與合約，並完成資料分級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4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各關卡有指定的核准人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5　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管理層支持一個小範圍試點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限制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577840" cy="3108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缺文件或高度客製的舊系統，AI 產出準確度要在試點中驗證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是否屬委外、是否需申報，依個案判斷，需貴公司法遵確認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AI 工具的使用依貴公司與所內政策決定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●　效益依試點實測，不預先承諾數字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12064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12064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做法：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前提不足的部分列入診斷範圍，先補齊再進試點，避免讓沒把關的東西更快上線。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如何開始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05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第一步做什麼？怎麼判斷成功、什麼時候擴大？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・四階段路線圖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・試點成功標準與擴展方式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・下一步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路線圖：從準備度診斷到全公司內化，每一階段結束由貴公司決定是否往下走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4–6 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盤點現況與卡點、法規檢查、挑選試點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瓶頸地圖、導入藍圖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選定試點與成功標準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1325880"/>
            <a:ext cx="274320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試點陪跑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6–8 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82696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用一個真實需求走完循環，同步教學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2696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完成的試點、成效報告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82696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指標達到合格線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1325880"/>
            <a:ext cx="274320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擴大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2" y="153619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推到更多團隊，加入貴公司規範規則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規範規則庫、擴大路線圖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3912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管理層核准擴大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5128" y="1325880"/>
            <a:ext cx="274320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全公司內化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持續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25128" y="2057400"/>
            <a:ext cx="274320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做什麼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集中管理設定、統一關卡與紀錄，逐步自動化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5128" y="3154680"/>
            <a:ext cx="274320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持續運作的流程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4206240"/>
            <a:ext cx="274320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進下一階段的條件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3035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期程為建議，依範圍確認。自動化在關卡都到位後才進行。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成功標準：試點前雙方講好三個指標和合格線，達標才擴大，未達標一起檢討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523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指標（可依痛點替換）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1800" y="1325880"/>
            <a:ext cx="3255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基準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合格線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523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需求定稿時間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1728216"/>
            <a:ext cx="32552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282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7282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14016"/>
            <a:ext cx="252374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第一次審查等待時間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414016"/>
            <a:ext cx="32552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從提交程式到收到第一次審查意見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414016"/>
            <a:ext cx="14264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6679" y="2414016"/>
            <a:ext cx="14264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99816"/>
            <a:ext cx="2523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3099816"/>
            <a:ext cx="32552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比對版本紀錄與核准紀錄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0998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26679" y="30998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325880"/>
            <a:ext cx="2423160" cy="24688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結果怎麼用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擴大到下一個系統或團隊。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一起檢討原因，調整後再試或停止，不擴大。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69080"/>
            <a:ext cx="11384280" cy="1097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擴展方式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達標後依第 22 頁的延伸順序推進：先同一客戶的其他系統，再到新制相關專案；每次擴展都沿用同一套指標，持續比較。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合格線於診斷階段與貴公司共同訂定。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下一步：三件事，從一場現場示範開始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600200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371600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用貴公司提供的一個需求，示範從需求說明到實作計畫。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88920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2560320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對齊目標，從需求清單挑 1–2 個候選試點，確認前提與限制。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977639"/>
            <a:ext cx="594360" cy="594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49039"/>
            <a:ext cx="5852160" cy="1051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371600"/>
            <a:ext cx="4480560" cy="34290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・候選需求清單（示範與試點用）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・資安、個資與法遵規範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07492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7492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示範與診斷均不使用貴公司真實客戶資料。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提案的依據從哪裡來？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・研究整合：兩份研究的取捨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・競爭參考的具體產品與來源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・法規檢查清單、AI 任務分類、資料來源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A｜研究整合：兩份研究互補，衝突處的取捨與原因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主題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325880"/>
            <a:ext cx="29809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研究一：FSC1 開發流程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研究二：AI 原生 SDLC 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32588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本提案的取捨與原因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流程階段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172821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172821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6829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控制方式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36829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Prompt 撰寫原則＋IT 人工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技能、鉤子、集中管理設定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236829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兩者分層：Prompt 為第一層，往規則與自動關卡加強；受監理行業需要可強制的控制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00837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00837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每階段文件確認後進下一階段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五個關鍵決定由指定的人核准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00837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保留研究一的檢查點，補上研究二的指定核准人與紀錄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4845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效益說法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364845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未提數字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手冊預期「數週到數小時」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364845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不承諾數字，以試點前後實測；手冊數字僅作背景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8853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實作證據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428853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各階段案例頁待補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實績頁待 IT 團隊填寫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428853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兩份都缺，列為待確認；以現場示範作為第一步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92861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服務內容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492861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未涵蓋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四個服務模組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492861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整合為三個服務套組（第 12 頁）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互補：研究一提供各階段的輸入、產出與 IT 動作；研究二提供治理、法規、成效衡量與服務模組。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B｜競爭參考：具體產品與來源（業者公開資訊）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03503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編號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325880"/>
            <a:ext cx="13807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325880"/>
            <a:ext cx="38953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產品／方案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35838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來源（可點擊）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16916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16916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Agentic AI Blueprint for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916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48840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1488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2148840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Regulatory Assist（與 SAS 合作）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48840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6060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6060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KPMG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26060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Express, powered by 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6060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063240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0632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Capgemini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3063240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Guidewire 生成式 AI／代理工具組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063240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204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35204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WTW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0" y="35204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Radar 5（保險定價與核保軟體）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204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977639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977639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68880" y="3977639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Global Insurance Pools（訂閱資料庫）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34840"/>
            <a:ext cx="60350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" y="44348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4434840"/>
            <a:ext cx="38953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434840"/>
            <a:ext cx="53583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www.mckinsey.com 原文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892040"/>
            <a:ext cx="60350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" y="48920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BCG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68880" y="4892040"/>
            <a:ext cx="38953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AI-First 產險公司藍圖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892040"/>
            <a:ext cx="53583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www.bcg.com 原文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4864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對客戶提案時是否保留本頁公司名稱，由提案合夥人決定；規模與期程數字為業者自述。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C｜保險業 AI 開發法規檢查清單（草稿）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檢查項目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依據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開發流程中怎麼落實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325880"/>
            <a:ext cx="1380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在哪一步檢查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是否屬作業委外、是否需依規定辦理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728216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95144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雲端資料存放、雲端業者管理與查核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95144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AI 工具登錄 AI 清冊並做風險評估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862072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29000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同上；金管會 AI 指引「治理及問責」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五個人工關卡，各有指定核准人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429000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95928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個資與客戶資料不進入 AI 可讀範圍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995928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規格、開發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62856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程式經資安審查，出事可退回上一版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562856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29783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指引「透明性與可解釋性」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5129783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全程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D｜AI 任務分類：用「多常發生 × 需要判斷」決定哪些工作先交給 AI、先標準化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51560" y="1371600"/>
            <a:ext cx="3291840" cy="1965960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先做，人確認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371600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起草，人逐項審查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392424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做成範本，重複使用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3392424"/>
            <a:ext cx="3291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人決定，AI 只提供資料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371600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92424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394959"/>
            <a:ext cx="6638544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371600"/>
            <a:ext cx="3794760" cy="40233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怎麼用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・左上角最先交給 AI，也最先做成標準範本與規則。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・右上角由 AI 起草，人逐項審查。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・右下角永遠由人決定，對應五個人工關卡。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依據：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任務取自研究一各階段「AI 可以做什麼」；方法參考 MIT Sloan Management Review，2024。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分類為初步判斷，診斷時依貴公司實際專案調整。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E｜資料來源與標示說明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384280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標示：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建議＝我們的提案；示意＝說明用，非實測或報價；假設＝需訪談確認；待確認＝需內部或客戶提供。未標示者為有來源的事實或既有設計。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研究一：FSC1〈AI 協作開發流程與產出範本〉v3（19 頁）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487168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研究二：AI 原生 SDLC 白話說明（25 頁），整理自 Louis Claxton，Anthropic《The AI-Native SDLC Playbook》，2026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871215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金管會保險局，IFRS 17／TW-ICS 專區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255263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Claims Journal，PwC 保險高階主管調查（57%），2025-11-17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639311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Bain，Reimagining Insurance for the AI Era（引述 MIT 2025：95%）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023360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理律法律事務所，保險業作業委外新辦法（2025-12-31 施行）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407408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壽險／產險公會，保險業運用人工智慧系統自律規範（2025-04-10 備查）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91456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壽險／產險公會，保險業作業委外使用雲端服務自律規範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175504"/>
            <a:ext cx="1138428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金管會，金融業運用人工智慧（AI）指引，2024-06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59552"/>
            <a:ext cx="113842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Mohanbir Sawhney，How to Turn Professional Services Into Products，MIT Sloan Management Review，2024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