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www.infoq.com/news/2025/09/dora-state-of-ai-in-dev-2025" TargetMode="External"/><Relationship Id="rId6" Type="http://schemas.openxmlformats.org/officeDocument/2006/relationships/hyperlink" Target="https://finance.yahoo.com/news/jpmorgan-engineers-efficiency-jumps-much-190410471.html" TargetMode="External"/><Relationship Id="rId7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8" Type="http://schemas.openxmlformats.org/officeDocument/2006/relationships/hyperlink" Target="https://amp.claimsjournal.com/news/national/2025/11/17/334094.htm" TargetMode="External"/><Relationship Id="rId9" Type="http://schemas.openxmlformats.org/officeDocument/2006/relationships/hyperlink" Target="https://www.mckinsey.com/capabilities/tech-and-ai/our-insights/the-top-trends-in-tech" TargetMode="External"/><Relationship Id="rId10" Type="http://schemas.openxmlformats.org/officeDocument/2006/relationships/hyperlink" Target="https://www.allenandgledhill.com/sg/publication/articles/29565/mas-publishes-information-paper-on-ai-model-risk-management" TargetMode="External"/><Relationship Id="rId11" Type="http://schemas.openxmlformats.org/officeDocument/2006/relationships/hyperlink" Target="https://www.leeandli.com/TW/Newsletters/7525.htm" TargetMode="External"/><Relationship Id="rId12" Type="http://schemas.openxmlformats.org/officeDocument/2006/relationships/hyperlink" Target="https://law.lia-roc.org.tw/Law/GetFile/0000394231" TargetMode="External"/><Relationship Id="rId13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一頁看懂：AI 工具已普及，但流程與治理沒跟上；我們從一個用例開始，驗證後再擴大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1384280" cy="65836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我們的主張：</a:t>
            </a: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協助保險公司把 AI 用進整個開發流程，交付更快、每一步可稽核；先做一個用例，用數據證明價值，再逐步擴大。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　面向誰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Who we 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有自建或駐點開發團隊的壽險、產險公司；IT 主管付費，法遵與風控把關。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82696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　解決什麼問題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Problems we solve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2696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全球都在用 AI 寫程式，但只買工具，交付穩定度反而可能下降；保險業還要對 AI 結果負最終責任。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25896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2121408"/>
            <a:ext cx="2743200" cy="7498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　帶來什麼價值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Value we deliver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交接靠檔案、規範自動執行、關卡有人簽；試點前後用業界標準的 DORA 指標比較。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97112" y="2377440"/>
            <a:ext cx="128016" cy="237744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25128" y="2121408"/>
            <a:ext cx="2743200" cy="7498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4　可擴充、可複製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  <a:ea typeface="微軟正黑體"/>
              </a:rPr>
              <a:t>Scalable and repeatable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2916936"/>
            <a:ext cx="274320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從一個用例開始，達標才擴大；範本、規則與關卡沿用到下一個系統，不必一開始就全面轉型。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19472"/>
            <a:ext cx="370332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看現場示範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我們已經在用的做法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23944" y="5138928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4919472"/>
            <a:ext cx="3703320" cy="73152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做一個用例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先講好成功標準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46136" y="5138928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55863" y="4919472"/>
            <a:ext cx="3703320" cy="7315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驗證後擴大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每一步都可以停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48640" y="1481328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37160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面向誰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137160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保險公司為什麼比其他產業更急、誰決策與付費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60" y="137160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210312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48640" y="2258568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14884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解決什麼問題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4884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全球趨勢、只買工具為什麼不夠、我們的解法、現場示範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14884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7–11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34440" y="288036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8640" y="3035808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292608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帶來什麼價值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92608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價值與衡量、你買到什麼、為什麼選我們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92608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12–15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34440" y="365760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3813048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370332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可擴充、可複製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370332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從一個用例逐步擴大、路線圖與下一步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370332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16–18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34440" y="443484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48640" y="4590288"/>
            <a:ext cx="475488" cy="475488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4440" y="4480560"/>
            <a:ext cx="2743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0000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4480560"/>
            <a:ext cx="658368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示範情境、延伸方式、同業比較、法規清單、研究整合、資料來源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52760" y="4480560"/>
            <a:ext cx="1143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19–26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34440" y="5212080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右側數字為頁碼。頁面右上方標示「建議」「示意」「假設」「待確認」；未標示者為有來源的事實或既有設計。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保險公司比其他產業更急：新制上路，監理要求 AI 的使用有紀錄、有人負責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715512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新制上路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715512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2026-01-01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3715512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IFRS 17 與 TW-ICS 接軌，財務、精算與報表相關系統都要跟著調整。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160520"/>
            <a:ext cx="3715512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來源：金管會保險局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5864" y="1325880"/>
            <a:ext cx="3715512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責任落在保險公司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5864" y="1828800"/>
            <a:ext cx="3715512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2025-12-31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5864" y="2697480"/>
            <a:ext cx="3715512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4160520"/>
            <a:ext cx="3715512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0247" y="1325880"/>
            <a:ext cx="3715512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區域監理已在檢查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0247" y="1828800"/>
            <a:ext cx="3715512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2024-12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0247" y="2697480"/>
            <a:ext cx="3715512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新加坡金管局檢視銀行後指出：多數銀行建立 AI 清冊，高風險 AI 須獨立驗證，並設跨部門監督。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0247" y="4160520"/>
            <a:ext cx="3715512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來源：新加坡金融管理局（MAS）資訊文件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07492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保險公司要用 AI 加快開發，同時拿得出「誰要求、AI 做了什麼、誰核准」的紀錄。這必須在流程裡設計好，不能事後補。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優先服務有自建開發團隊的壽險與產險公司：IT 主管付費，法遵與風控握有否決權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假設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32588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採購中的角色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25880"/>
            <a:ext cx="3895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他們的問題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我們給的答案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1579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IT／數位主管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728216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決策與付費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728216"/>
            <a:ext cx="3895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1728216"/>
            <a:ext cx="348386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一個可量測的用例試點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41448"/>
            <a:ext cx="21579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業務單位主管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2441448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提出需求、共同贊助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441448"/>
            <a:ext cx="3895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需求來回多輪、上線時間難預期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2441448"/>
            <a:ext cx="348386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業務和 AI 一起寫需求說明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154680"/>
            <a:ext cx="21579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法遵、風控、資安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3154680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否決權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154680"/>
            <a:ext cx="3895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3154680"/>
            <a:ext cx="348386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法規檢查清單、人工關卡、完整紀錄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867912"/>
            <a:ext cx="21579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3867912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核准預算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867912"/>
            <a:ext cx="3895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投資要看到回報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75320" y="3867912"/>
            <a:ext cx="348386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小範圍起步，先講好成功標準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709160"/>
            <a:ext cx="1138428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6235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決策鏈為依經驗的假設，需在診斷訪談中與客戶確認。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全球已經普遍用 AI 開發軟體，大型金融機構也在大規模導入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756915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開發者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2756915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Arial"/>
                <a:ea typeface="微軟正黑體"/>
              </a:rPr>
              <a:t>84%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2756915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正在使用或計畫使用 AI 工具（2024 年為 76%）。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023360"/>
            <a:ext cx="2756915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來源：Stack Overflow 2025 開發者調查，4.9 萬多人、177 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7268" y="1325880"/>
            <a:ext cx="2756915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技術團隊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7268" y="1828800"/>
            <a:ext cx="2756915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Arial"/>
                <a:ea typeface="微軟正黑體"/>
              </a:rPr>
              <a:t>約 90%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7268" y="2697480"/>
            <a:ext cx="2756915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技術人員在工作中使用 AI。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87268" y="4023360"/>
            <a:ext cx="2756915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來源：Google DORA 2025 報告，約 5,000 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5" y="1325880"/>
            <a:ext cx="2756915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JPMorgan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5" y="1828800"/>
            <a:ext cx="2756915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Arial"/>
                <a:ea typeface="微軟正黑體"/>
              </a:rPr>
              <a:t>10–20%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5" y="2697480"/>
            <a:ext cx="2756915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數萬名工程師使用銀行自建的寫程式助手後，生產力提升（公司自述）。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3055" y="4023360"/>
            <a:ext cx="2756915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來源：該行全球資訊長，2025-03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8843" y="1325880"/>
            <a:ext cx="2756915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Citi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8843" y="1828800"/>
            <a:ext cx="2756915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Arial"/>
                <a:ea typeface="微軟正黑體"/>
              </a:rPr>
              <a:t>3 萬名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3" y="2697480"/>
            <a:ext cx="2756915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開發者在系統現代化中導入生成式 AI 寫程式助手。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38843" y="4023360"/>
            <a:ext cx="2756915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來源：Deloitte Insights，2025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120640"/>
            <a:ext cx="1138428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保險業：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57% 的保險高階主管把生成式與代理型 AI 列為 2026 年首要科技投資（PwC 調查）；McKinsey 2026 科技趨勢把「代理式軟體開發」列為新趨勢。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保險業的公開具名案例仍少，這也是先行者的機會。完整來源見附錄 G。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但只買工具，交付沒有跟著變好：研究顯示，AI 會放大組織原有的流程與治理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交付表現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37033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−7.2%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交付穩定度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60320"/>
            <a:ext cx="37033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−1.5%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交付速度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337560"/>
            <a:ext cx="370332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採用率每增加 25% 的模型估計（DORA 2024）。2025 年報告中，速度轉為正相關，但穩定度仍是隱憂。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1325880"/>
            <a:ext cx="370332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開發者的信任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828800"/>
            <a:ext cx="37033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46%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不信任 AI 產出的準確度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2560320"/>
            <a:ext cx="37033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約 30%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對 AI 寫的程式很少或不信任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3337560"/>
            <a:ext cx="370332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前者來自 Stack Overflow 2025（2024 年為 31%）；後者來自 DORA 2025。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3" y="1325880"/>
            <a:ext cx="370332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研究結論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3" y="1828800"/>
            <a:ext cx="3703320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Arial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放大組織原有的優點與缺點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3" y="3337560"/>
            <a:ext cx="370332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DORA 2025：架構鬆耦合、回饋快的團隊才受益；報告並提出 AI 能力模型（七項能力）。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937760"/>
            <a:ext cx="9144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937760"/>
            <a:ext cx="1129284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8064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來源：Google DORA 2024、2025 報告；Stack Overflow 2025 開發者調查。完整連結見附錄 G。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我們的解法：把開發流程串成循環，用三個機制守住，關鍵決定由貴公司指定的人做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Connector 6"/>
          <p:cNvCxnSpPr/>
          <p:nvPr/>
        </p:nvCxnSpPr>
        <p:spPr>
          <a:xfrm>
            <a:off x="2514600" y="1783080"/>
            <a:ext cx="1187840" cy="6858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702440" y="2468880"/>
            <a:ext cx="0" cy="13716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514600" y="3840480"/>
            <a:ext cx="1187840" cy="6858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1326759" y="3840480"/>
            <a:ext cx="1187841" cy="6858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326759" y="2468880"/>
            <a:ext cx="0" cy="13716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326759" y="1783080"/>
            <a:ext cx="1187841" cy="6858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828800" y="2468880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2788920"/>
            <a:ext cx="1371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參與每一步</a:t>
            </a:r>
          </a:p>
        </p:txBody>
      </p:sp>
      <p:sp>
        <p:nvSpPr>
          <p:cNvPr id="15" name="Oval 14"/>
          <p:cNvSpPr/>
          <p:nvPr/>
        </p:nvSpPr>
        <p:spPr>
          <a:xfrm>
            <a:off x="2080260" y="13487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0260" y="15544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7" name="Oval 16"/>
          <p:cNvSpPr/>
          <p:nvPr/>
        </p:nvSpPr>
        <p:spPr>
          <a:xfrm>
            <a:off x="3268100" y="20345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8100" y="22402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9" name="Oval 18"/>
          <p:cNvSpPr/>
          <p:nvPr/>
        </p:nvSpPr>
        <p:spPr>
          <a:xfrm>
            <a:off x="3268100" y="34061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68100" y="36118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Oval 20"/>
          <p:cNvSpPr/>
          <p:nvPr/>
        </p:nvSpPr>
        <p:spPr>
          <a:xfrm>
            <a:off x="2080260" y="40919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80260" y="42976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3" name="Oval 22"/>
          <p:cNvSpPr/>
          <p:nvPr/>
        </p:nvSpPr>
        <p:spPr>
          <a:xfrm>
            <a:off x="892419" y="340614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2419" y="36118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5" name="Oval 24"/>
          <p:cNvSpPr/>
          <p:nvPr/>
        </p:nvSpPr>
        <p:spPr>
          <a:xfrm>
            <a:off x="892419" y="2034540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419" y="2240280"/>
            <a:ext cx="868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1325880"/>
            <a:ext cx="1563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機制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325880"/>
            <a:ext cx="35295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怎麼運作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1325880"/>
            <a:ext cx="18379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解決的問題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728216"/>
            <a:ext cx="1563624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交接靠檔案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1728216"/>
            <a:ext cx="3529584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21240" y="1728216"/>
            <a:ext cx="1837943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需求反覆、交接失真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2752344"/>
            <a:ext cx="1563624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規則自動執行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2752344"/>
            <a:ext cx="3529584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21240" y="2752344"/>
            <a:ext cx="1837943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合規與品質靠個人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3776472"/>
            <a:ext cx="1563624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關卡有人簽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3776472"/>
            <a:ext cx="3529584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40" y="3776472"/>
            <a:ext cx="1837943" cy="9875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怕失控、稽核查不到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21208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1208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9436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流程整合自 FSC1〈AI 協作開發流程與產出範本〉v3 與 Anthropic《The AI-Native SDLC Playbook》。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現場示範：我們已經在用這套做法，用一個用例走完從需求到上線的每一步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待確認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　需求說明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業務需求 → AI 追問 → 定稿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　規格與規範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6624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6624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起草，自動套用規範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1768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　實作計畫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核准前 AI 不能改程式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96912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　程式與測試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96912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自己跑測試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2056" y="1325880"/>
            <a:ext cx="2203704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5　核准與紀錄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92056" y="1783080"/>
            <a:ext cx="220370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Arial"/>
                <a:ea typeface="微軟正黑體"/>
              </a:rPr>
              <a:t>【IT 示範畫面】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2056" y="3566160"/>
            <a:ext cx="2203704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誰核准、何時，查得到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51960"/>
            <a:ext cx="370332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證明 1：不是概念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我們自己已經在用，畫面是實際操作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3672" y="4251960"/>
            <a:ext cx="370332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證明 2：每一步可稽核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每個關卡都有人核准、留下紀錄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3" y="4251960"/>
            <a:ext cx="3703320" cy="9601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證明 3：一個用例就能開始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不需要先改造整個 IT 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3949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示範畫面由 FSC1 IT 團隊提供，使用假資料，不含任何客戶資料。現場示範可用貴公司提供的一個需求進行。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帶來什麼價值：每個痛點對應一項成果，試點前後用業界標準的 DORA 指標比較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3212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58200" y="1325880"/>
            <a:ext cx="3300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需求來回多輪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728216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業務和 AI 一起寫需求說明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1728216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新功能更快上線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728216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從第一次討論到需求定稿的時間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04872"/>
            <a:ext cx="2157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審查排隊、品質看人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2404872"/>
            <a:ext cx="288950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先審、人判斷風險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2404872"/>
            <a:ext cx="288950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工程師把時間花在需要判斷的工作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404872"/>
            <a:ext cx="3300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第一次審查的等待時間、返工次數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081528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上線出錯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3081528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每次改動自行測試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32120" y="3081528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上線事故減少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3081528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變更失敗率、復原時間（DORA）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758183"/>
            <a:ext cx="2157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法規與稽核壓力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3758183"/>
            <a:ext cx="288950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規範規則＋自動關卡＋紀錄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32120" y="3758183"/>
            <a:ext cx="288950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金檢與內稽時拿得出佐證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3758183"/>
            <a:ext cx="3300984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有完整核准紀錄的改動比例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434840"/>
            <a:ext cx="2157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交付慢且難預期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4434840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每階段交出檔案，下一步直接接手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4434840"/>
            <a:ext cx="288950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交付時間可預期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58200" y="4434840"/>
            <a:ext cx="3300984" cy="640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交付時間、部署頻率（DORA）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1206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DORA 四項指標（部署頻率、交付時間、變更失敗率、復原時間）為業界通用的交付績效指標。效益不預先承諾數字，以試點前後實測。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你買到什麼：先診斷、再做一個用例的試點，用事先講好的成功標準驗收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05840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379476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　約 4–6 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20240"/>
            <a:ext cx="3794760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・雙方訂好成功標準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379476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794760" cy="5486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　約 6–8 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920240"/>
            <a:ext cx="3794760" cy="13258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・同步教會各角色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3291840"/>
            <a:ext cx="379476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24528" y="1463040"/>
            <a:ext cx="100584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1325880"/>
            <a:ext cx="352044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成功標準（試點前講好）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1920240"/>
            <a:ext cx="3520440" cy="2240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・有完整核准紀錄的改動比例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檢討後再試或停止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38912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38912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749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期程依範圍確認；固定範圍、固定價格，金額另行報價。擴大階段、工具包授權與駐點支援可依需求討論。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為什麼選我們：不是概念，是已經在用的做法，加上在地法規與可稽核的關卡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差異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325880"/>
            <a:ext cx="5998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貴公司得到什麼</a:t>
            </a:r>
          </a:p>
        </p:txBody>
      </p:sp>
      <p:sp>
        <p:nvSpPr>
          <p:cNvPr id="9" name="Rectangle 8"/>
          <p:cNvSpPr/>
          <p:nvPr/>
        </p:nvSpPr>
        <p:spPr>
          <a:xfrm>
            <a:off x="8823960" y="1325880"/>
            <a:ext cx="2935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證據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28216"/>
            <a:ext cx="234086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已經在用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728216"/>
            <a:ext cx="599846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728216"/>
            <a:ext cx="2935224" cy="74066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現場示範（第 11 頁）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505456"/>
            <a:ext cx="23408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台灣保險法規內建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505456"/>
            <a:ext cx="59984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2505456"/>
            <a:ext cx="293522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法規檢查清單（附錄 D）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282696"/>
            <a:ext cx="234086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懂保險業務與在地系統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3282696"/>
            <a:ext cx="599846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3282696"/>
            <a:ext cx="2935224" cy="74066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保險業專案經驗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059935"/>
            <a:ext cx="23408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可稽核的人工關卡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4059935"/>
            <a:ext cx="599846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4059935"/>
            <a:ext cx="2935224" cy="740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關卡設計（第 10 頁）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709160"/>
            <a:ext cx="9144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9284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和國際方案的差別：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國際方案多以預建代理與藍圖為主；我們把在地法規、在地系統與可稽核關卡綁在一起，從貴公司的一個真實需求開始。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778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同業具體產品與來源見附錄 C；「國際方案套到台灣需大量調整」為依公開資料的推論。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從一個用例開始：驗證價值後再逐步擴大，每一步都可以停，不必一開始就承諾全面轉型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611879"/>
            <a:ext cx="2057400" cy="12801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試點一個範圍小、可量測的需求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956048"/>
            <a:ext cx="205740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承諾：診斷＋一個試點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926079"/>
            <a:ext cx="2057400" cy="19659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對照試點前講好的成功標準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4956048"/>
            <a:ext cx="205740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決定：擴大、調整或停止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2240279"/>
            <a:ext cx="2057400" cy="2651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56048"/>
            <a:ext cx="205740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承諾：下一個用例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1554479"/>
            <a:ext cx="2057400" cy="3337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集中管理設定，統一關卡與紀錄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956048"/>
            <a:ext cx="205740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承諾：依前面成果決定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325880"/>
            <a:ext cx="2697480" cy="4178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風險小：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成本可控：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有數據才擴大：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越做越快：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範本與規則沿用，下一個用例不必從頭來。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如何開始：先看現場示範，再挑一個用例，從準備度診斷啟動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74320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約 4–6 週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11680"/>
            <a:ext cx="2743200" cy="457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選定用例與成功標準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149047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74320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約 6–8 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2696" y="2011680"/>
            <a:ext cx="2743200" cy="457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指標達到合格線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25896" y="149047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325880"/>
            <a:ext cx="2743200" cy="64008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依範圍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2011680"/>
            <a:ext cx="2743200" cy="457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管理層核准擴大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97112" y="1490472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25128" y="1325880"/>
            <a:ext cx="2743200" cy="64008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Arial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持續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2011680"/>
            <a:ext cx="2743200" cy="4572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—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283464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2697480"/>
            <a:ext cx="59893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21" name="Oval 20"/>
          <p:cNvSpPr/>
          <p:nvPr/>
        </p:nvSpPr>
        <p:spPr>
          <a:xfrm>
            <a:off x="411480" y="367588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3538728"/>
            <a:ext cx="59893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451713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379976"/>
            <a:ext cx="59893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697480"/>
            <a:ext cx="4480560" cy="24323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・資安、個資與法遵規範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34924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4924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A｜示範情境：「理賠進度自助查詢」導入前後對比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335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導入前（常見做法）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325880"/>
            <a:ext cx="5221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導入後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0" y="1325880"/>
            <a:ext cx="1792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13350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72821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多次會議，再由專人寫成文件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728216"/>
            <a:ext cx="5221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0" y="1728216"/>
            <a:ext cx="1792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產品負責人接受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68296"/>
            <a:ext cx="13350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36829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分析與設計分開做，規範靠人記得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368296"/>
            <a:ext cx="5221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60" y="2368296"/>
            <a:ext cx="1792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產品負責人確認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008376"/>
            <a:ext cx="13350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300837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讀完設計就寫，做法只在個人腦中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008376"/>
            <a:ext cx="5221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3008376"/>
            <a:ext cx="1792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工程師核准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648456"/>
            <a:ext cx="13350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4845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階段末才測，問題晚發現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648456"/>
            <a:ext cx="5221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3648456"/>
            <a:ext cx="1792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自行驗證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288536"/>
            <a:ext cx="13350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428853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逐行人工審查，排隊等待核准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4288536"/>
            <a:ext cx="5221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66960" y="4288536"/>
            <a:ext cx="179222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928616"/>
            <a:ext cx="13350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92861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事件常被擱置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4928616"/>
            <a:ext cx="5221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錯誤率異常時 AI 先診斷，必要時退回上一版，寫成新需求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4928616"/>
            <a:ext cx="179222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692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情境取自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B｜延伸方式：同一套資產延伸到其他系統、客戶與產業，各有前提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27080" y="914400"/>
            <a:ext cx="804672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延伸方向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32588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例子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325880"/>
            <a:ext cx="22494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沿用什麼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要新增什麼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前提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28216"/>
            <a:ext cx="2066543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同一客戶的其他系統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1728216"/>
            <a:ext cx="256946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728216"/>
            <a:ext cx="224942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流程、範本、關卡、規範規則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728216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該系統的規範與核准人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1728216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前一個用例達標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386584"/>
            <a:ext cx="2066543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新制相關專案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2386584"/>
            <a:ext cx="256946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IFRS 17／TW-ICS 報表與資料調整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2386584"/>
            <a:ext cx="224942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流程、關卡、法規清單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386584"/>
            <a:ext cx="215798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財會與精算規範、資料品質檢查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386584"/>
            <a:ext cx="215798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財會、精算參與；高風險加審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044952"/>
            <a:ext cx="2066543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AI 治理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3044952"/>
            <a:ext cx="256946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清冊與模型驗證流程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3044952"/>
            <a:ext cx="224942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紀錄與關卡、自律規範對應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044952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模型驗證規則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3044952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屬治理服務，另行界定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703320"/>
            <a:ext cx="2066543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其他保險公司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3703320"/>
            <a:ext cx="256946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另一家壽險或產險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3703320"/>
            <a:ext cx="224942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全部標準模組與資產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3703320"/>
            <a:ext cx="215798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該公司規範與系統串接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3703320"/>
            <a:ext cx="2157984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審計客戶需先確認獨立性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361688"/>
            <a:ext cx="2066543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其他金融業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361688"/>
            <a:ext cx="256946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銀行、證券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0" y="4361688"/>
            <a:ext cx="224942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流程、關卡、指標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4361688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該產業法規規則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0" y="4361688"/>
            <a:ext cx="2157984" cy="62179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以金管會 AI 指引為共同基礎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20640"/>
            <a:ext cx="1138428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C｜同業產品化參考：具體產品與來源（業者公開資訊）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38074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公司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325880"/>
            <a:ext cx="362102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產品／方案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325880"/>
            <a:ext cx="156362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型態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1325880"/>
            <a:ext cx="467258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來源（可點擊）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916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Agentic AI Blueprint for Insurance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6916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加速器＋導入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16916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488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148840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Regulatory Assist（與 SAS 合作）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48840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2148840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6060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KPMG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26060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Express, powered by SAS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26060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26060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0632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Capgemini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3063240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Guidewire 生成式 AI／代理工具組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063240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核心系統＋AI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063240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204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WTW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35204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Radar 5（保險定價與核保軟體）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35204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軟體產品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35204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977639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0" y="3977639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核心現代化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3977639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方法論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6600" y="3977639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4348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BCG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44348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AI-First 產險公司藍圖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4348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方法論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600" y="44348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292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對客戶提案時是否保留本頁公司名稱，由提案合夥人決定；規模與期程數字為業者自述。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檢查項目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依據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開發流程中怎麼落實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325880"/>
            <a:ext cx="1380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在哪一步檢查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是否屬作業委外、是否需依規定辦理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78440" y="1728216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95144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雲端資料存放、雲端業者管理與查核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295144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62072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AI 工具登錄 AI 清冊並做風險評估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2862072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29000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同上；金管會 AI 指引「治理及問責」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五個人工關卡，各有指定核准人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429000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95928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個資與客戶資料不進入 AI 可讀範圍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3995928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規格、開發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562856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程式經資安審查，出事可退回上一版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4562856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129783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3756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指引「透明性與可解釋性」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78440" y="5129783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全程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E｜研究整合：兩份研究互補，衝突處的取捨與原因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主題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325880"/>
            <a:ext cx="29809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研究一：FSC1 開發流程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研究二：AI 原生 SDLC 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32588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本提案的取捨與原因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流程階段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20" y="172821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72821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172821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6829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控制方式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236829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Prompt 撰寫原則＋IT 人工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236829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技能、鉤子、集中管理設定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236829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00837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20" y="300837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每階段文件確認後進下一階段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300837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五個關鍵決定由指定的人核准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18120" y="300837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4845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效益說法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364845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未提數字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364845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手冊預期「數週到數小時」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364845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88536"/>
            <a:ext cx="14264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實作證據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20" y="4288536"/>
            <a:ext cx="298094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各階段案例頁待補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4288536"/>
            <a:ext cx="2889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實績頁待 IT 團隊填寫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4288536"/>
            <a:ext cx="3941063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以 IT 現場示範補上（第 11 頁）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928616"/>
            <a:ext cx="14264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服務內容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4928616"/>
            <a:ext cx="298094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未涵蓋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2040" y="4928616"/>
            <a:ext cx="2889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四個服務模組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4928616"/>
            <a:ext cx="3941063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F｜AI 任務分類：用「多常發生 × 需要判斷」決定哪些工作先交給 AI、先標準化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51560" y="1371600"/>
            <a:ext cx="3291840" cy="1965960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先做，人確認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欄位清單、Test Case、Test Data、Unit Test、註解與文件、Release 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8264" y="1371600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起草，人逐項審查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程式碼、API 規格、ERD、Code Review 風險檢查、測試失敗原因分析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392424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做成範本，重複使用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Deploy Guide、User Guide、Migration Script、部署腳本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3392424"/>
            <a:ext cx="3291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人決定，AI 只提供資料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7992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接受需求、架構選型、核准合併、授權上線、事件處置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371600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92424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394959"/>
            <a:ext cx="6638544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371600"/>
            <a:ext cx="3794760" cy="40233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怎麼用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・左上角最先交給 AI，也最先做成標準範本與規則。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・右上角由 AI 起草，人逐項審查。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・右下角永遠由人決定，對應五個人工關卡。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依據：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任務取自研究一各階段「AI 可以做什麼」；方法參考 MIT Sloan Management Review，2024。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8978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分類為初步判斷，診斷時依貴公司實際專案調整。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PwC FSC1｜AI 原生軟體開發提案｜標示「建議」「示意」者非承諾，效益以試點實測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Stack Overflow，2025 Developer Survey 新聞稿（84%、46%）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73352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0824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Google Cloud，Announcing the 2025 DORA report（約 90%、約 30%、放大器）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68296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InfoQ，DORA 2025 State of AI-assisted Software Development 整理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15768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Yahoo Finance，JPMorgan 工程師使用寫程式助手效率提升至多 20%，2025-03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63239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Deloitte Insights，AI and bank software development，2025（Citi 3 萬名開發者）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10712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Claims Journal，PwC 保險高階主管調查（57%），2025-11-17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58184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McKinsey，Technology Trends Outlook 2026（代理式軟體開發列為新趨勢）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105656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Allen &amp; Gledhill，MAS 發布 AI 模型風險管理資訊文件（2024-12-05）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53128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理律法律事務所，保險業作業委外新辦法（2025-12-31 施行）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800600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壽險／產險公會，保險業運用人工智慧系統自律規範（2025-04-10 備查）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8072"/>
            <a:ext cx="1138428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金管會，金融業運用人工智慧（AI）指引，2024-06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495544"/>
            <a:ext cx="11384280" cy="320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13. </a:t>
            </a: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