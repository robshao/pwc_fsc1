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www.infoq.com/news/2025/09/dora-state-of-ai-in-dev-2025" TargetMode="External"/><Relationship Id="rId6" Type="http://schemas.openxmlformats.org/officeDocument/2006/relationships/hyperlink" Target="https://finance.yahoo.com/news/jpmorgan-engineers-efficiency-jumps-much-190410471.html" TargetMode="External"/><Relationship Id="rId7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8" Type="http://schemas.openxmlformats.org/officeDocument/2006/relationships/hyperlink" Target="https://amp.claimsjournal.com/news/national/2025/11/17/334094.htm" TargetMode="External"/><Relationship Id="rId9" Type="http://schemas.openxmlformats.org/officeDocument/2006/relationships/hyperlink" Target="https://www.mckinsey.com/capabilities/tech-and-ai/our-insights/the-top-trends-in-tech" TargetMode="External"/><Relationship Id="rId10" Type="http://schemas.openxmlformats.org/officeDocument/2006/relationships/hyperlink" Target="https://www.allenandgledhill.com/sg/publication/articles/29565/mas-publishes-information-paper-on-ai-model-risk-management" TargetMode="External"/><Relationship Id="rId11" Type="http://schemas.openxmlformats.org/officeDocument/2006/relationships/hyperlink" Target="https://www.leeandli.com/TW/Newsletters/7525.htm" TargetMode="External"/><Relationship Id="rId12" Type="http://schemas.openxmlformats.org/officeDocument/2006/relationships/hyperlink" Target="https://law.lia-roc.org.tw/Law/GetFile/0000394231" TargetMode="External"/><Relationship Id="rId13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內部｜請 Sam 決定：是否以本提案接觸首批保險客戶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建議：同意以「診斷＋一個用例試點」接觸 1–2 家保險公司；第 12 頁示範完成後再對外。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請您決定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57984"/>
            <a:ext cx="3703320" cy="1992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① 是否同意以本提案接觸首批客戶（候選名單：[待填]）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② 附錄 C 對客戶是否保留同業公司名稱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微軟正黑體"/>
                <a:ea typeface="微軟正黑體"/>
              </a:rPr>
              <a:t>③ 指派 IT 同仁完成第 12 頁示範畫面（目標日期：[待填]）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推案前要先確認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157984"/>
            <a:ext cx="3703320" cy="1992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・獨立性：候選客戶若為 PwC 審計客戶，先經 Risk &amp; Quality 確認（狀態：尚未檢查）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・責任範圍：上線由客戶指定的人授權；AI 產出的責任歸屬寫進合約，條文待 Legal 確認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・示範：畫面完成前，提案不對外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規模與資源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2157984"/>
            <a:ext cx="3703320" cy="1992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・準備度診斷約 4–6 週＋一個用例試點約 6–8 週（第 15 頁）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・人力配置與報價：[待填]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・IT 團隊：示範準備，以及試點期間的技術支援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4320124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預期會被問的問題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703320" y="4320124"/>
            <a:ext cx="8055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建議回答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693199"/>
            <a:ext cx="32552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跟國際顧問的方案比，我們贏在哪？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4693199"/>
            <a:ext cx="80558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在地法規與可稽核關卡綁在一起，並從客戶的一個真實需求開始（第 16 頁；同業見附錄 C）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269770"/>
            <a:ext cx="3255264" cy="5426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寫的程式出事，責任算誰的？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703320" y="5269770"/>
            <a:ext cx="8055864" cy="5426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能不能上線由客戶指定的人授權，誰核准都查得到（第 11 頁）；合約責任範圍待 Legal 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846341"/>
            <a:ext cx="32552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怎麼證明有效？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703320" y="5846341"/>
            <a:ext cx="8055864" cy="54265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試點前雙方講好指標與合格線，達標才擴大，未達標就停（第 15 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一頁看懂：從一個用例開始，證明 AI 開發更快也可稽核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週單一用例試點；達到事先講好的標準，才擴大到下一個系統。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6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10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自己已經用這套流程開發；台灣保險法規對應到每個關卡；從貴公司的一個真實需求開始，不必全面轉型。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12、16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從為什麼現在要做、怎麼做，到帶來什麼價值與如何擴大，說明從一個用例開始的導入方式。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5–7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全球趨勢、只買工具為什麼不夠、我們的解法、現場示範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8–12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13–16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從一個用例逐步擴大、如何開始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17–19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示範情境、延伸方式、同業參考、法規清單、研究整合、AI 任務分類、資料來源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全球已普遍用 AI 開發軟體，大型金融機構也在大規模導入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開發者與技術團隊的 AI 使用率已達八至九成；銀行業已有數萬名工程師規模的導入。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工具（2024 年為 76%）。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192939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 開發者調查，4.9 萬多人、177 國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技術人員在工作中使用 AI。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192939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來源：Google DORA 2025 報告，約 5,000 人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數萬名工程師使用銀行自建的寫程式助手後，生產力提升（公司自述）。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192939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來源：該行全球資訊長，2025-03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開發者在系統現代化中導入生成式 AI 寫程式助手。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192939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來源：Deloitte Insights，2025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21041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保險業：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57% 的保險高階主管把生成式與代理型 AI 列為 2026 年首要科技投資（PwC 調查）；McKinsey 2026 科技趨勢把「代理式軟體開發」列為新趨勢。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保險業公開具名案例仍少，保險公司仍有先行機會；顧問業者已推出相關方案（附錄 C）。完整來源見附錄 G。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但個人變快，不等於交付變好：AI 會放大原有的流程與治理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DORA 2025：AI 讓交付速度提升，但交付穩定度仍下降；效益取決於流程與治理，而不是買了哪個工具。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交付表現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03320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交付速度：2025 年轉為正相關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36302"/>
            <a:ext cx="3703320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557016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2024 年模型估計：AI 採用率每增加 25%，穩定度 −7.2%、速度 −1.5%；2025 年速度轉正，穩定度仍是隱憂。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開發者的信任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2157984"/>
            <a:ext cx="3703320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46%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不信任 AI 產出的準確度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33672" y="2836302"/>
            <a:ext cx="3703320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30%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很少或不信任 AI 寫的程式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33672" y="3557016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前者來自 Stack Overflow 2025（2024 年為 31%）；後者來自 DORA 2025。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研究結論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55863" y="2157984"/>
            <a:ext cx="370332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放大組織原有的優點與缺點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55863" y="3557016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2025：架構鬆耦合、回饋快的團隊才受益；報告並提出 AI 能力模型（七項能力）。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40837"/>
            <a:ext cx="91440" cy="67831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5040837"/>
            <a:ext cx="11292840" cy="67831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 AI 時，需求、審查、上線與控制方式要一起改，這正是我們協助的部分。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來源：Google DORA 2024、2025 報告；Stack Overflow 2025 開發者調查。完整連結見附錄 G。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協作開發流程與產出範本〉v3，並參考業界公開的 AI 原生 SDLC 框架（附錄 G）。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現場示範：用一個用例走完從需求到上線的每一步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FSC1 已在使用這套做法；現場可用貴公司提供的一個需求，走完以下五個步驟。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起草，自動套用規範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核准前 AI 不能改程式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96912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自己跑測試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1691640"/>
            <a:ext cx="2203704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2115589"/>
            <a:ext cx="2203704" cy="1611006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【IT 示範畫面】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592056" y="376899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誰核准、何時，查得到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我們自己已經在用，畫面是實際操作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每個關卡都有人核准、留下紀錄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4404914"/>
            <a:ext cx="370332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不需要先改造整個 IT 部門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6478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844781"/>
            <a:ext cx="2157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844781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844781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844781"/>
            <a:ext cx="3300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24847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624847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624847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624847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404914"/>
            <a:ext cx="2157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404914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404914"/>
            <a:ext cx="288950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404914"/>
            <a:ext cx="3300984" cy="746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184980"/>
            <a:ext cx="2157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5184980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5184980"/>
            <a:ext cx="288950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5184980"/>
            <a:ext cx="3300984" cy="7461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204535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659283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659283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9520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12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11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現場示範補上（第 12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F｜AI 任務分類：哪些工作先交給 AI、先標準化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需要判斷」分四類：先交給 AI、先做成範本，或永遠由人決定。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怎麼用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・左上角最先交給 AI，也最先做成標準範本與規則。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・右上角由 AI 起草，人逐項審查。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・右下角永遠由人決定，對應五個人工關卡。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依據：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任務取自研究一各階段「AI 可以做什麼」；方法參考 MIT Sloan Management Review，2024。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分類為初步判斷，診斷時依貴公司實際專案調整。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新聞稿（84%、46%）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13841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36042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90%、約 30%、速度與穩定度、放大器）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658243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InfoQ，DORA 2025 State of AI-assisted Software Development 整理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80445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Yahoo Finance，JPMorgan 工程師使用寫程式助手效率提升至多 20%，2025-03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302646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Deloitte Insights，AI and bank software development，2025（Citi 3 萬名開發者）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624847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Claims Journal，PwC 保險高階主管調查（57%），2025-11-17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947049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McKinsey，Technology Trends Outlook 2026（代理式軟體開發列為新趨勢）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269250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Allen &amp; Gledhill，MAS 發布 AI 模型風險管理資訊文件（2024-12-05）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591451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理律法律事務所，保險業作業委外新辦法（2025-12-31 施行）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913653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壽險／產險公會，保險業運用人工智慧系統自律規範（2025-04-10 備查）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235854"/>
            <a:ext cx="11384280" cy="296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金管會，金融業運用人工智慧（AI）指引，2024-06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558055"/>
            <a:ext cx="11384280" cy="2967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