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一頁看懂：AI 工具已普及，但流程與治理沒跟上；我們從一個用例開始，驗證後再擴大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65836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我們的主張：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協助保險公司把 AI 用進整個開發流程，交付更快、每一步可稽核；先做一個用例，用數據證明價值，再逐步擴大。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3703320" cy="914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FD5108"/>
                </a:solidFill>
                <a:latin typeface="Arial"/>
                <a:ea typeface="微軟正黑體"/>
              </a:rPr>
              <a:t>84%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063240"/>
            <a:ext cx="3703320" cy="1143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全球開發者正在使用或計畫使用 AI 工具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Stack Overflow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2148840"/>
            <a:ext cx="3703320" cy="914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FD5108"/>
                </a:solidFill>
                <a:latin typeface="Arial"/>
                <a:ea typeface="微軟正黑體"/>
              </a:rPr>
              <a:t>放大器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3063240"/>
            <a:ext cx="3703320" cy="1143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AI 放大組織原有的流程與治理，只買工具效益不穩定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Google DORA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5863" y="2148840"/>
            <a:ext cx="3703320" cy="914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FD5108"/>
                </a:solidFill>
                <a:latin typeface="Arial"/>
                <a:ea typeface="微軟正黑體"/>
              </a:rPr>
              <a:t>一個用例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3" y="3063240"/>
            <a:ext cx="3703320" cy="1143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先做一個用例、用數據證明價值，達標才擴大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我們的做法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19472"/>
            <a:ext cx="370332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看現場示範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我們已經在用的做法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23944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3672" y="4919472"/>
            <a:ext cx="3703320" cy="7315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做一個用例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先講好成功標準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46136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3" y="4919472"/>
            <a:ext cx="370332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驗證後擴大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每一步都可以停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48640" y="148132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37160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37160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保險公司為什麼比其他產業更急、我們和誰一起推動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37160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210312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25856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14884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4884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全球趨勢、只買工具為什麼不夠、我們的解法、現場示範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14884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7–11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288036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303580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92608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92608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價值與衡量、價值試算、你買到什麼、為什麼選我們、誰來做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92608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12–17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365760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381304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370332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可擴充、可複製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370332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從一個用例逐步擴大、路線圖與下一步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370332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18–20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34440" y="443484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" y="4590288"/>
            <a:ext cx="475488" cy="475488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48056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448056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示範情境、延伸方式、同業比較、法規清單、研究整合、資料來源、常見問題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448056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21–29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52120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右側數字為頁碼。標示「示意」者為說明用的期程或數字，非承諾；「待確認」為尚待補充的內容。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保險公司比其他產業更急：新制上路，監理要求 AI 的使用有紀錄、有人負責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新制上路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IFRS 17 與 TW-ICS 接軌，財務、精算與報表相關系統都要跟著調整。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來源：金管會保險局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5864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責任落在保險公司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5864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0247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區域監理已在檢查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0247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2024-12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0247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新加坡金管局檢視銀行後指出：多數銀行建立 AI 清冊，高風險 AI 須獨立驗證，並設跨部門監督。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0247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來源：新加坡金融管理局（MAS）資訊文件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7492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保險公司要用 AI 加快開發，同時拿得出「誰要求、AI 做了什麼、誰核准」的紀錄。這必須在流程裡設計好，不能事後補。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我們和四種角色一起推動：IT 主管主導，業務提出需求，法遵與風控共同把關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在專案中的角色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3895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他們的問題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我們給的答案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1579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IT／數位主管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28216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主導與預算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28216"/>
            <a:ext cx="3895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1728216"/>
            <a:ext cx="348386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一個可量測的用例試點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41448"/>
            <a:ext cx="21579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業務單位主管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44144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提出需求、共同贊助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441448"/>
            <a:ext cx="3895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需求來回多輪、上線時間難預期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2441448"/>
            <a:ext cx="348386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54680"/>
            <a:ext cx="21579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法遵、風控、資安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40" y="315468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把關與核准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154680"/>
            <a:ext cx="3895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3154680"/>
            <a:ext cx="348386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法規檢查清單、人工關卡、完整紀錄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67912"/>
            <a:ext cx="21579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867912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核准方向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867912"/>
            <a:ext cx="3895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投資要看到回報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3867912"/>
            <a:ext cx="348386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小範圍起步，先講好成功標準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9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最適合起步的公司：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全球已經普遍用 AI 開發軟體，大型金融機構也在大規模導入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開發者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84%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正在使用或計畫使用 AI 工具（2024 年為 76%）。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來源：Stack Overflow 2025 開發者調查，4.9 萬多人、177 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技術團隊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約 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技術人員在工作中使用 AI。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7268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來源：Google DORA 2025 報告，約 5,000 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JPMorgan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10–20%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數萬名工程師使用銀行自建的寫程式助手後，生產力提升（公司自述）。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5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來源：該行全球資訊長，2025-03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Citi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3 萬名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開發者在系統現代化中導入生成式 AI 寫程式助手。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38843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來源：Deloitte Insights，2025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074920"/>
            <a:ext cx="1138428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保險業：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57% 的保險高階主管把生成式與代理型 AI 列為 2026 年首要科技投資（PwC 調查），但公開的具名成果仍少：先把流程與治理做好的公司，會先拿到效益。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8521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McKinsey 2026 科技趨勢亦把「代理式軟體開發」列為新趨勢。完整來源見附錄 G。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只買工具，效益不穩定：研究顯示 AI 是放大器，流程與治理好的團隊才受益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0332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研究結論（2025）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03320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放大組織原有的優點與缺點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DORA 2025：架構鬆耦合、回饋快的團隊才受益；AI 與交付速度轉為正相關，但穩定度仍是隱憂。報告並提出 AI 能力模型（七項能力）。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開發者的信任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82880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不信任 AI 產出的準確度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256032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對 AI 寫的程式很少或不信任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前者來自 Stack Overflow 2025（2024 年為 31%）；後者來自 DORA 2025。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沒有配套時的警訊（2024）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3" y="182880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−7.2%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交付穩定度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3" y="256032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−1.5%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交付速度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採用率每增加 25% 的模型估計（DORA 2024），顯示流程沒跟上時的風險。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37760"/>
            <a:ext cx="9144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1129284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來源：Google DORA 2024、2025 報告；Stack Overflow 2025 開發者調查。完整連結見附錄 G。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我們的解法：把開發流程串成循環，用三個機制守住，關鍵決定由貴公司指定的人做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>
            <a:off x="2514600" y="1783080"/>
            <a:ext cx="1187840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702440" y="2468880"/>
            <a:ext cx="0" cy="13716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514600" y="3840480"/>
            <a:ext cx="1187840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326759" y="3840480"/>
            <a:ext cx="1187841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468880"/>
            <a:ext cx="0" cy="13716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326759" y="1783080"/>
            <a:ext cx="1187841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828800" y="2468880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78892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參與每一步</a:t>
            </a:r>
          </a:p>
        </p:txBody>
      </p:sp>
      <p:sp>
        <p:nvSpPr>
          <p:cNvPr id="15" name="Oval 14"/>
          <p:cNvSpPr/>
          <p:nvPr/>
        </p:nvSpPr>
        <p:spPr>
          <a:xfrm>
            <a:off x="2080260" y="13487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0260" y="15544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7" name="Oval 16"/>
          <p:cNvSpPr/>
          <p:nvPr/>
        </p:nvSpPr>
        <p:spPr>
          <a:xfrm>
            <a:off x="3268100" y="20345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8100" y="22402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9" name="Oval 18"/>
          <p:cNvSpPr/>
          <p:nvPr/>
        </p:nvSpPr>
        <p:spPr>
          <a:xfrm>
            <a:off x="3268100" y="34061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8100" y="36118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Oval 20"/>
          <p:cNvSpPr/>
          <p:nvPr/>
        </p:nvSpPr>
        <p:spPr>
          <a:xfrm>
            <a:off x="2080260" y="40919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80260" y="42976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3" name="Oval 22"/>
          <p:cNvSpPr/>
          <p:nvPr/>
        </p:nvSpPr>
        <p:spPr>
          <a:xfrm>
            <a:off x="892419" y="34061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419" y="36118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5" name="Oval 24"/>
          <p:cNvSpPr/>
          <p:nvPr/>
        </p:nvSpPr>
        <p:spPr>
          <a:xfrm>
            <a:off x="892419" y="2034540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419" y="22402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132588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機制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325880"/>
            <a:ext cx="3529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怎麼運作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1325880"/>
            <a:ext cx="18379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解決的問題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728216"/>
            <a:ext cx="156362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交接靠檔案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728216"/>
            <a:ext cx="352958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1240" y="1728216"/>
            <a:ext cx="1837943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需求反覆、交接失真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752344"/>
            <a:ext cx="156362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規則自動執行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2752344"/>
            <a:ext cx="352958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2752344"/>
            <a:ext cx="1837943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合規與品質靠個人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3776472"/>
            <a:ext cx="156362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關卡有人簽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776472"/>
            <a:ext cx="352958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40" y="3776472"/>
            <a:ext cx="1837943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怕失控、稽核查不到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1208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1208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流程整合自 FSC1〈AI 協作開發流程與產出範本〉v3 與 Anthropic《The AI-Native SDLC Playbook》。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現場示範：我們已經在用這套做法，用一個用例走完從需求到上線的每一步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　需求說明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起草，自動套用規範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1768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　實作計畫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核准前 AI 不能改程式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96912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　程式與測試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6912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自己跑測試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5　核准與紀錄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92056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2056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誰核准、何時，查得到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我們自己已經在用，畫面是實際操作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3672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每個關卡都有人核准、留下紀錄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不需要先改造整個 IT 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949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帶來什麼價值：每個痛點對應一項成果，試點前後用業界標準的 DORA 指標比較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痛點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325880"/>
            <a:ext cx="3300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需求來回多輪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28216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728216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新功能更快上線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728216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04872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審查排隊、品質看人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404872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先審、人判斷風險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2404872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工程師把時間花在需要判斷的工作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404872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81528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上線出錯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40" y="3081528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每次改動自行測試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32120" y="3081528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上線事故減少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3081528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變更失敗率、復原時間（DORA）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758183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法規與稽核壓力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758183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規範規則＋自動關卡＋紀錄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32120" y="3758183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金檢與內稽時拿得出佐證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3758183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434840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交付慢且難預期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06040" y="4434840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每階段交出檔案，下一步直接接手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4434840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交付時間可預期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4434840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交付時間、部署頻率（DORA）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1206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DORA 四項指標（部署頻率、交付時間、變更失敗率、復原時間）為業界通用的交付績效指標。效益不預先承諾數字，以試點前後實測。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價值試算：用貴公司自己的數字算出效益，在診斷階段一起完成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效益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6364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算法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132588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資料從哪裡來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需求定稿更快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28216"/>
            <a:ext cx="63642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每年需求件數 × 每件縮短的天數 × 參與人數 × 人天成本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1728216"/>
            <a:ext cx="27523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需求單與會議紀錄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5973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審查等待更短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2459736"/>
            <a:ext cx="63642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每年改動數 × 每次縮短的等待時數 × 人時成本；或提早上線帶來的業務價值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2459736"/>
            <a:ext cx="27523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版本紀錄、CI 系統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19125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上線事故更少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3191256"/>
            <a:ext cx="63642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每年上線事故數 × 減少比例 × 每次事故的處理成本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3191256"/>
            <a:ext cx="27523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事件與變更紀錄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92277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稽核準備更省力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922776"/>
            <a:ext cx="63642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每次金檢或內稽的準備人天 × 減少比例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3922776"/>
            <a:ext cx="27523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稽核與核准紀錄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57200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57200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公式裡的「縮短天數」「減少比例」不預先假設，以試點前後實測代入；試算結果作為是否擴大的依據之一。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算法為示意，實際項目依貴公司痛點調整。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你買到什麼：先診斷、再做一個用例的試點，用事先講好的成功標準驗收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379476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3794760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・雙方訂好成功標準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91840"/>
            <a:ext cx="379476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794760" cy="5486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3794760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3291840"/>
            <a:ext cx="379476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463040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325880"/>
            <a:ext cx="35204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1920240"/>
            <a:ext cx="352044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・有完整核准紀錄的改動比例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8912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38912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749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期程依範圍確認；固定範圍、固定價格，金額另行報價。擴大階段、工具包授權與駐點支援可依需求討論。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為什麼選我們：不是概念，是已經在用的做法，加上在地法規與可稽核的關卡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差異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325880"/>
            <a:ext cx="5815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貴公司得到什麼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325880"/>
            <a:ext cx="3118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證據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3408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已經在用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728216"/>
            <a:ext cx="581558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728216"/>
            <a:ext cx="311810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現場示範（第 11 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05456"/>
            <a:ext cx="23408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505456"/>
            <a:ext cx="581558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2505456"/>
            <a:ext cx="311810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法規檢查清單（附錄 D）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82696"/>
            <a:ext cx="23408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3282696"/>
            <a:ext cx="581558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3282696"/>
            <a:ext cx="311810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保險業專案實績【待補 2–3 個匿名案例】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059935"/>
            <a:ext cx="23408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4059935"/>
            <a:ext cx="581558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4059935"/>
            <a:ext cx="311810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關卡設計（第 10 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709160"/>
            <a:ext cx="9144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29284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和國際方案的差別：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國際方案多以預建代理與藍圖為主；我們把在地法規、在地系統與可稽核關卡綁在一起，從貴公司的一個真實需求開始。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5778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同業具體產品與來源見附錄 C；「國際方案套到台灣需大量調整」為依公開資料的推論。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誰來做：BA、工程與治理三種專業組成小團隊，從診斷到試點陪跑到底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5084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負責什麼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1325880"/>
            <a:ext cx="2020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參與階段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325880"/>
            <a:ext cx="1975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相關經驗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15798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BA／專案負責人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728216"/>
            <a:ext cx="5084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需求與業務對焦、需求說明範本、各角色教學、成效報告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72821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診斷、試點全程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1728216"/>
            <a:ext cx="197510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【待補】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05456"/>
            <a:ext cx="215798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AI 開發工程師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2505456"/>
            <a:ext cx="50840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流程與工具設定、規範規則與自動關卡、現場示範與陪跑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505456"/>
            <a:ext cx="20208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試點為主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2505456"/>
            <a:ext cx="197510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【待補】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82696"/>
            <a:ext cx="215798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治理與法規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282696"/>
            <a:ext cx="5084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法規檢查清單、AI 清冊、委外判斷、紀錄格式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328269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診斷、試點關鍵節點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3282696"/>
            <a:ext cx="197510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【待補】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059935"/>
            <a:ext cx="215798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專案監督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4059935"/>
            <a:ext cx="50840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品質把關、獨立性確認、與貴公司管理層對齊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79" y="4059935"/>
            <a:ext cx="20208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059935"/>
            <a:ext cx="197510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【待補】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70916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0916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合作方式：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小團隊與貴公司的 IT、業務、法遵窗口一起工作，邊做邊教，試點結束時做法留在貴公司團隊。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人數與投入比例依診斷範圍確認。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從一個用例開始：驗證價值後再逐步擴大，每一步都可以停，不必一開始就承諾全面轉型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3611879"/>
            <a:ext cx="2057400" cy="12801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試點一個範圍小、可量測的需求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承諾：診斷＋一個試點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926079"/>
            <a:ext cx="2057400" cy="19659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對照試點前講好的成功標準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決定：擴大、調整或停止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2240279"/>
            <a:ext cx="2057400" cy="2651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承諾：下一個用例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54479"/>
            <a:ext cx="2057400" cy="3337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集中管理設定，統一關卡與紀錄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承諾：依前面成果決定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325880"/>
            <a:ext cx="2697480" cy="4178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如何開始：先看現場示範，再挑一個用例，從準備度診斷啟動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選定用例與成功標準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74320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指標達到合格線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25896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325880"/>
            <a:ext cx="2743200" cy="64008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管理層核准擴大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97112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25128" y="1325880"/>
            <a:ext cx="2743200" cy="64008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持續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283464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697480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21" name="Oval 20"/>
          <p:cNvSpPr/>
          <p:nvPr/>
        </p:nvSpPr>
        <p:spPr>
          <a:xfrm>
            <a:off x="411480" y="367588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3538728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451713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79976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697480"/>
            <a:ext cx="4480560" cy="24323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・資安、個資與法遵規範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4924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924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A｜示範情境：「理賠進度自助查詢」導入前後對比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335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導入前（常見做法）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25880"/>
            <a:ext cx="5221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多次會議，再由專人寫成文件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2821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0" y="172821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產品負責人接受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6829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分析與設計分開做，規範靠人記得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36829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0" y="236829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產品負責人確認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0837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讀完設計就寫，做法只在個人腦中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00837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300837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工程師核准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64845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階段末才測，問題晚發現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64845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364845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28853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逐行人工審查，排隊等待核准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28853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428853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2861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事件常被擱置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492861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錯誤率異常時 AI 先診斷，必要時退回上一版，寫成新需求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492861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情境取自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B｜延伸方式：同一套資產延伸到其他系統、客戶與產業，各有前提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延伸方向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沿用什麼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要新增什麼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同一客戶的其他系統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728216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728216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流程、範本、關卡、規範規則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728216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該系統的規範與核准人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728216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前一個用例達標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86584"/>
            <a:ext cx="2066543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新制相關專案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386584"/>
            <a:ext cx="256946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報表與資料調整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386584"/>
            <a:ext cx="224942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386584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財會與精算規範、資料品質檢查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386584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財會、精算參與；高風險加審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044952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044952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清冊與模型驗證流程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044952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紀錄與關卡、自律規範對應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044952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模型驗證規則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044952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屬治理服務，另行界定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2066543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其他保險公司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703320"/>
            <a:ext cx="256946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另一家壽險或產險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703320"/>
            <a:ext cx="224942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全部標準模組與資產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703320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該公司規範與系統串接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3703320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審計客戶需先確認獨立性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361688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其他金融業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361688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銀行、證券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361688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流程、關卡、指標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61688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該產業法規規則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4361688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以金管會 AI 指引為共同基礎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120640"/>
            <a:ext cx="1138428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C｜同業產品化參考：具體產品與來源（業者公開資訊）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325880"/>
            <a:ext cx="36210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325880"/>
            <a:ext cx="15636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型態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1325880"/>
            <a:ext cx="46725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916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6916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加速器＋導入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16916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488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488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1488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26060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26060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26060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632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30632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0632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核心系統＋AI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0632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204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5204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5204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軟體產品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35204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977639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3977639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3977639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3977639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348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44348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4348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4348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292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對客戶提案時是否保留本頁公司名稱，由提案合夥人決定；規模與期程數字為業者自述。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檢查項目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依據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開發流程中怎麼落實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在哪一步檢查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是否屬作業委外、是否需依規定辦理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728216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95144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雲端資料存放、雲端業者管理與查核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95144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AI 工具登錄 AI 清冊並做風險評估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862072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29000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同上；金管會 AI 指引「治理及問責」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五個人工關卡，各有指定核准人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429000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95928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個資與客戶資料不進入 AI 可讀範圍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995928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規格、開發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62856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程式經資安審查，出事可退回上一版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562856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29783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指引「透明性與可解釋性」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5129783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E｜研究整合：兩份研究互補，衝突處的取捨與原因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32588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72821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172821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6829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36829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36829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0837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00837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00837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4845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364845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364845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8853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28853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28853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以 IT 現場示範補上（第 11 頁）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92861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492861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492861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F｜AI 任務分類：用「多常發生 × 需要判斷」決定哪些工作先交給 AI、先標準化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51560" y="1371600"/>
            <a:ext cx="3291840" cy="1965960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先做，人確認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371600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起草，人逐項審查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92424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3392424"/>
            <a:ext cx="3291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371600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92424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394959"/>
            <a:ext cx="6638544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371600"/>
            <a:ext cx="3794760" cy="40233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73352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0824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Google Cloud，Announcing the 2025 DORA report（約 90%、約 30%、放大器）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68296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15768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63239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10712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58184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105656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53128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800600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8072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495544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H｜客戶常問的問題與回答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原生軟體開發提案｜期程與效益標示「示意」者非承諾，以診斷與試點實測為準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325880"/>
            <a:ext cx="8238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307238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728216"/>
            <a:ext cx="8238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只能走核准過的路徑；合併與上線一定要指定的人核准，每一次放行或阻擋都有紀錄。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14016"/>
            <a:ext cx="307238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414016"/>
            <a:ext cx="8238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需要判斷的決定都由人做並留下紀錄；寫程式的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99816"/>
            <a:ext cx="307238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3099816"/>
            <a:ext cx="8238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讀取金鑰與機密檔、限制對外連線、在隔離環境執行，並走公司核准的雲端合約。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85616"/>
            <a:ext cx="307238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要換掉現有的 Jira、變更管理嗎？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3785616"/>
            <a:ext cx="8238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不用。每種紀錄指定一個「以誰為準」的系統，其他系統放連結。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471416"/>
            <a:ext cx="307238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工程師會不會反彈？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0440" y="4471416"/>
            <a:ext cx="8238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資深工程師主導團隊說明檔與審查規則，經驗變成整個團隊用得到的規則；工作重心轉為規劃、指揮與審查。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57216"/>
            <a:ext cx="307238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5157216"/>
            <a:ext cx="8238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試點前講好指標與合格線，用版本紀錄與 CI 系統本來就有的數據比較前後。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回答依 Anthropic《The AI-Native SDLC Playbook》 與本提案的設計；涉及法規的問題以貴公司法遵確認為準。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