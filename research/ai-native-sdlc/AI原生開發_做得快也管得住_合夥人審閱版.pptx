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74" r:id="rId5"/>
    <p:sldMasterId id="2147483677" r:id="rId6"/>
    <p:sldMasterId id="2147483752" r:id="rId7"/>
    <p:sldMasterId id="2147483828" r:id="rId8"/>
    <p:sldMasterId id="2147483916" r:id="rId9"/>
  </p:sldMasterIdLst>
  <p:notesMasterIdLst>
    <p:notesMasterId r:id="rId124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  <p:sldId id="282" r:id="rId43"/>
    <p:sldId id="283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385F48-5DE5-14CF-FD55-8C71A0CF0FD8}" v="3" dt="2026-08-28T03:28:32.066"/>
    <p1510:client id="{15D06E23-814D-4FB8-96A8-0FFE2568AE7B}" v="63" dt="2026-08-28T08:56:32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37" Type="http://schemas.openxmlformats.org/officeDocument/2006/relationships/slide" Target="slides/slide21.xml"/><Relationship Id="rId38" Type="http://schemas.openxmlformats.org/officeDocument/2006/relationships/slide" Target="slides/slide22.xml"/><Relationship Id="rId39" Type="http://schemas.openxmlformats.org/officeDocument/2006/relationships/slide" Target="slides/slide23.xml"/><Relationship Id="rId40" Type="http://schemas.openxmlformats.org/officeDocument/2006/relationships/slide" Target="slides/slide24.xml"/><Relationship Id="rId41" Type="http://schemas.openxmlformats.org/officeDocument/2006/relationships/slide" Target="slides/slide25.xml"/><Relationship Id="rId42" Type="http://schemas.openxmlformats.org/officeDocument/2006/relationships/slide" Target="slides/slide26.xml"/><Relationship Id="rId43" Type="http://schemas.openxmlformats.org/officeDocument/2006/relationships/slide" Target="slides/slide27.xml"/><Relationship Id="rId44" Type="http://schemas.openxmlformats.org/officeDocument/2006/relationships/slide" Target="slides/slide28.xml"/><Relationship Id="rId124" Type="http://schemas.openxmlformats.org/officeDocument/2006/relationships/notesMaster" Target="notesMasters/notesMaster1.xml"/><Relationship Id="rId125" Type="http://schemas.openxmlformats.org/officeDocument/2006/relationships/presProps" Target="presProps.xml"/><Relationship Id="rId126" Type="http://schemas.openxmlformats.org/officeDocument/2006/relationships/viewProps" Target="viewProps.xml"/><Relationship Id="rId127" Type="http://schemas.openxmlformats.org/officeDocument/2006/relationships/theme" Target="theme/theme1.xml"/><Relationship Id="rId128" Type="http://schemas.openxmlformats.org/officeDocument/2006/relationships/tableStyles" Target="tableStyles.xml"/><Relationship Id="rId129" Type="http://schemas.microsoft.com/office/2016/11/relationships/changesInfo" Target="changesInfos/changesInfo1.xml"/><Relationship Id="rId1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 TJ Wang (TW)" userId="18033001-5856-41bf-97cd-f021b2ea7695" providerId="ADAL" clId="{86509E4E-F890-43B6-97AB-BA7419744C2D}"/>
    <pc:docChg chg="undo custSel addSld delSld modSld sldOrd delMainMaster modMainMaster addSection delSection modSection">
      <pc:chgData name="Tony TJ Wang (TW)" userId="18033001-5856-41bf-97cd-f021b2ea7695" providerId="ADAL" clId="{86509E4E-F890-43B6-97AB-BA7419744C2D}" dt="2026-08-28T08:56:32.543" v="594"/>
      <pc:docMkLst>
        <pc:docMk/>
      </pc:docMkLst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1607610444" sldId="256"/>
        </pc:sldMkLst>
      </pc:sldChg>
      <pc:sldChg chg="addSp new mod">
        <pc:chgData name="Tony TJ Wang (TW)" userId="18033001-5856-41bf-97cd-f021b2ea7695" providerId="ADAL" clId="{86509E4E-F890-43B6-97AB-BA7419744C2D}" dt="2026-08-13T08:26:10.078" v="26" actId="22"/>
        <pc:sldMkLst>
          <pc:docMk/>
          <pc:sldMk cId="4171859083" sldId="257"/>
        </pc:sldMkLst>
        <pc:picChg chg="add">
          <ac:chgData name="Tony TJ Wang (TW)" userId="18033001-5856-41bf-97cd-f021b2ea7695" providerId="ADAL" clId="{86509E4E-F890-43B6-97AB-BA7419744C2D}" dt="2026-08-13T08:26:10.078" v="26" actId="22"/>
          <ac:picMkLst>
            <pc:docMk/>
            <pc:sldMk cId="4171859083" sldId="257"/>
            <ac:picMk id="3" creationId="{EC1DED65-A97B-2E45-E83A-4778C0D9ADC1}"/>
          </ac:picMkLst>
        </pc:picChg>
      </pc:sldChg>
      <pc:sldChg chg="addSp delSp modSp mod">
        <pc:chgData name="Tony TJ Wang (TW)" userId="18033001-5856-41bf-97cd-f021b2ea7695" providerId="ADAL" clId="{86509E4E-F890-43B6-97AB-BA7419744C2D}" dt="2026-08-28T08:56:31.825" v="591" actId="1076"/>
        <pc:sldMkLst>
          <pc:docMk/>
          <pc:sldMk cId="2420393673" sldId="272"/>
        </pc:sldMkLst>
        <pc:picChg chg="add mod">
          <ac:chgData name="Tony TJ Wang (TW)" userId="18033001-5856-41bf-97cd-f021b2ea7695" providerId="ADAL" clId="{86509E4E-F890-43B6-97AB-BA7419744C2D}" dt="2026-08-28T08:56:31.825" v="591" actId="1076"/>
          <ac:picMkLst>
            <pc:docMk/>
            <pc:sldMk cId="2420393673" sldId="272"/>
            <ac:picMk id="5" creationId="{23EC51DD-9D24-701E-2C38-1BABBB089B81}"/>
          </ac:picMkLst>
        </pc:picChg>
      </pc:sldChg>
      <pc:sldChg chg="ord">
        <pc:chgData name="Tony TJ Wang (TW)" userId="18033001-5856-41bf-97cd-f021b2ea7695" providerId="ADAL" clId="{86509E4E-F890-43B6-97AB-BA7419744C2D}" dt="2026-08-26T07:18:53.925" v="287"/>
        <pc:sldMkLst>
          <pc:docMk/>
          <pc:sldMk cId="4069544170" sldId="289"/>
        </pc:sldMkLst>
      </pc:sldChg>
      <pc:sldChg chg="addSp delSp modSp new mod ord">
        <pc:chgData name="Tony TJ Wang (TW)" userId="18033001-5856-41bf-97cd-f021b2ea7695" providerId="ADAL" clId="{86509E4E-F890-43B6-97AB-BA7419744C2D}" dt="2026-08-26T08:40:20.622" v="556" actId="255"/>
        <pc:sldMkLst>
          <pc:docMk/>
          <pc:sldMk cId="2599464912" sldId="296"/>
        </pc:sldMkLst>
        <pc:spChg chg="add mod">
          <ac:chgData name="Tony TJ Wang (TW)" userId="18033001-5856-41bf-97cd-f021b2ea7695" providerId="ADAL" clId="{86509E4E-F890-43B6-97AB-BA7419744C2D}" dt="2026-08-26T08:40:12.736" v="552" actId="1076"/>
          <ac:spMkLst>
            <pc:docMk/>
            <pc:sldMk cId="2599464912" sldId="296"/>
            <ac:spMk id="3" creationId="{699D2354-99A8-0B65-8271-5F3C9B2AE63C}"/>
          </ac:spMkLst>
        </pc:spChg>
        <pc:spChg chg="add mod">
          <ac:chgData name="Tony TJ Wang (TW)" userId="18033001-5856-41bf-97cd-f021b2ea7695" providerId="ADAL" clId="{86509E4E-F890-43B6-97AB-BA7419744C2D}" dt="2026-08-26T08:40:14.745" v="553" actId="1076"/>
          <ac:spMkLst>
            <pc:docMk/>
            <pc:sldMk cId="2599464912" sldId="296"/>
            <ac:spMk id="5" creationId="{82CAD90D-E01E-8658-C010-750747A1866D}"/>
          </ac:spMkLst>
        </pc:spChg>
        <pc:spChg chg="add mod">
          <ac:chgData name="Tony TJ Wang (TW)" userId="18033001-5856-41bf-97cd-f021b2ea7695" providerId="ADAL" clId="{86509E4E-F890-43B6-97AB-BA7419744C2D}" dt="2026-08-26T08:40:20.622" v="556" actId="255"/>
          <ac:spMkLst>
            <pc:docMk/>
            <pc:sldMk cId="2599464912" sldId="296"/>
            <ac:spMk id="8" creationId="{B181DE30-50A2-082B-CEF4-18CD5B21EDD5}"/>
          </ac:spMkLst>
        </pc:spChg>
        <pc:picChg chg="add mod">
          <ac:chgData name="Tony TJ Wang (TW)" userId="18033001-5856-41bf-97cd-f021b2ea7695" providerId="ADAL" clId="{86509E4E-F890-43B6-97AB-BA7419744C2D}" dt="2026-08-26T08:39:40.237" v="539" actId="1076"/>
          <ac:picMkLst>
            <pc:docMk/>
            <pc:sldMk cId="2599464912" sldId="296"/>
            <ac:picMk id="7" creationId="{C1178097-20D2-CF88-6BF5-A0D7A81F423D}"/>
          </ac:picMkLst>
        </pc:picChg>
      </pc:sldChg>
      <pc:sldChg chg="addSp delSp modSp add mod ord">
        <pc:chgData name="Tony TJ Wang (TW)" userId="18033001-5856-41bf-97cd-f021b2ea7695" providerId="ADAL" clId="{86509E4E-F890-43B6-97AB-BA7419744C2D}" dt="2026-08-26T08:40:50.577" v="566" actId="1076"/>
        <pc:sldMkLst>
          <pc:docMk/>
          <pc:sldMk cId="106630151" sldId="297"/>
        </pc:sldMkLst>
        <pc:spChg chg="add mod">
          <ac:chgData name="Tony TJ Wang (TW)" userId="18033001-5856-41bf-97cd-f021b2ea7695" providerId="ADAL" clId="{86509E4E-F890-43B6-97AB-BA7419744C2D}" dt="2026-08-26T08:40:50.577" v="566" actId="1076"/>
          <ac:spMkLst>
            <pc:docMk/>
            <pc:sldMk cId="106630151" sldId="297"/>
            <ac:spMk id="5" creationId="{FA068CB2-23AF-6FCE-7A50-CFDF4DCD3FE4}"/>
          </ac:spMkLst>
        </pc:spChg>
        <pc:picChg chg="add mod">
          <ac:chgData name="Tony TJ Wang (TW)" userId="18033001-5856-41bf-97cd-f021b2ea7695" providerId="ADAL" clId="{86509E4E-F890-43B6-97AB-BA7419744C2D}" dt="2026-08-26T08:40:37.943" v="560" actId="1076"/>
          <ac:picMkLst>
            <pc:docMk/>
            <pc:sldMk cId="106630151" sldId="297"/>
            <ac:picMk id="3" creationId="{77441DA9-BD51-D469-063C-F2B197A6FACF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26T08:40:43.914" v="562" actId="1076"/>
        <pc:sldMkLst>
          <pc:docMk/>
          <pc:sldMk cId="2554360611" sldId="299"/>
        </pc:sldMkLst>
        <pc:spChg chg="add mod">
          <ac:chgData name="Tony TJ Wang (TW)" userId="18033001-5856-41bf-97cd-f021b2ea7695" providerId="ADAL" clId="{86509E4E-F890-43B6-97AB-BA7419744C2D}" dt="2026-08-26T08:40:41.294" v="561" actId="1076"/>
          <ac:spMkLst>
            <pc:docMk/>
            <pc:sldMk cId="2554360611" sldId="299"/>
            <ac:spMk id="9" creationId="{E6E1ADB4-38E1-10F2-0F7C-DB46EEAA8488}"/>
          </ac:spMkLst>
        </pc:spChg>
        <pc:spChg chg="add mod">
          <ac:chgData name="Tony TJ Wang (TW)" userId="18033001-5856-41bf-97cd-f021b2ea7695" providerId="ADAL" clId="{86509E4E-F890-43B6-97AB-BA7419744C2D}" dt="2026-08-26T08:40:43.914" v="562" actId="1076"/>
          <ac:spMkLst>
            <pc:docMk/>
            <pc:sldMk cId="2554360611" sldId="299"/>
            <ac:spMk id="11" creationId="{975761DE-5B44-1383-F92A-065EDC92E756}"/>
          </ac:spMkLst>
        </pc:spChg>
        <pc:picChg chg="add mod">
          <ac:chgData name="Tony TJ Wang (TW)" userId="18033001-5856-41bf-97cd-f021b2ea7695" providerId="ADAL" clId="{86509E4E-F890-43B6-97AB-BA7419744C2D}" dt="2026-08-26T08:33:04.428" v="503" actId="1076"/>
          <ac:picMkLst>
            <pc:docMk/>
            <pc:sldMk cId="2554360611" sldId="299"/>
            <ac:picMk id="5" creationId="{293E2457-47C0-6017-1FA6-55408733CB32}"/>
          </ac:picMkLst>
        </pc:picChg>
        <pc:picChg chg="add mod">
          <ac:chgData name="Tony TJ Wang (TW)" userId="18033001-5856-41bf-97cd-f021b2ea7695" providerId="ADAL" clId="{86509E4E-F890-43B6-97AB-BA7419744C2D}" dt="2026-08-26T08:33:00.695" v="501" actId="1076"/>
          <ac:picMkLst>
            <pc:docMk/>
            <pc:sldMk cId="2554360611" sldId="299"/>
            <ac:picMk id="8" creationId="{C7EBA735-B78C-2D41-2D87-F29DEB7BEB39}"/>
          </ac:picMkLst>
        </pc:pic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21359538" sldId="30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44019484" sldId="301"/>
        </pc:sldMkLst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514704115" sldId="302"/>
        </pc:sldMkLst>
        <pc:picChg chg="add mod">
          <ac:chgData name="Tony TJ Wang (TW)" userId="18033001-5856-41bf-97cd-f021b2ea7695" providerId="ADAL" clId="{86509E4E-F890-43B6-97AB-BA7419744C2D}" dt="2026-08-26T07:41:00.343" v="395" actId="1076"/>
          <ac:picMkLst>
            <pc:docMk/>
            <pc:sldMk cId="2514704115" sldId="302"/>
            <ac:picMk id="8" creationId="{D55881AE-99AA-9CF5-6ACB-22F1023CE548}"/>
          </ac:picMkLst>
        </pc:picChg>
        <pc:picChg chg="add mod">
          <ac:chgData name="Tony TJ Wang (TW)" userId="18033001-5856-41bf-97cd-f021b2ea7695" providerId="ADAL" clId="{86509E4E-F890-43B6-97AB-BA7419744C2D}" dt="2026-08-26T07:41:04.905" v="397" actId="1076"/>
          <ac:picMkLst>
            <pc:docMk/>
            <pc:sldMk cId="2514704115" sldId="302"/>
            <ac:picMk id="10" creationId="{E06E8876-7662-E0DB-9807-C866C62E715D}"/>
          </ac:picMkLst>
        </pc:picChg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60654132" sldId="303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2" creationId="{FFC61194-AA99-E57E-DA3E-2C31C77FA50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3" creationId="{37DD5E59-9F8C-3409-2221-C1C12AA72571}"/>
          </ac:spMkLst>
        </pc:spChg>
        <pc:picChg chg="add mod">
          <ac:chgData name="Tony TJ Wang (TW)" userId="18033001-5856-41bf-97cd-f021b2ea7695" providerId="ADAL" clId="{86509E4E-F890-43B6-97AB-BA7419744C2D}" dt="2026-08-26T07:41:16.282" v="402" actId="1076"/>
          <ac:picMkLst>
            <pc:docMk/>
            <pc:sldMk cId="360654132" sldId="303"/>
            <ac:picMk id="6" creationId="{B639B532-BDF9-36FD-8483-EECA3E104FF1}"/>
          </ac:picMkLst>
        </pc:picChg>
      </pc:sldChg>
      <pc:sldChg chg="addSp delSp modSp add mod">
        <pc:chgData name="Tony TJ Wang (TW)" userId="18033001-5856-41bf-97cd-f021b2ea7695" providerId="ADAL" clId="{86509E4E-F890-43B6-97AB-BA7419744C2D}" dt="2026-08-26T09:01:17.332" v="590" actId="1076"/>
        <pc:sldMkLst>
          <pc:docMk/>
          <pc:sldMk cId="741598415" sldId="304"/>
        </pc:sldMkLst>
        <pc:spChg chg="mod">
          <ac:chgData name="Tony TJ Wang (TW)" userId="18033001-5856-41bf-97cd-f021b2ea7695" providerId="ADAL" clId="{86509E4E-F890-43B6-97AB-BA7419744C2D}" dt="2026-08-26T09:01:16.082" v="589" actId="1076"/>
          <ac:spMkLst>
            <pc:docMk/>
            <pc:sldMk cId="741598415" sldId="304"/>
            <ac:spMk id="7" creationId="{5C1C04AE-6023-888A-7864-8A3DD60FC73E}"/>
          </ac:spMkLst>
        </pc:spChg>
        <pc:spChg chg="add mod">
          <ac:chgData name="Tony TJ Wang (TW)" userId="18033001-5856-41bf-97cd-f021b2ea7695" providerId="ADAL" clId="{86509E4E-F890-43B6-97AB-BA7419744C2D}" dt="2026-08-26T08:39:22.172" v="535" actId="14100"/>
          <ac:spMkLst>
            <pc:docMk/>
            <pc:sldMk cId="741598415" sldId="304"/>
            <ac:spMk id="8" creationId="{EE2A7D4C-2416-2A1F-AFC4-788F5196D71B}"/>
          </ac:spMkLst>
        </pc:spChg>
        <pc:picChg chg="add mod modCrop">
          <ac:chgData name="Tony TJ Wang (TW)" userId="18033001-5856-41bf-97cd-f021b2ea7695" providerId="ADAL" clId="{86509E4E-F890-43B6-97AB-BA7419744C2D}" dt="2026-08-26T09:01:14.187" v="588" actId="1076"/>
          <ac:picMkLst>
            <pc:docMk/>
            <pc:sldMk cId="741598415" sldId="304"/>
            <ac:picMk id="11" creationId="{799B8E4A-159A-36C8-121D-86218BD82181}"/>
          </ac:picMkLst>
        </pc:picChg>
        <pc:picChg chg="add mod modCrop">
          <ac:chgData name="Tony TJ Wang (TW)" userId="18033001-5856-41bf-97cd-f021b2ea7695" providerId="ADAL" clId="{86509E4E-F890-43B6-97AB-BA7419744C2D}" dt="2026-08-26T09:01:17.332" v="590" actId="1076"/>
          <ac:picMkLst>
            <pc:docMk/>
            <pc:sldMk cId="741598415" sldId="304"/>
            <ac:picMk id="13" creationId="{23AC456D-1263-5706-8781-9C497F98A738}"/>
          </ac:picMkLst>
        </pc:picChg>
      </pc:sldChg>
      <pc:sldChg chg="addSp new mod">
        <pc:chgData name="Tony TJ Wang (TW)" userId="18033001-5856-41bf-97cd-f021b2ea7695" providerId="ADAL" clId="{86509E4E-F890-43B6-97AB-BA7419744C2D}" dt="2026-08-13T08:01:47.483" v="3" actId="22"/>
        <pc:sldMkLst>
          <pc:docMk/>
          <pc:sldMk cId="678161449" sldId="4119"/>
        </pc:sldMkLst>
        <pc:picChg chg="add">
          <ac:chgData name="Tony TJ Wang (TW)" userId="18033001-5856-41bf-97cd-f021b2ea7695" providerId="ADAL" clId="{86509E4E-F890-43B6-97AB-BA7419744C2D}" dt="2026-08-13T08:01:47.483" v="3" actId="22"/>
          <ac:picMkLst>
            <pc:docMk/>
            <pc:sldMk cId="678161449" sldId="4119"/>
            <ac:picMk id="3" creationId="{CC6B2FF3-1D5E-89E5-5953-142FA194390B}"/>
          </ac:picMkLst>
        </pc:picChg>
      </pc:sldChg>
      <pc:sldChg chg="addSp modSp new mod">
        <pc:chgData name="Tony TJ Wang (TW)" userId="18033001-5856-41bf-97cd-f021b2ea7695" providerId="ADAL" clId="{86509E4E-F890-43B6-97AB-BA7419744C2D}" dt="2026-08-13T08:05:56.981" v="8" actId="1076"/>
        <pc:sldMkLst>
          <pc:docMk/>
          <pc:sldMk cId="3708291182" sldId="4121"/>
        </pc:sldMkLst>
        <pc:picChg chg="add mod">
          <ac:chgData name="Tony TJ Wang (TW)" userId="18033001-5856-41bf-97cd-f021b2ea7695" providerId="ADAL" clId="{86509E4E-F890-43B6-97AB-BA7419744C2D}" dt="2026-08-13T08:05:56.981" v="8" actId="1076"/>
          <ac:picMkLst>
            <pc:docMk/>
            <pc:sldMk cId="3708291182" sldId="4121"/>
            <ac:picMk id="3" creationId="{7629E256-9BA1-CC61-6CF6-F32EE6FE4842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13T08:14:18.955" v="20" actId="22"/>
        <pc:sldMkLst>
          <pc:docMk/>
          <pc:sldMk cId="2246093613" sldId="4122"/>
        </pc:sldMkLst>
        <pc:picChg chg="add mod">
          <ac:chgData name="Tony TJ Wang (TW)" userId="18033001-5856-41bf-97cd-f021b2ea7695" providerId="ADAL" clId="{86509E4E-F890-43B6-97AB-BA7419744C2D}" dt="2026-08-13T08:12:37.928" v="14" actId="1076"/>
          <ac:picMkLst>
            <pc:docMk/>
            <pc:sldMk cId="2246093613" sldId="4122"/>
            <ac:picMk id="3" creationId="{76B8456D-67EC-335A-05C8-91D0ACFD1628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338497899" sldId="214747161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385829111" sldId="2147471611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4266216018" sldId="2147471612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1984436587" sldId="2147471618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77337181" sldId="2147471622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089504799" sldId="214747162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1521235129" sldId="2147471626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806025323" sldId="214747162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4250702178" sldId="2147471632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237972989" sldId="2147471633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91331744" sldId="2147471634"/>
        </pc:sldMkLst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119080904" sldId="2147471635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2" creationId="{AAAB61BE-CAA7-BC81-B2A4-1E350EAF62FA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3" creationId="{17D14F5D-29BE-1BDE-AE7C-30F43A7B797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4" creationId="{48E04D8A-0D68-C063-D5ED-17DAC77F4BCA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467171543" sldId="2147471636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2" creationId="{C961C7A9-8040-8A66-E380-CDB63F8EC85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3" creationId="{ED1FD4D1-E983-FC7D-989F-B3CD09A45412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4" creationId="{5B0659AF-30A6-74C6-3B06-D0F40A8E5A51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574416562" sldId="2147471637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2" creationId="{EA30E22E-10B1-AE8F-677F-A3BC8AD36FA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3" creationId="{0AC8CD98-B1E4-94FC-E3DE-5F967851D07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4" creationId="{43F0CE76-E751-EDB4-F8D9-45DD6B20AD53}"/>
          </ac:spMkLst>
        </pc:spChg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132854497" sldId="2147471638"/>
        </pc:sldMkLst>
      </pc:sldChg>
      <pc:sldChg chg="addSp delSp 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055900988" sldId="2147471642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3" creationId="{3CFAF4F7-DD04-E73B-31AC-AA786DD2A3E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4" creationId="{1F8AC684-621F-56AE-B411-537B5B509B2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13" creationId="{7E0A3E8B-36B3-3088-6BF4-F751E1A28501}"/>
          </ac:spMkLst>
        </pc:sp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597535416" sldId="2147471647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785920302" sldId="2147471648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120340878" sldId="2147471649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982551857" sldId="214747165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2948209876" sldId="2147471651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74290052" sldId="2147471652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9908558" sldId="2147471653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799494147" sldId="2147471654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884221787" sldId="2147471655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2935639352" sldId="2147471656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447439805" sldId="2147471657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4008478433" sldId="2147471664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149247235" sldId="2147471665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885898768" sldId="2147471666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3086659854" sldId="2147471667"/>
        </pc:sldMkLst>
      </pc:sldChg>
      <pc:sldChg chg="add ord">
        <pc:chgData name="Tony TJ Wang (TW)" userId="18033001-5856-41bf-97cd-f021b2ea7695" providerId="ADAL" clId="{86509E4E-F890-43B6-97AB-BA7419744C2D}" dt="2026-08-26T07:25:11.809" v="313"/>
        <pc:sldMkLst>
          <pc:docMk/>
          <pc:sldMk cId="3071817210" sldId="2147471671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2330717037" sldId="2147471672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800678970" sldId="214747167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4004244919" sldId="2147471689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520692316" sldId="2147471690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250428090" sldId="2147471694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429173059" sldId="2147471695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556327753" sldId="214747169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2966213305" sldId="2147471698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3311238796" sldId="2147471703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18129924" sldId="2147471704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24167629" sldId="2147471705"/>
        </pc:sldMkLst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554073569" sldId="2147471722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554073569" sldId="2147471722"/>
            <ac:spMk id="14" creationId="{3BD44A5F-D0AA-BF1E-6829-92E7E607B553}"/>
          </ac:spMkLst>
        </pc:spChg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3929345242" sldId="2147471723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7" creationId="{A63A297D-2F35-7812-303A-16AD896A5B3A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1" creationId="{00C68E4D-21AB-08CD-419F-8429E0F0DB56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2" creationId="{E9BB387C-D24E-5C83-0468-18A25461E280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3" creationId="{C772BD97-777E-8670-8416-8547A807F60F}"/>
          </ac:spMkLst>
        </pc:spChg>
      </pc:sldChg>
      <pc:sldChg chg="add">
        <pc:chgData name="Tony TJ Wang (TW)" userId="18033001-5856-41bf-97cd-f021b2ea7695" providerId="ADAL" clId="{86509E4E-F890-43B6-97AB-BA7419744C2D}" dt="2026-08-26T07:28:41.008" v="324"/>
        <pc:sldMkLst>
          <pc:docMk/>
          <pc:sldMk cId="17382343" sldId="2147471724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1821783111" sldId="2147471725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32533317" sldId="2147471726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2676554576" sldId="2147471727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3986693228" sldId="2147471728"/>
        </pc:sldMkLst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42471186" sldId="2147471729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2" creationId="{581566A1-460A-B6C8-7897-25EBDE7DA34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3" creationId="{AE48430D-5555-2028-9FEB-4564DF5DCC4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6" creationId="{F7F50117-E101-A398-85D0-5678B16A31D8}"/>
          </ac:spMkLst>
        </pc:spChg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16800107" sldId="2147471730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3" creationId="{094D05D2-F793-ECE9-3DE3-ECAC4E0FB80E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6" creationId="{816C4870-D1A1-9A10-A8ED-313BEFC96E1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7" creationId="{C45343BF-FFF9-675A-6730-32F05149995A}"/>
          </ac:spMkLst>
        </pc:spChg>
      </pc:sldChg>
      <pc:sldChg chg="addSp delSp modSp add del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812243640" sldId="2147471758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2" creationId="{3E6E3BE0-C2C0-A042-24DF-086F26D33FB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3" creationId="{09EF78B3-D5DB-E432-D9FF-6795C54E704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4" creationId="{9D55DBD4-9962-EEBB-075E-1B36BC34A2AE}"/>
          </ac:spMkLst>
        </pc:spChg>
        <pc:picChg chg="add mod">
          <ac:chgData name="Tony TJ Wang (TW)" userId="18033001-5856-41bf-97cd-f021b2ea7695" providerId="ADAL" clId="{86509E4E-F890-43B6-97AB-BA7419744C2D}" dt="2026-08-26T07:40:21.548" v="384" actId="1076"/>
          <ac:picMkLst>
            <pc:docMk/>
            <pc:sldMk cId="1812243640" sldId="2147471758"/>
            <ac:picMk id="9" creationId="{0EABAE12-ABF6-8964-8620-D2FFB418A2D6}"/>
          </ac:picMkLst>
        </pc:picChg>
        <pc:picChg chg="add mod">
          <ac:chgData name="Tony TJ Wang (TW)" userId="18033001-5856-41bf-97cd-f021b2ea7695" providerId="ADAL" clId="{86509E4E-F890-43B6-97AB-BA7419744C2D}" dt="2026-08-26T07:40:26.519" v="387" actId="1076"/>
          <ac:picMkLst>
            <pc:docMk/>
            <pc:sldMk cId="1812243640" sldId="2147471758"/>
            <ac:picMk id="11" creationId="{A2D57C02-2453-5D13-1ACE-C5C0E1D082D1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842812038" sldId="2147471765"/>
        </pc:sldMkLst>
      </pc:sldChg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215186150" sldId="2147471831"/>
        </pc:sldMkLst>
      </pc:sldChg>
      <pc:sldChg chg="delSp mod ord modNotesTx">
        <pc:chgData name="Tony TJ Wang (TW)" userId="18033001-5856-41bf-97cd-f021b2ea7695" providerId="ADAL" clId="{86509E4E-F890-43B6-97AB-BA7419744C2D}" dt="2026-08-26T07:16:10.085" v="280" actId="20577"/>
        <pc:sldMkLst>
          <pc:docMk/>
          <pc:sldMk cId="3693095151" sldId="2147483644"/>
        </pc:sldMkLst>
      </pc:sldChg>
      <pc:sldChg chg="ord">
        <pc:chgData name="Tony TJ Wang (TW)" userId="18033001-5856-41bf-97cd-f021b2ea7695" providerId="ADAL" clId="{86509E4E-F890-43B6-97AB-BA7419744C2D}" dt="2026-08-26T07:33:40.478" v="341"/>
        <pc:sldMkLst>
          <pc:docMk/>
          <pc:sldMk cId="1652456660" sldId="2147483645"/>
        </pc:sldMkLst>
      </pc:sldChg>
      <pc:sldChg chg="ord">
        <pc:chgData name="Tony TJ Wang (TW)" userId="18033001-5856-41bf-97cd-f021b2ea7695" providerId="ADAL" clId="{86509E4E-F890-43B6-97AB-BA7419744C2D}" dt="2026-08-26T07:33:16.815" v="337"/>
        <pc:sldMkLst>
          <pc:docMk/>
          <pc:sldMk cId="2351879941" sldId="2147483647"/>
        </pc:sldMkLst>
      </pc:sldChg>
      <pc:sldMasterChg chg="delSldLayout">
        <pc:chgData name="Tony TJ Wang (TW)" userId="18033001-5856-41bf-97cd-f021b2ea7695" providerId="ADAL" clId="{86509E4E-F890-43B6-97AB-BA7419744C2D}" dt="2026-08-26T07:24:47.954" v="307" actId="47"/>
        <pc:sldMasterMkLst>
          <pc:docMk/>
          <pc:sldMasterMk cId="358941851" sldId="2147483752"/>
        </pc:sldMasterMkLst>
      </pc:sldMasterChg>
      <pc:sldMasterChg chg="delSldLayout modSldLayout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3950966955" sldId="2147483916"/>
        </pc:sldMasterMkLst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47413589" sldId="214748398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5" creationId="{98AB6ED3-C5F6-877C-DAED-BEF7F30459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89345167" sldId="214748398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3" creationId="{DFD90212-F74C-9DC9-0056-4F5DDF0194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5" creationId="{98AB6ED3-C5F6-877C-DAED-BEF7F30459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6" creationId="{5E0745CB-2FF7-A852-6865-A8F426EE120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63929705" sldId="214748398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3" creationId="{75979435-2CA0-F566-8195-3E80CC2D618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7" creationId="{3A2C4AA3-8599-3431-5E25-2E68E7DB9FC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11330401" sldId="214748398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51454211" sldId="214748398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73329092" sldId="214748398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32537693" sldId="214748398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6" creationId="{8A3789D3-8936-6361-B279-04482E5DA0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7" creationId="{D2CF944E-CA0D-78C4-2738-7FF65A3C61D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6376902" sldId="214748398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5" creationId="{14843C2F-D12F-B2E4-1020-42BB1F404EE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6" creationId="{78D8C702-FC4B-D3F7-8D51-D2B3DFBA1C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8" creationId="{2074E594-75BC-BB21-5CB5-2ECACC5760F1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2331590" sldId="214748398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4" creationId="{50A2C7B7-9D29-E058-E1D5-11CACA1525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7" creationId="{F14AAF1B-63A7-87FB-CF3E-274298F4B36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8" creationId="{06EDDF0F-F4F8-2669-FD63-410B84DD24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0" creationId="{8BF9F556-4510-F7DD-B333-C401D75BD7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6" creationId="{AFBC73D5-BBD4-6DEA-ABD4-C7C99DE36B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87811106" sldId="214748398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220726195" sldId="214748399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76535555" sldId="214748399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25261477" sldId="214748399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604783140" sldId="214748399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6" creationId="{E38019E0-279D-A4EC-36F3-E0B1A717FCF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7" creationId="{B8872EE6-00EE-7E3B-FF0A-4031AD0A1F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92594306" sldId="214748399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3" creationId="{65C0038A-3A68-0DB9-64FC-6F889D75D3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6" creationId="{97BC8435-1364-314D-C920-74E9DEDB1E4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7" creationId="{D73A66C0-F670-A68E-E8AB-864BA888682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0198183" sldId="214748399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4" creationId="{EE189DEE-6989-9A74-BDE8-CA73B91086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7" creationId="{6DE5500C-FE6E-579B-63C3-09F6ADCF90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8" creationId="{DD78BEAF-F2F8-DC26-B864-8F818213806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079323" sldId="214748399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3" creationId="{8D3D9662-5F2D-57D9-7407-78275144A6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6" creationId="{CE0852A2-F289-0299-38DA-54988A9CF4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7" creationId="{D73A66C0-F670-A68E-E8AB-864BA88868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8" creationId="{417BEBC1-805D-DD3E-7FB7-E733D35B8E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8924780" sldId="214748399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3" creationId="{0EEDD237-2AD5-3154-E113-01E98DC0986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8" creationId="{C3079065-EEA7-BD3F-374F-2BD4FA17413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3" creationId="{D9EB10B1-191A-630B-CAE5-F7CB250CA41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6" creationId="{FB735FB7-5411-F2F1-D974-F773B1B8360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1254178586" sldId="214748399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8" creationId="{09A13E53-F775-A736-E17E-0D3BA9C73A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10" creationId="{8379B048-01BA-296A-05B7-D40EDFD3726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26260199" sldId="214748399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5" creationId="{51C9977E-07C7-6A42-E691-FD4699CEC98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7" creationId="{090265C7-5AAC-0489-DEB2-CECC63DAC2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041626689" sldId="214748400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4" creationId="{A5CBFC34-8CB2-CC41-3972-5FC87B9BDC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7" creationId="{9F37A09F-4048-050A-FDB3-83EC9C3725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8" creationId="{E24C1953-6774-4962-D21C-79F931E8AF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519284577" sldId="214748400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4" creationId="{81241698-5CD8-C604-8076-E2C7174471A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6" creationId="{09364D4B-08FC-0F72-14EE-FFE49CBE3E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8" creationId="{37630663-0430-1D7C-EBF0-D28C79961CF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10666384" sldId="214748400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3" creationId="{DF56AB70-B001-F407-DDA0-8274B08150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5" creationId="{BFFD3C8C-DE95-11CF-E112-F1CDEBBBAF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7" creationId="{BB0E27A5-BC84-EBC4-82C5-E8CF838E43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76174915" sldId="214748400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3" creationId="{60C2534F-0DED-9179-1BA0-BA7BBA63E4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5" creationId="{C21211E5-4A9D-2EA5-349A-BFEBB51D88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1" creationId="{0161467A-7063-86D7-24E8-072DC8FE58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2" creationId="{F42546D2-619E-D256-A62A-62019DAA477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68187545" sldId="214748400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2" creationId="{E62847D5-ADA8-3259-2549-281D1A6D552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3" creationId="{91E3B5C0-2252-2AC3-B6AC-A233A36FBD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5" creationId="{3634351F-B70F-FAD9-F7BB-519E4552F5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9" creationId="{BF7E05F9-3B71-A92F-C27D-3EA7295545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0" creationId="{5436620D-30A8-EA32-EBA9-0FB0D98A3A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3" creationId="{FCDEC8E4-3556-9DFF-F8E0-3E599203F3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4" creationId="{08EEADAB-1623-2FF8-2487-6AA4F7EC358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64438517" sldId="214748400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5" creationId="{A03E9A5D-D94B-2C14-C57F-8CEEA73EB9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9" creationId="{489906B8-D3A9-4BCE-6015-ACFE378C72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0" creationId="{FE0E6B83-F5A0-569B-4BAB-B7F61D7D08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1" creationId="{46DFEB0B-173F-2B4F-16A8-263FCC6CEC2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85248937" sldId="214748400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4" creationId="{B015D90A-43B1-2686-2FB5-24977CABC7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5" creationId="{1C2027B2-3AF9-ACB0-EFBF-E307D2CA34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7" creationId="{305BD07F-9015-08E7-A1B9-CEE3998C38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8" creationId="{96E79EC7-3C5A-2B86-5F55-4E1518901C1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17" creationId="{281D6954-23FD-DBC4-8238-AE64FBE579A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75404505" sldId="214748400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3" creationId="{BE946374-FA30-CA90-8DA8-4D3D9C8D95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4" creationId="{E9C1A15D-9D72-ADF5-F762-A0FCDB4299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5" creationId="{F894016E-E9A2-621D-7E7E-4C60EA7D14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7" creationId="{B7BD091D-1A71-D98C-9FBE-055914E89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8" creationId="{6B0989A2-BAE8-DBCB-9B68-2A6A9EEEC5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9" creationId="{6B661239-E68D-0808-F96A-FE85956F113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80867760" sldId="214748400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4" creationId="{943EE09F-88BE-B892-E588-CE1A64CF45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7" creationId="{89862BAD-5A88-900F-A59B-68B96AB4149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8" creationId="{0DA847B6-5ED7-CD22-AC77-BE2F874194B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33767521" sldId="214748400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3" creationId="{6955500F-3808-9CA2-1F44-A6416457143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5" creationId="{97546331-F0CB-B769-2ED0-10C215328D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6" creationId="{E6F2E23D-BB9F-B34F-EC85-66F73AA73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9" creationId="{7809C51E-8610-C513-8EEC-D5CB091B65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0" creationId="{DFE232A4-E7EE-98E3-AD8F-428E48A336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1" creationId="{A39229A9-9F4B-8863-1C67-62C2859D9BE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40457667" sldId="214748401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3" creationId="{3279AEC2-3D38-AA3C-D9ED-F56066F0252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4" creationId="{2B415381-8D1E-8A6F-693B-DB90EB881D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6" creationId="{1F2E443D-FB19-EC91-F034-92383A4D9EA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0" creationId="{8E8D28FD-FF5F-398A-38AD-0E9B9DE0EC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2" creationId="{E2C8463D-8B6E-9FF2-1B5C-72452E9273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3" creationId="{39DE996C-A166-458A-310E-FEBC9C52A7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4" creationId="{134591D3-6AC4-CADD-BA45-1311233200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6" creationId="{33601CD4-0BCA-521B-0F56-3E84B8C91F7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23573422" sldId="214748401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3" creationId="{E67D3849-C8CD-8658-1466-0AC905A329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5" creationId="{C3E8CA74-2A20-C79E-AB93-415F841BF9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7" creationId="{45FB2FC1-37EA-E80B-8E2C-5BB79F82C54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1" creationId="{F4A2F6DA-84DB-C19E-4C0E-907410D65A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2" creationId="{91E96ECE-0D5F-0C73-B9DA-305E820717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3" creationId="{3FB0C79D-C35F-8072-C668-9D9D7A93739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6360593" sldId="214748401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5" creationId="{90658801-9D03-6822-31B7-920A8C4C5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1" creationId="{E8465518-586C-3585-5D66-F8C5F7841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2" creationId="{32A0F579-2C59-6C73-6CB2-7D28A65E2E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3" creationId="{6C860A8A-DDDD-D41D-7D92-718D7B4F0FA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13042700" sldId="214748401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3" creationId="{4BD5BA45-6FFD-0692-0F0F-E110F28E68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4" creationId="{14B2DDC5-30CC-4253-DAE0-02B6367366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5" creationId="{6A0EF6EA-3F57-5496-E0F3-4864ED1104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7" creationId="{BC4F89F3-153E-1F6B-8CFE-E1D4D68749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12" creationId="{32898A4C-932E-23E9-DC30-A54F1747D7D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26993151" sldId="214748401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7" creationId="{AB18F79E-2EEB-FEB6-9FD2-CF00E69E39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0" creationId="{B50CDAE4-0C34-CA3B-8150-C653F96325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1" creationId="{32934F70-692D-5369-94C8-0030A3CD43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2" creationId="{75F0D866-D99D-B922-92B9-43D8C80FC3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4" creationId="{28C2AC20-FA64-9BFB-4B6C-CC4DC765CF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75771468" sldId="214748401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4" creationId="{35EB01E0-E6A4-D360-2FD4-9B71B2DE0DC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7" creationId="{5AAE7EEF-B347-4D56-A6AE-448368A5BED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0" creationId="{4626FCF7-D9DB-AA92-E09A-63795E0A9BF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1" creationId="{3EAED7B3-1E01-DB3C-A9C0-C02BF6D0CA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2" creationId="{1DF4DD5F-AF74-EA4E-244D-3B8BF6C634D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3" creationId="{663492E0-8524-F0F0-654F-078445BB721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1893358" sldId="214748401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3" creationId="{FDAB432F-854F-42B3-F530-13E74D7AAA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5" creationId="{357B41B5-877C-16C0-86C3-0049A6AEFD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6" creationId="{3B9F6906-FD55-4ECF-BC68-21EDA9D4716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7" creationId="{AF5BE851-36FB-AE1C-238B-97C05E05B1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8" creationId="{C3EBFD86-34DE-5EF4-510C-8C6F417E64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9" creationId="{87ADAD20-05B4-05C7-E934-6F9C1436EB7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56306695" sldId="214748401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3" creationId="{15B11690-3DC6-7B4C-5196-E388A51146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7" creationId="{DF7CA4CE-E47A-514D-5828-6AA4EAEAA5D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9" creationId="{408A6C4D-3F5E-1CC8-64FD-F01177BD1E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0" creationId="{BE81782A-2131-81EC-B274-273228A022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1" creationId="{1C7B2FA3-BB01-C042-C3E2-CE1E30B4DC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2" creationId="{5817751D-AEF1-E60E-A99F-8E78DF21FF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4" creationId="{AC495E7E-4FB5-532A-2A69-899751FD4B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69354394" sldId="214748401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5" creationId="{7A4C48D2-B18D-75C7-0C7E-1D9DB13960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6" creationId="{D9EBCD51-8DA2-A863-38B9-4D39E92CBCD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7" creationId="{EDE25965-5FF0-06E1-006B-1D9AEC33DC6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1" creationId="{F248317B-0C78-D1D7-C7AA-97B940FCDF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3" creationId="{9E1EEBC7-B3D2-0C33-A1E4-86D938D57B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4" creationId="{DE61D85C-E065-C899-A314-61A9747899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6" creationId="{2AC1B240-8DE4-93F4-7F67-7A0D12BFCB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7" creationId="{26AF7A0A-28F9-E71C-DA0E-449F854A8D7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36100002" sldId="214748401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3" creationId="{9C3E4A20-48E1-6B96-207C-2A01DD8E9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9" creationId="{404392E8-8FC9-D8AC-538E-69F5A15C16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0" creationId="{E1769020-22C9-8DED-D532-40F11F2D33C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1" creationId="{5F5E5E69-4FFF-DFC2-659C-7E55787A02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2" creationId="{FEE2C3B1-D32B-2DC8-8154-D81D14148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3" creationId="{E4143737-9FAE-4BEB-0906-D059D53A4E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4" creationId="{5FAA5E52-06C6-50C6-842F-09B2897EBA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5" creationId="{BE4E3AAB-764D-686D-74DE-DD6CA156031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8" creationId="{E50EC622-9E3E-7826-5B6E-3F05131728C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9" creationId="{87CC549C-7C7A-4C05-D6A7-8187C41504D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93728460" sldId="214748402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3" creationId="{15361E65-8489-022E-9A46-0B36035A11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5" creationId="{6F60ED92-61BC-58F9-6255-C99E6BFB73B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6" creationId="{4903BE73-FFB9-9122-4626-1B97EB913F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1" creationId="{42EA7D05-D7C0-FDE4-0EBC-5FC872946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4" creationId="{73B30585-2E0B-0145-792D-87F4CBF909B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7" creationId="{CF1ADCBF-761E-4BC8-95AF-5ED8A304B9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8" creationId="{FD1333CB-59A1-E4BE-4739-1CA1A660FB0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24589199" sldId="214748402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0" creationId="{B1E147C2-A10D-59C4-CC48-6D69F1DA61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1" creationId="{A86AE55E-C7BC-EC71-C728-F72A80B86C8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2" creationId="{F55CDC6F-9090-45B3-C7DF-1D1A5E390D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3" creationId="{CB40FF7B-D30A-160F-9C8B-1003AE57EE9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4" creationId="{97083C73-43EE-6C29-DF37-8BDBD14592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5" creationId="{FAAF6896-CE8D-11B6-CDB6-B5581B467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9" creationId="{EE952CC9-7B70-01FB-582B-30F68D4C37F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21476042" sldId="214748402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2" creationId="{F7150835-224A-C855-A540-11B95474A7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4" creationId="{1C018B1A-B52B-AC9A-63B1-F00217B38E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0" creationId="{83A6C828-337E-DF3F-E796-CD513517E4D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1" creationId="{5039018F-04C9-76F6-FBBC-358D2F0A10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2" creationId="{F0641CF8-17DD-D58B-57D0-9302944604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3" creationId="{F8C87661-3C9C-724E-425D-6BFB684FAA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4" creationId="{C1CA5D93-F653-F2C0-8751-8A90F765D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5" creationId="{59DA2641-90BA-C589-4AC5-93DB0472E74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47986740" sldId="214748402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3" creationId="{7953C0A1-993D-3C98-C331-16749B76A8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5" creationId="{15441E1C-321B-0C48-3C86-6A2676A09A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7" creationId="{1BE33546-5281-3759-9C24-7C92D3AB81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8" creationId="{CD8F01FB-26C3-D412-CD60-13931D0A16A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0" creationId="{52D6BCE3-5DC0-F54B-0BF2-1E8CB838F9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2" creationId="{3544A30F-D4EB-D59A-37AC-6229A950B4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3" creationId="{CC17F671-8B9C-F9FE-AEDA-9A8FBDDADA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4" creationId="{ECE30FE5-2A66-1ECD-730E-80C2B769357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5" creationId="{067701D3-6751-E230-8414-4D83FACD19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7" creationId="{9919F7E4-902E-17BD-9A23-BEC353B5408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55202269" sldId="214748402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5" creationId="{CA070464-B6E7-0612-AE11-56A546D97B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7" creationId="{D2B9EA5E-E423-D219-6037-CCB61AE3B50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8" creationId="{C901CE32-26BB-268E-2590-66DB5ADDFD9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44750512" sldId="214748402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4" creationId="{D4716BEF-8A35-16AB-2612-D5ADC74B28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7" creationId="{AE32291E-24B4-2FB8-4B35-A439686DB9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8" creationId="{61A378F0-4CD0-C4E0-D2F7-5959B577E1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9" creationId="{60655EE7-5FC0-8DDF-88F0-21ECCBD7D31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92330433" sldId="214748402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3" creationId="{0617E1E3-DEC2-78E7-9998-E4FF637CE3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7" creationId="{7DFE5ED4-420E-CADB-A68A-A7D42128079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8" creationId="{961284F9-299F-5762-4D10-4246CB963F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9" creationId="{F7339CEB-91F9-B7FD-86D6-A4C114DA30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3" creationId="{743AD5A7-567D-9EC7-BECB-71D2480F24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7" creationId="{0D1BEFAC-D99F-7020-6110-CD8460311A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92095817" sldId="214748402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3" creationId="{420F89DA-180E-8B5A-DBF0-E46D4BE19FF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5" creationId="{94CDF16A-3F0F-40AD-25BD-32F2F4A17D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7" creationId="{E1340CD9-3B8A-B030-B8FC-EAD510678C8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5228471" sldId="214748402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3" creationId="{746CDA39-33E4-3C95-FE9D-6263CE3649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5" creationId="{A3CBD27D-46ED-F893-79F1-23481FEA9E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7" creationId="{8206B60F-A556-76A5-2FBC-4C736F4B16C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35470971" sldId="214748402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3" creationId="{B31972B4-0D39-C3FB-E17F-DC8EC7D118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5" creationId="{51A77249-98B8-FACA-4ACE-60FB5325B0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7" creationId="{3427FF8A-B4F7-3F6B-6AC3-2F7EC1DCAA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78859763" sldId="214748403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3" creationId="{F2C136D6-EB53-8EAB-067D-F21D72B54E2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4" creationId="{748F1255-B234-8F3E-2E95-66C55731FF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8" creationId="{694593D8-AEB6-3CA5-7E3B-6BA6D552DB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9" creationId="{C1E67C1D-7D69-01C7-F212-8FD6EC41D5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40448089" sldId="214748403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3" creationId="{CAF96854-0B82-0332-CB0D-B653A0471D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4" creationId="{629E8A37-B7AE-34F5-AC2C-2C3307E453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5" creationId="{83E901E5-0C0F-02C2-6E8B-66E81BE06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10" creationId="{BD055151-7117-866F-6824-F774A7F56F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6205060" sldId="214748403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3" creationId="{20FA2383-F769-2E5D-64C9-71C8F2AC63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4" creationId="{4619E784-11F4-A104-BB77-5E8F8D397A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5" creationId="{BF37CFFA-3D80-3409-C50E-D2A382F261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7" creationId="{01119A16-4429-1C3B-93F5-9356F9F7EC6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8" creationId="{AEA67855-93A6-BD43-750C-42D579FD028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4615349" sldId="214748403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3" creationId="{460FE9E2-DC3E-0EAB-DFB7-B3E4A12323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4" creationId="{665F8295-3C5A-A1AE-F43F-1FA6D8B2F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5" creationId="{30A1C61F-1977-8EC5-355B-66B6908EB5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8" creationId="{AEA67855-93A6-BD43-750C-42D579FD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10" creationId="{C8FF515D-AF08-494F-FFD1-C5F2FEFB42C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9990551" sldId="214748403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4" creationId="{DBB20E5E-A5D8-1921-9B3B-F7258AF1BE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7" creationId="{9B293083-8587-219C-C524-D809D6A866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9" creationId="{5AC9A00F-F989-8AFC-7652-904E0B2E41F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0662361" sldId="214748403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4" creationId="{BE8A4846-D27E-80FC-9B7E-3CE63CD42E9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7" creationId="{D88750FF-80B0-EEE6-F89F-A76248A4F83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9" creationId="{5E9F5B4A-B723-2879-D7EE-D016027E28B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89000832" sldId="214748403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3" creationId="{77299292-477B-B167-FA09-34ABA37250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4" creationId="{33096CD5-F472-2FF7-8821-A2FC9AB7EE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5" creationId="{6D1E7B3D-67E9-63CB-5191-3A7FBCE6F8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7" creationId="{0A56C71D-1695-AE64-7C05-4DD0750A3D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8" creationId="{3EB5F658-B8CE-7FB5-990E-79F690D1E1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9" creationId="{1EABDFC4-9BD0-55BC-2846-2FA45EAB535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13" creationId="{099A4469-274E-EB1F-F85D-D95E959AA14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0" creationId="{750FAC0A-93E6-9A08-7990-0346002AB7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1" creationId="{C66DD72C-97BB-14F2-361C-2441F75A43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2" creationId="{D806524E-A06F-7FE8-9CD5-2244991C1E3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55840572" sldId="214748403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3" creationId="{56F6B0ED-8AF6-B2AA-E6DF-421FC9028A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4" creationId="{505126B4-5061-ACE1-29DB-F4E4B930507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6" creationId="{A318CA9E-32E8-938F-0187-CE5990310D1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69211990" sldId="214748403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3" creationId="{F83831A1-36E4-05EF-6AB7-93A548B9DE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4" creationId="{E2A3DA15-4C69-255A-358A-480458D2DFE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6" creationId="{B39A73BF-92D5-1C5F-A374-82FF2405936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7" creationId="{F61931EA-4F62-CD08-4165-33E08640450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31930664" sldId="214748403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0" creationId="{BCA5BD2F-F935-E22A-B6DD-EB0D8C3A47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8" creationId="{2F01FD17-7652-99C0-4EF4-C1ABF553BD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4" creationId="{C5905E4E-9C03-893D-2D65-9DF29B1CD2B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6862171" sldId="214748404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3" creationId="{2DEADD9F-C4DB-21BA-6151-16846D00A1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3" creationId="{DEBB524E-5A84-8775-0998-D7CE79E36D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4" creationId="{0FB583A4-A0D5-B473-CEAF-7EDB869751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5" creationId="{FF63D470-D7BD-0CB6-AB02-AD298B18C3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78240619" sldId="214748404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3" creationId="{B7CEDE5A-24B5-302A-F9C9-38D8A4ED15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9" creationId="{850DA203-9211-4FDA-05C5-46A210422A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1" creationId="{11C89EB2-461C-D9DB-DBF2-EA17EA40A6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3" creationId="{B4612D97-4010-1226-69CD-B037A384C2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6" creationId="{44F1DDBE-5AF8-4AE5-035D-1455CB1194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7" creationId="{0506503A-B70F-E2C2-7E96-19228D38F7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8" creationId="{099901CA-C5DD-EA1C-B029-123F8C58061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64832958" sldId="214748404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4" creationId="{B3172550-E933-8167-0222-DD1326B01A6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8" creationId="{40478187-E2B9-385E-A350-C3EAF7AF28E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36006913" sldId="214748404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2" creationId="{51A35449-0894-A02C-8F55-DCFAB1AE42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8" creationId="{EAA4954E-F516-8DC7-20A3-B649BF25576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9" creationId="{B8FE92CD-7709-9DB8-6AAE-AA80F06744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0" creationId="{A2951703-E32B-EAF8-80B8-BAFE647F1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59824360" sldId="214748404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2" creationId="{DA84C67F-7F12-B485-C133-367619428FB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3" creationId="{C4995FEB-FD4F-B089-F6E6-2920F4574A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7" creationId="{EB8C9608-59D0-BF46-B719-9598B6A02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8" creationId="{83B437C6-3E7C-2B00-379C-58EBBE522843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3209243924" sldId="214748404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2" creationId="{9049CDF5-8A8F-79F6-E93E-E0A712397C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6" creationId="{D15FEAD4-DFB9-ED08-EBEE-A4E5DE31E31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12562369" sldId="214748404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4" creationId="{F688FCD4-650D-9754-A431-CE452572FB6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5" creationId="{E49962D1-3866-8382-AE37-FC366FF574B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5645843" sldId="214748404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2709834" sldId="214748404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37703116" sldId="214748404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87924719" sldId="214748405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5" creationId="{0978934B-5525-9236-62EF-C2B06F0BCC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64835213" sldId="214748405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4" creationId="{04760CE5-544A-F30C-8082-D31FCC54B7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7" creationId="{B125B3EF-B02C-F8B5-CF3D-C9F9193AA5B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02775034" sldId="214748405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6" creationId="{FD227041-E9DC-98BB-04D1-2512170C5B3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7" creationId="{B46EC276-3627-6ED3-ACC7-6D690C9922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9" creationId="{0FCB0834-B748-0F65-C02A-23EC83C03DC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0" creationId="{E54573B6-45C7-9732-9BBF-56F180D537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2" creationId="{EE5F59E5-3BCA-20EA-D3B3-B0654D078B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3" creationId="{DCC591AE-859C-530C-6837-BFB4DC8D4B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01593926" sldId="214748405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4" creationId="{3A411CC0-34B1-721C-48C1-951AB61EFA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5" creationId="{EA9401E2-0EFA-96DF-8425-7291F355E2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8" creationId="{76A09CFC-44F1-8A22-B3B7-445685852BA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9" creationId="{2CACCC0E-C26E-1C78-409B-A8BCA62C74C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0" creationId="{BAEBEC96-AF62-8CE5-7B36-0F816681A92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1" creationId="{B65C518D-AE96-1571-E3A5-E43E3AFB314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01841326" sldId="214748405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0" creationId="{97537C81-8D77-5257-7438-91D290209EF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48469268" sldId="214748405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9" creationId="{B9101461-B876-7D7A-B834-0387E08CC0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26013445" sldId="214748405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2" creationId="{D69F3CA5-5DA4-19BC-80CC-97F8603339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8" creationId="{567C69A2-1E84-3664-3630-A99E3EFC57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9" creationId="{68638270-30F0-9936-C8A6-BAB685488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0" creationId="{D3DF84AC-B16C-674A-06A0-5BECA0C9A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3" creationId="{3F004F4B-1B56-27E3-B963-18B1CAE0CC0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68180181" sldId="214748405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3" creationId="{19FAEB4F-DBB7-31DF-438C-7C91DAD4D9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0" creationId="{ED98C7A9-0033-A08C-5C2C-6910B5E66D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1" creationId="{CCD0D2FD-01B8-FE51-DDAB-0CD8DD4EC5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2" creationId="{09220BB3-7853-D956-8C4C-B3FD3887561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3" creationId="{53D0DB1F-A6EA-AECF-A117-E753C44395E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4" creationId="{24AE2FE3-6FA3-4900-16ED-D0812C6C0D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460688216" sldId="214748405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9" creationId="{FB0240B5-53DE-E0D1-1D5B-AFBA09737C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5" creationId="{9183E717-A409-A034-5344-1947E3F983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6" creationId="{25C242D0-2328-C358-F50B-AFCBA02790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7" creationId="{491F5A2B-72AD-5B1E-1630-FEB88892F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9" creationId="{72F79ED0-1F83-0104-4637-7DB4EA70741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39735079" sldId="214748405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2" creationId="{5307EEEF-16DC-51E8-05EA-1F6E66B8AB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6" creationId="{65A86A6E-D0EF-949C-8C67-0573A2ABD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7" creationId="{B030D65C-F831-C537-C0CD-5D2246DC4DB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8" creationId="{37E69513-40FB-5D75-6BE6-82A63FAB8F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99584600" sldId="214748406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44" creationId="{3B81DD67-9485-2892-F206-E91C7ED5040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0" creationId="{709A4940-D1BB-7013-F2FE-DACDC2AAE6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1" creationId="{D9A72C90-D9E8-D491-3497-24DB531EE6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0" creationId="{718DD6F0-5DCD-0835-B530-18A8F025BE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3" creationId="{DD510472-5924-8787-2C9E-08AC89F6299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4" creationId="{93B5743B-317B-CC4D-E4AF-4C26D1392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0" creationId="{8D5DB854-0C4A-401B-87E8-5CAEA904F3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3" creationId="{DE2714AF-4313-7AA1-D7CD-E39C0A1F07D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7" creationId="{92567D26-CC94-BD45-CF55-A29A4E477F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9" creationId="{9D4D08CE-4663-A5B8-3FEA-01A045F65D3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63764346" sldId="214748406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8" creationId="{B20CC769-A58F-89B1-9B4D-4242345AA6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1" creationId="{3EC6947C-841E-3FA9-114B-E3D478A0F9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4" creationId="{C5905E4E-9C03-893D-2D65-9DF29B1CD2B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4226902619" sldId="214748406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2" creationId="{B2A87585-ED95-8AF2-4595-9E941DC9E8A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83506434" sldId="214748406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5" creationId="{09F1385C-E183-4949-1E52-945BDAAEC8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2708900" sldId="214748406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0" creationId="{12157443-656C-E355-D086-838984BEEC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476880310" sldId="214748406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2" creationId="{22E4AAB0-21A6-A5E6-8408-219CAA2653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3" creationId="{2CE54221-5DBA-0D99-431D-6AD1DF6DC08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4" creationId="{D7CBDAE4-87B4-6E80-BB22-1E1B55D468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5" creationId="{D63D7C9D-0E4E-53F0-D6B2-88D08609625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39574710" sldId="214748406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9736171" sldId="214748406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0" creationId="{3278752C-0CAC-0916-7122-97587E9A4F7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1" creationId="{D02DDEC1-56EC-AEEF-00A6-506612D9AEAE}"/>
            </ac:spMkLst>
          </pc:spChg>
        </pc:sldLayoutChg>
      </pc:sldMasterChg>
      <pc:sldMasterChg chg="del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4279153857" sldId="2147483979"/>
        </pc:sldMasterMkLst>
      </pc:sldMasterChg>
    </pc:docChg>
  </pc:docChgLst>
  <pc:docChgLst>
    <pc:chgData name="Charlene Tsai (TW)" userId="68b0f2d0-7915-4c79-b8c7-c12efc493c51" providerId="ADAL" clId="{0A7DE034-796F-4C2D-AE47-9095C649598E}"/>
    <pc:docChg chg="undo custSel addSld delSld modSld sldOrd addSection delSection modSection">
      <pc:chgData name="Charlene Tsai (TW)" userId="68b0f2d0-7915-4c79-b8c7-c12efc493c51" providerId="ADAL" clId="{0A7DE034-796F-4C2D-AE47-9095C649598E}" dt="2026-08-13T08:42:14.023" v="81" actId="207"/>
      <pc:docMkLst>
        <pc:docMk/>
      </pc:docMkLst>
      <pc:sldChg chg="add">
        <pc:chgData name="Charlene Tsai (TW)" userId="68b0f2d0-7915-4c79-b8c7-c12efc493c51" providerId="ADAL" clId="{0A7DE034-796F-4C2D-AE47-9095C649598E}" dt="2026-08-13T08:20:30.789" v="49"/>
        <pc:sldMkLst>
          <pc:docMk/>
          <pc:sldMk cId="1607610444" sldId="25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71000337" sldId="25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236025896" sldId="25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448374888" sldId="26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977424334" sldId="26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625510049" sldId="26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680653814" sldId="263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13310017" sldId="26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57538159" sldId="265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662060182" sldId="26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552041981" sldId="267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283832621" sldId="26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399921275" sldId="26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00775308" sldId="270"/>
        </pc:sldMkLst>
      </pc:sldChg>
      <pc:sldChg chg="modSp add mod">
        <pc:chgData name="Charlene Tsai (TW)" userId="68b0f2d0-7915-4c79-b8c7-c12efc493c51" providerId="ADAL" clId="{0A7DE034-796F-4C2D-AE47-9095C649598E}" dt="2026-08-13T08:42:02.561" v="80" actId="207"/>
        <pc:sldMkLst>
          <pc:docMk/>
          <pc:sldMk cId="272960212" sldId="271"/>
        </pc:sldMkLst>
        <pc:spChg chg="mod">
          <ac:chgData name="Charlene Tsai (TW)" userId="68b0f2d0-7915-4c79-b8c7-c12efc493c51" providerId="ADAL" clId="{0A7DE034-796F-4C2D-AE47-9095C649598E}" dt="2026-08-13T08:42:02.561" v="80" actId="207"/>
          <ac:spMkLst>
            <pc:docMk/>
            <pc:sldMk cId="272960212" sldId="271"/>
            <ac:spMk id="3" creationId="{541DBE09-1AFC-C842-B6EC-B78EC10A12EB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420393673" sldId="272"/>
        </pc:sldMkLst>
      </pc:sldChg>
      <pc:sldChg chg="modSp add">
        <pc:chgData name="Charlene Tsai (TW)" userId="68b0f2d0-7915-4c79-b8c7-c12efc493c51" providerId="ADAL" clId="{0A7DE034-796F-4C2D-AE47-9095C649598E}" dt="2026-08-13T08:42:14.023" v="81" actId="207"/>
        <pc:sldMkLst>
          <pc:docMk/>
          <pc:sldMk cId="1015997899" sldId="273"/>
        </pc:sldMkLst>
        <pc:spChg chg="mod">
          <ac:chgData name="Charlene Tsai (TW)" userId="68b0f2d0-7915-4c79-b8c7-c12efc493c51" providerId="ADAL" clId="{0A7DE034-796F-4C2D-AE47-9095C649598E}" dt="2026-08-13T08:42:14.023" v="81" actId="207"/>
          <ac:spMkLst>
            <pc:docMk/>
            <pc:sldMk cId="1015997899" sldId="273"/>
            <ac:spMk id="9217" creationId="{104A2E4A-87E2-024E-8666-D1692700680D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756676771" sldId="27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86133829" sldId="27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627087772" sldId="276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991716889" sldId="277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461893677" sldId="278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26896675" sldId="27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44310491" sldId="28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021729379" sldId="28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822418120" sldId="28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768249001" sldId="283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94294223" sldId="28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702774237" sldId="28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429845718" sldId="286"/>
        </pc:sldMkLst>
      </pc:sldChg>
      <pc:sldChg chg="add del">
        <pc:chgData name="Charlene Tsai (TW)" userId="68b0f2d0-7915-4c79-b8c7-c12efc493c51" providerId="ADAL" clId="{0A7DE034-796F-4C2D-AE47-9095C649598E}" dt="2026-08-13T08:38:45.628" v="67"/>
        <pc:sldMkLst>
          <pc:docMk/>
          <pc:sldMk cId="1508368365" sldId="287"/>
        </pc:sldMkLst>
      </pc:sldChg>
      <pc:sldChg chg="add">
        <pc:chgData name="Charlene Tsai (TW)" userId="68b0f2d0-7915-4c79-b8c7-c12efc493c51" providerId="ADAL" clId="{0A7DE034-796F-4C2D-AE47-9095C649598E}" dt="2026-08-13T08:40:08.748" v="73"/>
        <pc:sldMkLst>
          <pc:docMk/>
          <pc:sldMk cId="977793746" sldId="288"/>
        </pc:sldMkLst>
      </pc:sldChg>
      <pc:sldChg chg="add ord">
        <pc:chgData name="Charlene Tsai (TW)" userId="68b0f2d0-7915-4c79-b8c7-c12efc493c51" providerId="ADAL" clId="{0A7DE034-796F-4C2D-AE47-9095C649598E}" dt="2026-08-13T08:40:21.830" v="76"/>
        <pc:sldMkLst>
          <pc:docMk/>
          <pc:sldMk cId="4069544170" sldId="289"/>
        </pc:sldMkLst>
      </pc:sldChg>
      <pc:sldChg chg="add ord">
        <pc:chgData name="Charlene Tsai (TW)" userId="68b0f2d0-7915-4c79-b8c7-c12efc493c51" providerId="ADAL" clId="{0A7DE034-796F-4C2D-AE47-9095C649598E}" dt="2026-08-13T08:39:38.404" v="70"/>
        <pc:sldMkLst>
          <pc:docMk/>
          <pc:sldMk cId="2290726905" sldId="290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1474795709" sldId="291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0" sldId="292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79893034" sldId="293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23802687" sldId="294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866047460" sldId="295"/>
        </pc:sldMkLst>
      </pc:sldChg>
      <pc:sldChg chg="ord">
        <pc:chgData name="Charlene Tsai (TW)" userId="68b0f2d0-7915-4c79-b8c7-c12efc493c51" providerId="ADAL" clId="{0A7DE034-796F-4C2D-AE47-9095C649598E}" dt="2026-08-13T08:17:43.831" v="32"/>
        <pc:sldMkLst>
          <pc:docMk/>
          <pc:sldMk cId="3708291182" sldId="4121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375783746" sldId="214747171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70756490" sldId="2147471720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992608161" sldId="2147471721"/>
        </pc:sldMkLst>
      </pc:sldChg>
      <pc:sldChg chg="add">
        <pc:chgData name="Charlene Tsai (TW)" userId="68b0f2d0-7915-4c79-b8c7-c12efc493c51" providerId="ADAL" clId="{0A7DE034-796F-4C2D-AE47-9095C649598E}" dt="2026-08-13T08:19:26.254" v="44"/>
        <pc:sldMkLst>
          <pc:docMk/>
          <pc:sldMk cId="215186150" sldId="2147471831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1160389668" sldId="2147483632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4193839879" sldId="2147483633"/>
        </pc:sldMkLst>
      </pc:sldChg>
      <pc:sldChg chg="add ord">
        <pc:chgData name="Charlene Tsai (TW)" userId="68b0f2d0-7915-4c79-b8c7-c12efc493c51" providerId="ADAL" clId="{0A7DE034-796F-4C2D-AE47-9095C649598E}" dt="2026-08-13T08:17:55.357" v="36"/>
        <pc:sldMkLst>
          <pc:docMk/>
          <pc:sldMk cId="3693095151" sldId="2147483644"/>
        </pc:sldMkLst>
      </pc:sldChg>
      <pc:sldChg chg="add">
        <pc:chgData name="Charlene Tsai (TW)" userId="68b0f2d0-7915-4c79-b8c7-c12efc493c51" providerId="ADAL" clId="{0A7DE034-796F-4C2D-AE47-9095C649598E}" dt="2026-08-13T08:19:33.136" v="45"/>
        <pc:sldMkLst>
          <pc:docMk/>
          <pc:sldMk cId="1652456660" sldId="2147483645"/>
        </pc:sldMkLst>
      </pc:sldChg>
      <pc:sldChg chg="add del">
        <pc:chgData name="Charlene Tsai (TW)" userId="68b0f2d0-7915-4c79-b8c7-c12efc493c51" providerId="ADAL" clId="{0A7DE034-796F-4C2D-AE47-9095C649598E}" dt="2026-08-13T08:19:11.646" v="43"/>
        <pc:sldMkLst>
          <pc:docMk/>
          <pc:sldMk cId="2351879941" sldId="2147483647"/>
        </pc:sldMkLst>
      </pc:sldChg>
      <pc:sldMasterChg chg="delSldLayout">
        <pc:chgData name="Charlene Tsai (TW)" userId="68b0f2d0-7915-4c79-b8c7-c12efc493c51" providerId="ADAL" clId="{0A7DE034-796F-4C2D-AE47-9095C649598E}" dt="2026-08-13T08:17:22.071" v="24" actId="47"/>
        <pc:sldMasterMkLst>
          <pc:docMk/>
          <pc:sldMasterMk cId="627376471" sldId="2147483672"/>
        </pc:sldMasterMkLst>
      </pc:sldMasterChg>
    </pc:docChg>
  </pc:docChgLst>
  <pc:docChgLst>
    <pc:chgData name="Tony TJ Wang (TW)" userId="S::tony.tj.wang@pwc.com::18033001-5856-41bf-97cd-f021b2ea7695" providerId="AD" clId="Web-{01385F48-5DE5-14CF-FD55-8C71A0CF0FD8}"/>
    <pc:docChg chg="modSld">
      <pc:chgData name="Tony TJ Wang (TW)" userId="S::tony.tj.wang@pwc.com::18033001-5856-41bf-97cd-f021b2ea7695" providerId="AD" clId="Web-{01385F48-5DE5-14CF-FD55-8C71A0CF0FD8}" dt="2026-08-28T03:28:32.066" v="2" actId="20577"/>
      <pc:docMkLst>
        <pc:docMk/>
      </pc:docMkLst>
      <pc:sldChg chg="modSp">
        <pc:chgData name="Tony TJ Wang (TW)" userId="S::tony.tj.wang@pwc.com::18033001-5856-41bf-97cd-f021b2ea7695" providerId="AD" clId="Web-{01385F48-5DE5-14CF-FD55-8C71A0CF0FD8}" dt="2026-08-28T03:28:32.066" v="2" actId="20577"/>
        <pc:sldMkLst>
          <pc:docMk/>
          <pc:sldMk cId="106630151" sldId="297"/>
        </pc:sldMkLst>
        <pc:spChg chg="mod">
          <ac:chgData name="Tony TJ Wang (TW)" userId="S::tony.tj.wang@pwc.com::18033001-5856-41bf-97cd-f021b2ea7695" providerId="AD" clId="Web-{01385F48-5DE5-14CF-FD55-8C71A0CF0FD8}" dt="2026-08-28T03:28:32.066" v="2" actId="20577"/>
          <ac:spMkLst>
            <pc:docMk/>
            <pc:sldMk cId="106630151" sldId="297"/>
            <ac:spMk id="5" creationId="{FA068CB2-23AF-6FCE-7A50-CFDF4DCD3FE4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使用成本</c:v>
                </c:pt>
              </c:strCache>
            </c:strRef>
          </c:tx>
          <c:spPr>
            <a:solidFill>
              <a:srgbClr val="FD5108"/>
            </a:solidFill>
          </c:spPr>
          <c:cat>
            <c:strRef>
              <c:f>Sheet1!$A$2:$A$3</c:f>
              <c:strCache>
                <c:ptCount val="2"/>
                <c:pt idx="0">
                  <c:v>2022 年 11 月</c:v>
                </c:pt>
                <c:pt idx="1">
                  <c:v>2024 年 10 月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0.36</c:v>
                </c:pt>
              </c:numCache>
            </c:numRef>
          </c:val>
        </c:ser>
        <c:dLbls>
          <c:numFmt formatCode="0.## &quot;元&quot;" sourceLinked="0"/>
          <c:txPr>
            <a:bodyPr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Georgia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成效</c:v>
                </c:pt>
              </c:strCache>
            </c:strRef>
          </c:tx>
          <c:spPr>
            <a:ln w="44450">
              <a:solidFill>
                <a:srgbClr val="FD5108"/>
              </a:solidFill>
            </a:ln>
          </c:spPr>
          <c:marker>
            <c:symbol val="none"/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-1.2</c:v>
                </c:pt>
                <c:pt idx="2">
                  <c:v>-1.8</c:v>
                </c:pt>
                <c:pt idx="3">
                  <c:v>-1.2</c:v>
                </c:pt>
                <c:pt idx="4">
                  <c:v>0.6</c:v>
                </c:pt>
                <c:pt idx="5">
                  <c:v>2.6</c:v>
                </c:pt>
                <c:pt idx="6">
                  <c:v>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/>
        <c:axPos val="l"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100">
          <a:latin typeface="Georgia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513348-FCAA-44C2-BC77-1D93D3828209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92AE7-3EEB-4206-9110-6E986C15B1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4839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【這頁的重點】30 秒開場，先講結論。</a:t>
            </a:r>
          </a:p>
          <a:p>
            <a:r>
              <a:t>【講法】「AI 寫程式的工具，各位的團隊大概都已經在用了。今天不談工具，談三件事：第一，這套 AI 原生的開發做法在實務上怎麼跑；第二，怎麼把它做成每個案子都能沿用的東西，而不是每次從頭來；第三，做得快的同時，治理和人工把關放在哪裡。結論先講：從一個場景開始，做得快，也管得住。」</a:t>
            </a:r>
          </a:p>
          <a:p>
            <a:r>
              <a:t>【轉場】「我先用一頁把整件事講完，後面再展開。」</a:t>
            </a:r>
          </a:p>
          <a:p/>
          <a:p>
            <a:r>
              <a:t>【內部提醒】向 Sam 說明有兩個版本：審閱版多三頁內部頁（請您決定、為什麼要做成產品、團隊分工）與兩個內部附錄（示範錄影、研究整合）；客戶版不含。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【這頁的重點】AI 讓寫程式變便宜，客戶缺的是一套每次都能照做、管得住的方法；這就是我們要做成產品的東西。</a:t>
            </a:r>
          </a:p>
          <a:p>
            <a:r>
              <a:t>【講法】「左邊這張圖：同樣能力的 AI，兩年內使用成本降到大約 280 分之一，以前花 100 元，現在不到 0.4 元。寫程式這件事會越來越便宜。中間這條線是導入 AI 的真實狀況：一開始會先變慢，因為大家在學、要審查的東西變多、流程要調整；下滑的那一段，就是治理沒做好的成本。所以我們要賣的，不是寫程式的人力，而是一套每次都能照做、管得住的方法：審查、關卡、紀錄都做成範本，每做一個試點就多一份能重複用的資產，做越多越快、越便宜。」</a:t>
            </a:r>
          </a:p>
          <a:p>
            <a:r>
              <a:t>【做法】先賣診斷加一個試點：診斷 4 到 6 週、試點 6 到 8 週，達標才擴大；每個試點至少留下一個能重複用的範本或規則，累積夠了、有實績，再推出客戶自己能用的工具包。</a:t>
            </a:r>
          </a:p>
          <a:p>
            <a:r>
              <a:t>【可能被問】「跟 Deloitte 的加速器有什麼不同？」→ 他們偏預建代理與藍圖；我們把在地法規、可稽核關卡和人工把關綁在一起（附錄同業參考）。</a:t>
            </a:r>
          </a:p>
          <a:p/>
          <a:p>
            <a:r>
              <a:t>【內部提醒】J 曲線是示意圖，概念來自 DORA 2026，不是實際數據；成本數字是 Stanford AI Index 的資料。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【這頁的重點】說明結構與時間安排。</a:t>
            </a:r>
          </a:p>
          <a:p>
            <a:r>
              <a:t>【講法】四章加附錄：面向誰、解決什麼問題、帶來什麼價值、下一步。時間不夠時，優先講第 02 章的解法、AI 分工與現場示範，以及第 03 章的「買到什麼」；附錄依提問使用。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【轉場】「先講為什麼保險公司現在就要處理這件事，以及我們優先服務誰。」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【這頁的重點】保險業已經在用 AI，而且擴散很快；但 AI 寫的程式有風險，責任在保險公司。</a:t>
            </a:r>
          </a:p>
          <a:p>
            <a:r>
              <a:t>【講法】「四個數字。第一，McKinsey 去年對全球近兩千位主管的調查：88% 的企業已經至少在一個部門經常使用 AI，一年前是 78%，但多數還停在試點。第二，金管會今年 10 月的調查：保險業已經有 53% 在用 AI，前年是 43%，壽險公司更高達 65%。第三，有用 AI 的金融業者裡，76% 已經導入生成式 AI，一年前還不到一半。第四，Veracode 測了 100 多個 AI 模型、80 個寫程式任務：有 45% 的任務，AI 選了不安全的寫法。而委外新辦法和 AI 自律規範都寫明，責任在保險公司。所以紀錄要設計進流程，不能事後補。」</a:t>
            </a:r>
          </a:p>
          <a:p>
            <a:r>
              <a:t>【可能被問】「45% 是你們測的嗎？」→ 不是，是資安公司 Veracode 2025 年的研究，來源在頁底可以點。</a:t>
            </a:r>
          </a:p>
          <a:p/>
          <a:p>
            <a:r>
              <a:t>【內部提醒】(1) 金管會數字目前依工商時報、聯合報等報導，對外前請對照金管會原始公告；(2) 88% 已確認出自 McKinsey《The state of AI in 2025》（2025 年 6–7 月調查，1,993 人、105 國，自填問卷）；Gemini 說的「2025 年 71%」不對，前一年是 78%；(3) 45% 是實驗室測試的任務比例，不是「實際上線的程式 45% 有漏洞」，不要講成後者。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【這頁的重點】採購時有四種人，各自在意的事不同；我們的 BA 能直接用 AI 做出原型，這是新的做法。</a:t>
            </a:r>
          </a:p>
          <a:p>
            <a:r>
              <a:t>【講法】中間是試點，四個角落是四種人：IT 主管付錢，在意交付跟不上；業務單位在意需求來回很多輪，我們的 BA 可以用 AI 當場做出原型，一起確認需求；法遵、風控、資安握有否決權，在意出事誰負責；管理層在意回報。中間下方是市場訊號：BlackRock 今年 10 月在新加坡、香港招募「Forward Deployed Business Analyst」，前線部署的 BA 已經是金融業正在找的職位；這也是 FSC1 BA 的未來展望：駐點客戶現場，用 AI 當場做出原型。最下面是我們優先找的客戶條件。</a:t>
            </a:r>
          </a:p>
          <a:p>
            <a:r>
              <a:t>【可能被問】「開發全部外包的公司呢？」→ 可以做，但要先談好外包廠商在試點中的角色（附錄試點風險）。</a:t>
            </a:r>
          </a:p>
          <a:p/>
          <a:p>
            <a:r>
              <a:t>【內部提醒】(1) 結論句是假設，要留空間讓客戶講他們的實際決策鏈，現場可以直接問「客戶是這樣嗎？」；(2) BlackRock 只引用職稱與招募地點，職務內容以職缺原文為準；這項 BA 做法目前沒寫進「買到什麼」的交付內容，被問到時說明會在試點中由 BA 實際執行。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【轉場】「接下來講問題：工具已經普及，為什麼交付沒有跟著變好，以及我們怎麼解。」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【這頁的重點】AI 已經普及，但多數企業還沒看到錢；差別在流程與治理。</a:t>
            </a:r>
          </a:p>
          <a:p>
            <a:r>
              <a:t>【講法】上排四個數字說明普及，出處都寫在每張卡下方：開發者 84% 在用或計畫用 AI，這是 Stack Overflow 2025 年對 4.9 萬名開發者的調查；JPMorgan、Citi 已大規模導入；PwC 調查，57% 的保險業高階主管把生成式與代理式 AI 列為 2026 年首要科技投資。下排是問題：交付變快了，但也更不穩；在複雜的既有系統上，效益常常不到 10%，而保險公司的核心系統大多是這種；PwC 全球 CEO 調查，56% 的 CEO 說 AI 還沒帶來營收或成本上的明顯效益。所以導入 AI 時，需求、審查、上線與控制方式要一起改。</a:t>
            </a:r>
          </a:p>
          <a:p>
            <a:r>
              <a:t>【可能被問】「JPMorgan 不是提升 10–20%？」→ 那是個人生產力、公司自述；看整體交付和財務效益，結果就不一樣。</a:t>
            </a:r>
          </a:p>
          <a:p/>
          <a:p>
            <a:r>
              <a:t>【內部提醒】56% 依多家媒體報導 PwC 第 29 屆 CEO 調查；PwC 各地網頁寫法略有出入，對外前請對照 PwC 原始報告。57% 已改連 PwC〈Reinventing insurance〉原頁；數字依 Insurance Journal 報導（樣本 136 位保險業高階主管），本環境連不上 pwc.com，對外前請在原頁確認數字。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【這頁的重點】先講以前怎麼做，再講我們帶來的新做法：AI 參與每一步，但用三個機制守住，關鍵決定由人做。</a:t>
            </a:r>
          </a:p>
          <a:p>
            <a:r>
              <a:t>【以前】需求、設計、開發、測試、上線一段一段交接，靠開會和個人經驗；文件常常跟不上程式。AI 是工程師各自在用的小工具：誰用了、AI 改了什麼、誰核准，事後查不到。規範靠人記得，審查靠人排隊。</a:t>
            </a:r>
          </a:p>
          <a:p>
            <a:r>
              <a:t>【新的做法】把開發流程串成一個循環，AI 參與每一步，維運發現的問題直接回到下一個需求。三個機制守住：第一，交接靠檔案，需求說明、規格、實作計畫、測試結果、核准紀錄，下一步直接接手；第二，規則自動執行，資安、個資、委外規範寫成 AI 自動套用的規則，必守的事由自動關卡擋下；第三，關卡有人簽，接受需求、確認規格、核准計畫、核准合併、授權上線，五個決定由客戶指定的人做。</a:t>
            </a:r>
          </a:p>
          <a:p>
            <a:r>
              <a:t>【講法】「原則只有一句：AI 可以一路做到正式環境、把上線準備好，但不能自己按下上線。這套方法也不綁特定 AI 工具。」</a:t>
            </a:r>
          </a:p>
          <a:p>
            <a:r>
              <a:t>【可能被問】「要換掉我們現有的 Jira 或變更管理嗎？」→ 不用，關卡與紀錄接在既有工具上，診斷時確認做法。</a:t>
            </a:r>
          </a:p>
          <a:p>
            <a:r>
              <a:t>【轉場】「人到底在什麼時候介入？下一頁。」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【這頁的重點】第一階段從左上角開始：常發生、判斷少的工作先交給 AI；右下角永遠由人決定。</a:t>
            </a:r>
          </a:p>
          <a:p>
            <a:r>
              <a:t>【講法】依「多常發生、需要多少判斷」分四類。左上角框起來的是我們的起點：測試案例、文件、Release Note 這類，AI 先做、人確認，最快看到效果，所以第一個試點挑這類工作多的需求。右上，程式碼、API 規格，AI 起草、人逐項審。左下做成範本。右下，接受需求、核准合併、授權上線，永遠由人決定，就是五個人工關卡。這兩個軸不是我們自己想的：橫軸來自 MIT 經濟學者 Autor 等人 2003 年的研究，例行性越高的任務越先被技術取代；縱軸來自哈佛商學院和 BCG 對 758 位顧問的實驗，AI 能力範圍內的任務品質高約四成，範圍外的任務正確率反而下降。所以判斷多的工作，一定要人審。分類會在診斷時依客戶的專案確認。</a:t>
            </a:r>
          </a:p>
          <a:p>
            <a:r>
              <a:t>【轉場】「實際長什麼樣子？看示範。」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【這頁的重點】不是概念：同一個功能從業務需求到上線，每一步都有文件。</a:t>
            </a:r>
          </a:p>
          <a:p>
            <a:r>
              <a:t>【講法】「五個框是金融機構主檔這個功能：7 條業務規則，包括制裁國家建檔要主管覆核；6 份規格；每個任務列清楚驗收場景，最多只能改 5 個檔案；QA 規格定了 10 個測試案例，品質閘門要求覆蓋率超過 90%；每個任務都回溯到規則代碼，制裁建檔寫入審計。下一頁看測試實際怎麼跑。」</a:t>
            </a:r>
          </a:p>
          <a:p>
            <a:r>
              <a:t>【可能被問】「覆蓋率 90% 是實際結果嗎？」→ 那是品質閘門要求的門檻，不是已達成的結果；實際執行情形在現場示範時說明。</a:t>
            </a:r>
          </a:p>
          <a:p/>
          <a:p>
            <a:r>
              <a:t>【內部提醒】(0) 測試錄影已移到下一頁；(1) 請 IT 確認：錄影是否由 AI／自動化測試執行，可否說「AI 協助測試」；(2) 素材對外前確認不含客戶資料或客戶專屬設計；(3) 錄影拍的是國家、區域、幣別，規格是金融機構，最好補一段金融機構選單錄影；(4) 第 5 步仍缺人工核准畫面；(5) 規格負責人欄寫「Lead Agent」，被問到時說明由誰審核。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【這頁的重點】讓沒寫過程式的人也看得懂：以前測試靠人，現在系統自動跑。</a:t>
            </a:r>
          </a:p>
          <a:p>
            <a:r>
              <a:t>【講法】「左邊是以前的做法：測試人員拿一張清單，一格一格點、一格一格記、再截圖貼進報告；每次改版都要重來，改得越多，測得越少。右邊是同一個系統現在的做法：一樣的檢查，系統自動跑完，每次改版都重跑一遍，錄影和結果自動留下來。大的這段是國家選單，示範查詢、新增，以及故意漏填欄位時系統有沒有擋下來。人只需要看沒通過的項目。」</a:t>
            </a:r>
          </a:p>
          <a:p>
            <a:r>
              <a:t>【可能被問】「自動測試是 AI 寫的嗎？」→ 依 IT 確認的說法回答。</a:t>
            </a:r>
          </a:p>
          <a:p/>
          <a:p>
            <a:r>
              <a:t>【內部提醒】(1) 左側清單是示意，請 IT 提供一張實際的人工測試紀錄或測試報告截圖替換；(2) 請 IT 確認錄影是 AI 或自動化測試執行，以及測試腳本是否由 AI 產生；(3) 錄影拍的是國家、區域、幣別，規格是金融機構，最好補一段金融機構選單錄影。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【轉場】「看完怎麼做，接下來講帶來什麼價值、給法遵的答案，以及買到什麼。」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【這頁的重點】一頁講完價值與治理：左邊是做得快的地方，每項都有指標；右邊是管得住的地方，每題都有紀錄。</a:t>
            </a:r>
          </a:p>
          <a:p>
            <a:r>
              <a:t>【講法】「左邊四個痛點：需求來回很多輪，AI 快速做出原型、業務當場確認，量需求定稿時間；審查排隊，AI 先審、人只判斷風險，量等待時間和返工次數；上線出錯，每次改動都自動測試，量變更失敗率；交付難預期，每階段交出檔案，量交付時間。右邊五題是監理機關會問的：AI 工具有沒有納管、個資會不會進到 AI、上線誰核准、出事能不能退、事後查不查得到；每一題都有做法，也留得下紀錄。」</a:t>
            </a:r>
          </a:p>
          <a:p>
            <a:r>
              <a:t>【可能被問】「能保證快多少嗎？」→ 不承諾數字，試點前量基準、訂合格線，用實測證明。</a:t>
            </a:r>
          </a:p>
          <a:p>
            <a:r>
              <a:t>【建議】右半頁最好在法遵在場時講，或會前先單獨給法遵看。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【這頁的重點】先診斷、再做一個場景的試點；成功標準先講好，達標才擴大。為什麼找我們，四個理由各有證據。</a:t>
            </a:r>
          </a:p>
          <a:p>
            <a:r>
              <a:t>【講法】「上半頁是買到什麼：準備度診斷 4 到 6 週，盤點現況、做法規檢查、挑出第一個場景、訂好成功標準；接著一個場景的試點 6 到 8 週，用真實需求走完循環，同時建立範本、規則與關卡、教會各角色。右邊是成功標準，達標才擴大。下半頁是為什麼選我們：已經在用，剛才的再保系統就是例子；台灣保險法規內建；BA 懂保險業務；人工關卡可稽核。」</a:t>
            </a:r>
          </a:p>
          <a:p>
            <a:r>
              <a:t>【可能被問】「價格？」→ 固定範圍、固定價格，另行報價。「跟國際顧問比？」→ 他們多以預建代理與藍圖為主，我們綁上在地法規與可稽核關卡，從客戶的一個真實需求開始。</a:t>
            </a:r>
          </a:p>
          <a:p/>
          <a:p>
            <a:r>
              <a:t>【內部提醒】「懂保險業務」的證據改用再保系統示範；如果 Sam 要更多保險業實績，補 2–3 個 FSC1 保險業專案。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【轉場】「最後講下一步：怎麼開始、怎麼逐步擴大；每一步都沿用前一步的範本、規則與關卡，所以越做越快。」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【這頁的重點】每一步只承諾下一步；每個檢查點都可以擴大、調整或停止，彈性在客戶手上。</a:t>
            </a:r>
          </a:p>
          <a:p>
            <a:r>
              <a:t>【講法】「上面四步：一個場景、驗證價值、相鄰場景、全公司。每一步下面的橘色條，是可以沿用的範本與規則，越往後越多，所以下一個越快。每兩步之間有一個檢查點，三條路：達到合格線就擴大；部分達標就縮小範圍或換場景再試；不值得做就停，損失只限於這一步。最後提醒 J 曲線：導入初期會先變慢一陣子，最常見的失敗是在低谷時喊停，所以成功標準和觀察期間要在試點前講好。」</a:t>
            </a:r>
          </a:p>
          <a:p>
            <a:r>
              <a:t>【可能被問】「多久能全公司導入？」→ 依前一階段的成果決定，不預先承諾時程。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【這頁的重點】三個步驟就能開始。</a:t>
            </a:r>
          </a:p>
          <a:p>
            <a:r>
              <a:t>【講法】第一，現場示範：拿客戶一個真實需求，當場跑一次，從寫需求到上線前的核准。第二，一起挑題目：開一次會，挑出 1 到 2 個最適合先做的開發場景或業務痛點，順便確認資料、系統和法規上的限制。第三，開始診斷：定好範圍和窗口，開始盤點現在的開發流程和法規要求。右邊是需要客戶提供的資料。</a:t>
            </a:r>
          </a:p>
          <a:p>
            <a:r>
              <a:t>【轉場】「最後，用一頁把今天收起來。」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【這頁的重點】收尾只講一句話，讓大家帶走：AI 讓寫程式變便宜，但責任沒有變少；敢讓 AI 的程式上線，靠的是治理。</a:t>
            </a:r>
          </a:p>
          <a:p>
            <a:r>
              <a:t>【講法】慢慢唸橘色那兩行：「AI 的使用成本，兩年降到 280 分之一；出了事，責任一分都沒有變少。」停兩秒。「所以未來的差距，不在誰寫得快，而在誰敢讓 AI 寫的程式上線。敢上線的前提，是每一步查得到、每個關鍵決定由人做，這就是我們幫保險公司建好的東西。」接著講下一步：「我們想請客戶做的只有一件事：約一場現場示範，用你們自己的一個需求。」</a:t>
            </a:r>
          </a:p>
          <a:p>
            <a:r>
              <a:t>【收尾】講完下一步就停，不要再補充；把時間留給對方回應。</a:t>
            </a:r>
          </a:p>
          <a:p>
            <a:r>
              <a:t>【可能被問】「1/280 是寫程式的成本嗎？」→ 不是，是同等能力的 AI 模型使用成本（Stanford AI Index 2025）；寫程式整體成本降多少，要看流程，所以我們用試點實測。</a:t>
            </a:r>
          </a:p>
          <a:p/>
          <a:p>
            <a:r>
              <a:t>【內部提醒】(1) 1/280 是模型使用成本，不是開發成本，講的時候不要說成「寫程式便宜 280 倍」；(2) 「兩週內就能安排」需先和 IT 確認示範人力。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【用途】附錄依提問使用，不主動講。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【用途】對方想看一個完整流程的例子時使用。說明每個階段導入前後的差別，以及由誰決定。這是改編自公開範例的示意，不是客戶案例。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【用途】被問「之後能延伸到哪裡」時使用：同一客戶的其他系統、新制專案、AI 治理、其他保險公司、其他金融業，各有沿用的資產與前提。</a:t>
            </a:r>
          </a:p>
          <a:p/>
          <a:p>
            <a:r>
              <a:t>【內部提醒】延伸到其他保險公司時，審計客戶要先確認獨立性。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【用途】被問到競爭對手時使用。這些都是業者公開資訊，規模與期程數字為業者自述。</a:t>
            </a:r>
          </a:p>
          <a:p/>
          <a:p>
            <a:r>
              <a:t>【內部提醒】對客戶是否保留同業公司名稱，待 Sam 決定。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【用途】法遵追問條文時使用。說明每條規範在開發流程的哪一步落實。這是導入規劃工具，不是法律意見，草稿待法遵確認。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【用途】示範之後，法遵或稽核想看證據時使用。從任一條業務規則，都能找到對應的使用案例、測試案例與開發任務。也可以強調：缺口一眼看得出來，例如有兩條規則還沒有對應的測試。</a:t>
            </a:r>
          </a:p>
          <a:p/>
          <a:p>
            <a:r>
              <a:t>【內部提醒】任務與規則的對應是依任務內容判讀，待 IT 確認；任務包只附 001 與 005。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【用途】被問「會出什麼問題」時使用。五個風險各有提早發現的訊號、事前降低的做法、發生時的應變與負責人。正式清單於診斷時與客戶共同確認。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【用途】內部參考：兩份研究的差異，以及本提案採用哪一邊、為什麼。提交客戶前移除。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【用途】被問數字出處時使用。−1.5%、−7.2% 是 AI 採用率每增加 25% 的模型估計；JPMorgan 數字為公司自述。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eg"/><Relationship Id="rId3" Type="http://schemas.openxmlformats.org/officeDocument/2006/relationships/image" Target="../media/image2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sv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697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8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52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2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40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95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51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8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38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32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34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77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20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73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746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062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5747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70063"/>
            <a:ext cx="11453638" cy="4046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9977E-07C7-6A42-E691-FD4699CEC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9364" y="885381"/>
            <a:ext cx="11454336" cy="521144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0265C7-5AAC-0489-DEB2-CECC63DAC28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9226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1">
  <p:cSld name="Content and Image 1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1419a44a17_0_521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53181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048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2743200" lvl="5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0" name="Google Shape;410;g11419a44a17_0_521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53181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1" name="Google Shape;411;g11419a44a17_0_521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" name="Google Shape;412;g11419a44a17_0_521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70543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76867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_bi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367" y="400337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227041-E9DC-98BB-04D1-2512170C5B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48993" y="369719"/>
            <a:ext cx="5674707" cy="3002132"/>
          </a:xfrm>
        </p:spPr>
        <p:txBody>
          <a:bodyPr/>
          <a:lstStyle>
            <a:lvl2pPr>
              <a:defRPr sz="1600"/>
            </a:lvl2pPr>
          </a:lstStyle>
          <a:p>
            <a:pPr lvl="1"/>
            <a:r>
              <a:rPr lang="en-GB"/>
              <a:t>Second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46EC276-3627-6ED3-ACC7-6D690C9922B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83549" y="5139323"/>
            <a:ext cx="3723271" cy="800100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54573B6-45C7-9732-9BBF-56F180D537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607" y="4151313"/>
            <a:ext cx="1454150" cy="17875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E5F59E5-3BCA-20EA-D3B3-B0654D078B1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C591AE-859C-530C-6837-BFB4DC8D4B9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141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_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9401E2-0EFA-96DF-8425-7291F355E20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7487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ACCC0E-C26E-1C78-409B-A8BCA62C74C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22766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BAEBEC96-AF62-8CE5-7B36-0F816681A92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080458" y="1921687"/>
            <a:ext cx="3238917" cy="2047291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411CC0-34B1-721C-48C1-951AB61EFA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77200" y="4522183"/>
            <a:ext cx="1285875" cy="142557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A09CFC-44F1-8A22-B3B7-445685852B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571038" y="5045453"/>
            <a:ext cx="2252662" cy="926722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65C518D-AE96-1571-E3A5-E43E3AFB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09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One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22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4002088"/>
            <a:ext cx="1812697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537C81-8D77-5257-7438-91D290209EF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59949" y="1922690"/>
            <a:ext cx="2782075" cy="3525610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18350" y="1923975"/>
            <a:ext cx="4705350" cy="352432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6026069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Two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6163" y="399891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918" y="192843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BA4CE36-EFF2-1254-C89C-04B58ADD5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1756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88EBCEF-BA40-9584-6AE5-C7A98252EEB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1756" y="400337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B9101461-B876-7D7A-B834-0387E08CC08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62686" y="192397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2676734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Three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26435" y="1926393"/>
            <a:ext cx="1815590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29005" y="4002088"/>
            <a:ext cx="1813020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2923" y="3484563"/>
            <a:ext cx="2779851" cy="2487612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D98C7A9-0033-A08C-5C2C-6910B5E66DB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20272" y="1926393"/>
            <a:ext cx="1800225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0D2FD-01B8-FE51-DDAB-0CD8DD4EC5C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10067" y="4002088"/>
            <a:ext cx="1821208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53D0DB1F-A6EA-AECF-A117-E753C44395E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001616" y="1926393"/>
            <a:ext cx="1822084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24AE2FE3-6FA3-4900-16ED-D0812C6C0D0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0001616" y="3998913"/>
            <a:ext cx="1822084" cy="19732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FAEB4F-DBB7-31DF-438C-7C91DAD4D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0001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Four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9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3489910"/>
            <a:ext cx="2778478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FB0240B5-53DE-E0D1-1D5B-AFBA09737C3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59001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9183E717-A409-A034-5344-1947E3F9836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59001" y="3482975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5C242D0-2328-C358-F50B-AFCBA02790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3728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491F5A2B-72AD-5B1E-1630-FEB88892F6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53727" y="3489910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0FD4528-E035-DDBD-ED86-A241F5FEC8B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7566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72F79ED0-1F83-0104-4637-7DB4EA70741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043105" y="3489910"/>
            <a:ext cx="2780595" cy="247533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20140184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61883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56882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51881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5B69A-CAC3-88B9-5B3E-2AF1362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9F3CA5-5DA4-19BC-80CC-97F860333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67C69A2-1E84-3664-3630-A99E3EFC573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68300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8638270-30F0-9936-C8A6-BAB68548884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58699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3DF84AC-B16C-674A-06A0-5BECA0C9A0EA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56882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3F004F4B-1B56-27E3-B963-18B1CAE0CC07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051881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11070834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75576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50438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50438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E233FD-F166-12B7-E028-644C10A7A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7EEEF-16DC-51E8-05EA-1F6E66B8A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364238-EEEC-3531-E9AD-360B61A33D4B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257550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65A86A6E-D0EF-949C-8C67-0573A2ABD8E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257550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B030D65C-F831-C537-C0CD-5D2246DC4DBD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047263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37E69513-40FB-5D75-6BE6-82A63FAB8F4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9047263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6770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1A6F20-3183-89C9-54E7-E4ACDCA1BD19}"/>
              </a:ext>
            </a:extLst>
          </p:cNvPr>
          <p:cNvCxnSpPr/>
          <p:nvPr userDrawn="1"/>
        </p:nvCxnSpPr>
        <p:spPr>
          <a:xfrm>
            <a:off x="2850147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EEB207-28DC-549F-C2B0-58055E671FC9}"/>
              </a:ext>
            </a:extLst>
          </p:cNvPr>
          <p:cNvCxnSpPr/>
          <p:nvPr userDrawn="1"/>
        </p:nvCxnSpPr>
        <p:spPr>
          <a:xfrm>
            <a:off x="582181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947F83-D89B-6628-15F9-FAC5866A9E4E}"/>
              </a:ext>
            </a:extLst>
          </p:cNvPr>
          <p:cNvCxnSpPr/>
          <p:nvPr userDrawn="1"/>
        </p:nvCxnSpPr>
        <p:spPr>
          <a:xfrm>
            <a:off x="883514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3B81DD67-9485-2892-F206-E91C7ED504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2502" y="1406525"/>
            <a:ext cx="2093372" cy="19399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5" name="Picture Placeholder 43">
            <a:extLst>
              <a:ext uri="{FF2B5EF4-FFF2-40B4-BE49-F238E27FC236}">
                <a16:creationId xmlns:a16="http://schemas.microsoft.com/office/drawing/2014/main" id="{A75F1099-E20F-F9CE-1544-216F25D4B7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946664" y="1856615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6" name="Picture Placeholder 43">
            <a:extLst>
              <a:ext uri="{FF2B5EF4-FFF2-40B4-BE49-F238E27FC236}">
                <a16:creationId xmlns:a16="http://schemas.microsoft.com/office/drawing/2014/main" id="{54C049AD-B670-6FA8-478A-42246603A7A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53717" y="2952825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9" name="Picture Placeholder 43">
            <a:extLst>
              <a:ext uri="{FF2B5EF4-FFF2-40B4-BE49-F238E27FC236}">
                <a16:creationId xmlns:a16="http://schemas.microsoft.com/office/drawing/2014/main" id="{DFCCFE31-D96A-03E7-8B0C-7C81DAE880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53717" y="37757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0" name="Picture Placeholder 43">
            <a:extLst>
              <a:ext uri="{FF2B5EF4-FFF2-40B4-BE49-F238E27FC236}">
                <a16:creationId xmlns:a16="http://schemas.microsoft.com/office/drawing/2014/main" id="{709A4940-D1BB-7013-F2FE-DACDC2AAE6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53717" y="45885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1" name="Picture Placeholder 43">
            <a:extLst>
              <a:ext uri="{FF2B5EF4-FFF2-40B4-BE49-F238E27FC236}">
                <a16:creationId xmlns:a16="http://schemas.microsoft.com/office/drawing/2014/main" id="{D9A72C90-D9E8-D491-3497-24DB531EE61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953717" y="540218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3" name="Content Placeholder 52">
            <a:extLst>
              <a:ext uri="{FF2B5EF4-FFF2-40B4-BE49-F238E27FC236}">
                <a16:creationId xmlns:a16="http://schemas.microsoft.com/office/drawing/2014/main" id="{E0196963-74D4-62E4-DBA4-A28466BE510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73290" y="3484562"/>
            <a:ext cx="2093368" cy="245427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4" name="Content Placeholder 52">
            <a:extLst>
              <a:ext uri="{FF2B5EF4-FFF2-40B4-BE49-F238E27FC236}">
                <a16:creationId xmlns:a16="http://schemas.microsoft.com/office/drawing/2014/main" id="{46FE757E-B05C-D13A-2993-3097F76DD88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57167" y="1849501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5" name="Content Placeholder 52">
            <a:extLst>
              <a:ext uri="{FF2B5EF4-FFF2-40B4-BE49-F238E27FC236}">
                <a16:creationId xmlns:a16="http://schemas.microsoft.com/office/drawing/2014/main" id="{3CDDB1B6-64C0-315A-3605-A92DFB8E06C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98965" y="295598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6" name="Content Placeholder 52">
            <a:extLst>
              <a:ext uri="{FF2B5EF4-FFF2-40B4-BE49-F238E27FC236}">
                <a16:creationId xmlns:a16="http://schemas.microsoft.com/office/drawing/2014/main" id="{6C7C3849-49F9-942D-717C-41E2CBE8704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798965" y="3771791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7" name="Content Placeholder 52">
            <a:extLst>
              <a:ext uri="{FF2B5EF4-FFF2-40B4-BE49-F238E27FC236}">
                <a16:creationId xmlns:a16="http://schemas.microsoft.com/office/drawing/2014/main" id="{D54496E2-99F7-2A6B-0035-0EA0460E2E2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798965" y="4587594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8" name="Content Placeholder 52">
            <a:extLst>
              <a:ext uri="{FF2B5EF4-FFF2-40B4-BE49-F238E27FC236}">
                <a16:creationId xmlns:a16="http://schemas.microsoft.com/office/drawing/2014/main" id="{2010DB3D-EBE2-2E5B-0D78-F29E12395AE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798965" y="5399049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9" name="Picture Placeholder 43">
            <a:extLst>
              <a:ext uri="{FF2B5EF4-FFF2-40B4-BE49-F238E27FC236}">
                <a16:creationId xmlns:a16="http://schemas.microsoft.com/office/drawing/2014/main" id="{2B2BB839-9B2F-0F73-5CB1-3ADFE293FE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41073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0" name="Picture Placeholder 43">
            <a:extLst>
              <a:ext uri="{FF2B5EF4-FFF2-40B4-BE49-F238E27FC236}">
                <a16:creationId xmlns:a16="http://schemas.microsoft.com/office/drawing/2014/main" id="{718DD6F0-5DCD-0835-B530-18A8F025BEB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948126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1" name="Picture Placeholder 43">
            <a:extLst>
              <a:ext uri="{FF2B5EF4-FFF2-40B4-BE49-F238E27FC236}">
                <a16:creationId xmlns:a16="http://schemas.microsoft.com/office/drawing/2014/main" id="{4C142BCC-188D-696E-44E7-6A710E9A2A2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48126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2" name="Picture Placeholder 43">
            <a:extLst>
              <a:ext uri="{FF2B5EF4-FFF2-40B4-BE49-F238E27FC236}">
                <a16:creationId xmlns:a16="http://schemas.microsoft.com/office/drawing/2014/main" id="{F1318988-B64A-06EE-187B-DC71BA9F29C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948126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3" name="Picture Placeholder 43">
            <a:extLst>
              <a:ext uri="{FF2B5EF4-FFF2-40B4-BE49-F238E27FC236}">
                <a16:creationId xmlns:a16="http://schemas.microsoft.com/office/drawing/2014/main" id="{DD510472-5924-8787-2C9E-08AC89F6299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948126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4" name="Content Placeholder 52">
            <a:extLst>
              <a:ext uri="{FF2B5EF4-FFF2-40B4-BE49-F238E27FC236}">
                <a16:creationId xmlns:a16="http://schemas.microsoft.com/office/drawing/2014/main" id="{93B5743B-317B-CC4D-E4AF-4C26D139284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951576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5" name="Content Placeholder 52">
            <a:extLst>
              <a:ext uri="{FF2B5EF4-FFF2-40B4-BE49-F238E27FC236}">
                <a16:creationId xmlns:a16="http://schemas.microsoft.com/office/drawing/2014/main" id="{2DE2C93E-A220-A125-AB00-7242BE79F93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793374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6" name="Content Placeholder 52">
            <a:extLst>
              <a:ext uri="{FF2B5EF4-FFF2-40B4-BE49-F238E27FC236}">
                <a16:creationId xmlns:a16="http://schemas.microsoft.com/office/drawing/2014/main" id="{130A4148-657E-CA2A-AD39-C1C60B47A2E2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793374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7" name="Content Placeholder 52">
            <a:extLst>
              <a:ext uri="{FF2B5EF4-FFF2-40B4-BE49-F238E27FC236}">
                <a16:creationId xmlns:a16="http://schemas.microsoft.com/office/drawing/2014/main" id="{3B8B5468-901B-7B82-D8D3-DF6F47B26B33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793374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8" name="Content Placeholder 52">
            <a:extLst>
              <a:ext uri="{FF2B5EF4-FFF2-40B4-BE49-F238E27FC236}">
                <a16:creationId xmlns:a16="http://schemas.microsoft.com/office/drawing/2014/main" id="{43B694E8-3A07-E3A2-9F3F-697F039D904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793374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9" name="Picture Placeholder 43">
            <a:extLst>
              <a:ext uri="{FF2B5EF4-FFF2-40B4-BE49-F238E27FC236}">
                <a16:creationId xmlns:a16="http://schemas.microsoft.com/office/drawing/2014/main" id="{E19D1C64-222F-0744-20C8-0662359E691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933778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0" name="Picture Placeholder 43">
            <a:extLst>
              <a:ext uri="{FF2B5EF4-FFF2-40B4-BE49-F238E27FC236}">
                <a16:creationId xmlns:a16="http://schemas.microsoft.com/office/drawing/2014/main" id="{8D5DB854-0C4A-401B-87E8-5CAEA904F35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940831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1" name="Picture Placeholder 43">
            <a:extLst>
              <a:ext uri="{FF2B5EF4-FFF2-40B4-BE49-F238E27FC236}">
                <a16:creationId xmlns:a16="http://schemas.microsoft.com/office/drawing/2014/main" id="{BB0B7C6F-E2B7-F7E6-056F-E3FF400CB9C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940831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2" name="Picture Placeholder 43">
            <a:extLst>
              <a:ext uri="{FF2B5EF4-FFF2-40B4-BE49-F238E27FC236}">
                <a16:creationId xmlns:a16="http://schemas.microsoft.com/office/drawing/2014/main" id="{77751A25-C2A3-B5B4-8FBB-127A6616BD87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940831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3" name="Picture Placeholder 43">
            <a:extLst>
              <a:ext uri="{FF2B5EF4-FFF2-40B4-BE49-F238E27FC236}">
                <a16:creationId xmlns:a16="http://schemas.microsoft.com/office/drawing/2014/main" id="{DE2714AF-4313-7AA1-D7CD-E39C0A1F07D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940831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4" name="Content Placeholder 52">
            <a:extLst>
              <a:ext uri="{FF2B5EF4-FFF2-40B4-BE49-F238E27FC236}">
                <a16:creationId xmlns:a16="http://schemas.microsoft.com/office/drawing/2014/main" id="{B8073BB6-ACFE-F384-C36D-E495A757AB9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9944281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5" name="Content Placeholder 52">
            <a:extLst>
              <a:ext uri="{FF2B5EF4-FFF2-40B4-BE49-F238E27FC236}">
                <a16:creationId xmlns:a16="http://schemas.microsoft.com/office/drawing/2014/main" id="{1A1F259C-8EB0-5D96-40FD-D099944BF340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9786079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6" name="Content Placeholder 52">
            <a:extLst>
              <a:ext uri="{FF2B5EF4-FFF2-40B4-BE49-F238E27FC236}">
                <a16:creationId xmlns:a16="http://schemas.microsoft.com/office/drawing/2014/main" id="{D3C41004-FFC5-4EB9-1545-D7B24B936B2F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9786079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7" name="Content Placeholder 52">
            <a:extLst>
              <a:ext uri="{FF2B5EF4-FFF2-40B4-BE49-F238E27FC236}">
                <a16:creationId xmlns:a16="http://schemas.microsoft.com/office/drawing/2014/main" id="{92567D26-CC94-BD45-CF55-A29A4E477FFB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786079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8" name="Content Placeholder 52">
            <a:extLst>
              <a:ext uri="{FF2B5EF4-FFF2-40B4-BE49-F238E27FC236}">
                <a16:creationId xmlns:a16="http://schemas.microsoft.com/office/drawing/2014/main" id="{B6E43B1D-4477-345E-4E27-069457E30EB1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9786079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9" name="Content Placeholder 52">
            <a:extLst>
              <a:ext uri="{FF2B5EF4-FFF2-40B4-BE49-F238E27FC236}">
                <a16:creationId xmlns:a16="http://schemas.microsoft.com/office/drawing/2014/main" id="{9D4D08CE-4663-A5B8-3FEA-01A045F65D32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295371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0" name="Content Placeholder 52">
            <a:extLst>
              <a:ext uri="{FF2B5EF4-FFF2-40B4-BE49-F238E27FC236}">
                <a16:creationId xmlns:a16="http://schemas.microsoft.com/office/drawing/2014/main" id="{CD74F49C-4668-965D-013F-EA197AFED4F2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5939624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1" name="Content Placeholder 52">
            <a:extLst>
              <a:ext uri="{FF2B5EF4-FFF2-40B4-BE49-F238E27FC236}">
                <a16:creationId xmlns:a16="http://schemas.microsoft.com/office/drawing/2014/main" id="{58583576-3574-8BBB-274A-DDAF2CF9A77B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893377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8A9746-3FB8-5A95-9B1B-4D051BFC4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7839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9F1385C-E183-4949-1E52-945BDAAE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3495320"/>
            <a:ext cx="3719076" cy="24514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99063" y="1946275"/>
            <a:ext cx="5640387" cy="3992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125A049-51AB-8CE0-1E82-0861CFA1A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690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2157443-656C-E355-D086-838984BE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089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05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7197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8482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D39F23-E441-3514-2A4F-F9CCA2911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514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9013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4AAB0-21A6-A5E6-8408-219CAA26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CE54221-5DBA-0D99-431D-6AD1DF6DC08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01639" y="3998913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D7CBDAE4-87B4-6E80-BB22-1E1B55D4682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39454" y="4002088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D63D7C9D-0E4E-53F0-D6B2-88D08609625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85215" y="1428751"/>
            <a:ext cx="3716812" cy="4515434"/>
          </a:xfrm>
          <a:solidFill>
            <a:srgbClr val="FFF5ED"/>
          </a:solidFill>
        </p:spPr>
        <p:txBody>
          <a:bodyPr lIns="144000" tIns="144000" rIns="144000" bIns="14400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7375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75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18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339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736188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120932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3232766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308132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936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874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2802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9255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893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9592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04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2956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308151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9" y="1715"/>
            <a:ext cx="12188951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082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533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19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3609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644289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576547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3626539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0513332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212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410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2669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03224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1326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963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0485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2466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938004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16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84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039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5167365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7284342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60601549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2917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459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8998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2834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2009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9744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5144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6913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92280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2001" y="368300"/>
            <a:ext cx="4711700" cy="3003550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/>
              <a:t>0,000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A3DA15-4C69-255A-358A-480458D2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831A1-36E4-05EF-6AB7-93A548B9DE9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039225" y="3492500"/>
            <a:ext cx="2784475" cy="24796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89952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373155"/>
            <a:ext cx="2765424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52188" y="373155"/>
            <a:ext cx="2765424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52188" y="3308287"/>
            <a:ext cx="2765424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1217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x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252" y="3485833"/>
            <a:ext cx="2575470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48994" y="373290"/>
            <a:ext cx="2765424" cy="2777490"/>
          </a:xfrm>
          <a:prstGeom prst="rect">
            <a:avLst/>
          </a:prstGeo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11235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0511" y="373290"/>
            <a:ext cx="2765424" cy="2777490"/>
          </a:xfrm>
          <a:prstGeom prst="rect">
            <a:avLst/>
          </a:prstGeo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2752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48994" y="3281527"/>
            <a:ext cx="2765424" cy="2777490"/>
          </a:xfrm>
          <a:prstGeom prst="rect">
            <a:avLst/>
          </a:prstGeom>
          <a:solidFill>
            <a:srgbClr val="FFCDA8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11235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0511" y="3281527"/>
            <a:ext cx="2765424" cy="2777490"/>
          </a:xfrm>
          <a:prstGeom prst="rect">
            <a:avLst/>
          </a:prstGeom>
          <a:solidFill>
            <a:srgbClr val="FFF5ED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202752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670FEE5-9E0A-0502-9064-02C2958C24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9617" y="373290"/>
            <a:ext cx="2765424" cy="2777490"/>
          </a:xfrm>
          <a:prstGeom prst="rect">
            <a:avLst/>
          </a:prstGeom>
          <a:solidFill>
            <a:schemeClr val="accent2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347B6220-EA18-FCE3-B24E-B96EEBDB79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21858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20CC769-A58F-89B1-9B4D-4242345AA6F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9617" y="3281527"/>
            <a:ext cx="2765424" cy="2777490"/>
          </a:xfrm>
          <a:prstGeom prst="rect">
            <a:avLst/>
          </a:prstGeom>
          <a:solidFill>
            <a:schemeClr val="accent3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A5CE9CF-2B9A-9CCE-16EB-AF781F3473C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21858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3243295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27520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17858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24392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5576" y="1408288"/>
            <a:ext cx="5237163" cy="4510088"/>
          </a:xfrm>
        </p:spPr>
        <p:txBody>
          <a:bodyPr/>
          <a:lstStyle/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867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04804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626A07-2517-5726-4FDD-0AC9D929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87585-ED95-8AF2-4595-9E941DC9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9026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30.xml"/><Relationship Id="rId29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4.xml"/><Relationship Id="rId3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6.xml"/><Relationship Id="rId17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81.xml"/><Relationship Id="rId16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4.xml"/><Relationship Id="rId19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86.xml"/><Relationship Id="rId21" Type="http://schemas.openxmlformats.org/officeDocument/2006/relationships/slideLayout" Target="../slideLayouts/slideLayout87.xml"/><Relationship Id="rId22" Type="http://schemas.openxmlformats.org/officeDocument/2006/relationships/slideLayout" Target="../slideLayouts/slideLayout88.xml"/><Relationship Id="rId23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BCCF403-77F5-E64B-B3A1-43CAED52C50B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Lato Light" panose="020F0502020204030203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AFA0A0-434E-E340-A675-5E45B45DDFED}"/>
              </a:ext>
            </a:extLst>
          </p:cNvPr>
          <p:cNvSpPr txBox="1"/>
          <p:nvPr userDrawn="1"/>
        </p:nvSpPr>
        <p:spPr>
          <a:xfrm>
            <a:off x="11208878" y="453222"/>
            <a:ext cx="1891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27376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3300" b="1" i="0" kern="1200">
          <a:solidFill>
            <a:schemeClr val="tx2"/>
          </a:solidFill>
          <a:latin typeface="Poppins" pitchFamily="2" charset="77"/>
          <a:ea typeface="+mj-ea"/>
          <a:cs typeface="+mj-cs"/>
        </a:defRPr>
      </a:lvl1pPr>
    </p:titleStyle>
    <p:bodyStyle>
      <a:lvl1pPr marL="0" indent="0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1pPr>
      <a:lvl2pPr marL="457086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2pPr>
      <a:lvl3pPr marL="914172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3pPr>
      <a:lvl4pPr marL="1371257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4pPr>
      <a:lvl5pPr marL="1828343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87DDA4-93F2-7A45-9BB3-0ED68A4AA170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Poppins Ligh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132A2-AB80-A845-8566-11C55587F84F}"/>
              </a:ext>
            </a:extLst>
          </p:cNvPr>
          <p:cNvSpPr txBox="1"/>
          <p:nvPr userDrawn="1"/>
        </p:nvSpPr>
        <p:spPr>
          <a:xfrm>
            <a:off x="11203853" y="442590"/>
            <a:ext cx="17793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69399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ftr="0" dt="0"/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lang="en-US" sz="3000" b="1" i="0" kern="1200">
          <a:solidFill>
            <a:schemeClr val="tx2"/>
          </a:solidFill>
          <a:latin typeface="Poppins" pitchFamily="2" charset="77"/>
          <a:ea typeface="Open Sans Light" panose="020B0306030504020204" pitchFamily="34" charset="0"/>
          <a:cs typeface="Poppins" pitchFamily="2" charset="77"/>
        </a:defRPr>
      </a:lvl1pPr>
    </p:titleStyle>
    <p:bodyStyle>
      <a:lvl1pPr marL="228555" indent="-228555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1pPr>
      <a:lvl2pPr marL="68566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2pPr>
      <a:lvl3pPr marL="1142772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3pPr>
      <a:lvl4pPr marL="1599880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4pPr>
      <a:lvl5pPr marL="2056989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5pPr>
      <a:lvl6pPr marL="2514097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96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6" r:id="rId16"/>
    <p:sldLayoutId id="2147483697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4068" r:id="rId29"/>
    <p:sldLayoutId id="2147484069" r:id="rId30"/>
    <p:sldLayoutId id="2147484070" r:id="rId31"/>
    <p:sldLayoutId id="2147484071" r:id="rId3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336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1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827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668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166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904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66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  <p:sldLayoutId id="2147483928" r:id="rId12"/>
    <p:sldLayoutId id="2147483929" r:id="rId13"/>
    <p:sldLayoutId id="2147483930" r:id="rId14"/>
    <p:sldLayoutId id="2147483931" r:id="rId15"/>
    <p:sldLayoutId id="2147483975" r:id="rId16"/>
    <p:sldLayoutId id="2147483976" r:id="rId17"/>
    <p:sldLayoutId id="2147483977" r:id="rId18"/>
    <p:sldLayoutId id="2147483978" r:id="rId19"/>
    <p:sldLayoutId id="2147483998" r:id="rId20"/>
    <p:sldLayoutId id="2147484045" r:id="rId21"/>
    <p:sldLayoutId id="2147484062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hyperlink" Target="https://hai.stanford.edu/ai-index/2025-ai-index-report" TargetMode="External"/><Relationship Id="rId5" Type="http://schemas.openxmlformats.org/officeDocument/2006/relationships/hyperlink" Target="https://services.google.com/fh/files/misc/dora-roi-of-ai-assisted-software-development-2026.pdf" TargetMode="Externa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hyperlink" Target="https://www.mckinsey.com/capabilities/quantumblack/our-insights/the-state-of-ai" TargetMode="External"/><Relationship Id="rId3" Type="http://schemas.openxmlformats.org/officeDocument/2006/relationships/hyperlink" Target="https://www.ctee.com.tw/news/20261016700947-430301" TargetMode="External"/><Relationship Id="rId4" Type="http://schemas.openxmlformats.org/officeDocument/2006/relationships/hyperlink" Target="https://udn.com/news/story/7239/9817114" TargetMode="External"/><Relationship Id="rId5" Type="http://schemas.openxmlformats.org/officeDocument/2006/relationships/hyperlink" Target="https://www.veracode.com/press-release/ai-generated-code-poses-major-security-risks-in-nearly-half-of-all-development-tasks-veracode-research-reveals/" TargetMode="Externa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hyperlink" Target="https://careers.blackrock.com/job/singapore/forward-deployed-business-analyst-associate-vice-president-bto/45831/102156865664" TargetMode="Externa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hyperlink" Target="https://stackoverflow.co/company/press/archive/stack-overflow-2025-developer-survey/" TargetMode="External"/><Relationship Id="rId3" Type="http://schemas.openxmlformats.org/officeDocument/2006/relationships/hyperlink" Target="https://finance.yahoo.com/news/jpmorgan-engineers-efficiency-jumps-much-190410471.html" TargetMode="External"/><Relationship Id="rId4" Type="http://schemas.openxmlformats.org/officeDocument/2006/relationships/hyperlink" Target="https://www.deloitte.com/global/en/insights/industry/financial-services/financial-services-industry-predictions/2025/ai-and-bank-software-development.html" TargetMode="External"/><Relationship Id="rId5" Type="http://schemas.openxmlformats.org/officeDocument/2006/relationships/hyperlink" Target="https://www.pwc.com/us/en/industries/financial-services/library/reinventing-insurance.html" TargetMode="External"/><Relationship Id="rId6" Type="http://schemas.openxmlformats.org/officeDocument/2006/relationships/hyperlink" Target="https://cloud.google.com/blog/products/ai-machine-learning/announcing-the-2025-dora-report" TargetMode="External"/><Relationship Id="rId7" Type="http://schemas.openxmlformats.org/officeDocument/2006/relationships/hyperlink" Target="https://softwareengineeringproductivity.stanford.edu" TargetMode="External"/><Relationship Id="rId8" Type="http://schemas.openxmlformats.org/officeDocument/2006/relationships/hyperlink" Target="https://www.pwc.com/gx/en/ceo-survey/2026/pwc-ceo-survey-2026.pdf" TargetMode="External"/><Relationship Id="rId9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hyperlink" Target="https://economics.mit.edu/sites/default/files/publications/the%20skill%20content%202003.pdf" TargetMode="External"/><Relationship Id="rId3" Type="http://schemas.openxmlformats.org/officeDocument/2006/relationships/hyperlink" Target="https://www.hbs.edu/faculty/Pages/item.aspx?num=64700" TargetMode="Externa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0.png"/><Relationship Id="rId5" Type="http://schemas.microsoft.com/office/2007/relationships/media" Target="../media/media2.mp4"/><Relationship Id="rId6" Type="http://schemas.openxmlformats.org/officeDocument/2006/relationships/video" Target="../media/media2.mp4"/><Relationship Id="rId7" Type="http://schemas.openxmlformats.org/officeDocument/2006/relationships/image" Target="../media/image11.png"/><Relationship Id="rId8" Type="http://schemas.microsoft.com/office/2007/relationships/media" Target="../media/media3.mp4"/><Relationship Id="rId9" Type="http://schemas.openxmlformats.org/officeDocument/2006/relationships/video" Target="../media/media3.mp4"/><Relationship Id="rId10" Type="http://schemas.openxmlformats.org/officeDocument/2006/relationships/image" Target="../media/image12.png"/><Relationship Id="rId11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hyperlink" Target="https://hai.stanford.edu/ai-index/2025-ai-index-report" TargetMode="External"/><Relationship Id="rId3" Type="http://schemas.openxmlformats.org/officeDocument/2006/relationships/hyperlink" Target="https://www.leeandli.com/TW/Newsletters/7525.htm" TargetMode="Externa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hyperlink" Target="https://www.deloitte.com/global/en/what-we-do/capabilities/agentic-ai-blueprint-for-insurance.html" TargetMode="External"/><Relationship Id="rId3" Type="http://schemas.openxmlformats.org/officeDocument/2006/relationships/hyperlink" Target="https://sas.com/nl_nl/news/press-releases/2022/may/deloitte-partners-with-sas-to-power-ifrs-17-accelerator-solution.html" TargetMode="External"/><Relationship Id="rId4" Type="http://schemas.openxmlformats.org/officeDocument/2006/relationships/hyperlink" Target="https://sas.com/en_ca/news/press-releases/2022/september/pvi-insurance-deploys-kpmg-ifrs-17-express.html" TargetMode="External"/><Relationship Id="rId5" Type="http://schemas.openxmlformats.org/officeDocument/2006/relationships/hyperlink" Target="https://www.capgemini.com/wp-content/uploads/2026/10/GW-datasheet_Final-version.pdf" TargetMode="External"/><Relationship Id="rId6" Type="http://schemas.openxmlformats.org/officeDocument/2006/relationships/hyperlink" Target="https://www.wtwco.com/en-gh/news/2025/10/wtw-launch-of-radar-5-with-gen-ai-capability-marks-a-major-milestone-in-insurance-pricing" TargetMode="External"/><Relationship Id="rId7" Type="http://schemas.openxmlformats.org/officeDocument/2006/relationships/hyperlink" Target="https://www.mckinsey.com/industries/financial-services/our-insights/can-agentic-ai-finally-modernize-core-technologies-in-insurance" TargetMode="External"/><Relationship Id="rId8" Type="http://schemas.openxmlformats.org/officeDocument/2006/relationships/hyperlink" Target="https://www.bcg.com/assets/2026/executive-perspectives-ai-first-companies-win-the-future-property-casualty-insurance.pdf" TargetMode="External"/><Relationship Id="rId9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hyperlink" Target="https://stackoverflow.co/company/press/archive/stack-overflow-2025-developer-survey/" TargetMode="External"/><Relationship Id="rId3" Type="http://schemas.openxmlformats.org/officeDocument/2006/relationships/hyperlink" Target="https://cloud.google.com/blog/products/devops-sre/announcing-the-2024-dora-report" TargetMode="External"/><Relationship Id="rId4" Type="http://schemas.openxmlformats.org/officeDocument/2006/relationships/hyperlink" Target="https://cloud.google.com/blog/products/ai-machine-learning/announcing-the-2025-dora-report" TargetMode="External"/><Relationship Id="rId5" Type="http://schemas.openxmlformats.org/officeDocument/2006/relationships/hyperlink" Target="https://services.google.com/fh/files/misc/dora-roi-of-ai-assisted-software-development-2026.pdf" TargetMode="External"/><Relationship Id="rId6" Type="http://schemas.openxmlformats.org/officeDocument/2006/relationships/hyperlink" Target="https://www.mckinsey.com/capabilities/quantumblack/our-insights/the-state-of-ai" TargetMode="External"/><Relationship Id="rId7" Type="http://schemas.openxmlformats.org/officeDocument/2006/relationships/hyperlink" Target="https://finance.yahoo.com/news/jpmorgan-engineers-efficiency-jumps-much-190410471.html" TargetMode="External"/><Relationship Id="rId8" Type="http://schemas.openxmlformats.org/officeDocument/2006/relationships/hyperlink" Target="https://www.deloitte.com/global/en/insights/industry/financial-services/financial-services-industry-predictions/2025/ai-and-bank-software-development.html" TargetMode="External"/><Relationship Id="rId9" Type="http://schemas.openxmlformats.org/officeDocument/2006/relationships/hyperlink" Target="https://www.pwc.com/us/en/industries/financial-services/library/reinventing-insurance.html" TargetMode="External"/><Relationship Id="rId10" Type="http://schemas.openxmlformats.org/officeDocument/2006/relationships/hyperlink" Target="https://www.ctee.com.tw/news/20261016700947-430301" TargetMode="External"/><Relationship Id="rId11" Type="http://schemas.openxmlformats.org/officeDocument/2006/relationships/hyperlink" Target="https://www.veracode.com/press-release/ai-generated-code-poses-major-security-risks-in-nearly-half-of-all-development-tasks-veracode-research-reveals/" TargetMode="External"/><Relationship Id="rId12" Type="http://schemas.openxmlformats.org/officeDocument/2006/relationships/hyperlink" Target="https://www.pwc.com/gx/en/ceo-survey/2026/pwc-ceo-survey-2026.pdf" TargetMode="External"/><Relationship Id="rId13" Type="http://schemas.openxmlformats.org/officeDocument/2006/relationships/hyperlink" Target="https://hai.stanford.edu/ai-index/2025-ai-index-report" TargetMode="External"/><Relationship Id="rId14" Type="http://schemas.openxmlformats.org/officeDocument/2006/relationships/hyperlink" Target="https://www.mckinsey.com/capabilities/tech-and-ai/our-insights/the-top-trends-in-tech" TargetMode="External"/><Relationship Id="rId15" Type="http://schemas.openxmlformats.org/officeDocument/2006/relationships/hyperlink" Target="https://www.hbs.edu/faculty/Pages/item.aspx?num=64700" TargetMode="External"/><Relationship Id="rId16" Type="http://schemas.openxmlformats.org/officeDocument/2006/relationships/hyperlink" Target="https://www.leeandli.com/TW/Newsletters/7525.htm" TargetMode="External"/><Relationship Id="rId17" Type="http://schemas.openxmlformats.org/officeDocument/2006/relationships/hyperlink" Target="https://law.lia-roc.org.tw/Law/GetFile/0000394231" TargetMode="External"/><Relationship Id="rId18" Type="http://schemas.openxmlformats.org/officeDocument/2006/relationships/hyperlink" Target="https://www.fsc.gov.tw/websitedowndoc?file=chfsc/202408231741530.pdf" TargetMode="External"/><Relationship Id="rId19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>
                <a:latin typeface="Georgia"/>
                <a:ea typeface="微軟正黑體"/>
              </a:rPr>
              <a:t>把 AI 原生開發框架做成產品：</a:t>
            </a:r>
          </a:p>
          <a:p>
            <a:r>
              <a:rPr sz="2800">
                <a:latin typeface="Georgia"/>
                <a:ea typeface="微軟正黑體"/>
              </a:rPr>
              <a:t>做得快，也管得住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200">
                <a:latin typeface="Georgia"/>
                <a:ea typeface="微軟正黑體"/>
              </a:rPr>
              <a:t>從框架到實務：可重複的流程、內建治理、關鍵決定由人做</a:t>
            </a:r>
          </a:p>
          <a:p>
            <a:r>
              <a:rPr sz="1200">
                <a:latin typeface="Georgia"/>
                <a:ea typeface="微軟正黑體"/>
              </a:rPr>
              <a:t>PwC FSC1｜給保險業的提案｜2026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為什麼要做成產品：開發變便宜，治理才是能賣的能力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內部審閱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AI 讓「寫程式」越來越便宜；客戶真正缺的，是一套每次都能照做、而且管得住的方法。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E2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DE2A18"/>
                </a:solidFill>
                <a:latin typeface="Georgia"/>
                <a:ea typeface="微軟正黑體"/>
              </a:rPr>
              <a:t>內部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3703320" cy="38155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Georgia"/>
                <a:ea typeface="微軟正黑體"/>
              </a:rPr>
              <a:t>AI 越來越便宜</a:t>
            </a:r>
          </a:p>
        </p:txBody>
      </p:sp>
      <p:graphicFrame>
        <p:nvGraphicFramePr>
          <p:cNvPr id="307" name="Chart 306"/>
          <p:cNvGraphicFramePr>
            <a:graphicFrameLocks noGrp="1"/>
          </p:cNvGraphicFramePr>
          <p:nvPr/>
        </p:nvGraphicFramePr>
        <p:xfrm>
          <a:off x="411480" y="2115589"/>
          <a:ext cx="3703320" cy="1992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8" name="Rectangle 307"/>
          <p:cNvSpPr/>
          <p:nvPr/>
        </p:nvSpPr>
        <p:spPr>
          <a:xfrm>
            <a:off x="411480" y="4150544"/>
            <a:ext cx="3703320" cy="72071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同樣能力的 AI，使用成本兩年降到約 1/280：以前花 100 元，現在不到 0.4 元。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233672" y="1691640"/>
            <a:ext cx="3703320" cy="38155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Georgia"/>
                <a:ea typeface="微軟正黑體"/>
              </a:rPr>
              <a:t>導入 AI 的真實曲線（示意）</a:t>
            </a:r>
          </a:p>
        </p:txBody>
      </p:sp>
      <p:graphicFrame>
        <p:nvGraphicFramePr>
          <p:cNvPr id="310" name="Chart 309"/>
          <p:cNvGraphicFramePr>
            <a:graphicFrameLocks noGrp="1"/>
          </p:cNvGraphicFramePr>
          <p:nvPr/>
        </p:nvGraphicFramePr>
        <p:xfrm>
          <a:off x="4233672" y="2115589"/>
          <a:ext cx="3703320" cy="1992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11" name="Rectangle 310"/>
          <p:cNvSpPr/>
          <p:nvPr/>
        </p:nvSpPr>
        <p:spPr>
          <a:xfrm>
            <a:off x="5120640" y="3726595"/>
            <a:ext cx="2011680" cy="2967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595959"/>
                </a:solidFill>
                <a:latin typeface="微軟正黑體"/>
                <a:ea typeface="微軟正黑體"/>
              </a:rPr>
              <a:t>↑ 先變慢：學習、審查變多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6400800" y="2141026"/>
            <a:ext cx="1463040" cy="33915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再往上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4233672" y="4150544"/>
            <a:ext cx="3703320" cy="72071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一開始會先變慢；下滑的那一段，就是審查、流程、治理沒做好的成本。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8055864" y="1691640"/>
            <a:ext cx="3703320" cy="381554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Georgia"/>
                <a:ea typeface="微軟正黑體"/>
              </a:rPr>
              <a:t>所以我們要賣的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8055864" y="2115589"/>
            <a:ext cx="3703320" cy="2755669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000000"/>
                </a:solidFill>
                <a:latin typeface="Georgia"/>
                <a:ea typeface="微軟正黑體"/>
              </a:rPr>
              <a:t>不是寫程式的人力，而是一套每次都能照做、管得住的方法。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6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Georgia"/>
                <a:ea typeface="微軟正黑體"/>
              </a:rPr>
              <a:t>・審查、關卡、紀錄做成每個案子都能直接用的範本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Georgia"/>
                <a:ea typeface="微軟正黑體"/>
              </a:rPr>
              <a:t>・每做一個試點，就多一份能重複用的資產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000000"/>
                </a:solidFill>
                <a:latin typeface="Georgia"/>
                <a:ea typeface="微軟正黑體"/>
              </a:rPr>
              <a:t>・做越多，下一個越快、越便宜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11480" y="5040837"/>
            <a:ext cx="91440" cy="76310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7" name="Rectangle 316"/>
          <p:cNvSpPr/>
          <p:nvPr/>
        </p:nvSpPr>
        <p:spPr>
          <a:xfrm>
            <a:off x="502920" y="5040837"/>
            <a:ext cx="11292840" cy="76310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Georgia"/>
                <a:ea typeface="微軟正黑體"/>
              </a:rPr>
              <a:t>做法：</a:t>
            </a: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先賣「診斷＋一個試點」：4–6 週診斷、6–8 週做一個業務場景，達標才擴大。每個試點至少留下一個能重複用的範本或規則；累積夠了、有實績，再推出客戶自己就能用的工具包。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11480" y="5931130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來源：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4"/>
              </a:rPr>
              <a:t>Stanford AI Index 2025（經 DORA 2026 引用）</a:t>
            </a: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；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5"/>
              </a:rPr>
              <a:t>DORA，The ROI of AI-assisted Software Development，2026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" y="466344"/>
            <a:ext cx="7315200" cy="758952"/>
          </a:xfrm>
        </p:spPr>
        <p:txBody>
          <a:bodyPr/>
          <a:lstStyle/>
          <a:p>
            <a:r>
              <a:rPr b="1">
                <a:latin typeface="Georgia"/>
                <a:ea typeface="微軟正黑體"/>
              </a:rPr>
              <a:t>Agenda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議程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38912" y="1243584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為什麼現在要做、怎麼落地、帶來什麼價值，以及怎麼做成可沿用的做法。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825973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D5108"/>
                </a:solidFill>
                <a:latin typeface="Georgia"/>
                <a:ea typeface="微軟正黑體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0100" y="2310605"/>
            <a:ext cx="0" cy="339159"/>
          </a:xfrm>
          <a:prstGeom prst="line">
            <a:avLst/>
          </a:prstGeom>
          <a:ln w="12700">
            <a:solidFill>
              <a:srgbClr val="FD51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325880" y="1734034"/>
            <a:ext cx="31089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Georgia"/>
                <a:ea typeface="微軟正黑體"/>
              </a:rPr>
              <a:t>面向誰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734034"/>
            <a:ext cx="58521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Georgia"/>
                <a:ea typeface="微軟正黑體"/>
              </a:rPr>
              <a:t>保險公司為什麼現在要做、優先服務誰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32720" y="1734034"/>
            <a:ext cx="146304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2200" b="1">
                <a:solidFill>
                  <a:srgbClr val="000000"/>
                </a:solidFill>
                <a:latin typeface="Georgia"/>
                <a:ea typeface="微軟正黑體"/>
              </a:rPr>
              <a:t>4–6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631476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D5108"/>
                </a:solidFill>
                <a:latin typeface="Georgia"/>
                <a:ea typeface="微軟正黑體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0100" y="3116108"/>
            <a:ext cx="0" cy="339160"/>
          </a:xfrm>
          <a:prstGeom prst="line">
            <a:avLst/>
          </a:prstGeom>
          <a:ln w="12700">
            <a:solidFill>
              <a:srgbClr val="FD51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325880" y="2539538"/>
            <a:ext cx="31089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Georgia"/>
                <a:ea typeface="微軟正黑體"/>
              </a:rPr>
              <a:t>解決什麼問題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39538"/>
            <a:ext cx="58521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Georgia"/>
                <a:ea typeface="微軟正黑體"/>
              </a:rPr>
              <a:t>全球趨勢與只買工具為什麼不夠、我們的解法、AI 分工、現場示範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20" y="2539538"/>
            <a:ext cx="146304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2200" b="1">
                <a:solidFill>
                  <a:srgbClr val="000000"/>
                </a:solidFill>
                <a:latin typeface="Georgia"/>
                <a:ea typeface="微軟正黑體"/>
              </a:rPr>
              <a:t>7–12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43698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D5108"/>
                </a:solidFill>
                <a:latin typeface="Georgia"/>
                <a:ea typeface="微軟正黑體"/>
              </a:rPr>
              <a:t>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0100" y="3921612"/>
            <a:ext cx="0" cy="339159"/>
          </a:xfrm>
          <a:prstGeom prst="line">
            <a:avLst/>
          </a:prstGeom>
          <a:ln w="12700">
            <a:solidFill>
              <a:srgbClr val="FD51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325880" y="3345041"/>
            <a:ext cx="31089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Georgia"/>
                <a:ea typeface="微軟正黑體"/>
              </a:rPr>
              <a:t>帶來什麼價值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3345041"/>
            <a:ext cx="58521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Georgia"/>
                <a:ea typeface="微軟正黑體"/>
              </a:rPr>
              <a:t>價值與治理、買到什麼、為什麼選我們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32720" y="3345041"/>
            <a:ext cx="146304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2200" b="1">
                <a:solidFill>
                  <a:srgbClr val="000000"/>
                </a:solidFill>
                <a:latin typeface="Georgia"/>
                <a:ea typeface="微軟正黑體"/>
              </a:rPr>
              <a:t>13–15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242483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D5108"/>
                </a:solidFill>
                <a:latin typeface="Georgia"/>
                <a:ea typeface="微軟正黑體"/>
              </a:rPr>
              <a:t>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00100" y="4727115"/>
            <a:ext cx="0" cy="339159"/>
          </a:xfrm>
          <a:prstGeom prst="line">
            <a:avLst/>
          </a:prstGeom>
          <a:ln w="12700">
            <a:solidFill>
              <a:srgbClr val="FD51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325880" y="4150544"/>
            <a:ext cx="31089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Georgia"/>
                <a:ea typeface="微軟正黑體"/>
              </a:rPr>
              <a:t>下一步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4150544"/>
            <a:ext cx="58521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Georgia"/>
                <a:ea typeface="微軟正黑體"/>
              </a:rPr>
              <a:t>逐步擴大、如何開始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32720" y="4150544"/>
            <a:ext cx="146304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2200" b="1">
                <a:solidFill>
                  <a:srgbClr val="000000"/>
                </a:solidFill>
                <a:latin typeface="Georgia"/>
                <a:ea typeface="微軟正黑體"/>
              </a:rPr>
              <a:t>16–19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" y="5047986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D5108"/>
                </a:solidFill>
                <a:latin typeface="Georgia"/>
                <a:ea typeface="微軟正黑體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25880" y="4956048"/>
            <a:ext cx="31089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Georgia"/>
                <a:ea typeface="微軟正黑體"/>
              </a:rPr>
              <a:t>附錄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4956048"/>
            <a:ext cx="585216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Georgia"/>
                <a:ea typeface="微軟正黑體"/>
              </a:rPr>
              <a:t>示範情境、延伸方式、同業參考、法規清單、示範追溯、試點風險、研究整合、資料來源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32720" y="4956048"/>
            <a:ext cx="146304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r">
              <a:spcAft>
                <a:spcPts val="200"/>
              </a:spcAft>
            </a:pPr>
            <a:r>
              <a:rPr sz="2200" b="1">
                <a:solidFill>
                  <a:srgbClr val="000000"/>
                </a:solidFill>
                <a:latin typeface="Georgia"/>
                <a:ea typeface="微軟正黑體"/>
              </a:rPr>
              <a:t>20–28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931130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右側數字為頁碼。頁面右上方標示「建議」「示意」「假設」「待確認」者為建議或示意內容；未標示者為有來源的事實或既有設計。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Georgia"/>
                <a:ea typeface="微軟正黑體"/>
              </a:rPr>
              <a:t>面向誰</a:t>
            </a:r>
          </a:p>
          <a:p>
            <a:r>
              <a:rPr sz="3000">
                <a:latin typeface="Georgia"/>
                <a:ea typeface="微軟正黑體"/>
              </a:rPr>
              <a:t>Who we serve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Georgia"/>
                <a:ea typeface="微軟正黑體"/>
              </a:rPr>
              <a:t>01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面向誰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保險公司現在就要把 AI 治理設計進開發流程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面向誰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保險業過半已在用 AI，生成式 AI 快速擴散；但 AI 寫程式時近半選了不安全的寫法，而責任在保險公司。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2756915" cy="42394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全球企業已在用 AI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88%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2963487"/>
            <a:ext cx="2756915" cy="135663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Georgia"/>
                <a:ea typeface="微軟正黑體"/>
              </a:rPr>
              <a:t>至少一個部門經常使用 AI；一年前是 78%。多數仍停在試點階段。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11480" y="4320124"/>
            <a:ext cx="2756915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來源：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2"/>
              </a:rPr>
              <a:t>McKinsey 全球調查 2025（1,993 人）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3287268" y="1691640"/>
            <a:ext cx="2756915" cy="42394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保險業已在用 AI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3287268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53%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3287268" y="2963487"/>
            <a:ext cx="2756915" cy="135663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Georgia"/>
                <a:ea typeface="微軟正黑體"/>
              </a:rPr>
              <a:t>2024 年是 43%；壽險公司更高達 65%。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3287268" y="4320124"/>
            <a:ext cx="2756915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來源：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3"/>
              </a:rPr>
              <a:t>金管會 2026-10 調查（工商時報）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6163055" y="1691640"/>
            <a:ext cx="2756915" cy="42394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生成式 AI 擴散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6163055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76%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6163055" y="2963487"/>
            <a:ext cx="2756915" cy="135663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Georgia"/>
                <a:ea typeface="微軟正黑體"/>
              </a:rPr>
              <a:t>有用 AI 的金融業者中，已導入生成式 AI 的比例；一年前是 48%。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6163055" y="4320124"/>
            <a:ext cx="2756915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來源：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4"/>
              </a:rPr>
              <a:t>金管會 2026-10 調查（聯合報）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9038843" y="1691640"/>
            <a:ext cx="2756915" cy="42394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AI 寫程式的資安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9038843" y="2157984"/>
            <a:ext cx="2756915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D5108"/>
                </a:solidFill>
                <a:latin typeface="Georgia"/>
                <a:ea typeface="微軟正黑體"/>
              </a:rPr>
              <a:t>45%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9038843" y="2963487"/>
            <a:ext cx="2756915" cy="135663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50" b="0">
                <a:solidFill>
                  <a:srgbClr val="000000"/>
                </a:solidFill>
                <a:latin typeface="Georgia"/>
                <a:ea typeface="微軟正黑體"/>
              </a:rPr>
              <a:t>的寫程式任務，AI 選了不安全的寫法。測了 100 多個模型、80 個任務。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9038843" y="4320124"/>
            <a:ext cx="2756915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來源：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5"/>
              </a:rPr>
              <a:t>Veracode，2025-07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11480" y="5168022"/>
            <a:ext cx="91440" cy="63592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2" name="Rectangle 321"/>
          <p:cNvSpPr/>
          <p:nvPr/>
        </p:nvSpPr>
        <p:spPr>
          <a:xfrm>
            <a:off x="502920" y="5168022"/>
            <a:ext cx="11292840" cy="63592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Georgia"/>
                <a:ea typeface="微軟正黑體"/>
              </a:rPr>
              <a:t>責任在誰：</a:t>
            </a: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委外新辦法（2025 年底施行）和 AI 自律規範都寫明，AI 產出的最終責任在保險公司。紀錄要設計進流程，不能事後補。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優先客群：有自建開發團隊的壽險與產險公司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面向誰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假設：IT 主管決策與付費，法遵、風控與資安握有否決權；決策鏈需在診斷訪談中確認。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4206240" cy="148382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FD5108"/>
                </a:solidFill>
                <a:latin typeface="Georgia"/>
                <a:ea typeface="微軟正黑體"/>
              </a:rPr>
              <a:t>IT／數位主管</a:t>
            </a:r>
            <a:r>
              <a:rPr sz="1100" b="0">
                <a:solidFill>
                  <a:srgbClr val="595959"/>
                </a:solidFill>
                <a:latin typeface="Georgia"/>
                <a:ea typeface="微軟正黑體"/>
              </a:rPr>
              <a:t>　決策與付費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000000"/>
                </a:solidFill>
                <a:latin typeface="Georgia"/>
                <a:ea typeface="微軟正黑體"/>
              </a:rPr>
              <a:t>在意：</a:t>
            </a: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交付跟不上，AI 用了卻沒變快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000000"/>
                </a:solidFill>
                <a:latin typeface="Georgia"/>
                <a:ea typeface="微軟正黑體"/>
              </a:rPr>
              <a:t>我們給：</a:t>
            </a: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一個看得到數字的試點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7589520" y="1691640"/>
            <a:ext cx="4206240" cy="148382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FD5108"/>
                </a:solidFill>
                <a:latin typeface="Georgia"/>
                <a:ea typeface="微軟正黑體"/>
              </a:rPr>
              <a:t>業務單位主管</a:t>
            </a:r>
            <a:r>
              <a:rPr sz="1100" b="0">
                <a:solidFill>
                  <a:srgbClr val="595959"/>
                </a:solidFill>
                <a:latin typeface="Georgia"/>
                <a:ea typeface="微軟正黑體"/>
              </a:rPr>
              <a:t>　提需求、共同贊助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000000"/>
                </a:solidFill>
                <a:latin typeface="Georgia"/>
                <a:ea typeface="微軟正黑體"/>
              </a:rPr>
              <a:t>在意：</a:t>
            </a: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需求來回很多輪，上線時間說不準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000000"/>
                </a:solidFill>
                <a:latin typeface="Georgia"/>
                <a:ea typeface="微軟正黑體"/>
              </a:rPr>
              <a:t>我們給：</a:t>
            </a: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BA 用 AI 當場做出原型，一起確認需求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3641805"/>
            <a:ext cx="4206240" cy="148382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FD5108"/>
                </a:solidFill>
                <a:latin typeface="Georgia"/>
                <a:ea typeface="微軟正黑體"/>
              </a:rPr>
              <a:t>法遵、風控、資安</a:t>
            </a:r>
            <a:r>
              <a:rPr sz="1100" b="0">
                <a:solidFill>
                  <a:srgbClr val="595959"/>
                </a:solidFill>
                <a:latin typeface="Georgia"/>
                <a:ea typeface="微軟正黑體"/>
              </a:rPr>
              <a:t>　握有否決權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000000"/>
                </a:solidFill>
                <a:latin typeface="Georgia"/>
                <a:ea typeface="微軟正黑體"/>
              </a:rPr>
              <a:t>在意：</a:t>
            </a: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委外、個資、AI 出事誰負責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000000"/>
                </a:solidFill>
                <a:latin typeface="Georgia"/>
                <a:ea typeface="微軟正黑體"/>
              </a:rPr>
              <a:t>我們給：</a:t>
            </a: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法規清單、人工關卡、完整紀錄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7589520" y="3641805"/>
            <a:ext cx="4206240" cy="148382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1">
                <a:solidFill>
                  <a:srgbClr val="FD5108"/>
                </a:solidFill>
                <a:latin typeface="Georgia"/>
                <a:ea typeface="微軟正黑體"/>
              </a:rPr>
              <a:t>管理層</a:t>
            </a:r>
            <a:r>
              <a:rPr sz="1100" b="0">
                <a:solidFill>
                  <a:srgbClr val="595959"/>
                </a:solidFill>
                <a:latin typeface="Georgia"/>
                <a:ea typeface="微軟正黑體"/>
              </a:rPr>
              <a:t>　核准預算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000000"/>
                </a:solidFill>
                <a:latin typeface="Georgia"/>
                <a:ea typeface="微軟正黑體"/>
              </a:rPr>
              <a:t>在意：</a:t>
            </a: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AI 花了錢要看到回報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>
                <a:solidFill>
                  <a:srgbClr val="000000"/>
                </a:solidFill>
                <a:latin typeface="Georgia"/>
                <a:ea typeface="微軟正黑體"/>
              </a:rPr>
              <a:t>我們給：</a:t>
            </a: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小範圍起步，成功標準先講好</a:t>
            </a:r>
          </a:p>
        </p:txBody>
      </p:sp>
      <p:sp>
        <p:nvSpPr>
          <p:cNvPr id="309" name="Oval 308"/>
          <p:cNvSpPr/>
          <p:nvPr/>
        </p:nvSpPr>
        <p:spPr>
          <a:xfrm>
            <a:off x="5230368" y="1713253"/>
            <a:ext cx="1737360" cy="173736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0" name="Rectangle 309"/>
          <p:cNvSpPr/>
          <p:nvPr/>
        </p:nvSpPr>
        <p:spPr>
          <a:xfrm>
            <a:off x="5230368" y="2200378"/>
            <a:ext cx="1737360" cy="7631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Georgia"/>
                <a:ea typeface="微軟正黑體"/>
              </a:rPr>
              <a:t>保險公司的</a:t>
            </a:r>
          </a:p>
          <a:p>
            <a:pPr algn="ctr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Georgia"/>
                <a:ea typeface="微軟正黑體"/>
              </a:rPr>
              <a:t>AI 開發試點</a:t>
            </a:r>
          </a:p>
        </p:txBody>
      </p:sp>
      <p:cxnSp>
        <p:nvCxnSpPr>
          <p:cNvPr id="311" name="Connector 310"/>
          <p:cNvCxnSpPr/>
          <p:nvPr/>
        </p:nvCxnSpPr>
        <p:spPr>
          <a:xfrm>
            <a:off x="4617720" y="2412353"/>
            <a:ext cx="640080" cy="127185"/>
          </a:xfrm>
          <a:prstGeom prst="line">
            <a:avLst/>
          </a:prstGeom>
          <a:ln w="2540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H="1">
            <a:off x="6949440" y="2412353"/>
            <a:ext cx="640080" cy="127185"/>
          </a:xfrm>
          <a:prstGeom prst="line">
            <a:avLst/>
          </a:prstGeom>
          <a:ln w="2540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4617720" y="3217856"/>
            <a:ext cx="822960" cy="508739"/>
          </a:xfrm>
          <a:prstGeom prst="line">
            <a:avLst/>
          </a:prstGeom>
          <a:ln w="2540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H="1" flipV="1">
            <a:off x="6766560" y="3217856"/>
            <a:ext cx="822960" cy="508739"/>
          </a:xfrm>
          <a:prstGeom prst="line">
            <a:avLst/>
          </a:prstGeom>
          <a:ln w="2540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5" name="Rectangle 314"/>
          <p:cNvSpPr/>
          <p:nvPr/>
        </p:nvSpPr>
        <p:spPr>
          <a:xfrm>
            <a:off x="4709160" y="3811385"/>
            <a:ext cx="2788920" cy="1441426"/>
          </a:xfrm>
          <a:prstGeom prst="rect">
            <a:avLst/>
          </a:prstGeom>
          <a:solidFill>
            <a:srgbClr val="FFE8D4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市場訊號：前線部署的 BA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BlackRock 2026 年 10 月在新加坡、香港招募</a:t>
            </a:r>
            <a:r>
              <a:rPr sz="1050" b="0" u="sng">
                <a:solidFill>
                  <a:srgbClr val="000000"/>
                </a:solidFill>
                <a:latin typeface="Georgia"/>
                <a:ea typeface="微軟正黑體"/>
                <a:hlinkClick r:id="rId2"/>
              </a:rPr>
              <a:t>「Forward Deployed Business Analyst」</a:t>
            </a: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。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FSC1 BA 未來展望：駐點客戶現場，用 AI 當場做出原型。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11480" y="5337602"/>
            <a:ext cx="11384280" cy="50873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優先客群：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有自己或駐點的開發團隊；已有版本控制與 CI；近期有新制或核心系統周邊的開發需求。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Georgia"/>
                <a:ea typeface="微軟正黑體"/>
              </a:rPr>
              <a:t>解決什麼問題</a:t>
            </a:r>
          </a:p>
          <a:p>
            <a:r>
              <a:rPr sz="3000">
                <a:latin typeface="Georgia"/>
                <a:ea typeface="微軟正黑體"/>
              </a:rPr>
              <a:t>Problems we solve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Georgia"/>
                <a:ea typeface="微軟正黑體"/>
              </a:rPr>
              <a:t>02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解決什麼問題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AI 已普及，但交付沒有跟著變好：AI 放大原有的流程與治理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解決什麼問題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AI 已經普及，但多數企業還沒看到財務效益；差別在流程與治理，不在工具。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2777489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開發者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84%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正在使用或計畫使用 AI 工具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2878697"/>
            <a:ext cx="2777489" cy="23741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Georgia"/>
                <a:ea typeface="微軟正黑體"/>
              </a:rPr>
              <a:t>來源：</a:t>
            </a:r>
            <a:r>
              <a:rPr sz="900" b="0" u="sng">
                <a:solidFill>
                  <a:srgbClr val="595959"/>
                </a:solidFill>
                <a:latin typeface="Georgia"/>
                <a:ea typeface="微軟正黑體"/>
                <a:hlinkClick r:id="rId2"/>
              </a:rPr>
              <a:t>Stack Overflow 2025 開發者調查，4.9 萬人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3280410" y="1691640"/>
            <a:ext cx="2777489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JPMorgan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328041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10–20%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工程師生產力提升（公司自述）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3280410" y="2878697"/>
            <a:ext cx="2777489" cy="23741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Georgia"/>
                <a:ea typeface="微軟正黑體"/>
              </a:rPr>
              <a:t>來源：</a:t>
            </a:r>
            <a:r>
              <a:rPr sz="900" b="0" u="sng">
                <a:solidFill>
                  <a:srgbClr val="595959"/>
                </a:solidFill>
                <a:latin typeface="Georgia"/>
                <a:ea typeface="微軟正黑體"/>
                <a:hlinkClick r:id="rId3"/>
              </a:rPr>
              <a:t>Yahoo Finance，2025-03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6149340" y="1691640"/>
            <a:ext cx="2777489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Citi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6149340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3 萬名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開發者導入 AI 寫程式助手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6149340" y="2878697"/>
            <a:ext cx="2777489" cy="23741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Georgia"/>
                <a:ea typeface="微軟正黑體"/>
              </a:rPr>
              <a:t>來源：</a:t>
            </a:r>
            <a:r>
              <a:rPr sz="900" b="0" u="sng">
                <a:solidFill>
                  <a:srgbClr val="595959"/>
                </a:solidFill>
                <a:latin typeface="Georgia"/>
                <a:ea typeface="微軟正黑體"/>
                <a:hlinkClick r:id="rId4"/>
              </a:rPr>
              <a:t>Deloitte Insights，2025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9018269" y="1691640"/>
            <a:ext cx="2777489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保險業高階主管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9018269" y="2073194"/>
            <a:ext cx="2777489" cy="80550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D5108"/>
                </a:solidFill>
                <a:latin typeface="Georgia"/>
                <a:ea typeface="微軟正黑體"/>
              </a:rPr>
              <a:t>57%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把生成式與代理式 AI 列為 2026 年首要科技投資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9018269" y="2878697"/>
            <a:ext cx="2777489" cy="237411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Georgia"/>
                <a:ea typeface="微軟正黑體"/>
              </a:rPr>
              <a:t>來源：</a:t>
            </a:r>
            <a:r>
              <a:rPr sz="900" b="0" u="sng">
                <a:solidFill>
                  <a:srgbClr val="595959"/>
                </a:solidFill>
                <a:latin typeface="Georgia"/>
                <a:ea typeface="微軟正黑體"/>
                <a:hlinkClick r:id="rId5"/>
              </a:rPr>
              <a:t>PwC〈Reinventing insurance〉，2025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1480" y="3217856"/>
            <a:ext cx="3703320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Georgia"/>
                <a:ea typeface="微軟正黑體"/>
              </a:rPr>
              <a:t>交付：快了，但更不穩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11480" y="3616368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微軟正黑體"/>
                <a:ea typeface="微軟正黑體"/>
              </a:rPr>
              <a:t>↑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交付速度變快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411480" y="4252292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微軟正黑體"/>
                <a:ea typeface="微軟正黑體"/>
              </a:rPr>
              <a:t>↓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交付穩定度下降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4233672" y="3217856"/>
            <a:ext cx="3703320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Georgia"/>
                <a:ea typeface="微軟正黑體"/>
              </a:rPr>
              <a:t>舊系統的效益比較小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233672" y="3616368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D5108"/>
                </a:solidFill>
                <a:latin typeface="Georgia"/>
                <a:ea typeface="微軟正黑體"/>
              </a:rPr>
              <a:t>35–40%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新寫的簡單功能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4233672" y="4252292"/>
            <a:ext cx="3703320" cy="63592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≤ 10%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複雜的既有系統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8055863" y="3217856"/>
            <a:ext cx="3703320" cy="356117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Georgia"/>
                <a:ea typeface="微軟正黑體"/>
              </a:rPr>
              <a:t>CEO 怎麼說（PwC 調查）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8055863" y="3616368"/>
            <a:ext cx="3703320" cy="127184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D5108"/>
                </a:solidFill>
                <a:latin typeface="Georgia"/>
                <a:ea typeface="微軟正黑體"/>
              </a:rPr>
              <a:t>56%　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還沒看到 AI 帶來明顯的財務效益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411480" y="5057795"/>
            <a:ext cx="91440" cy="59352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6" name="Rectangle 325"/>
          <p:cNvSpPr/>
          <p:nvPr/>
        </p:nvSpPr>
        <p:spPr>
          <a:xfrm>
            <a:off x="502920" y="5057795"/>
            <a:ext cx="11292840" cy="59352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所以：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效益取決於流程與治理，不取決於買了哪個工具。導入 AI 時，需求、審查、上線與控制方式要一起改，這正是我們協助的部分。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411480" y="5888736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下排來源：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6"/>
              </a:rPr>
              <a:t>交付速度與穩定度：Google DORA 2025</a:t>
            </a: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；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7"/>
              </a:rPr>
              <a:t>既有系統效益：Stanford 軟體工程生產力研究（經 DORA 2026 引用）</a:t>
            </a: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；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8"/>
              </a:rPr>
              <a:t>CEO：PwC 第 29 屆全球 CEO 調查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我們的解法：把開發流程串成循環，用三個機制守住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解決什麼問題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AI 參與每一步；接受需求、核准合併、授權上線等五個關鍵決定，由客戶指定的人做。</a:t>
            </a:r>
          </a:p>
        </p:txBody>
      </p:sp>
      <p:cxnSp>
        <p:nvCxnSpPr>
          <p:cNvPr id="305" name="Connector 304"/>
          <p:cNvCxnSpPr/>
          <p:nvPr/>
        </p:nvCxnSpPr>
        <p:spPr>
          <a:xfrm>
            <a:off x="2514600" y="2115589"/>
            <a:ext cx="1187840" cy="635923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3702440" y="2751512"/>
            <a:ext cx="0" cy="1271848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H="1">
            <a:off x="2514600" y="4023360"/>
            <a:ext cx="1187840" cy="635923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H="1" flipV="1">
            <a:off x="1326759" y="4023360"/>
            <a:ext cx="1187841" cy="635923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1326759" y="2751512"/>
            <a:ext cx="0" cy="1271848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1326759" y="2115589"/>
            <a:ext cx="1187841" cy="635923"/>
          </a:xfrm>
          <a:prstGeom prst="line">
            <a:avLst/>
          </a:prstGeom>
          <a:ln w="31750">
            <a:solidFill>
              <a:srgbClr val="FE7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Oval 310"/>
          <p:cNvSpPr/>
          <p:nvPr/>
        </p:nvSpPr>
        <p:spPr>
          <a:xfrm>
            <a:off x="1828800" y="2701636"/>
            <a:ext cx="1371600" cy="137160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2" name="Rectangle 311"/>
          <p:cNvSpPr/>
          <p:nvPr/>
        </p:nvSpPr>
        <p:spPr>
          <a:xfrm>
            <a:off x="1828800" y="3048277"/>
            <a:ext cx="1371600" cy="67831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AI 協作</a:t>
            </a:r>
          </a:p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Georgia"/>
                <a:ea typeface="微軟正黑體"/>
              </a:rPr>
              <a:t>參與每一步</a:t>
            </a:r>
          </a:p>
        </p:txBody>
      </p:sp>
      <p:sp>
        <p:nvSpPr>
          <p:cNvPr id="313" name="Oval 312"/>
          <p:cNvSpPr/>
          <p:nvPr/>
        </p:nvSpPr>
        <p:spPr>
          <a:xfrm>
            <a:off x="2080260" y="1681249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4" name="Rectangle 313"/>
          <p:cNvSpPr/>
          <p:nvPr/>
        </p:nvSpPr>
        <p:spPr>
          <a:xfrm>
            <a:off x="2080260" y="1903614"/>
            <a:ext cx="868680" cy="4239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Georgia"/>
                <a:ea typeface="微軟正黑體"/>
              </a:rPr>
              <a:t>需求分析</a:t>
            </a:r>
          </a:p>
        </p:txBody>
      </p:sp>
      <p:sp>
        <p:nvSpPr>
          <p:cNvPr id="315" name="Oval 314"/>
          <p:cNvSpPr/>
          <p:nvPr/>
        </p:nvSpPr>
        <p:spPr>
          <a:xfrm>
            <a:off x="3268100" y="2317172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6" name="Rectangle 315"/>
          <p:cNvSpPr/>
          <p:nvPr/>
        </p:nvSpPr>
        <p:spPr>
          <a:xfrm>
            <a:off x="3268100" y="2539538"/>
            <a:ext cx="868680" cy="4239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Georgia"/>
                <a:ea typeface="微軟正黑體"/>
              </a:rPr>
              <a:t>SA&amp;D</a:t>
            </a:r>
          </a:p>
        </p:txBody>
      </p:sp>
      <p:sp>
        <p:nvSpPr>
          <p:cNvPr id="317" name="Oval 316"/>
          <p:cNvSpPr/>
          <p:nvPr/>
        </p:nvSpPr>
        <p:spPr>
          <a:xfrm>
            <a:off x="3268100" y="3589020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8" name="Rectangle 317"/>
          <p:cNvSpPr/>
          <p:nvPr/>
        </p:nvSpPr>
        <p:spPr>
          <a:xfrm>
            <a:off x="3268100" y="3811385"/>
            <a:ext cx="868680" cy="4239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Georgia"/>
                <a:ea typeface="微軟正黑體"/>
              </a:rPr>
              <a:t>開發</a:t>
            </a:r>
          </a:p>
        </p:txBody>
      </p:sp>
      <p:sp>
        <p:nvSpPr>
          <p:cNvPr id="319" name="Oval 318"/>
          <p:cNvSpPr/>
          <p:nvPr/>
        </p:nvSpPr>
        <p:spPr>
          <a:xfrm>
            <a:off x="2080260" y="4224943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0" name="Rectangle 319"/>
          <p:cNvSpPr/>
          <p:nvPr/>
        </p:nvSpPr>
        <p:spPr>
          <a:xfrm>
            <a:off x="2080260" y="4447309"/>
            <a:ext cx="868680" cy="4239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Georgia"/>
                <a:ea typeface="微軟正黑體"/>
              </a:rPr>
              <a:t>測試</a:t>
            </a:r>
          </a:p>
        </p:txBody>
      </p:sp>
      <p:sp>
        <p:nvSpPr>
          <p:cNvPr id="321" name="Oval 320"/>
          <p:cNvSpPr/>
          <p:nvPr/>
        </p:nvSpPr>
        <p:spPr>
          <a:xfrm>
            <a:off x="892419" y="3589020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2" name="Rectangle 321"/>
          <p:cNvSpPr/>
          <p:nvPr/>
        </p:nvSpPr>
        <p:spPr>
          <a:xfrm>
            <a:off x="892419" y="3811385"/>
            <a:ext cx="868680" cy="4239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000000"/>
                </a:solidFill>
                <a:latin typeface="Georgia"/>
                <a:ea typeface="微軟正黑體"/>
              </a:rPr>
              <a:t>上版／交付</a:t>
            </a:r>
          </a:p>
        </p:txBody>
      </p:sp>
      <p:sp>
        <p:nvSpPr>
          <p:cNvPr id="323" name="Oval 322"/>
          <p:cNvSpPr/>
          <p:nvPr/>
        </p:nvSpPr>
        <p:spPr>
          <a:xfrm>
            <a:off x="892419" y="2317172"/>
            <a:ext cx="868680" cy="868680"/>
          </a:xfrm>
          <a:prstGeom prst="ellipse">
            <a:avLst/>
          </a:prstGeom>
          <a:solidFill>
            <a:srgbClr val="FFE8D4"/>
          </a:solidFill>
          <a:ln w="1905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4" name="Rectangle 323"/>
          <p:cNvSpPr/>
          <p:nvPr/>
        </p:nvSpPr>
        <p:spPr>
          <a:xfrm>
            <a:off x="892419" y="2539538"/>
            <a:ext cx="868680" cy="4239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Georgia"/>
                <a:ea typeface="微軟正黑體"/>
              </a:rPr>
              <a:t>維運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4754880" y="1691640"/>
            <a:ext cx="15636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Georgia"/>
                <a:ea typeface="微軟正黑體"/>
              </a:rPr>
              <a:t>機制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6355080" y="1691640"/>
            <a:ext cx="352958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Georgia"/>
                <a:ea typeface="微軟正黑體"/>
              </a:rPr>
              <a:t>怎麼運作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9921240" y="1691640"/>
            <a:ext cx="1837943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Georgia"/>
                <a:ea typeface="微軟正黑體"/>
              </a:rPr>
              <a:t>解決的問題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4754880" y="2064715"/>
            <a:ext cx="1563624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交接靠檔案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6355080" y="2064715"/>
            <a:ext cx="3529584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微軟正黑體"/>
                <a:ea typeface="微軟正黑體"/>
              </a:rPr>
              <a:t>需求說明 → 規格 → 實作計畫 → 測試結果 → 核准紀錄，下一步直接接手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9921240" y="2064715"/>
            <a:ext cx="1837943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需求反覆、交接失真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4754880" y="3014361"/>
            <a:ext cx="1563624" cy="915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規則自動執行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6355080" y="3014361"/>
            <a:ext cx="3529584" cy="915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資安、個資、委外規範寫成 AI 自動套用的規則；必守的事由自動關卡擋下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9921240" y="3014361"/>
            <a:ext cx="1837943" cy="915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合規與品質靠個人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4754880" y="3964007"/>
            <a:ext cx="1563624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關卡有人簽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6355080" y="3964007"/>
            <a:ext cx="3529584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接受需求、確認規格、核准計畫、核准合併、授權上線，五個決定由指定的人做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9921240" y="3964007"/>
            <a:ext cx="1837943" cy="91573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怕失控、稽核查不到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411480" y="5295207"/>
            <a:ext cx="91440" cy="63592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38" name="Rectangle 337"/>
          <p:cNvSpPr/>
          <p:nvPr/>
        </p:nvSpPr>
        <p:spPr>
          <a:xfrm>
            <a:off x="502920" y="5295207"/>
            <a:ext cx="11292840" cy="63592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原則：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AI 可以一路做到正式環境、把上線準備好，但不能自己按下上線。本方法不綁特定 AI 工具，依客戶政策與合約選定。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411480" y="5931130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流程整合自 FSC1〈AI 協作開發流程與產出範本〉v3。國際研究也建議用不可略過的檢查點、提交前自動檢查、小批次與版本控制，承接 AI 帶來的審查負擔（附錄 H）。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AI 分工：重複、判斷少的先交給 AI；關鍵決定永遠由人做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解決什麼問題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依任務「多常發生 × 需要判斷」分四類；第一個試點場景，優先挑左上角工作多的需求。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51560" y="1734034"/>
            <a:ext cx="3291840" cy="1822981"/>
          </a:xfrm>
          <a:prstGeom prst="rect">
            <a:avLst/>
          </a:prstGeom>
          <a:solidFill>
            <a:srgbClr val="FFE8D4"/>
          </a:solidFill>
          <a:ln w="38100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06" name="Rectangle 305"/>
          <p:cNvSpPr/>
          <p:nvPr/>
        </p:nvSpPr>
        <p:spPr>
          <a:xfrm>
            <a:off x="1161288" y="1801866"/>
            <a:ext cx="3072384" cy="5256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常發生 × 判斷少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AI 先做，人確認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1161288" y="2378437"/>
            <a:ext cx="3072384" cy="11107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欄位清單、Test Case、Test Data、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Unit Test、註解與文件、Release Note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398264" y="1734034"/>
            <a:ext cx="3291840" cy="1822981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09" name="Rectangle 308"/>
          <p:cNvSpPr/>
          <p:nvPr/>
        </p:nvSpPr>
        <p:spPr>
          <a:xfrm>
            <a:off x="4507992" y="1801866"/>
            <a:ext cx="3072384" cy="5256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常發生 × 判斷多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AI 起草，人逐項審查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507992" y="2378437"/>
            <a:ext cx="3072384" cy="11107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程式碼、API 規格、ERD、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Code Review 風險檢查、測試失敗原因分析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1051560" y="3607889"/>
            <a:ext cx="3291840" cy="1822981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2" name="Rectangle 311"/>
          <p:cNvSpPr/>
          <p:nvPr/>
        </p:nvSpPr>
        <p:spPr>
          <a:xfrm>
            <a:off x="1161288" y="3675721"/>
            <a:ext cx="3072384" cy="5256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少發生 × 判斷少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做成範本，重複使用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1161288" y="4252292"/>
            <a:ext cx="3072384" cy="11107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Deploy Guide、User Guide、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Migration Script、部署腳本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398264" y="3607889"/>
            <a:ext cx="3291840" cy="1822981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5" name="Rectangle 314"/>
          <p:cNvSpPr/>
          <p:nvPr/>
        </p:nvSpPr>
        <p:spPr>
          <a:xfrm>
            <a:off x="4507992" y="3675721"/>
            <a:ext cx="3072384" cy="5256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少發生 × 判斷多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人決定，AI 只提供資料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507992" y="4252292"/>
            <a:ext cx="3072384" cy="11107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接受需求、架構選型、核准合併、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授權上線、事件處置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3108960" y="1818824"/>
            <a:ext cx="1143000" cy="288285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★ 從這裡開始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11480" y="1734034"/>
            <a:ext cx="594360" cy="182298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常發生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411480" y="3607889"/>
            <a:ext cx="594360" cy="182298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少發生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1051560" y="5464786"/>
            <a:ext cx="6638544" cy="2543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595959"/>
                </a:solidFill>
                <a:latin typeface="微軟正黑體"/>
                <a:ea typeface="微軟正黑體"/>
              </a:rPr>
              <a:t>需要判斷：少 ─────────────→ 多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8001000" y="1734034"/>
            <a:ext cx="3794760" cy="42394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第一階段：從左上角開始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8001000" y="2157984"/>
            <a:ext cx="3794760" cy="3688357"/>
          </a:xfrm>
          <a:prstGeom prst="rect">
            <a:avLst/>
          </a:prstGeom>
          <a:solidFill>
            <a:srgbClr val="FFE8D4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FD5108"/>
                </a:solidFill>
                <a:latin typeface="微軟正黑體"/>
                <a:ea typeface="微軟正黑體"/>
              </a:rPr>
              <a:t>① 先挑左上角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第一個試點，挑這類工作多的需求：AI 先做、人確認，最快看到效果。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6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FD5108"/>
                </a:solidFill>
                <a:latin typeface="微軟正黑體"/>
                <a:ea typeface="微軟正黑體"/>
              </a:rPr>
              <a:t>② 右下角永遠由人決定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接受需求、核准合併、授權上線，就是五個人工關卡（第 9 頁）。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6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FD5108"/>
                </a:solidFill>
                <a:latin typeface="微軟正黑體"/>
                <a:ea typeface="微軟正黑體"/>
              </a:rPr>
              <a:t>③ 依實際專案調整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Georgia"/>
                <a:ea typeface="微軟正黑體"/>
              </a:rPr>
              <a:t>分類在診斷時，依客戶的專案與規範確認（第 15 頁）。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411480" y="5973525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方法來源：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2"/>
              </a:rPr>
              <a:t>Autor, Levy &amp; Murnane，Quarterly Journal of Economics，2003</a:t>
            </a: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；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3"/>
              </a:rPr>
              <a:t>Dell’Acqua 等，Harvard Business School Working Paper 24-013，2023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示範：再保險系統開發模組，從業務需求到上線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解決什麼問題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以 FSC1 IT 團隊的開發再保系統為例：規則、規格、任務與測試一路相連，每一步都留下文件。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Georgia"/>
                <a:ea typeface="微軟正黑體"/>
              </a:rPr>
              <a:t>待確認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2203704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1　需求說明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2073194"/>
            <a:ext cx="2203704" cy="29252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pic>
        <p:nvPicPr>
          <p:cNvPr id="308" name="Picture 307" descr="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25" y="2098631"/>
            <a:ext cx="1977213" cy="2874374"/>
          </a:xfrm>
          <a:prstGeom prst="rect">
            <a:avLst/>
          </a:prstGeom>
        </p:spPr>
      </p:pic>
      <p:sp>
        <p:nvSpPr>
          <p:cNvPr id="309" name="Rectangle 308"/>
          <p:cNvSpPr/>
          <p:nvPr/>
        </p:nvSpPr>
        <p:spPr>
          <a:xfrm>
            <a:off x="411480" y="5040837"/>
            <a:ext cx="220370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7 條業務規則，含制裁主管覆核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2706624" y="1691640"/>
            <a:ext cx="2203704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2　規格與規範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2706624" y="2073194"/>
            <a:ext cx="2203704" cy="29252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pic>
        <p:nvPicPr>
          <p:cNvPr id="312" name="Picture 311" descr="ste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869" y="2098631"/>
            <a:ext cx="1977213" cy="2874374"/>
          </a:xfrm>
          <a:prstGeom prst="rect">
            <a:avLst/>
          </a:prstGeom>
        </p:spPr>
      </p:pic>
      <p:sp>
        <p:nvSpPr>
          <p:cNvPr id="313" name="Rectangle 312"/>
          <p:cNvSpPr/>
          <p:nvPr/>
        </p:nvSpPr>
        <p:spPr>
          <a:xfrm>
            <a:off x="2706624" y="5040837"/>
            <a:ext cx="220370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6 份規格，各有審閱週期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5001768" y="1691640"/>
            <a:ext cx="2203704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3　實作計畫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5001768" y="2073194"/>
            <a:ext cx="2203704" cy="29252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pic>
        <p:nvPicPr>
          <p:cNvPr id="316" name="Picture 315" descr="step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5013" y="2098631"/>
            <a:ext cx="1977213" cy="2874374"/>
          </a:xfrm>
          <a:prstGeom prst="rect">
            <a:avLst/>
          </a:prstGeom>
        </p:spPr>
      </p:pic>
      <p:sp>
        <p:nvSpPr>
          <p:cNvPr id="317" name="Rectangle 316"/>
          <p:cNvSpPr/>
          <p:nvPr/>
        </p:nvSpPr>
        <p:spPr>
          <a:xfrm>
            <a:off x="5001768" y="5040837"/>
            <a:ext cx="220370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列清楚驗收場景，最多改 5 個檔案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7296912" y="1691640"/>
            <a:ext cx="2203704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4　程式與測試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7296912" y="2073194"/>
            <a:ext cx="2203704" cy="29252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pic>
        <p:nvPicPr>
          <p:cNvPr id="320" name="Picture 319" descr="step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0157" y="2098631"/>
            <a:ext cx="1977213" cy="2874374"/>
          </a:xfrm>
          <a:prstGeom prst="rect">
            <a:avLst/>
          </a:prstGeom>
        </p:spPr>
      </p:pic>
      <p:sp>
        <p:nvSpPr>
          <p:cNvPr id="321" name="Rectangle 320"/>
          <p:cNvSpPr/>
          <p:nvPr/>
        </p:nvSpPr>
        <p:spPr>
          <a:xfrm>
            <a:off x="7296912" y="5040837"/>
            <a:ext cx="220370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10 個測試案例；閘門要求覆蓋率 &gt; 90%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9592056" y="1691640"/>
            <a:ext cx="2203704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Georgia"/>
                <a:ea typeface="微軟正黑體"/>
              </a:rPr>
              <a:t>5　追溯與紀錄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9592056" y="2073194"/>
            <a:ext cx="2203704" cy="29252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pic>
        <p:nvPicPr>
          <p:cNvPr id="324" name="Picture 323" descr="step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5301" y="2098631"/>
            <a:ext cx="1977213" cy="2874374"/>
          </a:xfrm>
          <a:prstGeom prst="rect">
            <a:avLst/>
          </a:prstGeom>
        </p:spPr>
      </p:pic>
      <p:sp>
        <p:nvSpPr>
          <p:cNvPr id="325" name="Rectangle 324"/>
          <p:cNvSpPr/>
          <p:nvPr/>
        </p:nvSpPr>
        <p:spPr>
          <a:xfrm>
            <a:off x="9592056" y="5040837"/>
            <a:ext cx="220370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任務回溯規則代碼，寫入 audit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11480" y="5803946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TASK-000013「金融機構主檔」任務包原文節錄；測試錄影見下一頁，追溯表見附錄 E。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示範：測試從人工逐項點，變成系統自動跑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解決什麼問題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以前測試靠人照清單一格一格點、一格一格記；現在同樣的檢查由系統自動跑完，過程錄影留存。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Georgia"/>
                <a:ea typeface="微軟正黑體"/>
              </a:rPr>
              <a:t>待確認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3931920" cy="381554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以前：人工照清單逐項測（示意）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2115589"/>
            <a:ext cx="292607" cy="33068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#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731520" y="2115589"/>
            <a:ext cx="2304288" cy="33068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測試步驟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3063239" y="2115589"/>
            <a:ext cx="521207" cy="33068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結果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3611879" y="2115589"/>
            <a:ext cx="704088" cy="33068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測試人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411480" y="2471706"/>
            <a:ext cx="292607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1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731520" y="2471706"/>
            <a:ext cx="2304288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開啟國家選單，輸入代碼查詢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3063239" y="2471706"/>
            <a:ext cx="521207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☐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3611879" y="2471706"/>
            <a:ext cx="704088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＿＿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411480" y="2827823"/>
            <a:ext cx="292607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2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731520" y="2827823"/>
            <a:ext cx="2304288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新增一筆，故意漏填必填欄位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3063239" y="2827823"/>
            <a:ext cx="521207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☐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3611879" y="2827823"/>
            <a:ext cx="704088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＿＿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411480" y="3183940"/>
            <a:ext cx="292607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3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731520" y="3183940"/>
            <a:ext cx="2304288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確認出現欄位錯誤提示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3063239" y="3183940"/>
            <a:ext cx="521207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☐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3611879" y="3183940"/>
            <a:ext cx="704088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＿＿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411480" y="3540058"/>
            <a:ext cx="292607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4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731520" y="3540058"/>
            <a:ext cx="2304288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新增區域，確認提醒訊息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3063239" y="3540058"/>
            <a:ext cx="521207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☐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3611879" y="3540058"/>
            <a:ext cx="704088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＿＿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411480" y="3896175"/>
            <a:ext cx="292607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5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731520" y="3896175"/>
            <a:ext cx="2304288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查詢結算幣別，核對結果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3063239" y="3896175"/>
            <a:ext cx="521207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☐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3611879" y="3896175"/>
            <a:ext cx="704088" cy="33068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＿＿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411480" y="4252292"/>
            <a:ext cx="292607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6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731520" y="4252292"/>
            <a:ext cx="2304288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截圖貼進測試報告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3063239" y="4252292"/>
            <a:ext cx="521207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☐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3611879" y="4252292"/>
            <a:ext cx="704088" cy="3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＿＿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411480" y="4659283"/>
            <a:ext cx="3931920" cy="61048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每次改版都要重來一次：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人工點、人工記、人工截圖；改得越多，測得越少。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4526280" y="1691640"/>
            <a:ext cx="7269480" cy="38155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現在：系統自動跑畫面測試（點擊播放）</a:t>
            </a:r>
          </a:p>
        </p:txBody>
      </p:sp>
      <p:pic>
        <p:nvPicPr>
          <p:cNvPr id="337" name="video_countrie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26280" y="2115589"/>
            <a:ext cx="4572000" cy="2571750"/>
          </a:xfrm>
          <a:prstGeom prst="rect">
            <a:avLst/>
          </a:prstGeom>
        </p:spPr>
      </p:pic>
      <p:sp>
        <p:nvSpPr>
          <p:cNvPr id="338" name="Rectangle 337"/>
          <p:cNvSpPr/>
          <p:nvPr/>
        </p:nvSpPr>
        <p:spPr>
          <a:xfrm>
            <a:off x="4526280" y="4712776"/>
            <a:ext cx="4572000" cy="2543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Georgia"/>
                <a:ea typeface="微軟正黑體"/>
              </a:rPr>
              <a:t>▶ 國家選單：查詢、新增、欄位檢核</a:t>
            </a:r>
          </a:p>
        </p:txBody>
      </p:sp>
      <p:pic>
        <p:nvPicPr>
          <p:cNvPr id="339" name="video_regions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235440" y="2115589"/>
            <a:ext cx="2286000" cy="1285875"/>
          </a:xfrm>
          <a:prstGeom prst="rect">
            <a:avLst/>
          </a:prstGeom>
        </p:spPr>
      </p:pic>
      <p:sp>
        <p:nvSpPr>
          <p:cNvPr id="340" name="Rectangle 339"/>
          <p:cNvSpPr/>
          <p:nvPr/>
        </p:nvSpPr>
        <p:spPr>
          <a:xfrm>
            <a:off x="9235440" y="3426901"/>
            <a:ext cx="2286000" cy="2543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595959"/>
                </a:solidFill>
                <a:latin typeface="Georgia"/>
                <a:ea typeface="微軟正黑體"/>
              </a:rPr>
              <a:t>▶ 區域選單：新增與提醒</a:t>
            </a:r>
          </a:p>
        </p:txBody>
      </p:sp>
      <p:pic>
        <p:nvPicPr>
          <p:cNvPr id="341" name="video_currencies.mp4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9235440" y="3701158"/>
            <a:ext cx="2286000" cy="1285875"/>
          </a:xfrm>
          <a:prstGeom prst="rect">
            <a:avLst/>
          </a:prstGeom>
        </p:spPr>
      </p:pic>
      <p:sp>
        <p:nvSpPr>
          <p:cNvPr id="342" name="Rectangle 341"/>
          <p:cNvSpPr/>
          <p:nvPr/>
        </p:nvSpPr>
        <p:spPr>
          <a:xfrm>
            <a:off x="9235440" y="5012470"/>
            <a:ext cx="2286000" cy="2543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595959"/>
                </a:solidFill>
                <a:latin typeface="Georgia"/>
                <a:ea typeface="微軟正黑體"/>
              </a:rPr>
              <a:t>▶ 結算幣別選單：查詢結果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411480" y="5337602"/>
            <a:ext cx="91440" cy="525696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44" name="Rectangle 343"/>
          <p:cNvSpPr/>
          <p:nvPr/>
        </p:nvSpPr>
        <p:spPr>
          <a:xfrm>
            <a:off x="502920" y="5337602"/>
            <a:ext cx="11292840" cy="525696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差別：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同樣的檢查，系統每次改版都自動重跑一遍，結果與錄影自動留存；人只看沒通過的項目。</a:t>
            </a:r>
          </a:p>
        </p:txBody>
      </p:sp>
      <p:sp>
        <p:nvSpPr>
          <p:cNvPr id="345" name="Rectangle 344"/>
          <p:cNvSpPr/>
          <p:nvPr/>
        </p:nvSpPr>
        <p:spPr>
          <a:xfrm>
            <a:off x="411480" y="5905693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左側為人工測試清單的示意，待 IT 提供實際的人工測試紀錄；右側為同一系統自動執行畫面測試的錄影（測試資料）。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37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339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341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Georgia"/>
                <a:ea typeface="微軟正黑體"/>
              </a:rPr>
              <a:t>帶來什麼價值</a:t>
            </a:r>
          </a:p>
          <a:p>
            <a:r>
              <a:rPr sz="3000">
                <a:latin typeface="Georgia"/>
                <a:ea typeface="微軟正黑體"/>
              </a:rPr>
              <a:t>Value we deliver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Georgia"/>
                <a:ea typeface="微軟正黑體"/>
              </a:rPr>
              <a:t>03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帶來什麼價值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價值與治理：做得快的地方量得到，管得住的地方查得到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帶來什麼價值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左邊四項讓交付變快、各用一個指標驗收；右邊五題是監理機關會問的，各有做法、也留得下紀錄。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建議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5577840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做得快：痛點 → 做法 → 驗收指標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2090152"/>
            <a:ext cx="1472184" cy="30524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Georgia"/>
                <a:ea typeface="微軟正黑體"/>
              </a:rPr>
              <a:t>痛點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1920240" y="2090152"/>
            <a:ext cx="2523744" cy="30524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Georgia"/>
                <a:ea typeface="微軟正黑體"/>
              </a:rPr>
              <a:t>做法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480560" y="2090152"/>
            <a:ext cx="1472184" cy="30524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Georgia"/>
                <a:ea typeface="微軟正黑體"/>
              </a:rPr>
              <a:t>指標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11480" y="2429311"/>
            <a:ext cx="1472184" cy="64440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需求來回很多輪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1920240" y="2429311"/>
            <a:ext cx="2523744" cy="64440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AI 快速做出原型，業務當場確認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4480560" y="2429311"/>
            <a:ext cx="1472184" cy="64440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需求定稿時間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411480" y="3107629"/>
            <a:ext cx="1472184" cy="6444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審查排隊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1920240" y="3107629"/>
            <a:ext cx="2523744" cy="6444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AI 先審，人只判斷風險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4480560" y="3107629"/>
            <a:ext cx="1472184" cy="6444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審查等待、返工次數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11480" y="3785948"/>
            <a:ext cx="1472184" cy="64440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上線出錯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1920240" y="3785948"/>
            <a:ext cx="2523744" cy="64440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每次改動都自動測試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480560" y="3785948"/>
            <a:ext cx="1472184" cy="64440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變更失敗率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411480" y="4464267"/>
            <a:ext cx="1472184" cy="6444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交付難預期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1920240" y="4464267"/>
            <a:ext cx="2523744" cy="6444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每階段交出檔案，進度看得到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480560" y="4464267"/>
            <a:ext cx="1472184" cy="6444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交付時間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6172200" y="1691640"/>
            <a:ext cx="5623560" cy="356117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管得住：監理機關會問 → 做法 → 留下的紀錄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6172200" y="2090152"/>
            <a:ext cx="1655064" cy="30524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監理機關會問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7863840" y="2090152"/>
            <a:ext cx="2615184" cy="30524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做法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10515600" y="2090152"/>
            <a:ext cx="1243584" cy="30524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留下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6172200" y="2429311"/>
            <a:ext cx="165506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AI 工具有納管嗎？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7863840" y="2429311"/>
            <a:ext cx="261518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診斷時判斷是否屬委外，登錄 AI 清冊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10515600" y="2429311"/>
            <a:ext cx="124358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AI 清冊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6172200" y="2971966"/>
            <a:ext cx="1655064" cy="5087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個資會進到 AI 嗎？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7863840" y="2971966"/>
            <a:ext cx="2615184" cy="5087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資料分級，機密檔 AI 讀不到；試點用假資料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10515600" y="2971966"/>
            <a:ext cx="1243584" cy="5087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設定與存取紀錄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6172200" y="3514621"/>
            <a:ext cx="165506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上線是誰核准的？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7863840" y="3514621"/>
            <a:ext cx="261518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指定的人核准；AI 不能核准自己寫的程式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10515600" y="3514621"/>
            <a:ext cx="124358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核准紀錄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6172200" y="4057275"/>
            <a:ext cx="1655064" cy="5087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出事能退回嗎？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7863840" y="4057275"/>
            <a:ext cx="2615184" cy="5087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退版先演練；AI 建議，人決定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10515600" y="4057275"/>
            <a:ext cx="1243584" cy="5087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演練紀錄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6172200" y="4599930"/>
            <a:ext cx="165506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事後查得到嗎？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7863840" y="4599930"/>
            <a:ext cx="261518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需求、規格、計畫、測試結果都存版本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10515600" y="4599930"/>
            <a:ext cx="1243584" cy="50873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完整文件軌跡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411480" y="5295207"/>
            <a:ext cx="91440" cy="525696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42" name="Rectangle 341"/>
          <p:cNvSpPr/>
          <p:nvPr/>
        </p:nvSpPr>
        <p:spPr>
          <a:xfrm>
            <a:off x="502920" y="5295207"/>
            <a:ext cx="11292840" cy="525696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一句話：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AI 的使用，從難以稽核的個人行為，變成有指標、有紀錄的流程。效益不先承諾數字，試點前先量基準、訂合格線。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411480" y="5931130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法規條文見附錄 D，實例見附錄 E；回收期參考：需要大量治理的大型企業導入，12–18 個月屬可接受（DORA 2026）。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買到什麼、為什麼選我們：先診斷，再做一個場景的試點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帶來什麼價值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956462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固定範圍、固定價格，成功標準在試點前講好、達標才擴大；同一組 BA 與 IT 從診斷做到試點。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05840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建議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A1A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A1A8B3"/>
                </a:solidFill>
                <a:latin typeface="Georgia"/>
                <a:ea typeface="微軟正黑體"/>
              </a:rPr>
              <a:t>示意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1691640"/>
            <a:ext cx="3794760" cy="42394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準備度診斷</a:t>
            </a:r>
            <a:r>
              <a:rPr sz="1100" b="0">
                <a:solidFill>
                  <a:srgbClr val="FFFFFF"/>
                </a:solidFill>
                <a:latin typeface="Georgia"/>
                <a:ea typeface="微軟正黑體"/>
              </a:rPr>
              <a:t>　約 4–6 週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11480" y="2157984"/>
            <a:ext cx="3794760" cy="72071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・盤點現況與卡點、法規檢查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・挑出第一個場景、訂成功標準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11480" y="2921092"/>
            <a:ext cx="3794760" cy="59352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交付：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瓶頸地圖、法規檢查結果、場景建議、導入藍圖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343400" y="1691640"/>
            <a:ext cx="3794760" cy="423949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一個場景的試點</a:t>
            </a:r>
            <a:r>
              <a:rPr sz="1100" b="0">
                <a:solidFill>
                  <a:srgbClr val="FFFFFF"/>
                </a:solidFill>
                <a:latin typeface="Georgia"/>
                <a:ea typeface="微軟正黑體"/>
              </a:rPr>
              <a:t>　約 6–8 週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4343400" y="2157984"/>
            <a:ext cx="3794760" cy="72071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・用一個真實需求走完循環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・建立範本、規則與關卡，同步教會各角色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4343400" y="2921092"/>
            <a:ext cx="3794760" cy="59352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交付：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完成的試點、範本與規則、教材、成效報告</a:t>
            </a:r>
          </a:p>
        </p:txBody>
      </p:sp>
      <p:sp>
        <p:nvSpPr>
          <p:cNvPr id="313" name="Right Arrow 312"/>
          <p:cNvSpPr/>
          <p:nvPr/>
        </p:nvSpPr>
        <p:spPr>
          <a:xfrm>
            <a:off x="4224528" y="1776429"/>
            <a:ext cx="100584" cy="254369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8275320" y="1691640"/>
            <a:ext cx="3520440" cy="423949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成功標準（試點前講好）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8275320" y="2157984"/>
            <a:ext cx="3520440" cy="135663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・需求定稿時間、第一次審查等待時間、返工次數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・核准紀錄完整（必要條件）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・合格線依診斷期基準約定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達標擴大；未達標檢討後再試或停止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11480" y="3684200"/>
            <a:ext cx="11384280" cy="356117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為什麼選我們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1480" y="4082712"/>
            <a:ext cx="2777489" cy="110226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Georgia"/>
                <a:ea typeface="微軟正黑體"/>
              </a:rPr>
              <a:t>已經在用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FSC1 自己的開發流程已經這樣運作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證據：再保系統示範（第 11 頁）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3280410" y="4082712"/>
            <a:ext cx="2777489" cy="110226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Georgia"/>
                <a:ea typeface="微軟正黑體"/>
              </a:rPr>
              <a:t>在地法規內建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委外、雲端、AI 自律規範對應到開發的每一步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證據：法規清單（附錄 D）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6149340" y="4082712"/>
            <a:ext cx="2777489" cy="110226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Georgia"/>
                <a:ea typeface="微軟正黑體"/>
              </a:rPr>
              <a:t>懂保險業務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BA 懂保險業務與法規；場景直接選理賠、核保、再保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證據：FSC1 開發的再保系統（第 11 頁）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9018269" y="4082712"/>
            <a:ext cx="2777489" cy="110226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Georgia"/>
                <a:ea typeface="微軟正黑體"/>
              </a:rPr>
              <a:t>可稽核的人工關卡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誰核准都查得到；寫程式的 AI 不能核准自己的程式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證據：關卡設計（第 9 頁）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11480" y="5312165"/>
            <a:ext cx="91440" cy="46634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2" name="Rectangle 321"/>
          <p:cNvSpPr/>
          <p:nvPr/>
        </p:nvSpPr>
        <p:spPr>
          <a:xfrm>
            <a:off x="502920" y="5312165"/>
            <a:ext cx="11292840" cy="46634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客戶需配合：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IT 與業務窗口、一個真實需求與團隊、測試環境、AI 工具的合約或內部核准。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411480" y="5905693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國際方案多以預建代理與藍圖為主（同業產品見附錄 C）。擴大階段、工具包授權與駐點支援可依需求討論；試點風險見附錄 F。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Georgia"/>
                <a:ea typeface="微軟正黑體"/>
              </a:rPr>
              <a:t>下一步</a:t>
            </a:r>
          </a:p>
          <a:p>
            <a:r>
              <a:rPr sz="3000">
                <a:latin typeface="Georgia"/>
                <a:ea typeface="微軟正黑體"/>
              </a:rPr>
              <a:t>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Georgia"/>
                <a:ea typeface="微軟正黑體"/>
              </a:rPr>
              <a:t>04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下一步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從一個場景開始，驗證價值後再逐步擴大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下一步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每一步只承諾下一步；每個檢查點都可以擴大、調整或停止，不必一開始就承諾全面轉型。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建議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2377440" cy="46634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1　一個場景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2200378"/>
            <a:ext cx="2377440" cy="114466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試點一個範圍小、可量測的需求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承諾：診斷＋一個試點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11480" y="3387436"/>
            <a:ext cx="2377440" cy="2374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可沿用的範本與規則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11480" y="3641805"/>
            <a:ext cx="2377440" cy="11022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0" name="Rectangle 309"/>
          <p:cNvSpPr/>
          <p:nvPr/>
        </p:nvSpPr>
        <p:spPr>
          <a:xfrm>
            <a:off x="411480" y="3641805"/>
            <a:ext cx="594360" cy="110226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1" name="Oval 310"/>
          <p:cNvSpPr/>
          <p:nvPr/>
        </p:nvSpPr>
        <p:spPr>
          <a:xfrm>
            <a:off x="2871216" y="2268543"/>
            <a:ext cx="457200" cy="45720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Georgia"/>
                <a:ea typeface="微軟正黑體"/>
              </a:rPr>
              <a:t>檢查</a:t>
            </a:r>
          </a:p>
        </p:txBody>
      </p:sp>
      <p:sp>
        <p:nvSpPr>
          <p:cNvPr id="312" name="Right Arrow 311"/>
          <p:cNvSpPr/>
          <p:nvPr/>
        </p:nvSpPr>
        <p:spPr>
          <a:xfrm>
            <a:off x="2843784" y="2963487"/>
            <a:ext cx="512064" cy="203495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3410712" y="1691640"/>
            <a:ext cx="2377440" cy="46634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2　驗證價值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3410712" y="2200378"/>
            <a:ext cx="2377440" cy="114466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對照試點前講好的成功標準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決定：擴大、調整或停止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3410712" y="3387436"/>
            <a:ext cx="2377440" cy="2374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可沿用的範本與規則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3410712" y="3641805"/>
            <a:ext cx="2377440" cy="11022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7" name="Rectangle 316"/>
          <p:cNvSpPr/>
          <p:nvPr/>
        </p:nvSpPr>
        <p:spPr>
          <a:xfrm>
            <a:off x="3410712" y="3641805"/>
            <a:ext cx="1188720" cy="110226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18" name="Oval 317"/>
          <p:cNvSpPr/>
          <p:nvPr/>
        </p:nvSpPr>
        <p:spPr>
          <a:xfrm>
            <a:off x="5870448" y="2268543"/>
            <a:ext cx="457200" cy="45720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Georgia"/>
                <a:ea typeface="微軟正黑體"/>
              </a:rPr>
              <a:t>檢查</a:t>
            </a:r>
          </a:p>
        </p:txBody>
      </p:sp>
      <p:sp>
        <p:nvSpPr>
          <p:cNvPr id="319" name="Right Arrow 318"/>
          <p:cNvSpPr/>
          <p:nvPr/>
        </p:nvSpPr>
        <p:spPr>
          <a:xfrm>
            <a:off x="5843016" y="2963487"/>
            <a:ext cx="512064" cy="203495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6409944" y="1691640"/>
            <a:ext cx="2377440" cy="466344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3　相鄰場景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6409944" y="2200378"/>
            <a:ext cx="2377440" cy="114466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沿用範本、規則與關卡，只補該系統的規範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承諾：下一個場景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6409944" y="3387436"/>
            <a:ext cx="2377440" cy="2374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可沿用的範本與規則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6409944" y="3641805"/>
            <a:ext cx="2377440" cy="11022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4" name="Rectangle 323"/>
          <p:cNvSpPr/>
          <p:nvPr/>
        </p:nvSpPr>
        <p:spPr>
          <a:xfrm>
            <a:off x="6409944" y="3641805"/>
            <a:ext cx="1783080" cy="110226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5" name="Oval 324"/>
          <p:cNvSpPr/>
          <p:nvPr/>
        </p:nvSpPr>
        <p:spPr>
          <a:xfrm>
            <a:off x="8869680" y="2268543"/>
            <a:ext cx="457200" cy="45720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Georgia"/>
                <a:ea typeface="微軟正黑體"/>
              </a:rPr>
              <a:t>檢查</a:t>
            </a:r>
          </a:p>
        </p:txBody>
      </p:sp>
      <p:sp>
        <p:nvSpPr>
          <p:cNvPr id="326" name="Right Arrow 325"/>
          <p:cNvSpPr/>
          <p:nvPr/>
        </p:nvSpPr>
        <p:spPr>
          <a:xfrm>
            <a:off x="8842248" y="2963487"/>
            <a:ext cx="512064" cy="203495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9409176" y="1691640"/>
            <a:ext cx="2377440" cy="466344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4　全公司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9409176" y="2200378"/>
            <a:ext cx="2377440" cy="114466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集中管理設定，統一關卡與紀錄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承諾：依前面成果決定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9409176" y="3387436"/>
            <a:ext cx="2377440" cy="2374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可沿用的範本與規則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9409176" y="3641805"/>
            <a:ext cx="2377440" cy="11022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31" name="Rectangle 330"/>
          <p:cNvSpPr/>
          <p:nvPr/>
        </p:nvSpPr>
        <p:spPr>
          <a:xfrm>
            <a:off x="9409176" y="3641805"/>
            <a:ext cx="2377440" cy="110226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32" name="Rectangle 331"/>
          <p:cNvSpPr/>
          <p:nvPr/>
        </p:nvSpPr>
        <p:spPr>
          <a:xfrm>
            <a:off x="411480" y="3980965"/>
            <a:ext cx="2514600" cy="847898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每個檢查點</a:t>
            </a:r>
          </a:p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Georgia"/>
                <a:ea typeface="微軟正黑體"/>
              </a:rPr>
              <a:t>都有三條路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3017520" y="3980965"/>
            <a:ext cx="777240" cy="84789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擴大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3794759" y="3980965"/>
            <a:ext cx="2075688" cy="84789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達到合格線：進下一步，沿用範本與規則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5961888" y="3980965"/>
            <a:ext cx="777240" cy="847898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調整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6739127" y="3980965"/>
            <a:ext cx="2075688" cy="84789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部分達標：縮小範圍或換場景再試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8906256" y="3980965"/>
            <a:ext cx="777240" cy="847898"/>
          </a:xfrm>
          <a:prstGeom prst="rect">
            <a:avLst/>
          </a:prstGeom>
          <a:solidFill>
            <a:srgbClr val="A1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Georgia"/>
                <a:ea typeface="微軟正黑體"/>
              </a:rPr>
              <a:t>停止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9683496" y="3980965"/>
            <a:ext cx="2075688" cy="84789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不值得做：損失只限於這一步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411480" y="5040837"/>
            <a:ext cx="91440" cy="525696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40" name="Rectangle 339"/>
          <p:cNvSpPr/>
          <p:nvPr/>
        </p:nvSpPr>
        <p:spPr>
          <a:xfrm>
            <a:off x="502920" y="5040837"/>
            <a:ext cx="11292840" cy="525696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先講好 J 曲線：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導入初期會先變慢一陣子，最常見的失敗是在低谷時喊停；成功標準和觀察期間要在試點前講好。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411480" y="5803946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各場景可沿用與需客製的內容、延伸到其他系統與產業的方式，見附錄 B。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如何開始：先看現場示範，再挑一個開發場景或業務痛點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下一步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三個步驟開始；請客戶先指定窗口，並給我們一份想做的需求清單。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A1A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A1A8B3"/>
                </a:solidFill>
                <a:latin typeface="Georgia"/>
                <a:ea typeface="微軟正黑體"/>
              </a:rPr>
              <a:t>示意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2743200" cy="59352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Georgia"/>
                <a:ea typeface="微軟正黑體"/>
              </a:rPr>
              <a:t>0　準備度診斷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Georgia"/>
                <a:ea typeface="微軟正黑體"/>
              </a:rPr>
              <a:t>約 4–6 週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2327563"/>
            <a:ext cx="2743200" cy="42394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進下一步：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選定場景與成功標準</a:t>
            </a:r>
          </a:p>
        </p:txBody>
      </p:sp>
      <p:sp>
        <p:nvSpPr>
          <p:cNvPr id="308" name="Right Arrow 307"/>
          <p:cNvSpPr/>
          <p:nvPr/>
        </p:nvSpPr>
        <p:spPr>
          <a:xfrm>
            <a:off x="3154680" y="1844261"/>
            <a:ext cx="128016" cy="254369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3282696" y="1691640"/>
            <a:ext cx="2743200" cy="59352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Georgia"/>
                <a:ea typeface="微軟正黑體"/>
              </a:rPr>
              <a:t>1　場景試點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Georgia"/>
                <a:ea typeface="微軟正黑體"/>
              </a:rPr>
              <a:t>約 6–8 週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3282696" y="2327563"/>
            <a:ext cx="2743200" cy="42394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進下一步：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指標達到合格線</a:t>
            </a:r>
          </a:p>
        </p:txBody>
      </p:sp>
      <p:sp>
        <p:nvSpPr>
          <p:cNvPr id="311" name="Right Arrow 310"/>
          <p:cNvSpPr/>
          <p:nvPr/>
        </p:nvSpPr>
        <p:spPr>
          <a:xfrm>
            <a:off x="6025896" y="1844261"/>
            <a:ext cx="128016" cy="254369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6153912" y="1691640"/>
            <a:ext cx="2743200" cy="593528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Georgia"/>
                <a:ea typeface="微軟正黑體"/>
              </a:rPr>
              <a:t>2　相鄰場景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Georgia"/>
                <a:ea typeface="微軟正黑體"/>
              </a:rPr>
              <a:t>依範圍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6153912" y="2327563"/>
            <a:ext cx="2743200" cy="42394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進下一步：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管理層核准擴大</a:t>
            </a:r>
          </a:p>
        </p:txBody>
      </p:sp>
      <p:sp>
        <p:nvSpPr>
          <p:cNvPr id="314" name="Right Arrow 313"/>
          <p:cNvSpPr/>
          <p:nvPr/>
        </p:nvSpPr>
        <p:spPr>
          <a:xfrm>
            <a:off x="8897112" y="1844261"/>
            <a:ext cx="128016" cy="254369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9025128" y="1691640"/>
            <a:ext cx="2743200" cy="593528"/>
          </a:xfrm>
          <a:prstGeom prst="rect">
            <a:avLst/>
          </a:prstGeom>
          <a:solidFill>
            <a:srgbClr val="A1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Georgia"/>
                <a:ea typeface="微軟正黑體"/>
              </a:rPr>
              <a:t>3　全公司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Georgia"/>
                <a:ea typeface="微軟正黑體"/>
              </a:rPr>
              <a:t>持續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9025128" y="2327563"/>
            <a:ext cx="2743200" cy="423949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進下一步：</a:t>
            </a: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—</a:t>
            </a:r>
          </a:p>
        </p:txBody>
      </p:sp>
      <p:sp>
        <p:nvSpPr>
          <p:cNvPr id="317" name="Oval 316"/>
          <p:cNvSpPr/>
          <p:nvPr/>
        </p:nvSpPr>
        <p:spPr>
          <a:xfrm>
            <a:off x="411480" y="3055426"/>
            <a:ext cx="502920" cy="5029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  <a:ea typeface="微軟正黑體"/>
              </a:rPr>
              <a:t>1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1051560" y="2963487"/>
            <a:ext cx="5989320" cy="6952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0000"/>
                </a:solidFill>
                <a:latin typeface="Georgia"/>
                <a:ea typeface="微軟正黑體"/>
              </a:rPr>
              <a:t>現場示範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拿客戶的一個真實需求，當場跑一次：從寫需求到上線前的核准。</a:t>
            </a:r>
          </a:p>
        </p:txBody>
      </p:sp>
      <p:sp>
        <p:nvSpPr>
          <p:cNvPr id="319" name="Oval 318"/>
          <p:cNvSpPr/>
          <p:nvPr/>
        </p:nvSpPr>
        <p:spPr>
          <a:xfrm>
            <a:off x="411480" y="3835492"/>
            <a:ext cx="502920" cy="5029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  <a:ea typeface="微軟正黑體"/>
              </a:rPr>
              <a:t>2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1051560" y="3743553"/>
            <a:ext cx="5989320" cy="6952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0000"/>
                </a:solidFill>
                <a:latin typeface="Georgia"/>
                <a:ea typeface="微軟正黑體"/>
              </a:rPr>
              <a:t>一起挑題目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開一次會，挑出 1–2 個最適合先做的需求，順便確認資料、系統和法規上有哪些限制。</a:t>
            </a:r>
          </a:p>
        </p:txBody>
      </p:sp>
      <p:sp>
        <p:nvSpPr>
          <p:cNvPr id="321" name="Oval 320"/>
          <p:cNvSpPr/>
          <p:nvPr/>
        </p:nvSpPr>
        <p:spPr>
          <a:xfrm>
            <a:off x="411480" y="4615558"/>
            <a:ext cx="502920" cy="50292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  <a:ea typeface="微軟正黑體"/>
              </a:rPr>
              <a:t>3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1051560" y="4523619"/>
            <a:ext cx="5989320" cy="6952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0000"/>
                </a:solidFill>
                <a:latin typeface="Georgia"/>
                <a:ea typeface="微軟正黑體"/>
              </a:rPr>
              <a:t>開始診斷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定好範圍和雙方窗口，開始盤點現在的開發流程和法規要求。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7315200" y="2963487"/>
            <a:ext cx="4480560" cy="2255409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請客戶提供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・IT 主管與業務單位窗口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・現有開發流程與工具（Jira、CI、變更管理）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・候選需求清單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・資安、個資與法遵規範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411480" y="5422392"/>
            <a:ext cx="91440" cy="50873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25" name="Rectangle 324"/>
          <p:cNvSpPr/>
          <p:nvPr/>
        </p:nvSpPr>
        <p:spPr>
          <a:xfrm>
            <a:off x="502920" y="5422392"/>
            <a:ext cx="11292840" cy="50873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Georgia"/>
                <a:ea typeface="微軟正黑體"/>
              </a:rPr>
              <a:t>一句話：</a:t>
            </a:r>
            <a:r>
              <a:rPr sz="1200" b="0">
                <a:solidFill>
                  <a:srgbClr val="000000"/>
                </a:solidFill>
                <a:latin typeface="Georgia"/>
                <a:ea typeface="微軟正黑體"/>
              </a:rPr>
              <a:t>AI 幫你把每一步做得更快，每一步都留下紀錄；要不要做、能不能上線，永遠由你的人決定。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AI 寫程式很快就是常態；決勝關鍵在治理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下一步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速度大家都買得到；讓每一步查得到、每個關鍵決定由人做，才是保險公司能放心擴大的條件。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11384280" cy="258608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000" b="0">
                <a:solidFill>
                  <a:srgbClr val="FFFFFF"/>
                </a:solidFill>
                <a:latin typeface="Georgia"/>
                <a:ea typeface="微軟正黑體"/>
              </a:rPr>
              <a:t>AI 的使用成本，兩年降到 1/280；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Georgia"/>
                <a:ea typeface="微軟正黑體"/>
              </a:rPr>
              <a:t>出了事，責任一分都沒有變少。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Georgia"/>
                <a:ea typeface="微軟正黑體"/>
              </a:rPr>
              <a:t>未來的差距，不在誰寫得快，而在誰敢讓 AI 寫的程式上線。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4404914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來源：</a:t>
            </a:r>
            <a:r>
              <a:rPr sz="950" b="0" u="sng">
                <a:solidFill>
                  <a:srgbClr val="595959"/>
                </a:solidFill>
                <a:latin typeface="微軟正黑體"/>
                <a:ea typeface="微軟正黑體"/>
                <a:hlinkClick r:id="rId2"/>
              </a:rPr>
              <a:t>1/280：Stanford AI Index 2025（同等能力的 AI，2022-11 → 2024-10）</a:t>
            </a: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；</a:t>
            </a:r>
            <a:r>
              <a:rPr sz="950" b="0" u="sng">
                <a:solidFill>
                  <a:srgbClr val="595959"/>
                </a:solidFill>
                <a:latin typeface="Georgia"/>
                <a:ea typeface="微軟正黑體"/>
                <a:hlinkClick r:id="rId3"/>
              </a:rPr>
              <a:t>責任：保險業作業委外辦法、AI 自律規範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4828863"/>
            <a:ext cx="11384280" cy="2543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Georgia"/>
                <a:ea typeface="微軟正黑體"/>
              </a:rPr>
              <a:t>敢上線的前提：每一步查得到、每個關鍵決定由人做。這就是我們幫保險公司建好的東西。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11480" y="5210417"/>
            <a:ext cx="91440" cy="890293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09" name="Rectangle 308"/>
          <p:cNvSpPr/>
          <p:nvPr/>
        </p:nvSpPr>
        <p:spPr>
          <a:xfrm>
            <a:off x="502920" y="5210417"/>
            <a:ext cx="11292840" cy="890293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D5108"/>
                </a:solidFill>
                <a:latin typeface="Georgia"/>
                <a:ea typeface="微軟正黑體"/>
              </a:rPr>
              <a:t>下一步：</a:t>
            </a:r>
            <a:r>
              <a:rPr sz="1500" b="1">
                <a:solidFill>
                  <a:srgbClr val="000000"/>
                </a:solidFill>
                <a:latin typeface="Georgia"/>
                <a:ea typeface="微軟正黑體"/>
              </a:rPr>
              <a:t>約一場現場示範，用客戶的一個真實需求，當場從需求跑到上線前的核准。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95959"/>
                </a:solidFill>
                <a:latin typeface="Georgia"/>
                <a:ea typeface="微軟正黑體"/>
              </a:rPr>
              <a:t>兩週內就能安排；只需要一位 IT 窗口、一位業務窗口和一份需求。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Georgia"/>
                <a:ea typeface="微軟正黑體"/>
              </a:rPr>
              <a:t>附錄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0">
                <a:latin typeface="Georgia"/>
                <a:ea typeface="微軟正黑體"/>
              </a:rPr>
              <a:t>A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附錄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附錄 A｜示範情境：「理賠進度自助查詢」導入前後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附錄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以一個常見的保險需求，說明每個階段 AI 做什麼、由誰決定。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A1A8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A1A8B3"/>
                </a:solidFill>
                <a:latin typeface="Georgia"/>
                <a:ea typeface="微軟正黑體"/>
              </a:rPr>
              <a:t>示意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13350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階段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1783080" y="1691640"/>
            <a:ext cx="288950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導入前（常見做法）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709160" y="1691640"/>
            <a:ext cx="52212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導入後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9966960" y="1691640"/>
            <a:ext cx="17922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誰決定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11480" y="2064715"/>
            <a:ext cx="13350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需求分析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1783080" y="2064715"/>
            <a:ext cx="288950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多次會議，再由專人寫成文件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4709160" y="2064715"/>
            <a:ext cx="52212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理賠同仁和 AI 一起整理需求說明，AI 追問範圍與限制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9966960" y="2064715"/>
            <a:ext cx="17922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產品負責人接受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11480" y="2675201"/>
            <a:ext cx="13350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SA&amp;D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1783080" y="2675201"/>
            <a:ext cx="288950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分析與設計分開做，規範靠人記得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709160" y="2675201"/>
            <a:ext cx="52212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AI 起草規格，自動套用「入口網站不新增個資」等規範，衝突處標出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9966960" y="2675201"/>
            <a:ext cx="17922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產品負責人確認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11480" y="3285688"/>
            <a:ext cx="13350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開發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1783080" y="3285688"/>
            <a:ext cx="288950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讀完設計就寫，做法只在個人腦中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4709160" y="3285688"/>
            <a:ext cx="52212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AI 先寫實作計畫（含核心系統流量限制與快取），核准後才動手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9966960" y="3285688"/>
            <a:ext cx="17922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工程師核准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411480" y="3896175"/>
            <a:ext cx="13350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測試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1783080" y="3896175"/>
            <a:ext cx="288950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階段末才測，問題晚發現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4709160" y="3896175"/>
            <a:ext cx="52212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AI 每次改動自己跑測試，各種理賠狀態都正確才交人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9966960" y="3896175"/>
            <a:ext cx="17922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AI 自行驗證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11480" y="4506661"/>
            <a:ext cx="13350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上版／交付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1783080" y="4506661"/>
            <a:ext cx="288950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逐行人工審查，排隊等待核准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4709160" y="4506661"/>
            <a:ext cx="52212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AI 先審並排嚴重度，人判斷風險；沒有授權不能上線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9966960" y="4506661"/>
            <a:ext cx="1792224" cy="57657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程式負責人、發布經理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411480" y="5117148"/>
            <a:ext cx="13350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維運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1783080" y="5117148"/>
            <a:ext cx="288950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事件常被擱置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4709160" y="5117148"/>
            <a:ext cx="52212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錯誤率異常時 AI 先診斷並建議退版；服務負責人核准後執行，問題寫成新需求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9966960" y="5117148"/>
            <a:ext cx="1792224" cy="5765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服務負責人核准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411480" y="5803946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情境改編自 Anthropic《The AI-Native SDLC Playbook》 的公開範例，非客戶案例；「導入前」為常見做法的示意。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附錄 B｜延伸方式：同一套資產延伸到其他系統、客戶與產業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附錄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流程、範本與關卡可以沿用；不同延伸方向要補的內容與前提不同。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建議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2066543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延伸方向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2514600" y="1691640"/>
            <a:ext cx="25694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例子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5120640" y="1691640"/>
            <a:ext cx="22494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沿用什麼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7406640" y="1691640"/>
            <a:ext cx="215798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要新增什麼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9601200" y="1691640"/>
            <a:ext cx="215798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前提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411480" y="2064715"/>
            <a:ext cx="2066543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同一客戶的其他系統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2514600" y="2064715"/>
            <a:ext cx="256946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微軟正黑體"/>
                <a:ea typeface="微軟正黑體"/>
              </a:rPr>
              <a:t>理賠 → 核保規則、保單服務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5120640" y="2064715"/>
            <a:ext cx="224942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流程、範本、關卡、規範規則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7406640" y="2064715"/>
            <a:ext cx="215798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該系統的規範與核准人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9601200" y="2064715"/>
            <a:ext cx="215798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前一個場景達標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11480" y="2700638"/>
            <a:ext cx="2066543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新制相關專案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2514600" y="2700638"/>
            <a:ext cx="256946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IFRS 17／TW-ICS 報表與資料調整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5120640" y="2700638"/>
            <a:ext cx="224942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流程、關卡、法規清單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7406640" y="2700638"/>
            <a:ext cx="215798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財會與精算規範、資料品質檢查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9601200" y="2700638"/>
            <a:ext cx="215798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財會、精算參與；高風險加審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11480" y="3336562"/>
            <a:ext cx="2066543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AI 治理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2514600" y="3336562"/>
            <a:ext cx="256946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AI 清冊與模型驗證流程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5120640" y="3336562"/>
            <a:ext cx="224942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紀錄與關卡、自律規範對應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7406640" y="3336562"/>
            <a:ext cx="215798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模型驗證規則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9601200" y="3336562"/>
            <a:ext cx="215798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屬治理服務，另行界定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11480" y="3972486"/>
            <a:ext cx="2066543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其他保險公司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2514600" y="3972486"/>
            <a:ext cx="256946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另一家壽險或產險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5120640" y="3972486"/>
            <a:ext cx="224942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全部標準模組與資產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7406640" y="3972486"/>
            <a:ext cx="215798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該公司規範與系統串接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9601200" y="3972486"/>
            <a:ext cx="2157984" cy="6020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審計客戶需先確認獨立性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411480" y="4608409"/>
            <a:ext cx="2066543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其他金融業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2514600" y="4608409"/>
            <a:ext cx="256946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銀行、證券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5120640" y="4608409"/>
            <a:ext cx="224942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流程、關卡、指標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7406640" y="4608409"/>
            <a:ext cx="215798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該產業法規規則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9601200" y="4608409"/>
            <a:ext cx="2157984" cy="6020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以金管會 AI 指引為共同基礎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411480" y="5295207"/>
            <a:ext cx="11384280" cy="50873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需客製的部分：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客戶的資安與命名規範、系統與工具串接、資料分級與核准人、場景題目與基準、委外安排。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附錄 C｜同業產品化參考：具體產品與來源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附錄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國際顧問與軟體業者已推出保險業 AI 相關方案；以下整理自業者公開資訊。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138074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公司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1828800" y="1691640"/>
            <a:ext cx="36210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產品／方案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5486400" y="1691640"/>
            <a:ext cx="15636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型態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7086600" y="1691640"/>
            <a:ext cx="467258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來源（可點擊）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11480" y="2073194"/>
            <a:ext cx="138074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Deloitte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1828800" y="2073194"/>
            <a:ext cx="36210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Agentic AI Blueprint for Insurance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5486400" y="2073194"/>
            <a:ext cx="15636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加速器＋導入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7086600" y="2073194"/>
            <a:ext cx="467258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Georgia"/>
                <a:ea typeface="微軟正黑體"/>
                <a:hlinkClick r:id="rId2"/>
              </a:rPr>
              <a:t>www.deloitte.com 原文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411480" y="2548017"/>
            <a:ext cx="138074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Deloitte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1828800" y="2548017"/>
            <a:ext cx="36210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IFRS 17 Regulatory Assist（與 SAS 合作）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5486400" y="2548017"/>
            <a:ext cx="15636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加速器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7086600" y="2548017"/>
            <a:ext cx="467258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Georgia"/>
                <a:ea typeface="微軟正黑體"/>
                <a:hlinkClick r:id="rId3"/>
              </a:rPr>
              <a:t>sas.com 原文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1480" y="3022840"/>
            <a:ext cx="138074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KPMG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1828800" y="3022840"/>
            <a:ext cx="36210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IFRS 17 Express, powered by SAS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5486400" y="3022840"/>
            <a:ext cx="15636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加速器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7086600" y="3022840"/>
            <a:ext cx="467258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Georgia"/>
                <a:ea typeface="微軟正黑體"/>
                <a:hlinkClick r:id="rId4"/>
              </a:rPr>
              <a:t>sas.com 原文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11480" y="3497663"/>
            <a:ext cx="138074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Capgemini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1828800" y="3497663"/>
            <a:ext cx="36210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Guidewire 生成式 AI／代理工具組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5486400" y="3497663"/>
            <a:ext cx="15636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核心系統＋AI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7086600" y="3497663"/>
            <a:ext cx="467258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Georgia"/>
                <a:ea typeface="微軟正黑體"/>
                <a:hlinkClick r:id="rId5"/>
              </a:rPr>
              <a:t>www.capgemini.com 原文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411480" y="3972486"/>
            <a:ext cx="138074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WTW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1828800" y="3972486"/>
            <a:ext cx="36210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Radar 5（保險定價與核保軟體）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5486400" y="3972486"/>
            <a:ext cx="15636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軟體產品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7086600" y="3972486"/>
            <a:ext cx="467258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Georgia"/>
                <a:ea typeface="微軟正黑體"/>
                <a:hlinkClick r:id="rId6"/>
              </a:rPr>
              <a:t>www.wtwco.com 原文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411480" y="4447309"/>
            <a:ext cx="138074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McKinsey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1828800" y="4447309"/>
            <a:ext cx="36210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代理型 AI 核心現代化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5486400" y="4447309"/>
            <a:ext cx="15636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方法論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7086600" y="4447309"/>
            <a:ext cx="467258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Georgia"/>
                <a:ea typeface="微軟正黑體"/>
                <a:hlinkClick r:id="rId7"/>
              </a:rPr>
              <a:t>www.mckinsey.com 原文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411480" y="4922132"/>
            <a:ext cx="138074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BCG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1828800" y="4922132"/>
            <a:ext cx="36210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AI-First 產險公司藍圖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5486400" y="4922132"/>
            <a:ext cx="15636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方法論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7086600" y="4922132"/>
            <a:ext cx="467258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 u="sng">
                <a:solidFill>
                  <a:srgbClr val="000000"/>
                </a:solidFill>
                <a:latin typeface="Georgia"/>
                <a:ea typeface="微軟正黑體"/>
                <a:hlinkClick r:id="rId8"/>
              </a:rPr>
              <a:t>www.bcg.com 原文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411480" y="5507181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規模與期程數字為業者自述。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附錄 D｜保險業 AI 開發法規檢查清單（草稿）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附錄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把台灣保險業的委外、雲端、AI 與個資規範，對應到開發流程中的檢查點。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288950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檢查項目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3337560" y="1691640"/>
            <a:ext cx="34838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依據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6858000" y="1691640"/>
            <a:ext cx="34838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開發流程中怎麼落實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10378440" y="1691640"/>
            <a:ext cx="138074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在哪一步檢查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11480" y="2064715"/>
            <a:ext cx="288950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是否屬作業委外、是否需依規定辦理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3337560" y="2064715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保險業作業委託他人處理內部作業制度及程序辦法（2025-12-31 施行）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6858000" y="2064715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導入前判斷並留下紀錄；AI 工具納入委外管理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10378440" y="2064715"/>
            <a:ext cx="138074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診斷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411480" y="2624328"/>
            <a:ext cx="288950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雲端資料存放、雲端業者管理與查核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3337560" y="2624328"/>
            <a:ext cx="348386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保險業作業委外使用雲端服務自律規範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6858000" y="2624328"/>
            <a:ext cx="348386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使用公司核准的雲端合約；保留查核所需紀錄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10378440" y="2624328"/>
            <a:ext cx="138074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診斷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1480" y="3183940"/>
            <a:ext cx="288950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AI 工具登錄 AI 清冊並做風險評估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3337560" y="3183940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保險業運用人工智慧系統自律規範（2025-04-10 備查）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6858000" y="3183940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每個 AI 工具與用途登錄；高風險用途加審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10378440" y="3183940"/>
            <a:ext cx="138074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診斷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11480" y="3743553"/>
            <a:ext cx="288950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關鍵決定由人做，保險公司負最終責任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3337560" y="3743553"/>
            <a:ext cx="348386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同上；金管會 AI 指引「治理及問責」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6858000" y="3743553"/>
            <a:ext cx="348386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五個人工關卡，各有指定核准人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10378440" y="3743553"/>
            <a:ext cx="138074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①–⑤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411480" y="4303166"/>
            <a:ext cx="288950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個資與客戶資料不進入 AI 可讀範圍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3337560" y="4303166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個人資料保護法；金管會 AI 指引「隱私及客戶權益」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6858000" y="4303166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資料分級；集中設定禁止讀取機密檔與金鑰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10378440" y="4303166"/>
            <a:ext cx="138074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規格、開發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411480" y="4862779"/>
            <a:ext cx="288950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程式經資安審查，出事可退回上一版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3337560" y="4862779"/>
            <a:ext cx="348386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金管會 AI 指引「系統穩健性與安全性」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6858000" y="4862779"/>
            <a:ext cx="348386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AI 資安初審＋人工審查；退版流程事先演練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10378440" y="4862779"/>
            <a:ext cx="1380744" cy="525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④ 合併、⑤ 上線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411480" y="5422392"/>
            <a:ext cx="288950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誰要求、AI 產出什麼、誰核准，查得到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3337560" y="5422392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金管會 AI 指引「透明性與可解釋性」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6858000" y="5422392"/>
            <a:ext cx="348386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需求說明、規格、計畫與核准紀錄版本化保存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10378440" y="5422392"/>
            <a:ext cx="1380744" cy="52569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全程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411480" y="6015920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導入規劃工具，非法律意見；條文以主管機關公告為準；草稿待法遵確認。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附錄 E｜示範案例：每條業務規則都追溯到測試與任務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附錄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以再保險系統「金融機構主檔」為例；稽核時從任一條規則，都找得到對應的使用案例、測試與程式範圍。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36210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業務規則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069080" y="1691640"/>
            <a:ext cx="23408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使用案例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6446520" y="1691640"/>
            <a:ext cx="23408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測試案例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8823960" y="1691640"/>
            <a:ext cx="293522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Georgia"/>
                <a:ea typeface="微軟正黑體"/>
              </a:rPr>
              <a:t>開發任務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11480" y="2064715"/>
            <a:ext cx="36210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BR-FI-01　代碼唯一性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069080" y="2064715"/>
            <a:ext cx="234086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UC-FI-02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6446520" y="2064715"/>
            <a:ext cx="234086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TC-FI-03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8823960" y="2064715"/>
            <a:ext cx="29352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TASK-000013-001 場景 3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411480" y="2539538"/>
            <a:ext cx="36210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BR-FI-02　引用後鎖定唯讀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069080" y="2539538"/>
            <a:ext cx="234086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UC-FI-04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6446520" y="2539538"/>
            <a:ext cx="234086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—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8823960" y="2539538"/>
            <a:ext cx="29352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TASK-000013-005 場景 2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1480" y="3014361"/>
            <a:ext cx="36210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BR-FI-03　引用防刪與軟作廢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069080" y="3014361"/>
            <a:ext cx="234086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UC-FI-04、UC-FI-06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6446520" y="3014361"/>
            <a:ext cx="234086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TC-FI-07、TC-FI-08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8823960" y="3014361"/>
            <a:ext cx="29352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TASK-000013-005 場景 2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11480" y="3489184"/>
            <a:ext cx="36210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BR-FI-04　SWIFT/BIC 格式檢核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4069080" y="3489184"/>
            <a:ext cx="234086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UC-FI-02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6446520" y="3489184"/>
            <a:ext cx="234086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TC-FI-04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8823960" y="3489184"/>
            <a:ext cx="2935224" cy="4409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TASK-000013-001 場景 4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411480" y="3964007"/>
            <a:ext cx="36210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BR-FI-05　作廢資料隔離與追溯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069080" y="3964007"/>
            <a:ext cx="234086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UC-FI-06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6446520" y="3964007"/>
            <a:ext cx="234086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—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8823960" y="3964007"/>
            <a:ext cx="29352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任務包未附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411480" y="4438830"/>
            <a:ext cx="3621024" cy="44090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BR-FI-06　制裁連動與主管覆核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4069080" y="4438830"/>
            <a:ext cx="2340864" cy="44090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UC-FI-03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6446520" y="4438830"/>
            <a:ext cx="2340864" cy="44090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TC-FI-05、TC-FI-06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8823960" y="4438830"/>
            <a:ext cx="2935224" cy="440907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任務包未附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411480" y="4913653"/>
            <a:ext cx="36210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BR-FI-07　順序自動計算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4069080" y="4913653"/>
            <a:ext cx="234086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UC-FI-02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6446520" y="4913653"/>
            <a:ext cx="234086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TC-FI-02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8823960" y="4913653"/>
            <a:ext cx="2935224" cy="44090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>TASK-000013-001 場景 2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411480" y="5422392"/>
            <a:ext cx="91440" cy="525696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Georgia"/>
                <a:ea typeface="微軟正黑體"/>
              </a:rPr>
              <a:t/>
            </a:r>
          </a:p>
        </p:txBody>
      </p:sp>
      <p:sp>
        <p:nvSpPr>
          <p:cNvPr id="338" name="Rectangle 337"/>
          <p:cNvSpPr/>
          <p:nvPr/>
        </p:nvSpPr>
        <p:spPr>
          <a:xfrm>
            <a:off x="502920" y="5422392"/>
            <a:ext cx="11292840" cy="525696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Georgia"/>
                <a:ea typeface="微軟正黑體"/>
              </a:rPr>
              <a:t>追溯表的用處：</a:t>
            </a:r>
            <a:r>
              <a:rPr sz="1150" b="0">
                <a:solidFill>
                  <a:srgbClr val="000000"/>
                </a:solidFill>
                <a:latin typeface="Georgia"/>
                <a:ea typeface="微軟正黑體"/>
              </a:rPr>
              <a:t>缺口一眼看得出來：BR-FI-02、BR-FI-05 目前沒有對應的測試案例；任務包只附 001 與 005 兩個任務。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411480" y="6058315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整理自 TASK-000013 任務包（SA、使用案例、QA 規格與任務文件）；任務與規則的對應依任務內容判讀，待 IT 團隊確認。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附錄 F｜試點風險與因應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附錄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試點前就講好可能出問題的地方、怎麼提早發現，以及誰負責處理。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FD51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Georgia"/>
                <a:ea typeface="微軟正黑體"/>
              </a:rPr>
              <a:t>建議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2066543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風險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2514600" y="1691640"/>
            <a:ext cx="23408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提早發現的訊號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892040" y="1691640"/>
            <a:ext cx="25694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事前降低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7498079" y="1691640"/>
            <a:ext cx="238658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發生時的應變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9921240" y="1691640"/>
            <a:ext cx="1837943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負責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411480" y="2064715"/>
            <a:ext cx="2066543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場景效益偏低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2514600" y="2064715"/>
            <a:ext cx="234086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場景落在複雜的既有系統，重複性工作少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4892040" y="2064715"/>
            <a:ext cx="256946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診斷時優先挑「常發生、判斷少」工作多的需求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7498079" y="2064715"/>
            <a:ext cx="238658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調整範圍或換場景，不硬撐到底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9921240" y="2064715"/>
            <a:ext cx="1837943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PwC（BA、IT）＋客戶 IT 主管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11480" y="2785428"/>
            <a:ext cx="2066543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初期下滑被誤判（J 曲線）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2514600" y="2785428"/>
            <a:ext cx="234086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前幾週需求定稿與審查時間變長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892040" y="2785428"/>
            <a:ext cx="256946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試點前講好預期的下滑與觀察期間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7498079" y="2785428"/>
            <a:ext cx="238658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依約定期間判斷，不在低谷時中止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9921240" y="2785428"/>
            <a:ext cx="1837943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客戶管理層＋PwC 帶隊人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11480" y="3506142"/>
            <a:ext cx="2066543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個資或機密進入 AI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2514600" y="3506142"/>
            <a:ext cx="234086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設定或存取紀錄出現例外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4892040" y="3506142"/>
            <a:ext cx="256946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資料分級；試點用假資料；集中設定禁止讀取機密檔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7498079" y="3506142"/>
            <a:ext cx="238658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立即停用該工具、通報並檢討設定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9921240" y="3506142"/>
            <a:ext cx="1837943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客戶資安＋PwC IT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11480" y="4226855"/>
            <a:ext cx="2066543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AI 工具未獲內部核准，時程延誤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2514600" y="4226855"/>
            <a:ext cx="234086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診斷第 2 週仍未完成委外判斷與清冊登錄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4892040" y="4226855"/>
            <a:ext cx="256946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診斷第一週就啟動委外判斷與清冊登錄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7498079" y="4226855"/>
            <a:ext cx="2386584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先用已核准的工具試點，或調整時程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9921240" y="4226855"/>
            <a:ext cx="1837943" cy="6867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客戶法遵、IT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411480" y="4947569"/>
            <a:ext cx="2066543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駐點團隊配合度低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2514600" y="4947569"/>
            <a:ext cx="234086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試點任務排不進工作、出席率低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4892040" y="4947569"/>
            <a:ext cx="256946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試點前與 IT 主管談好駐點團隊的角色與工時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7498079" y="4947569"/>
            <a:ext cx="2386584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改由客戶自有人員或 PwC 補位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9921240" y="4947569"/>
            <a:ext cx="1837943" cy="686797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客戶 IT 主管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411480" y="5846341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依 DORA 2026（J 曲線、既有系統效益）與試點規劃整理；正式清單於診斷時與客戶共同確認。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附錄 G｜研究整合：兩份研究互補，衝突處的取捨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附錄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043330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內部參考：兩份研究的差異，以及本提案採用哪一邊、為什麼。提交客戶前移除本頁。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0927080" y="1133856"/>
            <a:ext cx="80467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E2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DE2A18"/>
                </a:solidFill>
                <a:latin typeface="Georgia"/>
                <a:ea typeface="微軟正黑體"/>
              </a:rPr>
              <a:t>內部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691640"/>
            <a:ext cx="142646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主題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1874520" y="1691640"/>
            <a:ext cx="298094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研究一：FSC1 開發流程 v3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892040" y="1691640"/>
            <a:ext cx="2889504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研究二：AI 原生 SDLC 說明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7818120" y="1691640"/>
            <a:ext cx="3941063" cy="339159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Georgia"/>
                <a:ea typeface="微軟正黑體"/>
              </a:rPr>
              <a:t>本提案的取捨與原因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11480" y="2064715"/>
            <a:ext cx="1426464" cy="6274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流程階段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1874520" y="2064715"/>
            <a:ext cx="2980944" cy="6274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五階段：需求分析、SA&amp;D、開發、測試、上版／交付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4892040" y="2064715"/>
            <a:ext cx="2889504" cy="6274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六階段：規劃、設計、開發、測試、上線、維運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7818120" y="2064715"/>
            <a:ext cx="3941063" cy="6274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採研究一的名稱，加上維運：保險業 IT 熟悉這些用語；維運讓流程形成循環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11480" y="2726075"/>
            <a:ext cx="1426464" cy="627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控制方式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1874520" y="2726075"/>
            <a:ext cx="2980944" cy="627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Prompt 撰寫原則＋IT 人工 Review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892040" y="2726075"/>
            <a:ext cx="2889504" cy="627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技能、鉤子、集中管理設定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7818120" y="2726075"/>
            <a:ext cx="3941063" cy="627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分層：Prompt 為第一層，往規則與自動關卡加強；受監理行業需要可強制的控制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11480" y="3387436"/>
            <a:ext cx="1426464" cy="6274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關卡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1874520" y="3387436"/>
            <a:ext cx="2980944" cy="6274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每階段文件確認後進下一階段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4892040" y="3387436"/>
            <a:ext cx="2889504" cy="6274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五個關鍵決定由指定的人核准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7818120" y="3387436"/>
            <a:ext cx="3941063" cy="6274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保留研究一的檢查點，補上指定核准人與紀錄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411480" y="4048796"/>
            <a:ext cx="1426464" cy="627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效益說法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1874520" y="4048796"/>
            <a:ext cx="2980944" cy="627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未提數字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4892040" y="4048796"/>
            <a:ext cx="2889504" cy="627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手冊預期「數週到數小時」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7818120" y="4048796"/>
            <a:ext cx="3941063" cy="627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不承諾數字，以試點實測；外部證據改用 DORA 等獨立研究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411480" y="4710157"/>
            <a:ext cx="1426464" cy="6274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實作證據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1874520" y="4710157"/>
            <a:ext cx="2980944" cy="6274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各階段案例頁待補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4892040" y="4710157"/>
            <a:ext cx="2889504" cy="6274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實績頁待 IT 團隊填寫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7818120" y="4710157"/>
            <a:ext cx="3941063" cy="6274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以 IT 示範補上：再保險系統主檔模組（第 11 頁）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411480" y="5371518"/>
            <a:ext cx="1426464" cy="627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Georgia"/>
                <a:ea typeface="微軟正黑體"/>
              </a:rPr>
              <a:t>服務內容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1874520" y="5371518"/>
            <a:ext cx="2980944" cy="627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未涵蓋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4892040" y="5371518"/>
            <a:ext cx="2889504" cy="627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四個服務模組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7818120" y="5371518"/>
            <a:ext cx="3941063" cy="627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Georgia"/>
                <a:ea typeface="微軟正黑體"/>
              </a:rPr>
              <a:t>對外收斂為「診斷＋一個場景試點」，其餘依需求討論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Georgia"/>
                <a:ea typeface="微軟正黑體"/>
              </a:rPr>
              <a:t>附錄 H｜資料來源</a:t>
            </a:r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Georgia"/>
                <a:ea typeface="微軟正黑體"/>
              </a:rPr>
              <a:t>PwC FSC1｜AI 原生開發：做得快，也管得住 | 附錄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438912" y="1078992"/>
            <a:ext cx="1130198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  <a:latin typeface="Georgia"/>
                <a:ea typeface="微軟正黑體"/>
              </a:rPr>
              <a:t>本提案引用的外部研究、法規與內部研究。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11480" y="1691640"/>
            <a:ext cx="11384280" cy="22045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1.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2"/>
              </a:rPr>
              <a:t>Stack Overflow，2025 Developer Survey 新聞稿（84%）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11480" y="1929051"/>
            <a:ext cx="11384280" cy="2204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2.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3"/>
              </a:rPr>
              <a:t>Google Cloud，Announcing the 2024 DORA report（−1.5%、−7.2%）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11480" y="2166462"/>
            <a:ext cx="11384280" cy="22045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3.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4"/>
              </a:rPr>
              <a:t>Google Cloud，Announcing the 2025 DORA report（約 90%、速度與穩定度）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411480" y="2403874"/>
            <a:ext cx="11384280" cy="2204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4.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5"/>
              </a:rPr>
              <a:t>DORA，The ROI of AI-assisted Software Development，v.2026.1（放大器、J 曲線、既有系統效益、回收期）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11480" y="2641285"/>
            <a:ext cx="11384280" cy="22045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5.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6"/>
              </a:rPr>
              <a:t>McKinsey，The state of AI in 2025（88%；1,993 人、105 國）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411480" y="2878697"/>
            <a:ext cx="11384280" cy="2204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6.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7"/>
              </a:rPr>
              <a:t>Yahoo Finance，JPMorgan 工程師使用寫程式助手效率提升至多 20%，2025-03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411480" y="3116108"/>
            <a:ext cx="11384280" cy="22045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7.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8"/>
              </a:rPr>
              <a:t>Deloitte Insights，AI and bank software development，2025（Citi 3 萬名開發者）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411480" y="3353520"/>
            <a:ext cx="11384280" cy="2204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8.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9"/>
              </a:rPr>
              <a:t>PwC，Reinventing insurance: An industry beyond the tipping point，2025（57%；2025 年 7 月調查，保險業高階主管 136 人）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411480" y="3590931"/>
            <a:ext cx="11384280" cy="22045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9.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10"/>
              </a:rPr>
              <a:t>金管會 AI 使用調查，2026-10（工商時報報導：保險業 53%、生成式 AI 76%）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11480" y="3828343"/>
            <a:ext cx="11384280" cy="2204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10.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11"/>
              </a:rPr>
              <a:t>Veracode，2025 GenAI Code Security Report 新聞稿（45%）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411480" y="4065754"/>
            <a:ext cx="11384280" cy="22045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11.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12"/>
              </a:rPr>
              <a:t>PwC，第 29 屆全球 CEO 調查，2026（56%）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11480" y="4303166"/>
            <a:ext cx="11384280" cy="2204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12.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13"/>
              </a:rPr>
              <a:t>Stanford HAI，AI Index 2025（模型使用成本）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11480" y="4540577"/>
            <a:ext cx="11384280" cy="22045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13.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14"/>
              </a:rPr>
              <a:t>McKinsey，Technology Trends Outlook 2026（代理式軟體開發列為新趨勢）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11480" y="4777989"/>
            <a:ext cx="11384280" cy="2204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14.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15"/>
              </a:rPr>
              <a:t>Dell’Acqua 等，Navigating the Jagged Technological Frontier，HBS Working Paper 24-013（758 位 BCG 顧問）；Autor, Levy &amp; Murnane，QJE 2003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411480" y="5015400"/>
            <a:ext cx="11384280" cy="22045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15.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16"/>
              </a:rPr>
              <a:t>理律法律事務所，保險業作業委外新辦法（2025-12-31 施行）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411480" y="5252812"/>
            <a:ext cx="11384280" cy="2204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16.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17"/>
              </a:rPr>
              <a:t>壽險／產險公會，保險業運用人工智慧系統自律規範（2025-04-10 備查）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11480" y="5490223"/>
            <a:ext cx="11384280" cy="220453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17. </a:t>
            </a:r>
            <a:r>
              <a:rPr sz="950" b="0" u="sng">
                <a:solidFill>
                  <a:srgbClr val="000000"/>
                </a:solidFill>
                <a:latin typeface="Georgia"/>
                <a:ea typeface="微軟正黑體"/>
                <a:hlinkClick r:id="rId18"/>
              </a:rPr>
              <a:t>金管會，金融業運用人工智慧（AI）指引，2024-06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411480" y="5727635"/>
            <a:ext cx="11384280" cy="2204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FD5108"/>
                </a:solidFill>
                <a:latin typeface="Georgia"/>
                <a:ea typeface="微軟正黑體"/>
              </a:rPr>
              <a:t>18. </a:t>
            </a:r>
            <a:r>
              <a:rPr sz="950" b="0">
                <a:solidFill>
                  <a:srgbClr val="000000"/>
                </a:solidFill>
                <a:latin typeface="Georgia"/>
                <a:ea typeface="微軟正黑體"/>
              </a:rPr>
              <a:t>研究一：FSC1〈AI 協作開發流程與產出範本〉v3；研究二：AI 原生 SDLC 說明，整理自 Anthropic《The AI-Native SDLC Playbook》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411480" y="6075273"/>
            <a:ext cx="11384280" cy="27132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Georgia"/>
                <a:ea typeface="微軟正黑體"/>
              </a:rPr>
              <a:t>「−1.5%」「−7.2%」為 AI 採用率每增加 25% 的模型估計；JPMorgan 數字為公司自述；金管會數字依媒體報導，以金管會公布為準。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AAAAAA"/>
      </a:dk1>
      <a:lt1>
        <a:srgbClr val="FFFFFF"/>
      </a:lt1>
      <a:dk2>
        <a:srgbClr val="08204C"/>
      </a:dk2>
      <a:lt2>
        <a:srgbClr val="FEFFFE"/>
      </a:lt2>
      <a:accent1>
        <a:srgbClr val="FEA200"/>
      </a:accent1>
      <a:accent2>
        <a:srgbClr val="61CAE2"/>
      </a:accent2>
      <a:accent3>
        <a:srgbClr val="FE7050"/>
      </a:accent3>
      <a:accent4>
        <a:srgbClr val="64D795"/>
      </a:accent4>
      <a:accent5>
        <a:srgbClr val="69449B"/>
      </a:accent5>
      <a:accent6>
        <a:srgbClr val="EBECEB"/>
      </a:accent6>
      <a:hlink>
        <a:srgbClr val="6B9F25"/>
      </a:hlink>
      <a:folHlink>
        <a:srgbClr val="B26B0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Default Theme">
  <a:themeElements>
    <a:clrScheme name="IGPIA - Theme 12 - Light">
      <a:dk1>
        <a:srgbClr val="737572"/>
      </a:dk1>
      <a:lt1>
        <a:srgbClr val="FFFFFF"/>
      </a:lt1>
      <a:dk2>
        <a:srgbClr val="445469"/>
      </a:dk2>
      <a:lt2>
        <a:srgbClr val="FFFFFF"/>
      </a:lt2>
      <a:accent1>
        <a:srgbClr val="5DCEDB"/>
      </a:accent1>
      <a:accent2>
        <a:srgbClr val="5ECB95"/>
      </a:accent2>
      <a:accent3>
        <a:srgbClr val="F0D065"/>
      </a:accent3>
      <a:accent4>
        <a:srgbClr val="EC9F56"/>
      </a:accent4>
      <a:accent5>
        <a:srgbClr val="DC653D"/>
      </a:accent5>
      <a:accent6>
        <a:srgbClr val="CAC9D0"/>
      </a:accent6>
      <a:hlink>
        <a:srgbClr val="216BA9"/>
      </a:hlink>
      <a:folHlink>
        <a:srgbClr val="1FB18A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4.xml><?xml version="1.0" encoding="utf-8"?>
<a:theme xmlns:a="http://schemas.openxmlformats.org/drawingml/2006/main" name="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68F217C4-1E00-F143-AAD3-4BCCBF0A5677}" vid="{0BD6579F-3F24-3941-8ED8-09116B1E7436}"/>
    </a:ext>
  </a:extLst>
</a:theme>
</file>

<file path=ppt/theme/theme5.xml><?xml version="1.0" encoding="utf-8"?>
<a:theme xmlns:a="http://schemas.openxmlformats.org/drawingml/2006/main" name="2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0B296F49-9839-BE48-A6B0-07FAE54AD4FB}" vid="{251455FA-3AFB-1547-9744-D9A806732972}"/>
    </a:ext>
  </a:extLst>
</a:theme>
</file>

<file path=ppt/theme/theme6.xml><?xml version="1.0" encoding="utf-8"?>
<a:theme xmlns:a="http://schemas.openxmlformats.org/drawingml/2006/main" name="3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45195d-0402-4561-91d6-fad97d760b90">
      <Terms xmlns="http://schemas.microsoft.com/office/infopath/2007/PartnerControls"/>
    </lcf76f155ced4ddcb4097134ff3c332f>
    <TaxCatchAll xmlns="4e47112c-55e5-4d87-b35d-79e596036eb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CEFDBAE80C59469568A37FF2AD9E46" ma:contentTypeVersion="15" ma:contentTypeDescription="Create a new document." ma:contentTypeScope="" ma:versionID="9b80cff5c45fe37fe7e79aba68c8730b">
  <xsd:schema xmlns:xsd="http://www.w3.org/2001/XMLSchema" xmlns:xs="http://www.w3.org/2001/XMLSchema" xmlns:p="http://schemas.microsoft.com/office/2006/metadata/properties" xmlns:ns2="3445195d-0402-4561-91d6-fad97d760b90" xmlns:ns3="4e47112c-55e5-4d87-b35d-79e596036ebc" targetNamespace="http://schemas.microsoft.com/office/2006/metadata/properties" ma:root="true" ma:fieldsID="6b6ba577ede3a76c2b1fbac158428f6a" ns2:_="" ns3:_="">
    <xsd:import namespace="3445195d-0402-4561-91d6-fad97d760b90"/>
    <xsd:import namespace="4e47112c-55e5-4d87-b35d-79e596036e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45195d-0402-4561-91d6-fad97d760b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47112c-55e5-4d87-b35d-79e596036eb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b7c682cc-33cd-40ab-8bfc-09a3a49d63b9}" ma:internalName="TaxCatchAll" ma:showField="CatchAllData" ma:web="4e47112c-55e5-4d87-b35d-79e596036e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46A3C2-4B54-413D-8C27-17731F2BCB53}">
  <ds:schemaRefs>
    <ds:schemaRef ds:uri="3445195d-0402-4561-91d6-fad97d760b90"/>
    <ds:schemaRef ds:uri="4e47112c-55e5-4d87-b35d-79e596036eb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83975D9-63BD-47B2-B0FB-84D03020E5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F0BA2-F4F2-46E4-AB38-70E65A5766DC}">
  <ds:schemaRefs>
    <ds:schemaRef ds:uri="3445195d-0402-4561-91d6-fad97d760b90"/>
    <ds:schemaRef ds:uri="4e47112c-55e5-4d87-b35d-79e596036eb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114</Slides>
  <Notes>24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114</vt:i4>
      </vt:variant>
    </vt:vector>
  </HeadingPairs>
  <TitlesOfParts>
    <vt:vector size="120" baseType="lpstr">
      <vt:lpstr>1_Office Theme</vt:lpstr>
      <vt:lpstr>Default Theme</vt:lpstr>
      <vt:lpstr>1_PwC Slide Master</vt:lpstr>
      <vt:lpstr>PwC Slide Master</vt:lpstr>
      <vt:lpstr>2_PwC Slide Master</vt:lpstr>
      <vt:lpstr>3_PwC Slide Master</vt:lpstr>
      <vt:lpstr>PowerPoint Presentation</vt:lpstr>
      <vt:lpstr>PowerPoint Presentation</vt:lpstr>
      <vt:lpstr>PowerPoint Presentation</vt:lpstr>
      <vt:lpstr>PowerPoint Presentation</vt:lpstr>
      <vt:lpstr>Agenda</vt:lpstr>
      <vt:lpstr>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在Discovery階段聚焦，PwC主要三個關鍵轉換點</vt:lpstr>
      <vt:lpstr>制定策略建議與行動計畫，PwC協助實現CRM Discovery Phase目標</vt:lpstr>
      <vt:lpstr>PwC 將主導制定一個從快速成果到長期成功的執行計劃</vt:lpstr>
      <vt:lpstr>A-1 訪談洞察：全面評估關鍵業務，規劃未來策略執行方向</vt:lpstr>
      <vt:lpstr>A-1 公司未來發展願景與策略目標對齊執行方式</vt:lpstr>
      <vt:lpstr>A-1 從準備到確認，業務單位訪談作業規劃</vt:lpstr>
      <vt:lpstr>Timeline</vt:lpstr>
      <vt:lpstr>Timeline</vt:lpstr>
      <vt:lpstr>Timeline</vt:lpstr>
      <vt:lpstr>Timeline</vt:lpstr>
      <vt:lpstr>Gantt Chart</vt:lpstr>
      <vt:lpstr>Gantt chart</vt:lpstr>
      <vt:lpstr>Gantt chart</vt:lpstr>
      <vt:lpstr>Gantt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Process</vt:lpstr>
      <vt:lpstr>Process</vt:lpstr>
      <vt:lpstr>Process</vt:lpstr>
      <vt:lpstr>Process</vt:lpstr>
      <vt:lpstr>Process</vt:lpstr>
      <vt:lpstr>全球環境動態資料轉換與應用實例：從一則情資到缺藥風險預警</vt:lpstr>
      <vt:lpstr>系統上線後的每日運作機制</vt:lpstr>
      <vt:lpstr>PowerPoint Presentation</vt:lpstr>
      <vt:lpstr>Process</vt:lpstr>
      <vt:lpstr>Process</vt:lpstr>
      <vt:lpstr>Process</vt:lpstr>
      <vt:lpstr>Four segments</vt:lpstr>
      <vt:lpstr>Four segments</vt:lpstr>
      <vt:lpstr>Four segments</vt:lpstr>
      <vt:lpstr>藥品短缺監控模型與風險燈號-雙模型優勢說明 本案將以「藥品短缺預測模型」與「重大短缺風險規則庫」建立兩道防線，第一道防線係以過往 貴署之資料進行短缺因子萃取，第二道防線係以過往 貴署資深同仁業務經驗/作業規範建立短缺防線。</vt:lpstr>
      <vt:lpstr>本案執行策略：先打底、快驗證、可交付、可發展 以資料基礎建設為起點，導入務實可用之 AI 應用，於專案期程內完成具驗證價值之藥品供應智慧監測 POC 雛形，並預留後續研究成果銜接與正式系統擴充空間。</vt:lpstr>
      <vt:lpstr>PowerPoint Presentation</vt:lpstr>
      <vt:lpstr>附件7 外部藥品資料庫擴充可行性評估(1/3)</vt:lpstr>
      <vt:lpstr>附件7 外部藥品資料庫擴充可行性評估(2/3) </vt:lpstr>
      <vt:lpstr>Table slide sample</vt:lpstr>
      <vt:lpstr>Table slide sample </vt:lpstr>
      <vt:lpstr>Table slide sample   </vt:lpstr>
      <vt:lpstr>Table slide sample    </vt:lpstr>
      <vt:lpstr>Short case studies</vt:lpstr>
      <vt:lpstr>Brand table 1</vt:lpstr>
      <vt:lpstr>PowerPoint Presentation</vt:lpstr>
      <vt:lpstr>PowerPoint Presentation</vt:lpstr>
      <vt:lpstr>One column chart </vt:lpstr>
      <vt:lpstr>Three images three content</vt:lpstr>
      <vt:lpstr>Graphs</vt:lpstr>
      <vt:lpstr>Graphs</vt:lpstr>
      <vt:lpstr>Charts</vt:lpstr>
      <vt:lpstr>Chart and two content</vt:lpstr>
      <vt:lpstr>Graphs</vt:lpstr>
      <vt:lpstr>Graphs</vt:lpstr>
      <vt:lpstr>Donut chart</vt:lpstr>
      <vt:lpstr>PowerPoint Presentation</vt:lpstr>
      <vt:lpstr>Text and large stat  lorem ipsum dolor sit amet, consectetuer adipiscing elit </vt:lpstr>
      <vt:lpstr>Text and large stat lorem ipsum dolor sit amet, consectetuer adipiscing elit </vt:lpstr>
      <vt:lpstr>Process</vt:lpstr>
      <vt:lpstr>Process</vt:lpstr>
      <vt:lpstr>PwC 顧問團隊 – Leadership</vt:lpstr>
      <vt:lpstr>Intro title</vt:lpstr>
      <vt:lpstr>Intro title</vt:lpstr>
      <vt:lpstr>Intro title</vt:lpstr>
      <vt:lpstr>CV—one person</vt:lpstr>
      <vt:lpstr>CV—one person</vt:lpstr>
      <vt:lpstr>CV—one person</vt:lpstr>
      <vt:lpstr>CV—two people</vt:lpstr>
      <vt:lpstr>CV—two people</vt:lpstr>
      <vt:lpstr>Bios—two people</vt:lpstr>
      <vt:lpstr>Bios—two people</vt:lpstr>
      <vt:lpstr>Bios—three people</vt:lpstr>
      <vt:lpstr>Bios—three people</vt:lpstr>
      <vt:lpstr>Bios—four people</vt:lpstr>
      <vt:lpstr>Bios—four people</vt:lpstr>
      <vt:lpstr>Four team images</vt:lpstr>
      <vt:lpstr>Four team images stacked</vt:lpstr>
      <vt:lpstr>Team chart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2026-08-13T06:16:32Z</dcterms:created>
  <dcterms:modified xsi:type="dcterms:W3CDTF">2026-08-28T08:56:35Z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0x01010057CEFDBAE80C59469568A37FF2AD9E46</vt:lpwstr>
  </property>
  <property fmtid="{D5CDD505-2E9C-101B-9397-08002B2CF9AE}" pid="3" name="MediaServiceImageTags">
    <vt:lpwstr/>
  </property>
</Properties>
</file>