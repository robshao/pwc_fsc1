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使用成本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Sheet1!$A$2:$A$3</c:f>
              <c:strCache>
                <c:ptCount val="2"/>
                <c:pt idx="0">
                  <c:v>2022 年 11 月</c:v>
                </c:pt>
                <c:pt idx="1">
                  <c:v>2024 年 10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0.36</c:v>
                </c:pt>
              </c:numCache>
            </c:numRef>
          </c:val>
        </c:ser>
        <c:dLbls>
          <c:numFmt formatCode="0.## &quot;元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成效</c:v>
                </c:pt>
              </c:strCache>
            </c:strRef>
          </c:tx>
          <c:spPr>
            <a:ln w="44450">
              <a:solidFill>
                <a:srgbClr val="FD5108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-1.2</c:v>
                </c:pt>
                <c:pt idx="2">
                  <c:v>-1.8</c:v>
                </c:pt>
                <c:pt idx="3">
                  <c:v>-1.2</c:v>
                </c:pt>
                <c:pt idx="4">
                  <c:v>0.6</c:v>
                </c:pt>
                <c:pt idx="5">
                  <c:v>2.6</c:v>
                </c:pt>
                <c:pt idx="6">
                  <c:v>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寫程式的工具，各位的團隊大概都已經在用了。今天不談工具，談三件事：第一，這套 AI 原生的開發做法在實務上怎麼跑；第二，怎麼把它做成每個案子都能沿用的東西，而不是每次從頭來；第三，做得快的同時，治理和人工把關放在哪裡。結論先講：從一個用例開始，做得快，也管得住。」</a:t>
            </a:r>
          </a:p>
          <a:p>
            <a:r>
              <a:t>【轉場】「我先用一頁把整件事講完，後面再展開。」</a:t>
            </a:r>
          </a:p>
          <a:p/>
          <a:p>
            <a:r>
              <a:t>【內部提醒】向 Sam 說明有兩個版本：審閱版多三頁內部頁（請您決定、為什麼要做成產品、團隊分工）與兩個內部附錄（示範錄影、研究整合）；客戶版不含。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讓寫程式變便宜，客戶缺的是一套每次都能照做、管得住的方法；這就是我們要做成產品的東西。</a:t>
            </a:r>
          </a:p>
          <a:p>
            <a:r>
              <a:t>【講法】「左邊這張圖：同樣能力的 AI，兩年內使用成本降到大約 280 分之一，以前花 100 元，現在不到 0.4 元。寫程式這件事會越來越便宜。中間這條線是導入 AI 的真實狀況：一開始會先變慢，因為大家在學、要審查的東西變多、流程要調整；下滑的那一段，就是治理沒做好的成本。所以我們要賣的，不是寫程式的人力，而是一套每次都能照做、管得住的方法：審查、關卡、紀錄都做成範本，每做一個試點就多一份能重複用的資產，做越多越快、越便宜。」</a:t>
            </a:r>
          </a:p>
          <a:p>
            <a:r>
              <a:t>【做法】先賣診斷加一個試點：診斷 4 到 6 週、試點 6 到 8 週，達標才擴大；每個試點至少留下一個能重複用的範本或規則，累積夠了、有實績，再推出客戶自己能用的工具包。</a:t>
            </a:r>
          </a:p>
          <a:p>
            <a:r>
              <a:t>【可能被問】「跟 Deloitte 的加速器有什麼不同？」→ 他們偏預建代理與藍圖；我們把在地法規、可稽核關卡和人工把關綁在一起（附錄同業參考）。</a:t>
            </a:r>
          </a:p>
          <a:p/>
          <a:p>
            <a:r>
              <a:t>【內部提醒】J 曲線是示意圖，概念來自 DORA 2026，不是實際數據；成本數字是 Stanford AI Index 的資料。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【講法】四章加附錄：面向誰、解決什麼問題、帶來什麼價值、可擴充與可複製。時間不夠時，優先講第 02 章的解法、AI 分工與現場示範，以及第 03 章的「買到什麼」；附錄依提問使用。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【講法】「三個數字。第一，金管會今年 10 月的調查：保險業已經有 53% 在用 AI，前年是 43%，壽險公司更高達 65%。第二，有用 AI 的金融業者裡，76% 已經導入生成式 AI，一年前還不到一半。第三，Veracode 測了 100 多個 AI 模型：AI 寫的程式，約 45% 有資安漏洞。而委外新辦法和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  <a:p/>
          <a:p>
            <a:r>
              <a:t>【內部提醒】金管會數字目前依工商時報、聯合報等報導，對外前請對照金管會原始公告。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當場做出原型，一起確認需求；法遵、風控、資安握有否決權，在意出事誰負責；管理層在意回報。中間下方是新做法：前線打樣的 BA，像軟體業的「前線部署工程師」一樣，駐點在客戶現場直接做原型。最下面是我們優先找的客戶條件。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  <a:p/>
          <a:p>
            <a:r>
              <a:t>【內部提醒】決策鏈仍是依經驗推估，診斷訪談時確認。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【講法】上排四個數字說明普及：開發者 84% 在用或計畫用 AI；JPMorgan、Citi 已大規模導入；PwC 調查，57% 的保險業高階主管把生成式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  <a:p/>
          <a:p>
            <a:r>
              <a:t>【內部提醒】56% 依多家媒體報導 PwC 第 29 屆 CEO 調查；PwC 各地網頁寫法略有出入，對外前請對照 PwC 原始報告。57% 仍是轉引 Claims Journal，請改引 PwC 原始報告。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【這頁的重點】把開發流程串成循環，用三個機制守住；關鍵決定由人做。</a:t>
            </a:r>
          </a:p>
          <a:p>
            <a:r>
              <a:t>【講法】左邊是循環：需求分析、設計、開發、測試、上線、維運，維運發現的問題回到下一個需求。右邊是三個機制：交接靠檔案，每一步交出文件給下一步；規則自動執行，資安、個資、委外規範寫成 AI 自動套用的規則；關卡有人簽，接受需求、確認規格、核准計畫、核准合併、授權上線，五個決定由客戶指定的人做。原則只有一句：AI 可以一路做到正式環境的門口，但不能自己開門。頁底：DORA 2026 建議的不可略過檢查點、提交前檢查、小批次與版本控制，和這三個機制一致。</a:t>
            </a:r>
          </a:p>
          <a:p>
            <a:r>
              <a:t>【可能被問】「要換掉我們現有的 Jira 或變更管理嗎？」→ 不用，關卡與紀錄接在既有工具上，診斷時確認做法。「綁哪個 AI 工具？」→ 不綁，依客戶政策與合約選定。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【這頁的重點】不是概念：上方是同一個功能從規則到測試的文件，下方是系統自動跑畫面測試的錄影。</a:t>
            </a:r>
          </a:p>
          <a:p>
            <a:r>
              <a:t>【講法】「上面五個框是金融機構主檔這個功能：7 條業務規則，包括制裁國家建檔要主管覆核；6 份規格；每個任務寫明驗收場景，最多只能改 5 個檔案；QA 規格定了 10 個測試案例，品質閘門要求覆蓋率超過 90%；每個任務都回溯到規則代碼，制裁建檔寫入審計。下面三段錄影，點一下就會播放：系統自動跑畫面測試，包括查詢、開新增視窗、欄位檢核。」最後邀請：「現場示範可以用客戶的一個需求走一遍。」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  <a:p/>
          <a:p>
            <a:r>
              <a:t>【內部提醒】(1) 請 IT 確認：錄影是否由 AI／自動化測試執行，可否說「AI 協助測試」；(2) 素材對外前確認不含客戶資料或客戶專屬設計；(3) 錄影拍的是國家、區域、幣別，規格是金融機構，最好補一段金融機構選單錄影；(4) 第 5 步仍缺人工核准畫面；(5) 規格負責人欄寫「Lead Agent」，被問到時說明由誰審核。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【這頁的重點】五個痛點，每個都有一個做法、一個數字驗收。</a:t>
            </a:r>
          </a:p>
          <a:p>
            <a:r>
              <a:t>【講法】由上往下：需求來回很多輪，AI 快速做出原型，業務當場確認，量需求定稿時間；審查排隊，AI 先審、人只判斷風險，量等待時間和返工次數；上線出錯，每次改動自動測試，量變更失敗率；稽核壓力，每一步自動留紀錄，量調閱佐證的時間；交付難預期，每階段交出檔案，量交付時間。試點前先量基準，不先承諾數字。</a:t>
            </a:r>
          </a:p>
          <a:p>
            <a:r>
              <a:t>【可能被問】「能保證快多少嗎？」→ 不承諾數字，用試點前後的實測證明。回收期參考：需要大量治理的大型企業，12 到 18 個月屬可接受。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【這頁的重點】金檢和內稽一定會問的五題，每一題都有做法、也留得下紀錄。</a:t>
            </a:r>
          </a:p>
          <a:p>
            <a:r>
              <a:t>【講法】逐張講：AI 工具有沒有納管？診斷時就判斷委外、登錄 AI 清冊。個資會不會進到 AI？資料分級，機密檔 AI 讀不到。上線誰核准？指定的人，AI 不能核准自己寫的程式。出事能不能退？先演練，AI 建議、人決定。事後查不查得到？所有文件都存版本。一句話：AI 的使用從個人行為變成有紀錄的流程。</a:t>
            </a:r>
          </a:p>
          <a:p>
            <a:r>
              <a:t>【建議】這頁最好在法遵在場時講，或會前先單獨給法遵看。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【這頁的重點】先診斷、再試點；成功標準事先講好，達標才擴大。</a:t>
            </a:r>
          </a:p>
          <a:p>
            <a:r>
              <a:t>【講法】左邊，準備度診斷 4–6 週：盤點現況與卡點、做法規檢查、挑第一個用例、訂成功標準；交付瓶頸地圖、法規檢查結果、用例建議與導入藍圖。中間，一個用例的試點 6–8 週：用真實需求走完循環，建立範本、規則與關卡，同時教會各角色；交付完成的試點、範本與規則、教材與成效報告。右邊是成功標準：需求定稿時間、第一次審查等待時間、返工次數；核准紀錄完整是必要條件；合格線用診斷期量到的基準在試點前約定。達標擴大，未達標就檢討後再試或停止。下方是需要客戶配合的事項，以及我們的團隊組成；試點風險見附錄。</a:t>
            </a:r>
          </a:p>
          <a:p>
            <a:r>
              <a:t>【可能被問】「價格？」→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【這頁的重點】已在用的做法，加上在地法規與可稽核關卡。</a:t>
            </a:r>
          </a:p>
          <a:p>
            <a:r>
              <a:t>【講法】四個差異，每個都有證據：已經在用，見現場示範；台灣保險法規內建，見法規檢查清單；懂保險業務與在地系統，用例直接挑理賠、核保、核心系統周邊；可稽核的人工關卡，寫程式的 AI 不能核准自己的程式。和國際方案的差別：國際方案多以預建代理與藍圖為主，我們從客戶的一個真實需求開始。</a:t>
            </a:r>
          </a:p>
          <a:p/>
          <a:p>
            <a:r>
              <a:t>【內部提醒】「懂保險業務」的證據欄仍待補 2–3 個 FSC1 保險業專案；如果再保險系統是 FSC1 自己的專案，可以直接補上。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【轉場】「最後講怎麼擴大：每一步都沿用前一步的範本、規則與關卡，所以越做越快。」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【這頁的重點】每一步只承諾下一步；越往上，範本和規則越多，下一個越快。</a:t>
            </a:r>
          </a:p>
          <a:p>
            <a:r>
              <a:t>【講法】四個台階，箭頭往上：一個用例，然後驗證價值，決定擴大、調整或停止，再到相鄰用例，最後才是全公司。右邊是為什麼這樣做：風險小、成本可控、有數據才擴大、越做越快。最後一點：導入初期會先變慢一陣子，最常見的失敗是在低谷時喊停，所以成功標準和觀察期間要先講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【這頁的重點】不是概念：上方是同一個功能從規則到測試的文件，下方是系統自動跑畫面測試的錄影。</a:t>
            </a:r>
          </a:p>
          <a:p>
            <a:r>
              <a:t>【講法】「上面五個框是金融機構主檔這個功能：7 條業務規則，包括制裁國家建檔要主管覆核；6 份規格；每個任務寫明驗收場景，最多只能改 5 個檔案；QA 規格定了 10 個測試案例，品質閘門要求覆蓋率超過 90%；每個任務都回溯到規則代碼，制裁建檔寫入審計。下面三段錄影，點一下就會播放：系統自動跑畫面測試，包括查詢、開新增視窗、欄位檢核。」最後邀請：「現場示範可以用客戶的一個需求走一遍。」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  <a:p/>
          <a:p>
            <a:r>
              <a:t>【內部提醒】(1) 請 IT 確認：錄影是否由 AI／自動化測試執行，可否說「AI 協助測試」；(2) 素材對外前確認不含客戶資料或客戶專屬設計；(3) 錄影拍的是國家、區域、幣別，規格是金融機構，最好補一段金融機構選單錄影；(4) 第 5 步仍缺人工核准畫面；(5) 規格負責人欄寫「Lead Agent」，被問到時說明由誰審核。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  <a:p/>
          <a:p>
            <a:r>
              <a:t>【內部提醒】延伸到其他保險公司時，審計客戶要先確認獨立性。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  <a:p/>
          <a:p>
            <a:r>
              <a:t>【內部提醒】對客戶是否保留同業公司名稱，待 Sam 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  <a:p/>
          <a:p>
            <a:r>
              <a:t>【內部提醒】任務與規則的對應是依任務內容判讀，待 IT 確認；任務包只附 001 與 005。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【用途】被問「會出什麼問題」時使用。五個風險各有提早發現的訊號、事前降低的做法、發生時的應變與負責人。正式清單於診斷時與客戶共同確認。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【用途】內部參考：兩份研究的差異，以及本提案採用哪一邊、為什麼。提交客戶前移除。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hyperlink" Target="https://hai.stanford.edu/ai-index/2025-ai-index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ctee.com.tw/news/20261016700947-430301" TargetMode="External"/><Relationship Id="rId3" Type="http://schemas.openxmlformats.org/officeDocument/2006/relationships/hyperlink" Target="https://udn.com/news/story/7239/9817114" TargetMode="External"/><Relationship Id="rId4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amp.claimsjournal.com/news/national/2025/11/17/334094.htm" TargetMode="External"/><Relationship Id="rId6" Type="http://schemas.openxmlformats.org/officeDocument/2006/relationships/hyperlink" Target="https://www.pwc.com/gx/en/ceo-survey/2026/pwc-ceo-survey-2026.pdf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hyperlink" Target="https://softwareengineeringproductivity.stanford.edu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microsoft.com/office/2007/relationships/media" Target="../media/media1.mp4"/><Relationship Id="rId8" Type="http://schemas.openxmlformats.org/officeDocument/2006/relationships/video" Target="../media/media1.mp4"/><Relationship Id="rId9" Type="http://schemas.openxmlformats.org/officeDocument/2006/relationships/image" Target="../media/image10.png"/><Relationship Id="rId10" Type="http://schemas.microsoft.com/office/2007/relationships/media" Target="../media/media2.mp4"/><Relationship Id="rId11" Type="http://schemas.openxmlformats.org/officeDocument/2006/relationships/video" Target="../media/media2.mp4"/><Relationship Id="rId12" Type="http://schemas.openxmlformats.org/officeDocument/2006/relationships/image" Target="../media/image11.png"/><Relationship Id="rId13" Type="http://schemas.microsoft.com/office/2007/relationships/media" Target="../media/media3.mp4"/><Relationship Id="rId14" Type="http://schemas.openxmlformats.org/officeDocument/2006/relationships/video" Target="../media/media3.mp4"/><Relationship Id="rId15" Type="http://schemas.openxmlformats.org/officeDocument/2006/relationships/image" Target="../media/image12.png"/><Relationship Id="rId1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allenandgledhill.com/sg/publication/articles/29565/mas-publishes-information-paper-on-ai-model-risk-management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把 AI 原生開發做成產品：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為什麼要做成產品：開發變便宜，治理才是能賣的能力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讓「寫程式」越來越便宜；客戶真正缺的，是一套每次都能照做、而且管得住的方法。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越來越便宜</a:t>
            </a:r>
          </a:p>
        </p:txBody>
      </p:sp>
      <p:graphicFrame>
        <p:nvGraphicFramePr>
          <p:cNvPr id="307" name="Chart 306"/>
          <p:cNvGraphicFramePr>
            <a:graphicFrameLocks noGrp="1"/>
          </p:cNvGraphicFramePr>
          <p:nvPr/>
        </p:nvGraphicFramePr>
        <p:xfrm>
          <a:off x="411480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8" name="Rectangle 307"/>
          <p:cNvSpPr/>
          <p:nvPr/>
        </p:nvSpPr>
        <p:spPr>
          <a:xfrm>
            <a:off x="411480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同樣能力的 AI，使用成本兩年降到約 1/280：以前花 100 元，現在不到 0.4 元。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導入 AI 的真實曲線（示意）</a:t>
            </a:r>
          </a:p>
        </p:txBody>
      </p:sp>
      <p:graphicFrame>
        <p:nvGraphicFramePr>
          <p:cNvPr id="310" name="Chart 309"/>
          <p:cNvGraphicFramePr>
            <a:graphicFrameLocks noGrp="1"/>
          </p:cNvGraphicFramePr>
          <p:nvPr/>
        </p:nvGraphicFramePr>
        <p:xfrm>
          <a:off x="4233672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1" name="Rectangle 310"/>
          <p:cNvSpPr/>
          <p:nvPr/>
        </p:nvSpPr>
        <p:spPr>
          <a:xfrm>
            <a:off x="5120640" y="3726595"/>
            <a:ext cx="201168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↑ 先變慢：學習、審查變多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400800" y="2141026"/>
            <a:ext cx="1463040" cy="33915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再往上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233672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一開始會先變慢；下滑的那一段，就是審查、流程、治理沒做好的成本。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55864" y="1691640"/>
            <a:ext cx="37033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所以我們要賣的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55864" y="2115589"/>
            <a:ext cx="3703320" cy="275566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不是寫程式的人力，而是一套每次都能照做、管得住的方法。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・審查、關卡、紀錄做成每個案子都能直接用的範本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・每做一個試點，就多一份能重複用的資產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・做越多，下一個越快、越便宜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40837"/>
            <a:ext cx="91440" cy="7631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5040837"/>
            <a:ext cx="11292840" cy="7631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做法：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先賣「診斷＋一個試點」：4–6 週診斷、6–8 週做一個用例，達標才擴大。每個試點至少留下一個能重複用的範本或規則；累積夠了、有實績，再推出客戶自己就能用的工具包。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Stanford AI Index 2025（經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DORA，The ROI of AI-assisted Software Development，2026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7–11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12–16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做成可沿用的做法：逐步擴大、如何開始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17–19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示範情境、延伸方式、同業參考、法規清單、示範追溯、試點風險、研究整合、資料來源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寫的程式近半有資安漏洞，而責任在保險公司。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金管會 2026-10 調查（工商時報）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調查（聯合報）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寫的程式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含有資安漏洞。測了 100 多個 AI 模型、80 個寫程式任務。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Veracode，2025-07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310" name="Oval 309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Rectangle 310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312" name="Connector 311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4617720" y="3217856"/>
            <a:ext cx="822960" cy="805504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H="1" flipV="1">
            <a:off x="6766560" y="3217856"/>
            <a:ext cx="822960" cy="805504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Rectangle 315"/>
          <p:cNvSpPr/>
          <p:nvPr/>
        </p:nvSpPr>
        <p:spPr>
          <a:xfrm>
            <a:off x="4754880" y="3938570"/>
            <a:ext cx="2697480" cy="11870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新做法：前線打樣的 BA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我們的 BA 駐點客戶現場，用 AI 直接做出可操作的原型，類似軟體業的「前線部署工程師」做法。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149340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9018269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 AI 列為 2026 年首要科技投資（PwC 調查）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JPMorgan（Yahoo Finance）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Citi（Deloitte Insights）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 保險高階主管調查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PwC 第 29 屆全球 CEO 調查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/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既有系統效益：Stanford 軟體工程生產力研究（經 DORA 2026 引用）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參與每一步；接受需求、核准合併、授權上線等五個關鍵決定，由客戶指定的人做。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工具，依客戶政策與合約選定。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H）。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242773"/>
            <a:ext cx="3794760" cy="3222013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分類在診斷時，依客戶的專案與規範確認（第 15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現場示範：再保險系統主檔模組，從業務規則到上線畫面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團隊的實作為例：規則、規格、任務與測試一路相連；下方錄影是系統自動跑的畫面測試。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1" y="2098631"/>
            <a:ext cx="2074881" cy="151773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35" y="2098631"/>
            <a:ext cx="2074881" cy="1517737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179" y="2098631"/>
            <a:ext cx="2074881" cy="1517737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列明驗收場景，最多改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323" y="2098631"/>
            <a:ext cx="2074881" cy="1517737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467" y="2098631"/>
            <a:ext cx="2074881" cy="1517737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7" name="video_countries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1087387" y="4303166"/>
            <a:ext cx="2351504" cy="1322721"/>
          </a:xfrm>
          <a:prstGeom prst="rect">
            <a:avLst/>
          </a:prstGeom>
        </p:spPr>
      </p:pic>
      <p:sp>
        <p:nvSpPr>
          <p:cNvPr id="328" name="Rectangle 327"/>
          <p:cNvSpPr/>
          <p:nvPr/>
        </p:nvSpPr>
        <p:spPr>
          <a:xfrm>
            <a:off x="411480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233672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0" name="video_regions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4909579" y="4303166"/>
            <a:ext cx="2351504" cy="1322721"/>
          </a:xfrm>
          <a:prstGeom prst="rect">
            <a:avLst/>
          </a:prstGeom>
        </p:spPr>
      </p:pic>
      <p:sp>
        <p:nvSpPr>
          <p:cNvPr id="331" name="Rectangle 330"/>
          <p:cNvSpPr/>
          <p:nvPr/>
        </p:nvSpPr>
        <p:spPr>
          <a:xfrm>
            <a:off x="4233672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055863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3" name="video_currencies.mp4">
            <a:hlinkClick r:id="" action="ppaction://media"/>
          </p:cNvPr>
          <p:cNvPicPr>
            <a:picLocks noChangeAspect="1"/>
          </p:cNvPicPr>
          <p:nvPr>
            <a:videoFile r:link="rId14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8731771" y="4303166"/>
            <a:ext cx="2351504" cy="1322721"/>
          </a:xfrm>
          <a:prstGeom prst="rect">
            <a:avLst/>
          </a:prstGeom>
        </p:spPr>
      </p:pic>
      <p:sp>
        <p:nvSpPr>
          <p:cNvPr id="334" name="Rectangle 333"/>
          <p:cNvSpPr/>
          <p:nvPr/>
        </p:nvSpPr>
        <p:spPr>
          <a:xfrm>
            <a:off x="8055863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上方為 TASK-000013「金融機構主檔」任務包原文節錄；下方為同一系統自動執行畫面測試的錄影（點擊播放，測試資料）。追溯表見附錄 E。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2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3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很快就能做出原型，需求、審查、測試都跟著變快；每一項都用一個數字驗收。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07" name="Right Arrow 306"/>
          <p:cNvSpPr/>
          <p:nvPr/>
        </p:nvSpPr>
        <p:spPr>
          <a:xfrm>
            <a:off x="3017520" y="1895135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3474720" y="1691640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823960" y="1691640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3017520" y="2632806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474720" y="2429311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2429311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審查等待時間、返工次數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166982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5" name="Right Arrow 314"/>
          <p:cNvSpPr/>
          <p:nvPr/>
        </p:nvSpPr>
        <p:spPr>
          <a:xfrm>
            <a:off x="3017520" y="3370478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474720" y="3166982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823960" y="3166982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904654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稽核壓力</a:t>
            </a:r>
          </a:p>
        </p:txBody>
      </p:sp>
      <p:sp>
        <p:nvSpPr>
          <p:cNvPr id="319" name="Right Arrow 318"/>
          <p:cNvSpPr/>
          <p:nvPr/>
        </p:nvSpPr>
        <p:spPr>
          <a:xfrm>
            <a:off x="3017520" y="4108149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474720" y="3904654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每一步自動留下紀錄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823960" y="3904654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調閱佐證所需時間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642325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3" name="Right Arrow 322"/>
          <p:cNvSpPr/>
          <p:nvPr/>
        </p:nvSpPr>
        <p:spPr>
          <a:xfrm>
            <a:off x="3017520" y="4845821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474720" y="4642325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823960" y="4642325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54957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試點前先量基準、訂合格線；效益不先承諾數字，以實測為準。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回收期參考：需要大量治理的大型企業導入，12–18 個月屬可接受（國際研究，附錄 H）。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金檢與內稽一定會問這五題，每一題都有做法、也留得下紀錄；條文見附錄 D，實例見附錄 E。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診斷時就判斷是否屬委外，並登錄 AI 清冊。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01768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296912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建議退版，人決定。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592056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需求、規格、計畫、測試結果都存版本。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956048"/>
            <a:ext cx="91440" cy="67831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1" name="Rectangle 320"/>
          <p:cNvSpPr/>
          <p:nvPr/>
        </p:nvSpPr>
        <p:spPr>
          <a:xfrm>
            <a:off x="502920" y="4956048"/>
            <a:ext cx="11292840" cy="67831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的使用，從「難以稽核的個人行為」變成「有紀錄的流程」。法規檢查清單是草稿，診斷時與客戶法遵逐條確認。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客戶需配合：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國際方案多以預建代理與藍圖為主；我們綁上在地法規與可稽核關卡，從客戶的一個真實需求開始。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客戶得到什麼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9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cxnSp>
        <p:nvCxnSpPr>
          <p:cNvPr id="314" name="Connector 313"/>
          <p:cNvCxnSpPr/>
          <p:nvPr/>
        </p:nvCxnSpPr>
        <p:spPr>
          <a:xfrm flipV="1">
            <a:off x="548640" y="1564455"/>
            <a:ext cx="8229600" cy="2034955"/>
          </a:xfrm>
          <a:prstGeom prst="line">
            <a:avLst/>
          </a:prstGeom>
          <a:ln w="50800">
            <a:solidFill>
              <a:srgbClr val="FE7C3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導入初期會先變慢一陣子，最常見的失敗是在低谷時喊停；成功標準和觀察期間要先講好。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三個步驟就能開始；請客戶先指定窗口，並給我們一份想做的需求清單。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拿客戶的一個真實需求，當場跑一次：從寫需求到上線前的核准。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請客戶提供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客戶的資安與命名規範、系統與工具串接、資料分級與核准人、用例題目與基準、委外安排。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用例效益偏低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用例落在複雜的既有系統，重複性工作少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調整範圍或換用例，不硬撐到底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PwC（BA、IT）＋客戶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改由客戶自有人員或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曲線、既有系統效益）與試點規劃整理；正式清單於診斷時與客戶共同確認。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示範補上：再保險系統主檔模組（第 11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對外收斂為「診斷＋一個用例試點」，其餘依需求討論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H｜資料來源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Allen &amp; Gledhill，MAS 發布 AI 模型風險管理資訊文件（2024-12-05）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