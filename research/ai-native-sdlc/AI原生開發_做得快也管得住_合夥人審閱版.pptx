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使用成本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Sheet1!$A$2:$A$3</c:f>
              <c:strCache>
                <c:ptCount val="2"/>
                <c:pt idx="0">
                  <c:v>2022 年 11 月</c:v>
                </c:pt>
                <c:pt idx="1">
                  <c:v>2024 年 10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0.36</c:v>
                </c:pt>
              </c:numCache>
            </c:numRef>
          </c:val>
        </c:ser>
        <c:dLbls>
          <c:numFmt formatCode="0.## &quot;元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成效</c:v>
                </c:pt>
              </c:strCache>
            </c:strRef>
          </c:tx>
          <c:spPr>
            <a:ln w="44450">
              <a:solidFill>
                <a:srgbClr val="FD5108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-1.2</c:v>
                </c:pt>
                <c:pt idx="2">
                  <c:v>-1.8</c:v>
                </c:pt>
                <c:pt idx="3">
                  <c:v>-1.2</c:v>
                </c:pt>
                <c:pt idx="4">
                  <c:v>0.6</c:v>
                </c:pt>
                <c:pt idx="5">
                  <c:v>2.6</c:v>
                </c:pt>
                <c:pt idx="6">
                  <c:v>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  <a:p/>
          <a:p>
            <a:r>
              <a:t>【內部提醒】向 Sam 說明有兩個版本：審閱版多三頁內部頁（請您決定、為什麼要做成產品、團隊分工）與兩個內部附錄（示範錄影、研究整合）；客戶版不含。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讓寫程式變便宜，客戶缺的是一套每次都能照做、管得住的方法；這就是我們要做成產品的東西。</a:t>
            </a:r>
          </a:p>
          <a:p>
            <a:r>
              <a:t>【講法】「左邊這張圖：同樣能力的 AI，兩年內使用成本降到大約 280 分之一，以前花 100 元，現在不到 0.4 元。寫程式這件事會越來越便宜。中間這條線是導入 AI 的真實狀況：一開始會先變慢，因為大家在學、要審查的東西變多、流程要調整；下滑的那一段，就是治理沒做好的成本。所以我們要賣的，不是寫程式的人力，而是一套每次都能照做、管得住的方法：審查、關卡、紀錄都做成範本，每做一個試點就多一份能重複用的資產，做越多越快、越便宜。」</a:t>
            </a:r>
          </a:p>
          <a:p>
            <a:r>
              <a:t>【做法】先賣診斷加一個試點：診斷 4 到 6 週、試點 6 到 8 週，達標才擴大；每個試點至少留下一個能重複用的範本或規則，累積夠了、有實績，再推出客戶自己能用的工具包。</a:t>
            </a:r>
          </a:p>
          <a:p>
            <a:r>
              <a:t>【可能被問】「跟 Deloitte 的加速器有什麼不同？」→ 他們偏預建代理與藍圖；我們把在地法規、可稽核關卡和人工把關綁在一起（附錄同業參考）。</a:t>
            </a:r>
          </a:p>
          <a:p/>
          <a:p>
            <a:r>
              <a:t>【內部提醒】J 曲線是示意圖，概念來自 DORA 2026，不是實際數據；成本數字是 Stanford AI Index 的資料。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【講法】「四個數字。第一，McKinsey 去年對全球近兩千位主管的調查：88% 的企業已經至少在一個部門經常使用 AI，一年前是 78%，但多數還停在試點。第二，金管會今年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  <a:p/>
          <a:p>
            <a:r>
              <a:t>【內部提醒】(1) 金管會數字目前依工商時報、聯合報等報導，對外前請對照金管會原始公告；(2) 88% 已確認出自 McKinsey《The state of AI in 2025》（2025 年 6–7 月調查，1,993 人、105 國，自填問卷）；Gemini 說的「2025 年 71%」不對，前一年是 78%；(3) 45% 是實驗室測試的任務比例，不是「實際上線的程式 45% 有漏洞」，不要講成後者。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已經是金融業正在找的職位；這也是 FSC1 BA 的未來展望：駐點客戶現場，用 AI 當場做出原型。最下面是我們優先找的客戶條件。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  <a:p/>
          <a:p>
            <a:r>
              <a:t>【內部提醒】(1) 結論句是假設，要留空間讓客戶講他們的實際決策鏈，現場可以直接問「客戶是這樣嗎？」；(2) BlackRock 只引用職稱與招募地點，職務內容以職缺原文為準；這項 BA 做法目前沒寫進「買到什麼」的交付內容，被問到時說明會在試點中由 BA 實際執行。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的保險業高階主管把生成式與代理式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  <a:p/>
          <a:p>
            <a:r>
              <a:t>【內部提醒】56% 依多家媒體報導 PwC 第 29 屆 CEO 調查；PwC 各地網頁寫法略有出入，對外前請對照 PwC 原始報告。57% 已改連 PwC〈Reinventing insurance〉原頁；數字依 Insurance Journal 報導（樣本 136 位保險業高階主管），本環境連不上 pwc.com，對外前請在原頁確認數字。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【這頁的重點】先講以前怎麼做，再講我們帶來的新做法：AI 參與每一步，但用三個機制守住，關鍵決定由人做。</a:t>
            </a:r>
          </a:p>
          <a:p>
            <a:r>
              <a:t>【以前】需求、設計、開發、測試、上線一段一段交接，靠開會和個人經驗；文件常常跟不上程式。AI 是工程師各自在用的小工具：誰用了、AI 改了什麼、誰核准，事後查不到。規範靠人記得，審查靠人排隊。</a:t>
            </a:r>
          </a:p>
          <a:p>
            <a:r>
              <a:t>【新的做法】把開發流程串成一個循環，AI 參與每一步，維運發現的問題直接回到下一個需求。三個機制守住：第一，交接靠檔案，需求說明、規格、實作計畫、測試結果、核准紀錄，下一步直接接手；第二，規則自動執行，資安、個資、委外規範寫成 AI 自動套用的規則，必守的事由自動關卡擋下；第三，關卡有人簽，接受需求、確認規格、核准計畫、核准合併、授權上線，五個決定由客戶指定的人做。</a:t>
            </a:r>
          </a:p>
          <a:p>
            <a:r>
              <a:t>【講法】「原則只有一句：AI 可以一路做到正式環境、把上線準備好，但不能自己按下上線。這套方法也不綁特定 AI 工具。」</a:t>
            </a:r>
          </a:p>
          <a:p>
            <a:r>
              <a:t>【可能被問】「要換掉我們現有的 Jira 或變更管理嗎？」→ 不用，關卡與紀錄接在既有工具上，診斷時確認做法。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  <a:p/>
          <a:p>
            <a:r>
              <a:t>【內部提醒】(0) 測試錄影已移到下一頁；(1) 請 IT 確認：錄影是否由 AI／自動化測試執行，可否說「AI 協助測試」；(2) 素材對外前確認不含客戶資料或客戶專屬設計；(3) 錄影拍的是國家、區域、幣別，規格是金融機構，最好補一段金融機構選單錄影；(4) 第 5 步仍缺人工核准畫面；(5) 規格負責人欄寫「Lead Agent」，被問到時說明由誰審核。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  <a:p/>
          <a:p>
            <a:r>
              <a:t>【內部提醒】(1) 左側清單是示意，請 IT 提供一張實際的人工測試紀錄或測試報告截圖替換；(2) 請 IT 確認錄影是 AI 或自動化測試執行，以及測試腳本是否由 AI 產生；(3) 錄影拍的是國家、區域、幣別，規格是金融機構，最好補一段金融機構選單錄影。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【這頁的重點】一頁講完價值與治理：左邊是做得快的地方，每項都有指標；右邊是管得住的地方，每題都有紀錄。</a:t>
            </a:r>
          </a:p>
          <a:p>
            <a:r>
              <a:t>【講法】「左邊四個痛點：需求來回很多輪，AI 快速做出原型、業務當場確認，量需求定稿時間；審查排隊，AI 先審、人只判斷風險，量等待時間和返工次數；上線出錯，每次改動都自動測試，量變更失敗率；交付難預期，每階段交出檔案，量交付時間。右邊五題是監理機關會問的：AI 工具有沒有納管、個資會不會進到 AI、上線誰核准、出事能不能退、事後查不查得到；每一題都有做法，也留得下紀錄。」</a:t>
            </a:r>
          </a:p>
          <a:p>
            <a:r>
              <a:t>【可能被問】「能保證快多少嗎？」→ 不承諾數字，試點前量基準、訂合格線，用實測證明。</a:t>
            </a:r>
          </a:p>
          <a:p>
            <a:r>
              <a:t>【建議】右半頁最好在法遵在場時講，或會前先單獨給法遵看。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【這頁的重點】先診斷、再做一個場景的試點；成功標準先講好，達標才擴大。為什麼找我們，四個理由各有證據。</a:t>
            </a:r>
          </a:p>
          <a:p>
            <a:r>
              <a:t>【講法】「上半頁是買到什麼：準備度診斷 4 到 6 週，盤點現況、做法規檢查、挑出第一個場景、訂好成功標準；接著一個場景的試點 6 到 8 週，用真實需求走完循環，同時建立範本、規則與關卡、教會各角色。右邊是成功標準，達標才擴大。下半頁是為什麼選我們：已經在用，剛才的再保系統就是例子；台灣保險法規內建；BA 懂保險業務；人工關卡可稽核。」</a:t>
            </a:r>
          </a:p>
          <a:p>
            <a:r>
              <a:t>【可能被問】「價格？」→ 固定範圍、固定價格，另行報價。「跟國際顧問比？」→ 他們多以預建代理與藍圖為主，我們綁上在地法規與可稽核關卡，從客戶的一個真實需求開始。</a:t>
            </a:r>
          </a:p>
          <a:p/>
          <a:p>
            <a:r>
              <a:t>【內部提醒】「懂保險業務」的證據改用再保系統示範；如果 Sam 要更多保險業實績，補 2–3 個 FSC1 保險業專案。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【這頁的重點】每一步只承諾下一步；每個檢查點都可以擴大、調整或停止，彈性在客戶手上。</a:t>
            </a:r>
          </a:p>
          <a:p>
            <a:r>
              <a:t>【講法】「上面四步：一個場景、驗證價值、相鄰場景、全公司。每一步下面的橘色條，是可以沿用的範本與規則，越往後越多，所以下一個越快。每兩步之間有一個檢查點，三條路：達到合格線就擴大；部分達標就縮小範圍或換場景再試；不值得做就停，損失只限於這一步。最後提醒 J 曲線：導入初期會先變慢一陣子，最常見的失敗是在低谷時喊停，所以成功標準和觀察期間要在試點前講好。」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【講法】第一，現場示範：拿客戶一個真實需求，當場跑一次，從寫需求到上線前的核准。第二，一起挑題目：開一次會，挑出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個最適合先做的開發場景或業務痛點，順便確認資料、系統和法規上的限制。第三，開始診斷：定好範圍和窗口，開始盤點現在的開發流程和法規要求。右邊是需要客戶提供的資料。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【這頁的重點】收尾只講一句話，讓大家帶走：AI 讓寫程式變便宜，但責任沒有變少；敢讓 AI 的程式上線，靠的是治理。</a:t>
            </a:r>
          </a:p>
          <a:p>
            <a:r>
              <a:t>【講法】慢慢唸橘色那兩行：「AI 的使用成本，兩年降到 280 分之一；出了事，責任一分都沒有變少。」停兩秒。「所以未來的差距，不在誰寫得快，而在誰敢讓 AI 寫的程式上線。敢上線的前提，是每一步查得到、每個關鍵決定由人做，這就是我們幫保險公司建好的東西。」接著講下一步：「我們想請客戶做的只有一件事：約一場現場示範，用你們自己的一個需求。」</a:t>
            </a:r>
          </a:p>
          <a:p>
            <a:r>
              <a:t>【收尾】講完下一步就停，不要再補充；把時間留給對方回應。</a:t>
            </a:r>
          </a:p>
          <a:p>
            <a:r>
              <a:t>【可能被問】「1/280 是寫程式的成本嗎？」→ 不是，是同等能力的 AI 模型使用成本（Stanford AI Index 2025）；寫程式整體成本降多少，要看流程，所以我們用試點實測。</a:t>
            </a:r>
          </a:p>
          <a:p/>
          <a:p>
            <a:r>
              <a:t>【內部提醒】(1) 1/280 是模型使用成本，不是開發成本，講的時候不要說成「寫程式便宜 280 倍」；(2) 「兩週內就能安排」需先和 IT 確認示範人力。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  <a:p/>
          <a:p>
            <a:r>
              <a:t>【內部提醒】延伸到其他保險公司時，審計客戶要先確認獨立性。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  <a:p/>
          <a:p>
            <a:r>
              <a:t>【內部提醒】對客戶是否保留同業公司名稱，待 Sam 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  <a:p/>
          <a:p>
            <a:r>
              <a:t>【內部提醒】任務與規則的對應是依任務內容判讀，待 IT 確認；任務包只附 001 與 005。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【用途】被問「會出什麼問題」時使用。五個風險各有提早發現的訊號、事前降低的做法、發生時的應變與負責人。正式清單於診斷時與客戶共同確認。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【用途】內部參考：兩份研究的差異，以及本提案採用哪一邊、為什麼。提交客戶前移除。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hyperlink" Target="https://hai.stanford.edu/ai-index/2025-ai-index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www.pwc.com/us/en/industries/financial-services/library/reinventing-insurance.html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5-ai-index-report" TargetMode="External"/><Relationship Id="rId3" Type="http://schemas.openxmlformats.org/officeDocument/2006/relationships/hyperlink" Target="https://www.leeandli.com/TW/Newsletters/7525.htm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www.pwc.com/us/en/industries/financial-services/library/reinventing-insurance.html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hbs.edu/faculty/Pages/item.aspx?num=64700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原生開發框架做成產品：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為什麼要做成產品：開發變便宜，治理才是能賣的能力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讓「寫程式」越來越便宜；客戶真正缺的，是一套每次都能照做、而且管得住的方法。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越來越便宜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同樣能力的 AI，使用成本兩年降到約 1/280：以前花 100 元，現在不到 0.4 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導入 AI 的真實曲線（示意）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233672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0" y="3726595"/>
            <a:ext cx="201168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↑ 先變慢：學習、審查變多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41026"/>
            <a:ext cx="1463040" cy="33915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再往上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一開始會先變慢；下滑的那一段，就是審查、流程、治理沒做好的成本。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4" y="1691640"/>
            <a:ext cx="37033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所以我們要賣的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4" y="2115589"/>
            <a:ext cx="3703320" cy="275566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不是寫程式的人力，而是一套每次都能照做、管得住的方法。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・審查、關卡、紀錄做成每個案子都能直接用的範本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・每做一個試點，就多一份能重複用的資產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・做越多，下一個越快、越便宜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040837"/>
            <a:ext cx="91440" cy="7631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40837"/>
            <a:ext cx="11292840" cy="7631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做法：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先賣「診斷＋一個試點」：4–6 週診斷、6–8 週做一個業務場景，達標才擴大。每個試點至少留下一個能重複用的範本或規則；累積夠了、有實績，再推出客戶自己就能用的工具包。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Stanford AI Index 2025（經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DORA，The ROI of AI-assisted Software Development，2026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1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  <p:bldGraphic spid="11" grpId="0">
        <p:bldAsOne/>
      </p:bldGraphic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Agenda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價值與治理、買到什麼、為什麼選我們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13–15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16–19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24" name="計數 24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25" name="計數 2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20%</a:t>
            </a:r>
          </a:p>
        </p:txBody>
      </p:sp>
      <p:sp>
        <p:nvSpPr>
          <p:cNvPr id="26" name="計數 2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27" name="計數 27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28" name="計數 28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62%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77%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82%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85%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87%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4" name="計數 34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5" name="計數 35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12%</a:t>
            </a:r>
          </a:p>
        </p:txBody>
      </p:sp>
      <p:sp>
        <p:nvSpPr>
          <p:cNvPr id="36" name="計數 36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22%</a:t>
            </a:r>
          </a:p>
        </p:txBody>
      </p:sp>
      <p:sp>
        <p:nvSpPr>
          <p:cNvPr id="37" name="計數 37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31%</a:t>
            </a:r>
          </a:p>
        </p:txBody>
      </p:sp>
      <p:sp>
        <p:nvSpPr>
          <p:cNvPr id="38" name="計數 38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39" name="計數 3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40" name="計數 4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</p:txBody>
      </p:sp>
      <p:sp>
        <p:nvSpPr>
          <p:cNvPr id="41" name="計數 41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</p:txBody>
      </p:sp>
      <p:sp>
        <p:nvSpPr>
          <p:cNvPr id="42" name="計數 42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43" name="計數 43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44" name="計數 4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45" name="計數 45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17%</a:t>
            </a:r>
          </a:p>
        </p:txBody>
      </p:sp>
      <p:sp>
        <p:nvSpPr>
          <p:cNvPr id="46" name="計數 46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47" name="計數 47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48" name="計數 48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49" name="計數 49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61%</a:t>
            </a:r>
          </a:p>
        </p:txBody>
      </p:sp>
      <p:sp>
        <p:nvSpPr>
          <p:cNvPr id="50" name="計數 50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66%</a:t>
            </a:r>
          </a:p>
        </p:txBody>
      </p:sp>
      <p:sp>
        <p:nvSpPr>
          <p:cNvPr id="51" name="計數 51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52" name="計數 52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73%</a:t>
            </a:r>
          </a:p>
        </p:txBody>
      </p:sp>
      <p:sp>
        <p:nvSpPr>
          <p:cNvPr id="53" name="計數 5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54" name="計數 54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55" name="計數 55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10%</a:t>
            </a:r>
          </a:p>
        </p:txBody>
      </p:sp>
      <p:sp>
        <p:nvSpPr>
          <p:cNvPr id="56" name="計數 56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</p:txBody>
      </p:sp>
      <p:sp>
        <p:nvSpPr>
          <p:cNvPr id="57" name="計數 5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26%</a:t>
            </a:r>
          </a:p>
        </p:txBody>
      </p:sp>
      <p:sp>
        <p:nvSpPr>
          <p:cNvPr id="58" name="計數 5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59" name="計數 59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36%</a:t>
            </a:r>
          </a:p>
        </p:txBody>
      </p:sp>
      <p:sp>
        <p:nvSpPr>
          <p:cNvPr id="60" name="計數 60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39%</a:t>
            </a:r>
          </a:p>
        </p:txBody>
      </p:sp>
      <p:sp>
        <p:nvSpPr>
          <p:cNvPr id="61" name="計數 61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62" name="計數 62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43%</a:t>
            </a:r>
          </a:p>
        </p:txBody>
      </p:sp>
      <p:sp>
        <p:nvSpPr>
          <p:cNvPr id="63" name="計數 63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7" grpId="0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11" grpId="0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15" grpId="0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1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10" name="Oval 9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FSC1 BA 未來展望：駐點客戶現場，用 AI 當場做出原型。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4" name="計數 34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5" name="計數 3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6" name="計數 3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7" name="計數 37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81%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8" name="計數 38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9" name="計數 3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0–0%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0" name="計數 40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2–5%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1" name="計數 41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4–8%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2" name="計數 42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6–12%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3" name="計數 43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7–14%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4" name="計數 44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8–16%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5" name="計數 45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6" name="計數 46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7" name="計數 47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48" name="計數 48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49" name="計數 49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0" name="計數 50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1" name="計數 5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2" name="計數 5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2.1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3" name="計數 53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2.4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4" name="計數 54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2.6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5" name="計數 55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2.8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6" name="計數 56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2.9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7" name="計數 57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58" name="計數 58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59" name="計數 59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0" name="計數 60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1" name="計數 61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2" name="計數 62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3" name="計數 63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4" name="計數 6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5" name="計數 6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6" name="計數 66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7" name="計數 67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PwC〈Reinventing insurance〉，2025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68" name="計數 6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0–0%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69" name="計數 69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8–9%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0" name="計數 7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15–17%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1" name="計數 7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20–23%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2" name="計數 72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25–28%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3" name="計數 73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28–32%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4" name="計數 74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31–35%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5" name="計數 75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32–37%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6" name="計數 76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34–39%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7" name="計數 7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8" name="計數 78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9" name="計數 7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0" name="計數 80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1" name="計數 8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2" name="計數 8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3" name="計數 83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84" name="計數 8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5" name="計數 85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13%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6" name="計數 86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24%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7" name="計數 87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8" name="計數 88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9" name="計數 8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0" name="計數 90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1" name="計數 9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2" name="計數 92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3" name="計數 9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1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7" grpId="0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10" grpId="0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13" grpId="0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16" grpId="0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22" grpId="0" animBg="1"/>
      <p:bldP spid="77" grpId="0" animBg="1"/>
      <p:bldP spid="77" grpId="1" animBg="1"/>
      <p:bldP spid="78" grpId="0" animBg="1"/>
      <p:bldP spid="78" grpId="1" animBg="1"/>
      <p:bldP spid="79" grpId="0" animBg="1"/>
      <p:bldP spid="79" grpId="1" animBg="1"/>
      <p:bldP spid="80" grpId="0" animBg="1"/>
      <p:bldP spid="80" grpId="1" animBg="1"/>
      <p:bldP spid="81" grpId="0" animBg="1"/>
      <p:bldP spid="81" grpId="1" animBg="1"/>
      <p:bldP spid="82" grpId="0" animBg="1"/>
      <p:bldP spid="82" grpId="1" animBg="1"/>
      <p:bldP spid="83" grpId="0" animBg="1"/>
      <p:bldP spid="83" grpId="1" animBg="1"/>
      <p:bldP spid="23" grpId="0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0" grpId="1" animBg="1"/>
      <p:bldP spid="91" grpId="0" animBg="1"/>
      <p:bldP spid="91" grpId="1" animBg="1"/>
      <p:bldP spid="92" grpId="0" animBg="1"/>
      <p:bldP spid="92" grpId="1" animBg="1"/>
      <p:bldP spid="93" grpId="0" animBg="1"/>
      <p:bldP spid="93" grpId="1" animBg="1"/>
      <p:bldP spid="2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參與每一步；接受需求、核准合併、授權上線等五個關鍵決定，由客戶指定的人做。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14" name="Oval 13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6" name="Oval 15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8" name="Oval 17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2" name="Oval 21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4" name="Oval 23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工具，依客戶政策與合約選定。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H）。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157984"/>
            <a:ext cx="3794760" cy="36883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分類在診斷時，依客戶的專案與規範確認（第 15 頁）。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9" name="Picture 8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3" name="Picture 12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7" name="Picture 16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1" name="Picture 20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5" name="Picture 24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8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40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42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左邊四項讓交付變快、各用一個指標驗收；右邊五題是監理機關會問的，各有做法、也留得下紀錄。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管得住：監理機關會問 → 做法 → 留下的紀錄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監理機關會問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法規條文見附錄 D，實例見附錄 E；回收期參考：需要大量治理的大型企業導入，12–18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11 頁）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證據：法規清單（附錄 D）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11 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9 頁）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客戶需配合：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國際方案多以預建代理與藍圖為主（同業產品見附錄 C）。擴大階段、工具包授權與駐點支援可依需求討論；試點風險見附錄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每一步只承諾下一步；每個檢查點都可以擴大、調整或停止，不必一開始就承諾全面轉型。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試點一個範圍小、可量測的需求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641805"/>
            <a:ext cx="59436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2871216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43784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10712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對照試點前講好的成功標準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0712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3410712" y="3641805"/>
            <a:ext cx="118872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5870448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43016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9944" y="1691640"/>
            <a:ext cx="2377440" cy="466344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9944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9944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9944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409944" y="3641805"/>
            <a:ext cx="178308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Oval 25"/>
          <p:cNvSpPr/>
          <p:nvPr/>
        </p:nvSpPr>
        <p:spPr>
          <a:xfrm>
            <a:off x="8869680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2248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09176" y="1691640"/>
            <a:ext cx="2377440" cy="4663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09176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集中管理設定，統一關卡與紀錄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09176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980965"/>
            <a:ext cx="2514600" cy="84789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每個檢查點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都有三條路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3980965"/>
            <a:ext cx="777240" cy="84789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擴大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59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達到合格線：進下一步，沿用範本與規則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1888" y="3980965"/>
            <a:ext cx="777240" cy="84789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調整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39127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部分達標：縮小範圍或換場景再試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06256" y="3980965"/>
            <a:ext cx="777240" cy="84789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停止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83496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不值得做：損失只限於這一步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04083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4083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先講好 J 曲線：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導入初期會先變慢一陣子，最常見的失敗是在低谷時喊停；成功標準和觀察期間要在試點前講好。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三個步驟開始；請客戶先指定窗口，並給我們一份想做的需求清單。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拿客戶的一個真實需求，當場跑一次：從寫需求到上線前的核准。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請客戶提供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11" name="計數 1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2" name="計數 12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1/64；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3" name="計數 13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1/118；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4" name="計數 1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1/162；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5" name="計數 1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1/197；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6" name="計數 16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1/224；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7" name="計數 17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1/245；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8" name="計數 18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1/260；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9" name="計數 19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0" name="計數 20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1/276；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1" name="計數 2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1/279；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1/280；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049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微軟正黑體"/>
                <a:ea typeface="微軟正黑體"/>
                <a:hlinkClick r:id="rId2"/>
              </a:rPr>
              <a:t>1/280：Stanford AI Index 2025（同等能力的 AI，2022-11 → 2024-10）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責任：保險業作業委外辦法、AI 自律規範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828863"/>
            <a:ext cx="1138428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敢上線的前提：每一步查得到、每個關鍵決定由人做。這就是我們幫保險公司建好的東西。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210417"/>
            <a:ext cx="91440" cy="89029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210417"/>
            <a:ext cx="1129284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約一場現場示範，用客戶的一個真實需求，當場從需求跑到上線前的核准。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6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客戶的資安與命名規範、系統與工具串接、資料分級與核准人、場景題目與基準、委外安排。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PwC（BA、IT）＋客戶 IT 主管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客戶管理層＋PwC 帶隊人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客戶資安＋PwC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客戶法遵、IT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改由客戶自有人員或 PwC 補位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 IT 主管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曲線、既有系統效益）與試點規劃整理；正式清單於診斷時與客戶共同確認。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G｜研究整合：兩份研究互補，衝突處的取捨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11 頁）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對外收斂為「診斷＋一個場景試點」，其餘依需求討論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H｜資料來源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McKinsey，The state of AI in 2025（88%；1,993 人、105 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PwC，Reinventing insurance: An industry beyond the tipping point，2025（57%；2025 年 7 月調查，保險業高階主管 136 人）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Dell’Acqua 等，Navigating the Jagged Technological Frontier，HBS Working Paper 24-013（758 位 BCG 顧問）；Autor, Levy &amp; Murnane，QJE 2003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