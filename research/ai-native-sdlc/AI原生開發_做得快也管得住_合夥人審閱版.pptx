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  <p:sldId id="283" r:id="rId44"/>
    <p:sldId id="284" r:id="rId45"/>
    <p:sldId id="285" r:id="rId46"/>
    <p:sldId id="286" r:id="rId47"/>
    <p:sldId id="287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44" Type="http://schemas.openxmlformats.org/officeDocument/2006/relationships/slide" Target="slides/slide28.xml"/><Relationship Id="rId45" Type="http://schemas.openxmlformats.org/officeDocument/2006/relationships/slide" Target="slides/slide29.xml"/><Relationship Id="rId46" Type="http://schemas.openxmlformats.org/officeDocument/2006/relationships/slide" Target="slides/slide30.xml"/><Relationship Id="rId47" Type="http://schemas.openxmlformats.org/officeDocument/2006/relationships/slide" Target="slides/slide31.xml"/><Relationship Id="rId48" Type="http://schemas.openxmlformats.org/officeDocument/2006/relationships/slide" Target="slides/slide32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【這頁的重點】30 秒開場，先講結論。</a:t>
            </a:r>
          </a:p>
          <a:p>
            <a:r>
              <a:t>【講法】「AI 寫程式的工具，各位的團隊大概都已經在用了。今天不談工具，談三件事：第一，這套 AI 原生的開發做法在實務上怎麼跑；第二，怎麼把它做成每個案子都能沿用的東西，而不是每次從頭來；第三，做得快的同時，治理和人工把關放在哪裡。結論先講：從一個用例開始，做得快，也管得住。」</a:t>
            </a:r>
          </a:p>
          <a:p>
            <a:r>
              <a:t>【轉場】「我先用一頁把整件事講完，後面再展開。」</a:t>
            </a:r>
          </a:p>
          <a:p/>
          <a:p>
            <a:r>
              <a:t>【內部提醒】向 Sam 說明有兩個版本：審閱版多三頁內部頁（請您決定、為什麼要做成產品、團隊分工）與兩個內部附錄（示範錄影、研究整合）；客戶版不含。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【這頁的重點】請 Sam 今天做四個決定。</a:t>
            </a:r>
          </a:p>
          <a:p>
            <a:r>
              <a:t>【講法】先講建議：同意以「診斷＋一個用例試點」接觸 1–2 家保險公司。接著逐項講「請您決定」：首批客戶、附錄同業名稱是否保留、示範素材對外確認、試點帶隊人。中間欄是推案前要先確認的事，獨立性與客戶關係最可能卡住，所以要先做。下方是考慮過的三種做法：不直接賣工具包，因為還沒有對外實績；不等示範全部完成，因為獨立性與客戶關係的確認可以並行。</a:t>
            </a:r>
          </a:p>
          <a:p>
            <a:r>
              <a:t>【可能被問】「第一家找誰？」→ 候選名單請您決定，原則是先找非審計客戶。「報價多少？」→ 人力與報價待提出，採固定範圍、固定價格。</a:t>
            </a:r>
          </a:p>
          <a:p>
            <a:r>
              <a:t>【轉場】「為什麼封面寫『做成產品』，下一頁說明。」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【這頁的重點】AI 讓「做出來」變便宜，能賣、能規模化的是可重複的治理做法。</a:t>
            </a:r>
          </a:p>
          <a:p>
            <a:r>
              <a:t>【講法】「封面寫『做成產品』，原因在左欄：DORA 2026 引 Stanford 的數據，模型使用成本兩年內降到原本的 1/280，導入的主要負擔變成治理：審查負擔、流程調整、人才培訓。報告也說，只買授權不保證回報。客戶缺的不是寫程式的能力，而是一套可重複、管得住的做法。中間欄是對我們的意義：如果每案從頭來，營收只能靠加人；把範本、規則、關卡和法規清單做成每案沿用的資產，才會越做越快，而治理和人工把關就是這個產品的核心。右欄是我們已經有的資產，來自 IT 團隊的實作。」</a:t>
            </a:r>
          </a:p>
          <a:p>
            <a:r>
              <a:t>【做法】「不是現在就賣工具包。先賣診斷加試點，每個試點萃取一個可重用的資產；有實績後，再推客戶自己做的版本。」</a:t>
            </a:r>
          </a:p>
          <a:p>
            <a:r>
              <a:t>【可能被問】「跟 Deloitte 的加速器有什麼不同？」→ 他們偏預建代理與藍圖；我們把在地法規、可稽核關卡和人工把關綁在一起（附錄同業參考）。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【這頁的重點】客戶買的是兩種別人難以複製的能力：BA 的業務與法規、IT 的實作與證明。</a:t>
            </a:r>
          </a:p>
          <a:p>
            <a:r>
              <a:t>【講法】逐列講定位與對口：BA 對口業務單位與法遵，主導需求分析並提出法規檢查清單；Rex 是方法設計者，對口客戶 IT 主管；Kenny 是每天實際在用的人，對口工程師；Sam 決定推案與報價；R&amp;Q 與法遵把關。下方是客戶最常問的三題與建議回答。頁底是兩個交接點：IT 的示範素材沒交，不約推案會議；需求說明沒有核准紀錄，不進入設計。</a:t>
            </a:r>
          </a:p>
          <a:p>
            <a:r>
              <a:t>【可能被問】「試點誰帶隊？」→ 請 Sam 指定，客戶需要固定窗口。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【這頁的重點】如果對方只看一頁，就是這頁：建議、三個理由、請對方決定的事、不做的代價。</a:t>
            </a:r>
          </a:p>
          <a:p>
            <a:r>
              <a:t>【講法】「我們的建議是：先做 4 到 6 週的準備度診斷，再做 6 到 8 週、一個用例的試點；達到事先講好的標準才擴大，而且範本、規則與關卡會沿用到下一個系統。理由有三個。第一，為什麼是現在：委外辦法和 AI 自律規範已經上路，AI 產出的最終責任在保險公司，流程要拿得出誰要求、AI 做了什麼、誰核准的紀錄。第二，為什麼只買工具不夠：DORA 2025 發現，AI 讓交付變快，但交付穩定度在下降。第三，為什麼找我們：我們自己已經這樣在做，懂保險業務與法規的 BA 和實作的 IT 是同一組人。」最後指向下方：今天想請貴公司決定的，是安排一場現場示範並選出 1–2 個候選用例；如果先不做，工具照樣擴散，但紀錄要等到金檢時再補。</a:t>
            </a:r>
          </a:p>
          <a:p>
            <a:r>
              <a:t>【轉場】「接下來四章依序展開。」</a:t>
            </a:r>
          </a:p>
          <a:p>
            <a:r>
              <a:t>【可能被問】「試點要多少錢？」→ 固定範圍、固定價格，另行報價。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【這頁的重點】說明結構與時間安排。</a:t>
            </a:r>
          </a:p>
          <a:p>
            <a:r>
              <a:t>【講法】四章加附錄：面向誰、解決什麼問題、帶來什麼價值、可擴充與可複製。時間不夠時，優先講第 02 章的解法、AI 分工與現場示範，以及第 03 章的「你買到什麼」；附錄依提問使用。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【轉場】「先講為什麼保險公司現在就要處理這件事，以及我們優先服務誰。」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【這頁的重點】責任已經落在保險公司，紀錄必須設計進流程。</a:t>
            </a:r>
          </a:p>
          <a:p>
            <a:r>
              <a:t>【講法】三張卡由左到右：第一，委外新辦法 2025 年底施行，AI 自律規範要求保險公司對 AI 結果負最終責任。第二，金管會 AI 指引要求治理及問責、透明性；新加坡金管局檢查銀行後，發現多數已建 AI 清冊、高風險 AI 要獨立驗證，這是區域監理的方向。第三，IFRS 17 與 TW-ICS 上路後，相關系統要跟著調整，開發需求集中。意涵：紀錄不能事後補，要在流程裡設計好；新制帶來的系統調整，正好是一起導入的時機。</a:t>
            </a:r>
          </a:p>
          <a:p>
            <a:r>
              <a:t>【可能被問】「新加坡的例子是銀行？」→ 是，當作區域監理方向的參考；台灣的直接依據是金管會指引與公會自律規範。</a:t>
            </a:r>
          </a:p>
          <a:p>
            <a:r>
              <a:t>【注意】不要說保險業「比其他產業更急」，證據不支持。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【這頁的重點】先服務有自建或駐點開發團隊的壽險與產險公司。</a:t>
            </a:r>
          </a:p>
          <a:p>
            <a:r>
              <a:t>【講法】表格是採購中的四種角色：IT 主管決策與付費，業務單位提出需求，法遵、風控與資安握有否決權，管理層核准預算；每個角色各有在意的問題與我們的答案。這是依經驗推估的決策鏈，會在診斷訪談中確認。下方是優先客群的三個條件。</a:t>
            </a:r>
          </a:p>
          <a:p>
            <a:r>
              <a:t>【可能被問】「開發全部外包的公司呢？」→ 可以做，但要先談好外包廠商在試點中的角色（見附錄試點風險）。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【轉場】「接下來講問題：工具已經普及，為什麼交付沒有跟著變好，以及我們怎麼解。」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【這頁的重點】工具已普及，但效益取決於流程與治理。</a:t>
            </a:r>
          </a:p>
          <a:p>
            <a:r>
              <a:t>【講法】上排五個數字說明普及程度：開發者 84%、技術團隊約九成在用 AI，JPMorgan、Citi 已大規模導入，保險業 57% 的高階主管把生成式 AI 列為首要投資。下排是三個發現：DORA 2025，速度轉為正相關，但穩定度仍是負相關；DORA 2026 引述 Stanford 研究，新開發的簡單任務可提升 35–40%，但複雜的既有系統常在 10% 以下，而保險公司的核心系統多屬後者；DORA 2026 的結論是，AI 是放大器，回報來自內部平台、清楚的流程與團隊協作，不是工具本身。所以導入 AI 時，需求、審查、上線與控制方式要一起改。</a:t>
            </a:r>
          </a:p>
          <a:p>
            <a:r>
              <a:t>【可能被問】「JPMorgan 不是提升 10–20% 嗎？」→ 那是個人生產力，而且是公司自述；DORA 看的是整體交付，兩者不衝突。</a:t>
            </a:r>
          </a:p>
          <a:p>
            <a:r>
              <a:t>【轉場】「那要怎麼一起改？看我們的解法。」</a:t>
            </a:r>
          </a:p>
          <a:p/>
          <a:p>
            <a:r>
              <a:t>【內部提醒】57% 目前轉引 Claims Journal，正式對外前改引 PwC 原始報告。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【這頁的重點】把開發流程串成循環，用三個機制守住；關鍵決定由人做。</a:t>
            </a:r>
          </a:p>
          <a:p>
            <a:r>
              <a:t>【講法】左邊是循環：需求分析、設計、開發、測試、上線、維運，維運發現的問題回到下一個需求。右邊是三個機制：交接靠檔案，每一步交出文件給下一步；規則自動執行，資安、個資、委外規範寫成 AI 自動套用的規則；關卡有人簽，接受需求、確認規格、核准計畫、核准合併、授權上線，五個決定由貴公司指定的人做。原則只有一句：AI 可以一路做到正式環境的門口，但不能自己開門。頁底：DORA 2026 建議的不可略過檢查點、提交前檢查、小批次與版本控制，和這三個機制一致。</a:t>
            </a:r>
          </a:p>
          <a:p>
            <a:r>
              <a:t>【可能被問】「要換掉我們現有的 Jira 或變更管理嗎？」→ 不用，關卡與紀錄接在既有工具上，診斷時確認做法。「綁哪個 AI 工具？」→ 不綁，依貴公司政策與合約選定。</a:t>
            </a:r>
          </a:p>
          <a:p>
            <a:r>
              <a:t>【轉場】「人到底在什麼時候介入？下一頁。」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【這頁的重點】回答「人在什麼時候介入」：依多常發生、需要多少判斷，把工作分四類。</a:t>
            </a:r>
          </a:p>
          <a:p>
            <a:r>
              <a:t>【講法】左上，常發生、判斷少，例如測試案例、文件、Release Note：AI 先做、人確認，這類最先交給 AI，也最先做成範本。右上，常發生、判斷多，例如程式碼、API 規格：AI 起草、人逐項審查。左下，少發生、判斷少：做成範本重複使用。右下，少發生、判斷多，例如接受需求、核准合併、授權上線：人決定，AI 只提供資料，這就是前一頁的五個關卡。右側的意義：第一個試點，優先挑左上角工作多的需求，最快看到效果。</a:t>
            </a:r>
          </a:p>
          <a:p>
            <a:r>
              <a:t>【轉場】「說了這麼多，實際長什麼樣子？看示範。」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【這頁的重點】不是概念，是我們 IT 團隊在再保險系統上實際做出來的。</a:t>
            </a:r>
          </a:p>
          <a:p>
            <a:r>
              <a:t>【講法】「五個框由左到右是同一個功能的五個步驟。第一，需求說明：金融機構主檔有 7 條業務規則，包括制裁國家的機構建檔要主管覆核，這是洗錢防制的規則。第二，依範本產出六份規格，從系統分析、資料庫、API、畫面到測試，每份都有審閱週期。第三，實作計畫：每個任務寫明驗收場景，而且最多只能改 5 個檔案，修改範圍事先鎖定。第四，10 個測試案例，覆蓋率要超過 90% 才能過閘。第五，每個任務都回溯到規則代碼，制裁建檔會寫入審計紀錄。下方是同一系統的實際畫面。」最後邀請：「現場示範可以用貴公司提供的一個需求，走一遍。」</a:t>
            </a:r>
          </a:p>
          <a:p>
            <a:r>
              <a:t>【可能被問】「這是哪家客戶的系統？」→ 依 IT 確認的說法回答。「追溯怎麼查？」→ 翻到附錄追溯表。</a:t>
            </a:r>
          </a:p>
          <a:p/>
          <a:p>
            <a:r>
              <a:t>【內部提醒】(1) 素材對外前，請 IT 確認不含客戶資料或客戶專屬設計；(2) 錄影拍的是國家、區域、幣別，規格是金融機構，最好補一段金融機構選單的錄影；(3) 第 5 步還缺「合併核准」截圖；(4) IT 確認前，不要說規格是 AI 產出的。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【轉場】「看完怎麼做，接下來講帶來什麼價值、給法遵的答案，以及你買到什麼。」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【這頁的重點】每個痛點對應一個做法、一項價值、一個量得到的指標。</a:t>
            </a:r>
          </a:p>
          <a:p>
            <a:r>
              <a:t>【講法】逐列講：需求來回多輪，對應業務和 AI 一起寫需求說明，看需求定稿時間；審查排隊，對應 AI 先審、人判斷風險，看第一次審查等待時間與返工次數；上線出錯，對應每次改動自行測試，看變更失敗率；法規與稽核壓力，對應規則、關卡與紀錄，看內稽調閱佐證所需時間；交付難預期，對應每階段交出檔案，看交付時間。試點用流程指標驗收；DORA 四項指標需要較長期間，擴大後再追蹤。我們不先承諾數字。頁底的回收期基準：需要大量治理的大型企業導入，12 到 18 個月屬可接受。</a:t>
            </a:r>
          </a:p>
          <a:p>
            <a:r>
              <a:t>【可能被問】「能保證快多少嗎？」→ 不承諾數字，試點前量基準、訂合格線，用實測證明。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【這頁的重點】寫給握有否決權的人：金檢與內稽會問的五個問題，流程中都有答案與紀錄。</a:t>
            </a:r>
          </a:p>
          <a:p>
            <a:r>
              <a:t>【講法】逐列講：AI 工具有沒有納入委外管理與 AI 清冊；客戶個資有沒有進到 AI；改動是誰核准上線的；出事能不能退回；AI 做了什麼，事後查不查得到。每一題對應流程中的做法，以及會留下的紀錄。結論：AI 的使用從難以稽核的個人行為，變成有紀錄的流程。條文對照在附錄法規清單，實例在附錄追溯表。</a:t>
            </a:r>
          </a:p>
          <a:p>
            <a:r>
              <a:t>【建議】這頁最好在法遵在場時講，或會前先單獨給法遵看。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【這頁的重點】先診斷、再試點；成功標準事先講好，達標才擴大。</a:t>
            </a:r>
          </a:p>
          <a:p>
            <a:r>
              <a:t>【講法】左邊，準備度診斷 4–6 週：盤點現況與卡點、做法規檢查、挑第一個用例、訂成功標準；交付瓶頸地圖、法規檢查結果、用例建議與導入藍圖。中間，一個用例的試點 6–8 週：用真實需求走完循環，建立範本、規則與關卡，同時教會各角色；交付完成的試點、範本與規則、教材與成效報告。右邊是成功標準：需求定稿時間、第一次審查等待時間、返工次數；核准紀錄完整是必要條件；合格線用診斷期量到的基準在試點前約定。達標擴大，未達標就檢討後再試或停止。下方是需要貴公司配合的事項，以及我們的團隊組成；試點風險見附錄。</a:t>
            </a:r>
          </a:p>
          <a:p>
            <a:r>
              <a:t>【可能被問】「價格？」→ 固定範圍、固定價格，另行報價。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【這頁的重點】已在用的做法，加上在地法規與可稽核關卡。</a:t>
            </a:r>
          </a:p>
          <a:p>
            <a:r>
              <a:t>【講法】四個差異，每個都有證據：已經在用，見現場示範；台灣保險法規內建，見法規檢查清單；懂保險業務與在地系統，用例直接挑理賠、核保、核心系統周邊；可稽核的人工關卡，寫程式的 AI 不能核准自己的程式。和國際方案的差別：國際方案多以預建代理與藍圖為主，我們從貴公司的一個真實需求開始。</a:t>
            </a:r>
          </a:p>
          <a:p/>
          <a:p>
            <a:r>
              <a:t>【內部提醒】「懂保險業務」的證據欄仍待補 2–3 個 FSC1 保險業專案；如果再保險系統是 FSC1 自己的專案，可以直接補上。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【轉場】「最後講怎麼擴大，這就是封面說的『做成產品』：每一步都沿用前一步的資產。」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【這頁的重點】每一步只承諾下一步；範本與規則沿用，越做越快。</a:t>
            </a:r>
          </a:p>
          <a:p>
            <a:r>
              <a:t>【講法】四個台階：一個用例，然後驗證價值、決定擴大、調整或停止，接著是相鄰用例，只補該系統的規範，最後才是全公司。右側是為什麼這樣做：風險小、成本可控、有數據才擴大、越做越快。最後一點是 J 曲線：DORA 2026 指出，導入初期會有短暫下滑，常見的失敗是在低谷時撤資，所以成功標準與觀察期間要事先講好。</a:t>
            </a:r>
          </a:p>
          <a:p>
            <a:r>
              <a:t>【可能被問】「多久能全公司導入？」→ 依前一階段的成果決定，不預先承諾時程。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【這頁的重點】不是概念，是我們 IT 團隊在再保險系統上實際做出來的。</a:t>
            </a:r>
          </a:p>
          <a:p>
            <a:r>
              <a:t>【講法】「五個框由左到右是同一個功能的五個步驟。第一，需求說明：金融機構主檔有 7 條業務規則，包括制裁國家的機構建檔要主管覆核，這是洗錢防制的規則。第二，依範本產出六份規格，從系統分析、資料庫、API、畫面到測試，每份都有審閱週期。第三，實作計畫：每個任務寫明驗收場景，而且最多只能改 5 個檔案，修改範圍事先鎖定。第四，10 個測試案例，覆蓋率要超過 90% 才能過閘。第五，每個任務都回溯到規則代碼，制裁建檔會寫入審計紀錄。下方是同一系統的實際畫面。」最後邀請：「現場示範可以用貴公司提供的一個需求，走一遍。」</a:t>
            </a:r>
          </a:p>
          <a:p>
            <a:r>
              <a:t>【可能被問】「這是哪家客戶的系統？」→ 依 IT 確認的說法回答。「追溯怎麼查？」→ 翻到附錄追溯表。</a:t>
            </a:r>
          </a:p>
          <a:p/>
          <a:p>
            <a:r>
              <a:t>【內部提醒】(1) 素材對外前，請 IT 確認不含客戶資料或客戶專屬設計；(2) 錄影拍的是國家、區域、幣別，規格是金融機構，最好補一段金融機構選單的錄影；(3) 第 5 步還缺「合併核准」截圖；(4) IT 確認前，不要說規格是 AI 產出的。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【用途】附錄依提問使用，不主動講。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【用途】對方想看一個完整流程的例子時使用。說明每個階段導入前後的差別，以及由誰決定。這是改編自公開範例的示意，不是客戶案例。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【用途】被問「之後能延伸到哪裡」時使用：同一客戶的其他系統、新制專案、AI 治理、其他保險公司、其他金融業，各有沿用的資產與前提。</a:t>
            </a:r>
          </a:p>
          <a:p/>
          <a:p>
            <a:r>
              <a:t>【內部提醒】延伸到其他保險公司時，審計客戶要先確認獨立性。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【用途】被問到競爭對手時使用。這些都是業者公開資訊，規模與期程數字為業者自述。</a:t>
            </a:r>
          </a:p>
          <a:p/>
          <a:p>
            <a:r>
              <a:t>【內部提醒】對客戶是否保留同業公司名稱，待 Sam 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【用途】法遵追問條文時使用。說明每條規範在開發流程的哪一步落實。這是導入規劃工具，不是法律意見，草稿待法遵確認。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【用途】示範之後，法遵或稽核想看證據時使用。從任一條業務規則，都能找到對應的使用案例、測試案例與開發任務。也可以強調：缺口一眼看得出來，例如有兩條規則還沒有對應的測試。</a:t>
            </a:r>
          </a:p>
          <a:p/>
          <a:p>
            <a:r>
              <a:t>【內部提醒】任務與規則的對應是依任務內容判讀，待 IT 確認；任務包只附 001 與 005。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【用途】被問「會出什麼問題」時使用。五個風險各有提早發現的訊號、事前降低的做法、發生時的應變與負責人。正式清單於診斷時與貴公司共同確認。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【用途】內部參考。三段錄影各約 5 秒，點擊畫面播放；對外以現場示範為主。錄影使用測試資料。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【用途】內部參考：兩份研究的差異，以及本提案採用哪一邊、為什麼。提交客戶前移除。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【用途】被問數字出處時使用。−1.5%、−7.2% 是 AI 採用率每增加 25% 的模型估計；JPMorgan 數字為公司自述。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deloitte.com/global/en/what-we-do/capabilities/agentic-ai-blueprint-for-insurance.html" TargetMode="External"/><Relationship Id="rId3" Type="http://schemas.openxmlformats.org/officeDocument/2006/relationships/hyperlink" Target="https://sas.com/nl_nl/news/press-releases/2022/may/deloitte-partners-with-sas-to-power-ifrs-17-accelerator-solution.html" TargetMode="External"/><Relationship Id="rId4" Type="http://schemas.openxmlformats.org/officeDocument/2006/relationships/hyperlink" Target="https://sas.com/en_ca/news/press-releases/2022/september/pvi-insurance-deploys-kpmg-ifrs-17-express.html" TargetMode="External"/><Relationship Id="rId5" Type="http://schemas.openxmlformats.org/officeDocument/2006/relationships/hyperlink" Target="https://www.capgemini.com/wp-content/uploads/2026/10/GW-datasheet_Final-version.pdf" TargetMode="External"/><Relationship Id="rId6" Type="http://schemas.openxmlformats.org/officeDocument/2006/relationships/hyperlink" Target="https://www.wtwco.com/en-gh/news/2025/10/wtw-launch-of-radar-5-with-gen-ai-capability-marks-a-major-milestone-in-insurance-pricing" TargetMode="External"/><Relationship Id="rId7" Type="http://schemas.openxmlformats.org/officeDocument/2006/relationships/hyperlink" Target="https://www.mckinsey.com/industries/financial-services/our-insights/can-agentic-ai-finally-modernize-core-technologies-in-insurance" TargetMode="External"/><Relationship Id="rId8" Type="http://schemas.openxmlformats.org/officeDocument/2006/relationships/hyperlink" Target="https://www.bcg.com/assets/2026/executive-perspectives-ai-first-companies-win-the-future-property-casualty-insurance.pdf" TargetMode="External"/><Relationship Id="rId9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1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12.pn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10.png"/><Relationship Id="rId11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cloud.google.com/blog/products/devops-sre/announcing-the-2024-dora-report" TargetMode="External"/><Relationship Id="rId4" Type="http://schemas.openxmlformats.org/officeDocument/2006/relationships/hyperlink" Target="https://cloud.google.com/blog/products/ai-machine-learning/announcing-the-2025-dora-report" TargetMode="External"/><Relationship Id="rId5" Type="http://schemas.openxmlformats.org/officeDocument/2006/relationships/hyperlink" Target="https://services.google.com/fh/files/misc/dora-roi-of-ai-assisted-software-development-2026.pdf" TargetMode="External"/><Relationship Id="rId6" Type="http://schemas.openxmlformats.org/officeDocument/2006/relationships/hyperlink" Target="https://www.infoq.com/news/2025/09/dora-state-of-ai-in-dev-2025" TargetMode="External"/><Relationship Id="rId7" Type="http://schemas.openxmlformats.org/officeDocument/2006/relationships/hyperlink" Target="https://finance.yahoo.com/news/jpmorgan-engineers-efficiency-jumps-much-190410471.html" TargetMode="External"/><Relationship Id="rId8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9" Type="http://schemas.openxmlformats.org/officeDocument/2006/relationships/hyperlink" Target="https://amp.claimsjournal.com/news/national/2025/11/17/334094.htm" TargetMode="External"/><Relationship Id="rId10" Type="http://schemas.openxmlformats.org/officeDocument/2006/relationships/hyperlink" Target="https://www.mckinsey.com/capabilities/tech-and-ai/our-insights/the-top-trends-in-tech" TargetMode="External"/><Relationship Id="rId11" Type="http://schemas.openxmlformats.org/officeDocument/2006/relationships/hyperlink" Target="https://www.allenandgledhill.com/sg/publication/articles/29565/mas-publishes-information-paper-on-ai-model-risk-management" TargetMode="External"/><Relationship Id="rId12" Type="http://schemas.openxmlformats.org/officeDocument/2006/relationships/hyperlink" Target="https://www.leeandli.com/TW/Newsletters/7525.htm" TargetMode="External"/><Relationship Id="rId13" Type="http://schemas.openxmlformats.org/officeDocument/2006/relationships/hyperlink" Target="https://law.lia-roc.org.tw/Law/GetFile/0000394231" TargetMode="External"/><Relationship Id="rId14" Type="http://schemas.openxmlformats.org/officeDocument/2006/relationships/hyperlink" Target="https://www.fsc.gov.tw/websitedowndoc?file=chfsc/202408231741530.pdf" TargetMode="External"/><Relationship Id="rId1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把 AI 原生開發做成產品：</a:t>
            </a:r>
          </a:p>
          <a:p>
            <a:r>
              <a:rPr sz="2800">
                <a:latin typeface="Georgia"/>
                <a:ea typeface="微軟正黑體"/>
              </a:rPr>
              <a:t>做得快，也管得住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Georgia"/>
                <a:ea typeface="微軟正黑體"/>
              </a:rPr>
              <a:t>從框架到實務：可重複的流程、內建治理、關鍵決定由人做</a:t>
            </a:r>
          </a:p>
          <a:p>
            <a:r>
              <a:rPr sz="1200">
                <a:latin typeface="Georgia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內部｜請 Sam 決定：是否以本提案接觸首批保險客戶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內部審閱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建議：同意以「診斷＋一個用例試點」接觸 1–2 家保險公司；第 14 頁示範素材確認可對外後即出門。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370332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請您決定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57984"/>
            <a:ext cx="3703320" cy="207735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① 是否同意以本提案接觸首批客戶（候選名單：[待填]）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② 附錄 C 對客戶是否保留同業公司名稱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③ 請 IT 確認第 14 頁示範素材可對外使用，並補一張合併核准紀錄截圖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④ 試點帶隊人：[待填]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233672" y="1691640"/>
            <a:ext cx="3703320" cy="42394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推案前要先確認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2157984"/>
            <a:ext cx="3703320" cy="20773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・獨立性：候選客戶若為審計客戶，先經 R&amp;Q 確認（尚未檢查）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・客戶關係：先取得負責該客戶的合夥人同意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・責任範圍：AI 產出的責任歸屬寫進合約，待 Legal 確認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・駐點外包廠商：AI 會減少人天，試點前先和客戶 IT 談好廠商角色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055863" y="1691640"/>
            <a:ext cx="3703320" cy="42394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規模與資源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8055863" y="2157984"/>
            <a:ext cx="3703320" cy="20773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・診斷約 4–6 週＋試點約 6–8 週（第 18 頁）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・人力配置與報價：[待填]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・團隊分工與決定權見第 4 頁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4404914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考慮過的做法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3977639" y="4404914"/>
            <a:ext cx="56784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評估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692640" y="4404914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結論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4777989"/>
            <a:ext cx="3529584" cy="47482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A　診斷＋一個用例試點（建議）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3977639" y="4777989"/>
            <a:ext cx="5678424" cy="47482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金額小、客戶容易說好；試點同時產出對外實績與工具包第一版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692640" y="4777989"/>
            <a:ext cx="2066543" cy="47482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採用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286728"/>
            <a:ext cx="3529584" cy="4748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B　直接賣工具包，客戶自己做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3977639" y="5286728"/>
            <a:ext cx="5678424" cy="4748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我們還沒有對外實績，客戶難以信任方法；維護成本也較高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692640" y="5286728"/>
            <a:ext cx="2066543" cy="4748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實績累積後再推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795467"/>
            <a:ext cx="3529584" cy="47482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C　等示範完成再決定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977639" y="5795467"/>
            <a:ext cx="5678424" cy="47482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風險最低，但獨立性與客戶關係的確認可以先並行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9692640" y="5795467"/>
            <a:ext cx="2066543" cy="47482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不等：先做確認，示範完成即出門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內部｜為什麼要做成產品：開發變便宜，治理才是能賣的能力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內部審閱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做出來不再是門檻；可重複交付、內建治理與人工把關的做法，才是客戶願意付費、我們能規模化的東西。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370332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市場在發生什麼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57984"/>
            <a:ext cx="3703320" cy="275566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・DORA 2026 引 Stanford AI Index：模型使用成本 2022-11 到 2024-10 降為 1/280；導入的主要負擔轉到治理：審查負擔、流程調整、人才培訓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・DORA 2026：只買授權不保證回報，回報來自內部平台、清楚流程與團隊協作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・同業已把服務做成產品：加速器、工具組、導入藍圖（附錄 C）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233672" y="1691640"/>
            <a:ext cx="370332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對我們的意義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2157984"/>
            <a:ext cx="3703320" cy="275566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・只接專案：每案從頭來，營收只能靠加人成長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・做成產品：範本、規則、關卡與法規清單每案沿用，越做越快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・治理與人工把關是產品的核心，不是附加服務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055863" y="1691640"/>
            <a:ext cx="3703320" cy="42394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我們已經有的資產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8055863" y="2157984"/>
            <a:ext cx="3703320" cy="275566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・六份規格範本與任務格式（驗收場景、最多改 5 個檔案），見第 14 頁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・品質閘門與 AI 任務四象限（第 13 頁）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・保險業法規檢查清單（附錄 D）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5125627"/>
            <a:ext cx="91440" cy="72071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3" name="Rectangle 312"/>
          <p:cNvSpPr/>
          <p:nvPr/>
        </p:nvSpPr>
        <p:spPr>
          <a:xfrm>
            <a:off x="502920" y="5125627"/>
            <a:ext cx="11292840" cy="72071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做法：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先賣「診斷＋一個用例試點」，每個試點至少萃取一個可重用的範本或規則；資產成熟、有實績後，再推客戶自己做的工具包（第 2 頁做法 B）。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成本數字為 DORA 2026 引述 Stanford AI Index；「只接專案靠加人成長」整理自內部產品化討論（MIT Sloan Management Review，2024）。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內部｜FSC1 團隊分工：BA 管業務與法規，IT 管實作與證明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內部審閱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客戶買的是兩種別人難以複製的能力；決定權先講清楚，示範與報價才不會卡住。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38074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角色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828800" y="1691640"/>
            <a:ext cx="339242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對客戶的定位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257800" y="1691640"/>
            <a:ext cx="197510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對口的客戶角色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269480" y="1691640"/>
            <a:ext cx="448970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負責與決定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30799"/>
            <a:ext cx="1380744" cy="3645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BA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828800" y="2030799"/>
            <a:ext cx="3392424" cy="3645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懂保險業務與法規，讓 AI 一開始就拿到對的需求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257800" y="2030799"/>
            <a:ext cx="1975104" cy="3645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業務單位、法遵與風控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7269480" y="2030799"/>
            <a:ext cx="4489704" cy="3645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主導需求分析與「接受需求」紀錄；提出法規檢查清單（法遵審定）；把工程語言翻成管理層聽得懂的話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429311"/>
            <a:ext cx="138074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Rex（IT）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828800" y="2429311"/>
            <a:ext cx="339242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這套方法的設計者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5257800" y="2429311"/>
            <a:ext cx="197510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IT 主管、架構師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269480" y="2429311"/>
            <a:ext cx="448970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v3 流程與五個關卡；決定示範用例與四象限分類；試點中的技術決定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2827823"/>
            <a:ext cx="138074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Kenny（IT）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828800" y="2827823"/>
            <a:ext cx="339242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每天實際在用的人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5257800" y="2827823"/>
            <a:ext cx="197510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7269480" y="2827823"/>
            <a:ext cx="448970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現場示範與實績表；建置範本、規則與關卡；帶客戶工程師實作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3226335"/>
            <a:ext cx="138074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Sam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828800" y="3226335"/>
            <a:ext cx="339242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決策者，也是開門的人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5257800" y="3226335"/>
            <a:ext cx="197510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管理層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7269480" y="3226335"/>
            <a:ext cx="448970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決定推案、對外承諾、報價與人力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3624847"/>
            <a:ext cx="138074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Luke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828800" y="3624847"/>
            <a:ext cx="339242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定價與人力（職稱待確認）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257800" y="3624847"/>
            <a:ext cx="197510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採購與財務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269480" y="3624847"/>
            <a:ext cx="448970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提出報價與人力配置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4023359"/>
            <a:ext cx="138074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R&amp;Q、法遵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828800" y="4023359"/>
            <a:ext cx="339242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把關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5257800" y="4023359"/>
            <a:ext cx="197510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7269480" y="4023359"/>
            <a:ext cx="448970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決定獨立性；審定法規檢查清單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11480" y="4532098"/>
            <a:ext cx="325526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客戶可能會問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3703320" y="4532098"/>
            <a:ext cx="805586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建議回答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4871258"/>
            <a:ext cx="325526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跟國際顧問的方案比，我們贏在哪？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3703320" y="4871258"/>
            <a:ext cx="805586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在地法規與可稽核關卡綁在一起，BA 與 IT 同一組人，從客戶的一個真實需求開始（第 19 頁）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411480" y="5269770"/>
            <a:ext cx="325526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寫的程式出事，責任算誰的？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3703320" y="5269770"/>
            <a:ext cx="805586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能不能上線由客戶指定的人授權，誰核准都查得到（第 17 頁）；合約責任範圍待 Legal 確認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411480" y="5668282"/>
            <a:ext cx="325526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怎麼證明有效？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3703320" y="5668282"/>
            <a:ext cx="805586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試點前以基準訂好合格線，達標才擴大，未達標就停（第 18 頁）</a:t>
            </a:r>
          </a:p>
        </p:txBody>
      </p:sp>
      <p:sp>
        <p:nvSpPr>
          <p:cNvPr id="342" name="Rectangle 341"/>
          <p:cNvSpPr/>
          <p:nvPr/>
        </p:nvSpPr>
        <p:spPr>
          <a:xfrm>
            <a:off x="411480" y="6126147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微軟正黑體"/>
                <a:ea typeface="微軟正黑體"/>
              </a:rPr>
              <a:t>交接點：IT→BA 的示範截圖與數字未交，不約推案會議；BA→IT 的需求說明沒有核准紀錄，不進 SA&amp;D。名字與分工依內部會議資料整理，待確認。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一頁看懂：做得快也管得住，從一個用例開始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提案摘要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先做 4–6 週診斷與 6–8 週單一用例試點；達標後，範本、規則與關卡沿用到下一個系統。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為什麼是現在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委外新辦法與 AI 自律規範已上路，AI 產出的最終責任在保險公司；開發流程要拿得出「誰要求、AI 做了什麼、誰核准」的紀錄。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8、17 頁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233672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為什麼只買工具不夠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DORA 2025：AI 讓交付變快，但交付穩定度仍在下降。效益取決於需求、審查、上線與控制方式有沒有一起改。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33672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11 頁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8055863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為什麼找我們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055863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FSC1 自己已經用這套流程開發；懂保險業務與法規的 BA 和實作的 IT 同一組人，從貴公司的一個真實需求開始。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55863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14、19 頁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489704"/>
            <a:ext cx="91440" cy="12294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502920" y="4489704"/>
            <a:ext cx="5577840" cy="12294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請貴公司決定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安排一場現場示範，指定 IT 與業務窗口，選出 1–2 個候選用例，啟動準備度診斷。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217920" y="4489704"/>
            <a:ext cx="5577840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595959"/>
                </a:solidFill>
                <a:latin typeface="Georgia"/>
                <a:ea typeface="微軟正黑體"/>
              </a:rPr>
              <a:t>如果先不做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AI 工具照樣在開發團隊擴散，但流程與紀錄沒跟上；等到金檢或內稽時再補紀錄，成本更高、風險更大。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" y="466344"/>
            <a:ext cx="7315200" cy="758952"/>
          </a:xfrm>
        </p:spPr>
        <p:txBody>
          <a:bodyPr/>
          <a:lstStyle/>
          <a:p>
            <a:r>
              <a:rPr b="1">
                <a:latin typeface="Georgia"/>
                <a:ea typeface="微軟正黑體"/>
              </a:rPr>
              <a:t>議程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議程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38912" y="1243584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為什麼現在要做、怎麼落地、帶來什麼價值，以及怎麼做成可沿用的做法。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82597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" y="231060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325880" y="173403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面向誰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173403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保險公司為什麼現在要做、優先服務誰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32720" y="173403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7–9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263147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0100" y="3116108"/>
            <a:ext cx="0" cy="339160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325880" y="253953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解決什麼問題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3953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全球趨勢與只買工具為什麼不夠、我們的解法、AI 分工、現場示範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253953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10–14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4369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0100" y="3921612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325880" y="3345041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帶來什麼價值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345041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價值與衡量、給法遵與風控、你買到什麼、為什麼選我們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0" y="3345041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15–19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24248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00100" y="472711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325880" y="415054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可擴充、可複製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60" y="415054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做成可沿用的做法：逐步擴大、如何開始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32720" y="415054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20–22</a:t>
            </a:r>
          </a:p>
        </p:txBody>
      </p:sp>
      <p:sp>
        <p:nvSpPr>
          <p:cNvPr id="28" name="Oval 27"/>
          <p:cNvSpPr/>
          <p:nvPr/>
        </p:nvSpPr>
        <p:spPr>
          <a:xfrm>
            <a:off x="548640" y="504798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25880" y="495604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495604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示範情境、延伸方式、同業參考、法規清單、示範追溯、試點風險、研究整合、資料來源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332720" y="495604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23–32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右側數字為頁碼。頁面右上方標示「建議」「示意」「假設」「待確認」者為建議或示意內容；未標示者為有來源的事實或既有設計。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面向誰</a:t>
            </a:r>
          </a:p>
          <a:p>
            <a:r>
              <a:rPr sz="3000">
                <a:latin typeface="Georgia"/>
                <a:ea typeface="微軟正黑體"/>
              </a:rPr>
              <a:t>Who we serve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01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保險公司現在就要把 AI 治理設計進開發流程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產出的最終責任已落在保險公司；開發流程要留下「誰要求、AI 做了什麼、誰核准」的紀錄。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責任落在保險公司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2025-12-31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保險業作業委外新辦法施行；AI 自律規範要求保險公司對 AI 結果負最終責任。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來源：理律法律事務所；壽險／產險公會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45864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監理要求可問責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45864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2024-06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245864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金管會 AI 指引要求治理及問責、透明性；新加坡金管局 2024-12 檢視銀行後指出，多數已建 AI 清冊，高風險 AI 須獨立驗證。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245864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來源：金管會；新加坡金融管理局（MAS）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80247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開發需求集中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8080247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2026-01-01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080247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IFRS 17 與 TW-ICS 接軌上路，財務、精算與報表相關系統都要跟著調整，新的開發需求集中出現。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080247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來源：金管會保險局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516802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502920" y="516802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意涵：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紀錄必須在流程裡設計好，不能事後補；新制帶來的系統調整，正好是把 AI 與治理一起導入的時機。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優先客群：有自建開發團隊的壽險與產險公司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依經驗推估：IT 主管決策與付費，法遵、風控與資安握有否決權；決策鏈需在診斷訪談中確認。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假設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角色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606040" y="1691640"/>
            <a:ext cx="17007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採購中的角色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43400" y="1691640"/>
            <a:ext cx="38953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他們的問題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827532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我們給的答案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21579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IT／數位主管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606040" y="2064715"/>
            <a:ext cx="17007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決策與付費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2064715"/>
            <a:ext cx="389534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交付跟不上業務與新制需求；AI 工具用了，整體卻沒變快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275320" y="2064715"/>
            <a:ext cx="3483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一個可量測的用例試點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785428"/>
            <a:ext cx="21579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業務單位主管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606040" y="2785428"/>
            <a:ext cx="17007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提出需求、共同贊助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343400" y="2785428"/>
            <a:ext cx="389534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需求來回多輪、上線時間難預期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8275320" y="2785428"/>
            <a:ext cx="3483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業務和 AI 一起寫需求說明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506142"/>
            <a:ext cx="21579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法遵、風控、資安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2606040" y="3506142"/>
            <a:ext cx="17007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否決權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343400" y="3506142"/>
            <a:ext cx="389534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委外、個資與 AI 責任；稽核要拿得出紀錄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275320" y="3506142"/>
            <a:ext cx="3483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法規檢查清單、人工關卡、完整紀錄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226855"/>
            <a:ext cx="21579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管理層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2606040" y="4226855"/>
            <a:ext cx="17007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核准預算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343400" y="4226855"/>
            <a:ext cx="389534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投資要看到回報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8275320" y="4226855"/>
            <a:ext cx="3483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小範圍起步，先講好成功標準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040837"/>
            <a:ext cx="11384280" cy="72071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優先客群的條件：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有自建或駐點開發團隊；已有版本控制與 CI；近期有新制相關或核心系統周邊的開發需求。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解決什麼問題</a:t>
            </a:r>
          </a:p>
          <a:p>
            <a:r>
              <a:rPr sz="3000">
                <a:latin typeface="Georgia"/>
                <a:ea typeface="微軟正黑體"/>
              </a:rPr>
              <a:t>Problems we solve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02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已普及，但交付沒有跟著變好：AI 放大原有的流程與治理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使用率已達八至九成，但交付穩定度下降；DORA 2026 指出，只買授權不保證回報。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開發者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84%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706624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技術團隊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706624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約 90%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在工作中使用 AI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5001768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JPMorgan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5001768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10–20%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7296912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Citi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296912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3 萬名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592055" y="1691640"/>
            <a:ext cx="2203703" cy="33915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保險業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592055" y="2073194"/>
            <a:ext cx="2203703" cy="97508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57%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高階主管把生成式 AI 列為 2026 年首要科技投資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交付表現（DORA 2025）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↑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交付速度：轉為正相關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↓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交付穩定度：仍為負相關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233672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既有系統的效益較小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35–40%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新開發的簡單任務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10%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複雜的既有系統（常見）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055863" y="3217856"/>
            <a:ext cx="370332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研究結論（DORA 2026）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放大器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回報來自內部平台、清楚的流程與團隊協作，不是工具本身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057795"/>
            <a:ext cx="9144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502920" y="5057795"/>
            <a:ext cx="1129284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效益取決於流程與治理，不取決於買了哪個工具。導入 AI 時，需求、審查、上線與控制方式要一起改，這正是我們協助的部分。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5736114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來源：Stack Overflow 2025；Google DORA 2024、2025、2026；JPMorgan（公司自述）；Deloitte Insights 2025；PwC 保險高階主管調查。完整連結見附錄 I。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99048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既有系統的生產力數字為 DORA 2026 引述的 Stanford 研究。DORA 2024 模型估計：AI 採用率每增加 25%，穩定度 −7.2%、速度 −1.5%。顧問業者已推出相關方案（附錄 C）。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我們的解法：把開發流程串成循環，用三個機制守住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參與每一步；接受需求、核准合併、授權上線等五個關鍵決定，由貴公司指定的人做。</a:t>
            </a:r>
          </a:p>
        </p:txBody>
      </p:sp>
      <p:cxnSp>
        <p:nvCxnSpPr>
          <p:cNvPr id="305" name="Connector 304"/>
          <p:cNvCxnSpPr/>
          <p:nvPr/>
        </p:nvCxnSpPr>
        <p:spPr>
          <a:xfrm>
            <a:off x="2514600" y="2115589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702440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H="1">
            <a:off x="2514600" y="4023360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H="1" flipV="1">
            <a:off x="1326759" y="4023360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326759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326759" y="2115589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Oval 310"/>
          <p:cNvSpPr/>
          <p:nvPr/>
        </p:nvSpPr>
        <p:spPr>
          <a:xfrm>
            <a:off x="1828800" y="2701636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828800" y="3048277"/>
            <a:ext cx="137160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參與每一步</a:t>
            </a:r>
          </a:p>
        </p:txBody>
      </p:sp>
      <p:sp>
        <p:nvSpPr>
          <p:cNvPr id="313" name="Oval 312"/>
          <p:cNvSpPr/>
          <p:nvPr/>
        </p:nvSpPr>
        <p:spPr>
          <a:xfrm>
            <a:off x="2080260" y="1681249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4" name="Rectangle 313"/>
          <p:cNvSpPr/>
          <p:nvPr/>
        </p:nvSpPr>
        <p:spPr>
          <a:xfrm>
            <a:off x="2080260" y="1903614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5" name="Oval 314"/>
          <p:cNvSpPr/>
          <p:nvPr/>
        </p:nvSpPr>
        <p:spPr>
          <a:xfrm>
            <a:off x="3268100" y="2317172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6" name="Rectangle 315"/>
          <p:cNvSpPr/>
          <p:nvPr/>
        </p:nvSpPr>
        <p:spPr>
          <a:xfrm>
            <a:off x="3268100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7" name="Oval 316"/>
          <p:cNvSpPr/>
          <p:nvPr/>
        </p:nvSpPr>
        <p:spPr>
          <a:xfrm>
            <a:off x="3268100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3268100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Oval 318"/>
          <p:cNvSpPr/>
          <p:nvPr/>
        </p:nvSpPr>
        <p:spPr>
          <a:xfrm>
            <a:off x="2080260" y="4224943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0" name="Rectangle 319"/>
          <p:cNvSpPr/>
          <p:nvPr/>
        </p:nvSpPr>
        <p:spPr>
          <a:xfrm>
            <a:off x="2080260" y="4447309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1" name="Oval 320"/>
          <p:cNvSpPr/>
          <p:nvPr/>
        </p:nvSpPr>
        <p:spPr>
          <a:xfrm>
            <a:off x="892419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892419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3" name="Oval 322"/>
          <p:cNvSpPr/>
          <p:nvPr/>
        </p:nvSpPr>
        <p:spPr>
          <a:xfrm>
            <a:off x="892419" y="2317172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892419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75488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機制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355080" y="1691640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怎麼運作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解決的問題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54880" y="2064715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交接靠檔案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355080" y="2064715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2064715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需求反覆、交接失真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754880" y="3014361"/>
            <a:ext cx="15636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規則自動執行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355080" y="3014361"/>
            <a:ext cx="352958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21240" y="3014361"/>
            <a:ext cx="1837943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合規與品質靠個人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754880" y="3964007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關卡有人簽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355080" y="3964007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9921240" y="3964007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怕失控、稽核查不到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295207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295207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可以一路做到正式環境的門口，但不能自己開門。本方法不綁特定 AI 工具，依貴公司政策與合約選定。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流程整合自 FSC1〈AI 協作開發流程與產出範本〉v3。DORA 2026 建議以不可略過的檢查點、提交前自動檢查、小批次與版本控制承接 AI 帶來的審查負擔，與三個機制一致（附錄 I）。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分工：重複、判斷少的先交給 AI；關鍵決定永遠由人做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依任務「多常發生 × 需要判斷」分四類；第一個試點用例，優先挑左上角工作多的需求。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51560" y="1734034"/>
            <a:ext cx="3291840" cy="1822981"/>
          </a:xfrm>
          <a:prstGeom prst="rect">
            <a:avLst/>
          </a:prstGeom>
          <a:solidFill>
            <a:srgbClr val="FFE8D4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6" name="Rectangle 305"/>
          <p:cNvSpPr/>
          <p:nvPr/>
        </p:nvSpPr>
        <p:spPr>
          <a:xfrm>
            <a:off x="1161288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先做，人確認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161288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欄位清單、Test Case、Test Data、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Unit Test、註解與文件、Release Note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98264" y="1734034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9" name="Rectangle 308"/>
          <p:cNvSpPr/>
          <p:nvPr/>
        </p:nvSpPr>
        <p:spPr>
          <a:xfrm>
            <a:off x="4507992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起草，人逐項審查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507992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程式碼、API 規格、ERD、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Code Review 風險檢查、測試失敗原因分析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051560" y="3607889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161288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做成範本，重複使用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1161288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Deploy Guide、User Guide、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Migration Script、部署腳本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398264" y="3607889"/>
            <a:ext cx="3291840" cy="182298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4507992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人決定，AI 只提供資料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507992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接受需求、架構選型、核准合併、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授權上線、事件處置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1734034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607889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051560" y="5464786"/>
            <a:ext cx="6638544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001000" y="1734034"/>
            <a:ext cx="3794760" cy="3730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對貴公司的意義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先挑左上角：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第一個試點用例，優先挑這類工作多的需求，最快看到效果。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右下角就是五個關卡：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這些決定由貴公司指定的人做，AI 只提供資料（第 12 頁）。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依實際專案調整：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分類在準備度診斷時，依貴公司的專案與規範確認（第 18 頁）。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FSC1 開發流程實務；方法參考 MIT Sloan Management Review，2024。分類為初步判斷。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現場示範：再保險系統主檔模組，從業務規則到上線畫面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 FSC1 IT 團隊的實作為例：業務規則、規格、任務與測試一路相連，每一步都留下文件與紀錄。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1　需求說明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08" name="Picture 307" descr="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91" y="2098631"/>
            <a:ext cx="2074881" cy="1517737"/>
          </a:xfrm>
          <a:prstGeom prst="rect">
            <a:avLst/>
          </a:prstGeom>
        </p:spPr>
      </p:pic>
      <p:sp>
        <p:nvSpPr>
          <p:cNvPr id="309" name="Rectangle 308"/>
          <p:cNvSpPr/>
          <p:nvPr/>
        </p:nvSpPr>
        <p:spPr>
          <a:xfrm>
            <a:off x="411480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7 條業務規則，含制裁主管覆核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2　規格與規範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706624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2" name="Picture 311" descr="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1035" y="2098631"/>
            <a:ext cx="2074881" cy="1517737"/>
          </a:xfrm>
          <a:prstGeom prst="rect">
            <a:avLst/>
          </a:prstGeom>
        </p:spPr>
      </p:pic>
      <p:sp>
        <p:nvSpPr>
          <p:cNvPr id="313" name="Rectangle 312"/>
          <p:cNvSpPr/>
          <p:nvPr/>
        </p:nvSpPr>
        <p:spPr>
          <a:xfrm>
            <a:off x="2706624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6 份規格，各有審閱週期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5001768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3　實作計畫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001768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6" name="Picture 315" descr="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6179" y="2098631"/>
            <a:ext cx="2074881" cy="1517737"/>
          </a:xfrm>
          <a:prstGeom prst="rect">
            <a:avLst/>
          </a:prstGeom>
        </p:spPr>
      </p:pic>
      <p:sp>
        <p:nvSpPr>
          <p:cNvPr id="317" name="Rectangle 316"/>
          <p:cNvSpPr/>
          <p:nvPr/>
        </p:nvSpPr>
        <p:spPr>
          <a:xfrm>
            <a:off x="5001768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列明驗收場景，最多改 5 個檔案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296912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4　程式與測試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296912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0" name="Picture 319" descr="st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1323" y="2098631"/>
            <a:ext cx="2074881" cy="1517737"/>
          </a:xfrm>
          <a:prstGeom prst="rect">
            <a:avLst/>
          </a:prstGeom>
        </p:spPr>
      </p:pic>
      <p:sp>
        <p:nvSpPr>
          <p:cNvPr id="321" name="Rectangle 320"/>
          <p:cNvSpPr/>
          <p:nvPr/>
        </p:nvSpPr>
        <p:spPr>
          <a:xfrm>
            <a:off x="7296912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10 個測試案例，覆蓋率 &gt; 90%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9592056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5　核准與紀錄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9592056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4" name="Picture 323" descr="step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56467" y="2098631"/>
            <a:ext cx="2074881" cy="1517737"/>
          </a:xfrm>
          <a:prstGeom prst="rect">
            <a:avLst/>
          </a:prstGeom>
        </p:spPr>
      </p:pic>
      <p:sp>
        <p:nvSpPr>
          <p:cNvPr id="325" name="Rectangle 324"/>
          <p:cNvSpPr/>
          <p:nvPr/>
        </p:nvSpPr>
        <p:spPr>
          <a:xfrm>
            <a:off x="9592056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任務回溯規則代碼，寫入審計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277729"/>
            <a:ext cx="3703320" cy="1373595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7" name="Picture 326" descr="screen_currenci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7387" y="4303166"/>
            <a:ext cx="2351504" cy="1322721"/>
          </a:xfrm>
          <a:prstGeom prst="rect">
            <a:avLst/>
          </a:prstGeom>
        </p:spPr>
      </p:pic>
      <p:sp>
        <p:nvSpPr>
          <p:cNvPr id="328" name="Rectangle 327"/>
          <p:cNvSpPr/>
          <p:nvPr/>
        </p:nvSpPr>
        <p:spPr>
          <a:xfrm>
            <a:off x="411480" y="5668282"/>
            <a:ext cx="370332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結算幣別選單：清單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233672" y="4277729"/>
            <a:ext cx="3703320" cy="1373595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30" name="Picture 329" descr="screen_countrie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09579" y="4303166"/>
            <a:ext cx="2351504" cy="1322721"/>
          </a:xfrm>
          <a:prstGeom prst="rect">
            <a:avLst/>
          </a:prstGeom>
        </p:spPr>
      </p:pic>
      <p:sp>
        <p:nvSpPr>
          <p:cNvPr id="331" name="Rectangle 330"/>
          <p:cNvSpPr/>
          <p:nvPr/>
        </p:nvSpPr>
        <p:spPr>
          <a:xfrm>
            <a:off x="4233672" y="5668282"/>
            <a:ext cx="370332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國家選單：新增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8055863" y="4277729"/>
            <a:ext cx="3703320" cy="1373595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33" name="Picture 332" descr="screen_regi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31771" y="4303166"/>
            <a:ext cx="2351504" cy="1322721"/>
          </a:xfrm>
          <a:prstGeom prst="rect">
            <a:avLst/>
          </a:prstGeom>
        </p:spPr>
      </p:pic>
      <p:sp>
        <p:nvSpPr>
          <p:cNvPr id="334" name="Rectangle 333"/>
          <p:cNvSpPr/>
          <p:nvPr/>
        </p:nvSpPr>
        <p:spPr>
          <a:xfrm>
            <a:off x="8055863" y="5668282"/>
            <a:ext cx="370332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區域選單：新增與提醒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文件為 TASK-000013「金融機構主檔」任務包原文節錄；畫面取自同一系統的示範錄影，使用測試資料。追溯表見附錄 E。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帶來什麼價值</a:t>
            </a:r>
          </a:p>
          <a:p>
            <a:r>
              <a:rPr sz="3000">
                <a:latin typeface="Georgia"/>
                <a:ea typeface="微軟正黑體"/>
              </a:rPr>
              <a:t>Value we deliver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03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帶來什麼價值：每個痛點對應一項成果與衡量指標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試點以流程指標驗收；DORA 四項交付指標需要較長期間與足夠的上線次數，於擴大階段起追蹤。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痛點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60604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解決方式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53212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商業價值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8458200" y="1691640"/>
            <a:ext cx="3300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衡量指標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2157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需求來回多輪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606040" y="2064715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業務和 AI 一起寫需求說明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532120" y="2064715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新功能更快上線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458200" y="2064715"/>
            <a:ext cx="3300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從第一次討論到需求定稿的時間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776949"/>
            <a:ext cx="2157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審查排隊、品質看人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606040" y="2776949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先審、人判斷風險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5532120" y="2776949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工程師把時間花在需要判斷的工作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8458200" y="2776949"/>
            <a:ext cx="3300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第一次審查的等待時間、返工次數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489184"/>
            <a:ext cx="2157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上線出錯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2606040" y="3489184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每次改動自行測試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5532120" y="3489184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上線事故減少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458200" y="3489184"/>
            <a:ext cx="3300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變更失敗率、復原時間（DORA，擴大階段）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201418"/>
            <a:ext cx="2157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法規與稽核壓力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2606040" y="4201418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規範規則＋自動關卡＋紀錄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5532120" y="4201418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金檢與內稽時拿得出佐證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8458200" y="4201418"/>
            <a:ext cx="3300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內稽調閱佐證所需時間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913653"/>
            <a:ext cx="2157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交付慢且難預期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606040" y="4913653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每階段交出檔案，下一步直接接手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532120" y="4913653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交付時間可預期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8458200" y="4913653"/>
            <a:ext cx="3300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交付時間、部署頻率（DORA，擴大階段）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76155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DORA 四項指標（部署頻率、交付時間、變更失敗率、復原時間）為業界通用的交付績效指標。效益不預先承諾數字，以實測為準。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DORA 2026：回收期 6–9 個月是敏捷團隊的優異目標；需要大量治理的大型企業導入，12–18 個月屬可接受。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給法遵與風控：每一個 AI 產出，都查得到誰要求、誰核准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金檢與內稽會問的五個問題，在流程中都有對應的做法與紀錄；條文對照見附錄 D，實例見附錄 E。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2552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金檢與內稽會問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703320" y="1691640"/>
            <a:ext cx="50840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流程中的做法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8823959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留下的紀錄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064715"/>
            <a:ext cx="32552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AI 工具有沒有納入委外管理與 AI 清冊？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703320" y="2064715"/>
            <a:ext cx="50840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診斷時判斷是否屬委外並登錄 AI 清冊；高風險用途加審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823959" y="2064715"/>
            <a:ext cx="293522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委外判斷紀錄、AI 清冊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692159"/>
            <a:ext cx="325526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客戶個資有沒有進到 AI？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3703320" y="2692159"/>
            <a:ext cx="508406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資料分級；集中設定禁止讀取機密檔與金鑰；試點用假資料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823959" y="2692159"/>
            <a:ext cx="293522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設定檔與存取紀錄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319604"/>
            <a:ext cx="32552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這個改動是誰核准上線的？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3703320" y="3319604"/>
            <a:ext cx="50840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五個關卡各有指定核准人；寫程式的 AI 不能核准自己的程式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59" y="3319604"/>
            <a:ext cx="293522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核准紀錄（人、時間、版本）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947049"/>
            <a:ext cx="325526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出事能不能退回？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703320" y="3947049"/>
            <a:ext cx="508406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退版流程事先演練；AI 建議退版，服務負責人核准後執行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8823959" y="3947049"/>
            <a:ext cx="293522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演練與事件紀錄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4574493"/>
            <a:ext cx="32552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AI 做了什麼，事後查得到嗎？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3703320" y="4574493"/>
            <a:ext cx="50840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需求說明、規格、實作計畫與測試結果版本化保存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823959" y="4574493"/>
            <a:ext cx="293522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完整的文件軌跡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33760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502920" y="533760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對法遵的意義：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使用從「難以稽核的個人行為」變成「有紀錄的流程」。法規檢查清單為草稿，診斷時與貴公司法遵逐條確認。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你買到什麼：先診斷，再做一個用例的試點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95646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成功標準在試點前雙方講好，達標才擴大；固定範圍、固定價格，金額另行報價。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05840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1691640"/>
            <a:ext cx="379476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4–6 週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・挑出第一個用例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・雙方訂好成功標準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瓶頸地圖、法規檢查結果、用例建議、導入藍圖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343400" y="1691640"/>
            <a:ext cx="3794760" cy="50873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一個用例的試點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6–8 週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34340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・建立範本、規範規則與關卡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・同步教會各角色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313" name="Right Arrow 312"/>
          <p:cNvSpPr/>
          <p:nvPr/>
        </p:nvSpPr>
        <p:spPr>
          <a:xfrm>
            <a:off x="4224528" y="1818824"/>
            <a:ext cx="100584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8275320" y="1691640"/>
            <a:ext cx="3520440" cy="50873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成功標準（試點前講好）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275320" y="2242773"/>
            <a:ext cx="3520440" cy="241650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・需求定稿時間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・第一次審查等待時間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・返工次數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・核准紀錄完整（流程內建的必要條件）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・合格線：以診斷期量到的基準，試點前約定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擴大到下一個用例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未達標：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檢討後再試或停止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4786468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7" name="Rectangle 316"/>
          <p:cNvSpPr/>
          <p:nvPr/>
        </p:nvSpPr>
        <p:spPr>
          <a:xfrm>
            <a:off x="502920" y="4786468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貴公司需配合：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379997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9" name="Rectangle 318"/>
          <p:cNvSpPr/>
          <p:nvPr/>
        </p:nvSpPr>
        <p:spPr>
          <a:xfrm>
            <a:off x="502920" y="5379997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我們的團隊：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懂保險業務與法規的 BA 主導需求與法規檢查，IT 主導實作與示範；同一組人從診斷做到試點。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期程依範圍確認。擴大階段、工具包授權與駐點支援可依需求討論。試點風險與因應見附錄 F。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為什麼選我們：已在用的做法，加上在地法規與可稽核關卡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國際方案多以預建代理與藍圖為主；我們綁上在地法規與可稽核關卡，從貴公司的一個真實需求開始。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差異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2788920" y="1691640"/>
            <a:ext cx="5998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貴公司得到什麼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證據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064715"/>
            <a:ext cx="23408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已經在用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788920" y="2064715"/>
            <a:ext cx="59984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我們自己的開發流程已經這樣運作：各階段的產出、AI 分工與檢查點都已定義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823960" y="2064715"/>
            <a:ext cx="293522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現場示範（第 14 頁）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014361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台灣保險法規內建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788920" y="3014361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委外、雲端、AI 自律規範與金管會指引，對應到開發的每一步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823960" y="3014361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法規檢查清單（附錄 D）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964007"/>
            <a:ext cx="23408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懂保險業務與在地系統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788920" y="3964007"/>
            <a:ext cx="59984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用例直接選理賠、核保、核心系統周邊等真實流程，不必從頭解釋業務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60" y="3964007"/>
            <a:ext cx="29352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[待補：2–3 個 FSC1 保險業專案]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913653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可稽核的人工關卡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2788920" y="4913653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誰核准、何時核准都查得到；寫程式的 AI 不能核准自己的程式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8823960" y="4913653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關卡設計（第 12 頁）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同業具體產品與來源見附錄 C。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可擴充、可複製</a:t>
            </a:r>
          </a:p>
          <a:p>
            <a:r>
              <a:rPr sz="3000">
                <a:latin typeface="Georgia"/>
                <a:ea typeface="微軟正黑體"/>
              </a:rPr>
              <a:t>Scalable and repeatable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04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可擴充、可複製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從一個用例開始，驗證價值後再逐步擴大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可擴充、可複製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每一步只承諾下一步、每一步都可以停，不必一開始就承諾全面轉型。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3811385"/>
            <a:ext cx="2057400" cy="118705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1　一個用例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試點一個範圍小、可量測的需求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承諾：診斷＋一個試點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560320" y="3175461"/>
            <a:ext cx="2057400" cy="1822981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2　驗證價值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對照試點前講好的成功標準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56032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決定：擴大、調整或停止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709160" y="2539538"/>
            <a:ext cx="2057400" cy="245890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3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沿用範本、規則與關卡，只補該系統的規範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70916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承諾：下一個用例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858000" y="1903614"/>
            <a:ext cx="2057400" cy="309482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4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集中管理設定，統一關卡與紀錄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85800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承諾：依前面成果決定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098280" y="1691640"/>
            <a:ext cx="2697480" cy="387489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為什麼這樣做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風險小：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第一步只動一個用例。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成本可控：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有數據才擴大：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每一步都對照同一套指標。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越做越快：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範本與規則沿用，下一個用例不必從頭來。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先講好 J 曲線：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DORA 2026 指出導入初期會有短暫下滑，常見的失敗是在低谷時撤資；成功標準與期間事先講好。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571915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各用例可沿用與需客製的內容、延伸到其他系統與產業的方式，見附錄 B。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如何開始：先看現場示範，再挑一個用例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可擴充、可複製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從現場示範到啟動診斷共三步；請貴公司先指定窗口，並提供候選需求清單。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4–6 週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選定用例與成功標準</a:t>
            </a:r>
          </a:p>
        </p:txBody>
      </p:sp>
      <p:sp>
        <p:nvSpPr>
          <p:cNvPr id="308" name="Right Arrow 307"/>
          <p:cNvSpPr/>
          <p:nvPr/>
        </p:nvSpPr>
        <p:spPr>
          <a:xfrm>
            <a:off x="3154680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282696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1　用例試點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6–8 週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2696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指標達到合格線</a:t>
            </a:r>
          </a:p>
        </p:txBody>
      </p:sp>
      <p:sp>
        <p:nvSpPr>
          <p:cNvPr id="311" name="Right Arrow 310"/>
          <p:cNvSpPr/>
          <p:nvPr/>
        </p:nvSpPr>
        <p:spPr>
          <a:xfrm>
            <a:off x="6025896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6153912" y="1691640"/>
            <a:ext cx="2743200" cy="59352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2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依範圍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53912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管理層核准擴大</a:t>
            </a:r>
          </a:p>
        </p:txBody>
      </p:sp>
      <p:sp>
        <p:nvSpPr>
          <p:cNvPr id="314" name="Right Arrow 313"/>
          <p:cNvSpPr/>
          <p:nvPr/>
        </p:nvSpPr>
        <p:spPr>
          <a:xfrm>
            <a:off x="8897112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9025128" y="1691640"/>
            <a:ext cx="2743200" cy="59352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持續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25128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7" name="Oval 316"/>
          <p:cNvSpPr/>
          <p:nvPr/>
        </p:nvSpPr>
        <p:spPr>
          <a:xfrm>
            <a:off x="411480" y="305542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051560" y="2963487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用貴公司提供的一個需求，示範從需求說明到核准紀錄。</a:t>
            </a:r>
          </a:p>
        </p:txBody>
      </p:sp>
      <p:sp>
        <p:nvSpPr>
          <p:cNvPr id="319" name="Oval 318"/>
          <p:cNvSpPr/>
          <p:nvPr/>
        </p:nvSpPr>
        <p:spPr>
          <a:xfrm>
            <a:off x="411480" y="3835492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3743553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對齊工作坊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挑 1–2 個候選用例，確認前提與限制。</a:t>
            </a:r>
          </a:p>
        </p:txBody>
      </p:sp>
      <p:sp>
        <p:nvSpPr>
          <p:cNvPr id="321" name="Oval 320"/>
          <p:cNvSpPr/>
          <p:nvPr/>
        </p:nvSpPr>
        <p:spPr>
          <a:xfrm>
            <a:off x="411480" y="461555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051560" y="4523619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啟動準備度診斷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確認範圍與雙方窗口，開始盤點現況與法規檢查。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15200" y="2963487"/>
            <a:ext cx="4480560" cy="225540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・資安、個資與法遵規範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22392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5" name="Rectangle 324"/>
          <p:cNvSpPr/>
          <p:nvPr/>
        </p:nvSpPr>
        <p:spPr>
          <a:xfrm>
            <a:off x="502920" y="5422392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A｜示範情境：「理賠進度自助查詢」導入前後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以一個常見的保險需求，說明每個階段 AI 做什麼、由誰決定。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335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階段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7830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導入前（常見做法）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709160" y="1691640"/>
            <a:ext cx="5221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966960" y="1691640"/>
            <a:ext cx="1792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誰決定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783080" y="2064715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多次會議，再由專人寫成文件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709160" y="2064715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理賠同仁和 AI 一起整理需求說明，AI 追問範圍與限制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966960" y="2064715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產品負責人接受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675201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783080" y="2675201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分析與設計分開做，規範靠人記得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709160" y="2675201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起草規格，自動套用「入口網站不新增個資」等規範，衝突處標出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966960" y="2675201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產品負責人確認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285688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783080" y="3285688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讀完設計就寫，做法只在個人腦中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709160" y="3285688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先寫實作計畫（含核心系統流量限制與快取），核准後才動手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9966960" y="3285688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工程師核准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3896175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783080" y="3896175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階段末才測，問題晚發現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709160" y="3896175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每次改動自己跑測試，各種理賠狀態都正確才交人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66960" y="3896175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自行驗證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506661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783080" y="4506661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逐行人工審查，排隊等待核准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09160" y="4506661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先審並排嚴重度，人判斷風險；沒有授權不能上線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9966960" y="4506661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程式負責人、發布經理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117148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783080" y="5117148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事件常被擱置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4709160" y="5117148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錯誤率異常時 AI 先診斷並建議退版；服務負責人核准後執行，問題寫成新需求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66960" y="5117148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服務負責人核准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情境改編自 Anthropic《The AI-Native SDLC Playbook》 的公開範例，非客戶案例；「導入前」為常見做法的示意。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B｜延伸方式：同一套資產延伸到其他系統、客戶與產業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流程、範本與關卡可以沿用；不同延伸方向要補的內容與前提不同。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延伸方向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例子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120640" y="1691640"/>
            <a:ext cx="22494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沿用什麼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0664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要新增什麼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60120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前提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同一客戶的其他系統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理賠 → 核保規則、保單服務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120640" y="2064715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流程、範本、關卡、規範規則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0664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該系統的規範與核准人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60120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前一個用例達標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00638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新制相關專案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00638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17／TW-ICS 報表與資料調整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5120640" y="2700638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流程、關卡、法規清單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0664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財會與精算規範、資料品質檢查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60120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財會、精算參與；高風險加審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336562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治理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336562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清冊與模型驗證流程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120640" y="3336562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紀錄與關卡、自律規範對應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0664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模型驗證規則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60120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屬治理服務，另行界定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3972486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其他保險公司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3972486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另一家壽險或產險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120640" y="3972486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全部標準模組與資產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0664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該公司規範與系統串接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60120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審計客戶需先確認獨立性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608409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其他金融業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608409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銀行、證券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5120640" y="4608409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流程、關卡、指標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0664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該產業法規規則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60120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以金管會 AI 指引為共同基礎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295207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需客製的部分：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貴公司的資安與命名規範、系統與工具串接、資料分級與核准人、用例題目與基準、委外安排。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C｜同業產品化參考：具體產品與來源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國際顧問與軟體業者已推出保險業 AI 相關方案；以下整理自業者公開資訊。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82880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產品／方案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548640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型態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086600" y="1691640"/>
            <a:ext cx="4672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來源（可點擊）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73194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1828800" y="2073194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Agentic AI Blueprint for Insurance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486400" y="2073194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加速器＋導入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086600" y="2073194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www.deloitte.com 原文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48017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1828800" y="2548017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Regulatory Assist（與 SAS 合作）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486400" y="2548017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6600" y="2548017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sas.com 原文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22840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KPMG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828800" y="3022840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Express, powered by SAS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486400" y="3022840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7086600" y="3022840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sas.com 原文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97663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Capgemini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828800" y="3497663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Guidewire 生成式 AI／代理工具組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486400" y="3497663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核心系統＋AI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086600" y="3497663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www.capgemini.com 原文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72486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WTW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828800" y="3972486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Radar 5（保險定價與核保軟體）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486400" y="3972486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軟體產品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086600" y="3972486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www.wtwco.com 原文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47309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McKinsey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1828800" y="4447309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代理型 AI 核心現代化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5486400" y="4447309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7086600" y="4447309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www.mckinsey.com 原文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22132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BCG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1828800" y="4922132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AI-First 產險公司藍圖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486400" y="4922132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7086600" y="4922132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www.bcg.com 原文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50718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規模與期程數字為業者自述。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D｜保險業 AI 開發法規檢查清單（草稿）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把台灣保險業的委外、雲端、AI 與個資規範，對應到開發流程中的檢查點。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檢查項目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33756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依據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85800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開發流程中怎麼落實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1037844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在哪一步檢查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是否屬作業委外、是否需依規定辦理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33756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保險業作業委託他人處理內部作業制度及程序辦法（2025-12-31 施行）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85800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導入前判斷並留下紀錄；AI 工具納入委外管理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10378440" y="2064715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624328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雲端資料存放、雲端業者管理與查核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33756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保險業作業委外使用雲端服務自律規範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85800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使用公司核准的雲端合約；保留查核所需紀錄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10378440" y="2624328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183940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工具登錄 AI 清冊並做風險評估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33756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保險業運用人工智慧系統自律規範（2025-04-10 備查）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85800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每個 AI 工具與用途登錄；高風險用途加審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378440" y="3183940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743553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關鍵決定由人做，保險公司負最終責任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33756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同上；金管會 AI 指引「治理及問責」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85800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五個人工關卡，各有指定核准人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10378440" y="3743553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①–⑤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4303166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個資與客戶資料不進入 AI 可讀範圍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333756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個人資料保護法；金管會 AI 指引「隱私及客戶權益」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85800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378440" y="4303166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規格、開發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862779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程式經資安審查，出事可退回上一版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333756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指引「系統穩健性與安全性」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85800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資安初審＋人工審查；退版流程事先演練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10378440" y="4862779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④ 合併、⑤ 上線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5422392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誰要求、AI 產出什麼、誰核准，查得到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33756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指引「透明性與可解釋性」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85800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需求說明、規格、計畫與核准紀錄版本化保存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10378440" y="5422392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全程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導入規劃工具，非法律意見；條文以主管機關公告為準；草稿待法遵確認。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E｜示範案例：每條業務規則都追溯到測試與任務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以再保險系統「金融機構主檔」為例；稽核時從任一條規則，都找得到對應的使用案例、測試與程式範圍。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業務規則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0690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使用案例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44652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測試案例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開發任務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BR-FI-01　代碼唯一性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06908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44652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TC-FI-03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823960" y="2064715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3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39538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BR-FI-02　引用後鎖定唯讀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06908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44652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60" y="2539538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14361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BR-FI-03　引用防刪與軟作廢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06908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UC-FI-04、UC-FI-06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44652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TC-FI-07、TC-FI-08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823960" y="3014361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89184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BR-FI-04　SWIFT/BIC 格式檢核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06908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44652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TC-FI-04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8823960" y="3489184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4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64007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BR-FI-05　作廢資料隔離與追溯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06908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UC-FI-06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44652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8823960" y="3964007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38830"/>
            <a:ext cx="36210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BR-FI-06　制裁連動與主管覆核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06908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UC-FI-03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44652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TC-FI-05、TC-FI-06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8823960" y="4438830"/>
            <a:ext cx="29352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13653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BR-FI-07　順序自動計算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06908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44652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TC-FI-02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8823960" y="4913653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2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42239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42239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追溯表的用處：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缺口一眼看得出來：BR-FI-02、BR-FI-05 目前沒有對應的測試案例；任務包只附 001 與 005 兩個任務。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605831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TASK-000013 任務包（SA、使用案例、QA 規格與任務文件）；任務與規則的對應依任務內容判讀，待 IT 團隊確認。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F｜試點風險與因應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試點前就講好可能出問題的地方、怎麼提早發現，以及誰負責處理。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風險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提早發現的訊號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89204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事前降低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98079" y="1691640"/>
            <a:ext cx="2386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發生時的應變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負責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用例效益偏低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用例落在複雜的既有系統，重複性工作少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892040" y="2064715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診斷時優先挑「常發生、判斷少」工作多的需求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98079" y="2064715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調整範圍或換用例，不硬撐到底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921240" y="2064715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PwC（BA、IT）＋貴公司 IT 主管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85428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初期下滑被誤判（J 曲線）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85428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前幾週需求定稿與審查時間變長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892040" y="2785428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試點前講好預期的下滑與觀察期間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98079" y="2785428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依約定期間判斷，不在低谷時中止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921240" y="2785428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貴公司管理層＋PwC 帶隊人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506142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個資或機密進入 AI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506142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設定或存取紀錄出現例外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892040" y="3506142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資料分級；試點用假資料；集中設定禁止讀取機密檔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98079" y="3506142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立即停用該工具、通報並檢討設定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21240" y="3506142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貴公司資安＋PwC IT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226855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工具未獲內部核准，時程延誤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4226855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 2 週仍未完成委外判斷與清冊登錄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892040" y="4226855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診斷第一週就啟動委外判斷與清冊登錄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98079" y="4226855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先用已核准的工具試點，或調整時程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4226855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貴公司法遵、IT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947569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駐點團隊配合度低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947569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試點任務排不進工作、出席率低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892040" y="4947569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試點前與 IT 主管談好駐點團隊的角色與工時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98079" y="4947569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改由貴公司自有人員或 PwC 補位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921240" y="4947569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 IT 主管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84634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依 DORA 2026（J 曲線、既有系統效益）與試點規劃整理；正式清單於診斷時與貴公司共同確認。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G｜示範錄影：再保險系統主檔模組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內部參考：IT 團隊的三段示範錄影（各約 5 秒），點擊畫面播放；對外以現場示範為主。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pic>
        <p:nvPicPr>
          <p:cNvPr id="306" name="video_countrie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11480" y="1818824"/>
            <a:ext cx="3703320" cy="2083117"/>
          </a:xfrm>
          <a:prstGeom prst="rect">
            <a:avLst/>
          </a:prstGeom>
        </p:spPr>
      </p:pic>
      <p:sp>
        <p:nvSpPr>
          <p:cNvPr id="307" name="Rectangle 306"/>
          <p:cNvSpPr/>
          <p:nvPr/>
        </p:nvSpPr>
        <p:spPr>
          <a:xfrm>
            <a:off x="411480" y="3969774"/>
            <a:ext cx="3703320" cy="2967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95959"/>
                </a:solidFill>
                <a:latin typeface="Georgia"/>
                <a:ea typeface="微軟正黑體"/>
              </a:rPr>
              <a:t>國家選單</a:t>
            </a:r>
          </a:p>
        </p:txBody>
      </p:sp>
      <p:pic>
        <p:nvPicPr>
          <p:cNvPr id="308" name="video_regions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233672" y="1818824"/>
            <a:ext cx="3703320" cy="2083117"/>
          </a:xfrm>
          <a:prstGeom prst="rect">
            <a:avLst/>
          </a:prstGeom>
        </p:spPr>
      </p:pic>
      <p:sp>
        <p:nvSpPr>
          <p:cNvPr id="309" name="Rectangle 308"/>
          <p:cNvSpPr/>
          <p:nvPr/>
        </p:nvSpPr>
        <p:spPr>
          <a:xfrm>
            <a:off x="4233672" y="3969774"/>
            <a:ext cx="3703320" cy="2967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95959"/>
                </a:solidFill>
                <a:latin typeface="Georgia"/>
                <a:ea typeface="微軟正黑體"/>
              </a:rPr>
              <a:t>區域選單</a:t>
            </a:r>
          </a:p>
        </p:txBody>
      </p:sp>
      <p:pic>
        <p:nvPicPr>
          <p:cNvPr id="310" name="video_currencies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55863" y="1818824"/>
            <a:ext cx="3703320" cy="2083117"/>
          </a:xfrm>
          <a:prstGeom prst="rect">
            <a:avLst/>
          </a:prstGeom>
        </p:spPr>
      </p:pic>
      <p:sp>
        <p:nvSpPr>
          <p:cNvPr id="311" name="Rectangle 310"/>
          <p:cNvSpPr/>
          <p:nvPr/>
        </p:nvSpPr>
        <p:spPr>
          <a:xfrm>
            <a:off x="8055863" y="3969774"/>
            <a:ext cx="3703320" cy="2967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95959"/>
                </a:solidFill>
                <a:latin typeface="Georgia"/>
                <a:ea typeface="微軟正黑體"/>
              </a:rPr>
              <a:t>結算幣別選單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錄影使用測試資料；對外使用前請 IT 確認不含客戶資料或客戶專屬設計。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0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308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310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H｜研究整合：兩份研究互補，衝突處的取捨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內部參考：兩份研究的差異，以及本提案採用哪一邊、為什麼。提交客戶前移除本頁。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426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主題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874520" y="1691640"/>
            <a:ext cx="29809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研究一：FSC1 開發流程 v3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89204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研究二：AI 原生 SDLC 說明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818120" y="1691640"/>
            <a:ext cx="394106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本提案的取捨與原因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流程階段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874520" y="2064715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五階段：需求分析、SA&amp;D、開發、測試、上版／交付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892040" y="2064715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六階段：規劃、設計、開發、測試、上線、維運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7818120" y="2064715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採研究一的名稱，加上維運：保險業 IT 熟悉這些用語；維運讓流程形成循環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726075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控制方式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874520" y="2726075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Prompt 撰寫原則＋IT 人工 Review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892040" y="2726075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技能、鉤子、集中管理設定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818120" y="2726075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分層：Prompt 為第一層，往規則與自動關卡加強；受監理行業需要可強制的控制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387436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關卡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874520" y="3387436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每階段文件確認後進下一階段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892040" y="3387436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五個關鍵決定由指定的人核准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7818120" y="3387436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保留研究一的檢查點，補上指定核准人與紀錄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048796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效益說法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874520" y="4048796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未提數字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892040" y="4048796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手冊預期「數週到數小時」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7818120" y="4048796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不承諾數字，以試點實測；外部證據改用 DORA 等獨立研究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710157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實作證據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874520" y="4710157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各階段案例頁待補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892040" y="4710157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實績頁待 IT 團隊填寫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818120" y="4710157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以 IT 示範補上：再保險系統主檔模組（第 14 頁）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371518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服務內容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874520" y="5371518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未涵蓋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4892040" y="5371518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四個服務模組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7818120" y="5371518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對外收斂為「診斷＋一個用例試點」，其餘依需求討論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I｜資料來源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本提案引用的外部研究、法規與內部研究。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Stack Overflow，2025 Developer Survey 新聞稿（84%）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992643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2.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Google Cloud，Announcing the 2024 DORA report（−1.5%、−7.2%）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293647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3.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Google Cloud，Announcing the 2025 DORA report（約 90%、速度與穩定度）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594651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4.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DORA，The ROI of AI-assisted Software Development，v.2026.1（放大器、J 曲線、既有系統效益、回收期）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895655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5.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InfoQ，DORA 2025 State of AI-assisted Software Development 整理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3196659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6.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Yahoo Finance，JPMorgan 工程師使用寫程式助手效率提升至多 20%，2025-03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497663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7.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Deloitte Insights，AI and bank software development，2025（Citi 3 萬名開發者）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3798666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8.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9"/>
              </a:rPr>
              <a:t>Claims Journal，PwC 保險高階主管調查（57%），2025-11-17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4099670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9.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0"/>
              </a:rPr>
              <a:t>McKinsey，Technology Trends Outlook 2026（代理式軟體開發列為新趨勢）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400674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10.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1"/>
              </a:rPr>
              <a:t>Allen &amp; Gledhill，MAS 發布 AI 模型風險管理資訊文件（2024-12-05）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4701678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11.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2"/>
              </a:rPr>
              <a:t>理律法律事務所，保險業作業委外新辦法（2025-12-31 施行）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002682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12.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3"/>
              </a:rPr>
              <a:t>壽險／產險公會，保險業運用人工智慧系統自律規範（2025-04-10 備查）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5303686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13.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4"/>
              </a:rPr>
              <a:t>金管會，金融業運用人工智慧（AI）指引，2024-06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604690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14. </a:t>
            </a:r>
            <a:r>
              <a:rPr sz="1000" b="0">
                <a:solidFill>
                  <a:srgbClr val="000000"/>
                </a:solidFill>
                <a:latin typeface="Georgia"/>
                <a:ea typeface="微軟正黑體"/>
              </a:rPr>
              <a:t>研究一：FSC1〈AI 協作開發流程與產出範本〉v3；研究二：AI 原生 SDLC 說明，整理自 Anthropic《The AI-Native SDLC Playbook》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「−1.5%」「−7.2%」為 AI 採用率每增加 25% 的模型估計；JPMorgan 數字為公司自述。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