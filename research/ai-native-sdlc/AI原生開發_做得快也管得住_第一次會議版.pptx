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60" r:id="rId21"/>
    <p:sldId id="263" r:id="rId24"/>
    <p:sldId id="264" r:id="rId25"/>
    <p:sldId id="265" r:id="rId26"/>
    <p:sldId id="266" r:id="rId27"/>
    <p:sldId id="269" r:id="rId30"/>
    <p:sldId id="270" r:id="rId31"/>
    <p:sldId id="27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21" Type="http://schemas.openxmlformats.org/officeDocument/2006/relationships/slide" Target="slides/slide5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5" Type="http://schemas.openxmlformats.org/officeDocument/2006/relationships/slide" Target="slides/slide19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今天談三件事：怎麼落地、範本與規則怎麼沿用、怎麼管得住</a:t>
            </a:r>
          </a:p>
          <a:p>
            <a:r>
              <a:t>• 結論：從一個用例開始，做得快，也管得住</a:t>
            </a:r>
          </a:p>
          <a:p>
            <a:r>
              <a:t>• 約 20 分鐘，中間有現場示範</a:t>
            </a:r>
          </a:p>
          <a:p>
            <a:r>
              <a:t>【可能被問】今天要我們決定什麼？→ 只請貴公司安排一場用自己需求的現場示範。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建議：4–6 週診斷＋6–8 週一個用例試點，達標才擴大</a:t>
            </a:r>
          </a:p>
          <a:p>
            <a:r>
              <a:t>• 三個理由：責任在保險公司、只買工具不夠、我們已經在用</a:t>
            </a:r>
          </a:p>
          <a:p>
            <a:r>
              <a:t>• 請決定：安排示範、選 1–2 個候選用例</a:t>
            </a:r>
          </a:p>
          <a:p>
            <a:r>
              <a:t>【可能被問】要多少錢？→ 固定範圍、固定價格，另行報價。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委外辦法與 AI 自律規範：AI 結果的最終責任在保險公司</a:t>
            </a:r>
          </a:p>
          <a:p>
            <a:r>
              <a:t>• 金管會 AI 指引要求問責與透明；區域監理已在檢查</a:t>
            </a:r>
          </a:p>
          <a:p>
            <a:r>
              <a:t>• 紀錄要設計進流程，不能事後補</a:t>
            </a:r>
          </a:p>
          <a:p>
            <a:r>
              <a:t>【可能被問】新加坡的例子是銀行？→ 當作區域方向參考；台灣的依據是金管會指引與公會自律規範。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工具已普及：開發者 84%、技術團隊約九成在用</a:t>
            </a:r>
          </a:p>
          <a:p>
            <a:r>
              <a:t>• 但交付穩定度下降；複雜的既有系統，效益常在 10% 以下</a:t>
            </a:r>
          </a:p>
          <a:p>
            <a:r>
              <a:t>• 回報來自流程與治理，不是工具本身</a:t>
            </a:r>
          </a:p>
          <a:p>
            <a:r>
              <a:t>【可能被問】JPMorgan 不是提升 10–20%？→ 那是個人生產力、公司自述；DORA 看的是整體交付。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開發流程串成循環，維運發現的問題回到需求</a:t>
            </a:r>
          </a:p>
          <a:p>
            <a:r>
              <a:t>• 三個機制：交接靠檔案、規則自動執行、關卡有人簽</a:t>
            </a:r>
          </a:p>
          <a:p>
            <a:r>
              <a:t>• AI 可以做到正式環境門口，不能自己開門</a:t>
            </a:r>
          </a:p>
          <a:p>
            <a:r>
              <a:t>【可能被問】要換掉現有的 Jira 或變更管理嗎？→ 不用，關卡與紀錄接在既有工具上。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依「多常發生 × 需要判斷」把工作分四類</a:t>
            </a:r>
          </a:p>
          <a:p>
            <a:r>
              <a:t>• 右下角就是人工關卡：人決定，AI 只提供資料</a:t>
            </a:r>
          </a:p>
          <a:p>
            <a:r>
              <a:t>• 第一個試點，挑左上角工作多的需求</a:t>
            </a:r>
          </a:p>
          <a:p>
            <a:r>
              <a:t>【可能被問】分類由誰決定？→ 診斷時依貴公司的專案確認。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再保險系統主檔模組：規則 → 規格 → 任務 → 測試 → 追溯</a:t>
            </a:r>
          </a:p>
          <a:p>
            <a:r>
              <a:t>• 制裁國家建檔要主管覆核，並寫入審計紀錄</a:t>
            </a:r>
          </a:p>
          <a:p>
            <a:r>
              <a:t>• 現場可用貴公司的一個需求走一遍</a:t>
            </a:r>
          </a:p>
          <a:p>
            <a:r>
              <a:t>【可能被問】覆蓋率 90% 是實際結果嗎？→ 那是品質閘門要求的門檻，不是已達成的結果；實際執行情形在現場示範時說明。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金檢與內稽會問的五個問題，各有做法與紀錄</a:t>
            </a:r>
          </a:p>
          <a:p>
            <a:r>
              <a:t>• AI 使用從個人行為變成有紀錄的流程</a:t>
            </a:r>
          </a:p>
          <a:p>
            <a:r>
              <a:t>• 法規檢查清單為草稿，診斷時逐條確認</a:t>
            </a:r>
          </a:p>
          <a:p>
            <a:r>
              <a:t>【可能被問】上線是誰核准的？→ 貴公司指定的人；寫程式的 AI 不能核准自己的程式。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診斷 4–6 週、試點 6–8 週，各有明確交付物</a:t>
            </a:r>
          </a:p>
          <a:p>
            <a:r>
              <a:t>• 成功標準：需求定稿時間、審查等待、返工次數；合格線依基準約定</a:t>
            </a:r>
          </a:p>
          <a:p>
            <a:r>
              <a:t>• 達標才擴大，未達標就停</a:t>
            </a:r>
          </a:p>
          <a:p>
            <a:r>
              <a:t>【可能被問】為什麼要三個月？→ 含診斷與基準量測；試點本身 6–8 週，同時教會團隊，不只交一個功能。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三步：現場示範 → 對齊工作坊 → 啟動診斷</a:t>
            </a:r>
          </a:p>
          <a:p>
            <a:r>
              <a:t>• 請提供：窗口、現有流程與工具、候選需求、法遵規範</a:t>
            </a:r>
          </a:p>
          <a:p>
            <a:r>
              <a:t>• 收尾：AI 讓每一步更快、都留下紀錄；要不要做、能不能上線，由你的人決定</a:t>
            </a:r>
          </a:p>
          <a:p>
            <a:r>
              <a:t>【可能被問】下一步是什麼？→ 約一場用貴公司需求的現場示範。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一頁看懂：做得快也管得住，從一個用例開始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提案摘要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先做 4–6 週診斷與 6–8 週單一用例試點；達標後，範本、規則與關卡沿用到下一個系統。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為什麼是現在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委外新辦法與 AI 自律規範已上路，AI 產出的最終責任在保險公司；開發流程要拿得出「誰要求、AI 做了什麼、誰核准」的紀錄。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3、8 頁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233672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為什麼只買工具不夠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DORA 2025：AI 讓交付變快，但交付穩定度仍在下降。效益取決於需求、審查、上線與控制方式有沒有一起改。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33672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4 頁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8055863" y="1691640"/>
            <a:ext cx="370332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為什麼找我們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055863" y="2200378"/>
            <a:ext cx="3703320" cy="173819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Georgia"/>
                <a:ea typeface="微軟正黑體"/>
              </a:rPr>
              <a:t>FSC1 自己已經用這套流程開發；懂保險業務與法規的 BA 和實作的 IT 同一組人，從貴公司的一個真實需求開始。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55863" y="3938570"/>
            <a:ext cx="3703320" cy="3391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Georgia"/>
                <a:ea typeface="微軟正黑體"/>
              </a:rPr>
              <a:t>詳見第 7 頁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4489704"/>
            <a:ext cx="91440" cy="12294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502920" y="4489704"/>
            <a:ext cx="5577840" cy="12294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請貴公司決定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安排一場現場示範，指定 IT 與業務窗口，選出 1–2 個候選用例，啟動準備度診斷。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217920" y="4489704"/>
            <a:ext cx="5577840" cy="12294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595959"/>
                </a:solidFill>
                <a:latin typeface="Georgia"/>
                <a:ea typeface="微軟正黑體"/>
              </a:rPr>
              <a:t>如果先不做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AI 工具照樣在開發團隊擴散，但流程與紀錄沒跟上；等到金檢或內稽時再補紀錄，成本更高、風險更大。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產出的最終責任已落在保險公司；開發流程要留下「誰要求、AI 做了什麼、誰核准」的紀錄。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責任落在保險公司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2025-12-31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保險業作業委外新辦法施行；AI 自律規範要求保險公司對 AI 結果負最終責任。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來源：理律法律事務所；壽險／產險公會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45864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監理要求可問責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245864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2024-06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245864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金管會 AI 指引要求治理及問責、透明性；新加坡金管局 2024-12 檢視銀行後指出，多數已建 AI 清冊，高風險 AI 須獨立驗證。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245864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來源：金管會；新加坡金融管理局（MAS）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080247" y="1691640"/>
            <a:ext cx="3715512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開發需求集中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80247" y="2157984"/>
            <a:ext cx="3715512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2026-01-01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80247" y="2963487"/>
            <a:ext cx="3715512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IFRS 17 與 TW-ICS 接軌上路，財務、精算與報表相關系統都要跟著調整，新的開發需求集中出現。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080247" y="4320124"/>
            <a:ext cx="3715512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來源：金管會保險局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意涵：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紀錄必須在流程裡設計好，不能事後補；新制帶來的系統調整，正好是把 AI 與治理一起導入的時機。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使用率已達八至九成，但交付穩定度下降；DORA 2026 指出，只買授權不保證回報。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706624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技術團隊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2706624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約 90%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在工作中使用 AI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5001768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001768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296912" y="1691640"/>
            <a:ext cx="220370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296912" y="2073194"/>
            <a:ext cx="2203703" cy="97508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592055" y="1691640"/>
            <a:ext cx="2203703" cy="33915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592055" y="2073194"/>
            <a:ext cx="2203703" cy="97508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4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高階主管把生成式 AI 列為 2026 年首要科技投資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交付表現（DORA 2025）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交付速度：轉為正相關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交付穩定度：仍為負相關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既有系統的效益較小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新開發的簡單任務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複雜的既有系統（常見）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研究結論（DORA 2026）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放大器　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回報來自內部平台、清楚的流程與團隊協作，不是工具本身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736114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來源：Stack Overflow 2025；Google DORA 2024、2025、2026；JPMorgan（公司自述）；Deloitte Insights 2025；PwC 保險高階主管調查。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99048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既有系統的生產力數字為 DORA 2026 引述的 Stanford 研究。DORA 2024 模型估計：AI 採用率每增加 25%，穩定度 −7.2%、速度 −1.5%。顧問業者已推出相關方案。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參與每一步；接受需求、核准合併、授權上線等五個關鍵決定，由貴公司指定的人做。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可以一路做到正式環境的門口，但不能自己開門。本方法不綁特定 AI 工具，依貴公司政策與合約選定。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協作開發流程與產出範本〉v3。DORA 2026 建議以不可略過的檢查點、提交前自動檢查、小批次與版本控制承接 AI 帶來的審查負擔，與三個機制一致。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需要判斷」分四類；第一個試點用例，優先挑左上角工作多的需求。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001000" y="1734034"/>
            <a:ext cx="3794760" cy="3730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對貴公司的意義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先挑左上角：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第一個試點用例，優先挑這類工作多的需求，最快看到效果。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右下角就是五個關卡：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這些決定由貴公司指定的人做，AI 只提供資料（第 5 頁）。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Georgia"/>
                <a:ea typeface="微軟正黑體"/>
              </a:rPr>
              <a:t>依實際專案調整：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分類在準備度診斷時，依貴公司的專案與規範確認（第 9 頁）。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FSC1 開發流程實務；方法參考 MIT Sloan Management Review，2024。分類為初步判斷。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現場示範：再保險系統主檔模組，從業務規則到上線畫面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團隊的實作為例：業務規則、規格、任務與測試一路相連，每一步都留下文件與紀錄。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1" y="2098631"/>
            <a:ext cx="2074881" cy="1517737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35" y="2098631"/>
            <a:ext cx="2074881" cy="1517737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6179" y="2098631"/>
            <a:ext cx="2074881" cy="1517737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列明驗收場景，最多改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1323" y="2098631"/>
            <a:ext cx="2074881" cy="1517737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156861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6467" y="2098631"/>
            <a:ext cx="2074881" cy="1517737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3684200"/>
            <a:ext cx="2203704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任務回溯規則代碼，寫入審計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7" name="Picture 326" descr="screen_currenc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" y="4303166"/>
            <a:ext cx="2351504" cy="1322721"/>
          </a:xfrm>
          <a:prstGeom prst="rect">
            <a:avLst/>
          </a:prstGeom>
        </p:spPr>
      </p:pic>
      <p:sp>
        <p:nvSpPr>
          <p:cNvPr id="328" name="Rectangle 327"/>
          <p:cNvSpPr/>
          <p:nvPr/>
        </p:nvSpPr>
        <p:spPr>
          <a:xfrm>
            <a:off x="411480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結算幣別選單：清單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233672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0" name="Picture 329" descr="screen_countri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9579" y="4303166"/>
            <a:ext cx="2351504" cy="1322721"/>
          </a:xfrm>
          <a:prstGeom prst="rect">
            <a:avLst/>
          </a:prstGeom>
        </p:spPr>
      </p:pic>
      <p:sp>
        <p:nvSpPr>
          <p:cNvPr id="331" name="Rectangle 330"/>
          <p:cNvSpPr/>
          <p:nvPr/>
        </p:nvSpPr>
        <p:spPr>
          <a:xfrm>
            <a:off x="4233672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國家選單：新增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055863" y="4277729"/>
            <a:ext cx="3703320" cy="1373595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33" name="Picture 332" descr="screen_regi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31771" y="4303166"/>
            <a:ext cx="2351504" cy="1322721"/>
          </a:xfrm>
          <a:prstGeom prst="rect">
            <a:avLst/>
          </a:prstGeom>
        </p:spPr>
      </p:pic>
      <p:sp>
        <p:nvSpPr>
          <p:cNvPr id="334" name="Rectangle 333"/>
          <p:cNvSpPr/>
          <p:nvPr/>
        </p:nvSpPr>
        <p:spPr>
          <a:xfrm>
            <a:off x="8055863" y="5668282"/>
            <a:ext cx="370332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區域選單：新增與提醒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文件為 TASK-000013「金融機構主檔」任務包原文節錄；畫面取自同一系統的示範錄影，使用測試資料。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給法遵與風控：每一個 AI 產出，都查得到誰要求、誰核准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金檢與內稽會問的五個問題，在流程中都有對應的做法與紀錄。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2552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金檢與內稽會問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703320" y="1691640"/>
            <a:ext cx="50840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流程中的做法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8823959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留下的紀錄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064715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工具有沒有納入委外管理與 AI 清冊？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703320" y="2064715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診斷時判斷是否屬委外並登錄 AI 清冊；高風險用途加審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8823959" y="2064715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委外判斷紀錄、AI 清冊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69215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客戶個資有沒有進到 AI？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703320" y="269215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資料分級；集中設定禁止讀取機密檔與金鑰；試點用假資料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823959" y="269215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設定檔與存取紀錄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319604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這個改動是誰核准上線的？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703320" y="3319604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五個關卡各有指定核准人；寫程式的 AI 不能核准自己的程式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59" y="3319604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核准紀錄（人、時間、版本）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947049"/>
            <a:ext cx="32552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出事能不能退回？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703320" y="3947049"/>
            <a:ext cx="508406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退版流程事先演練；AI 建議退版，服務負責人核准後執行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8823959" y="3947049"/>
            <a:ext cx="2935224" cy="5935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演練與事件紀錄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4574493"/>
            <a:ext cx="32552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AI 做了什麼，事後查得到嗎？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703320" y="4574493"/>
            <a:ext cx="508406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需求說明、規格、實作計畫與測試結果版本化保存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823959" y="4574493"/>
            <a:ext cx="2935224" cy="5935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完整的文件軌跡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33760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502920" y="533760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對法遵的意義：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使用從「難以稽核的個人行為」變成「有紀錄的流程」。法規檢查清單為草稿，診斷時與貴公司法遵逐條確認。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你買到什麼：先診斷，再做一個用例的試點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成功標準在試點前雙方講好，達標才擴大；固定範圍、固定價格，金額另行報價。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・挑出第一個用例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・雙方訂好成功標準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瓶頸地圖、法規檢查結果、用例建議、導入藍圖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50873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一個用例的試點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24277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・建立範本、規範規則與關卡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3641805"/>
            <a:ext cx="3794760" cy="80550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818824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50873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242773"/>
            <a:ext cx="3520440" cy="241650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・需求定稿時間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・第一次審查等待時間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・返工次數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・核准紀錄完整（流程內建的必要條件）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・合格線：以診斷期量到的基準，試點前約定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擴大到下一個用例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Georgia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786468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4786468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貴公司需配合：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379997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5379997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我們的團隊：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懂保險業務與法規的 BA 主導需求與法規檢查，IT 主導實作與示範；同一組人從診斷做到試點。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期程依範圍確認。擴大階段、工具包授權與駐點支援可依需求討論。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如何開始：先看現場示範，再挑一個用例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可擴充、可複製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從現場示範到啟動診斷共三步；請貴公司先指定窗口，並提供候選需求清單。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選定用例與成功標準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用例試點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相鄰用例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用貴公司提供的一個需求，示範從需求說明到核准紀錄。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對齊工作坊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挑 1–2 個候選用例，確認前提與限制。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啟動準備度診斷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確認範圍與雙方窗口，開始盤點現況與法規檢查。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請貴公司提供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