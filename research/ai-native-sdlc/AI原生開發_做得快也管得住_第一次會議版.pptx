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60" r:id="rId21"/>
    <p:sldId id="263" r:id="rId24"/>
    <p:sldId id="264" r:id="rId25"/>
    <p:sldId id="265" r:id="rId26"/>
    <p:sldId id="266" r:id="rId27"/>
    <p:sldId id="267" r:id="rId28"/>
    <p:sldId id="269" r:id="rId30"/>
    <p:sldId id="270" r:id="rId31"/>
    <p:sldId id="273" r:id="rId34"/>
    <p:sldId id="27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21" Type="http://schemas.openxmlformats.org/officeDocument/2006/relationships/slide" Target="slides/slide5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今天談三件事：怎麼落地、範本與規則怎麼沿用、怎麼管得住</a:t>
            </a:r>
          </a:p>
          <a:p>
            <a:r>
              <a:t>• 結論：從一個場景開始，做得快，也管得住</a:t>
            </a:r>
          </a:p>
          <a:p>
            <a:r>
              <a:t>• 約 20 分鐘，中間有現場示範</a:t>
            </a:r>
          </a:p>
          <a:p>
            <a:r>
              <a:t>【可能被問】今天要我們決定什麼？→ 只請貴公司安排一場用自己需求的現場示範。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建議：4–6 週診斷＋6–8 週一個場景試點，達標才擴大</a:t>
            </a:r>
          </a:p>
          <a:p>
            <a:r>
              <a:t>• 三個理由：責任在保險公司、只買工具不夠、我們已經在用</a:t>
            </a:r>
          </a:p>
          <a:p>
            <a:r>
              <a:t>• 請決定：安排示範、選 1–2 個候選場景</a:t>
            </a:r>
          </a:p>
          <a:p>
            <a:r>
              <a:t>【可能被問】要多少錢？→ 固定範圍、固定價格，另行報價。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保險業 53% 已在用 AI；用 AI 的業者 76% 已導入生成式 AI</a:t>
            </a:r>
          </a:p>
          <a:p>
            <a:r>
              <a:t>• AI 寫的程式約 45% 有資安漏洞</a:t>
            </a:r>
          </a:p>
          <a:p>
            <a:r>
              <a:t>• 責任在保險公司：紀錄要設計進流程，不能事後補</a:t>
            </a:r>
          </a:p>
          <a:p>
            <a:r>
              <a:t>【可能被問】45% 是你們測的嗎？→ 不是，是資安公司 Veracode 2025 年的研究，來源可點。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工具已普及：開發者 84% 在用；57% 保險業高階主管列為首要投資</a:t>
            </a:r>
          </a:p>
          <a:p>
            <a:r>
              <a:t>• 但交付更不穩；複雜的既有系統，效益常在 10% 以下</a:t>
            </a:r>
          </a:p>
          <a:p>
            <a:r>
              <a:t>• PwC 調查：56% 的 CEO 還沒看到 AI 的財務效益</a:t>
            </a:r>
          </a:p>
          <a:p>
            <a:r>
              <a:t>【可能被問】JPMorgan 不是提升 10–20%？→ 那是個人生產力、公司自述；DORA 看的是整體交付。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開發流程串成循環，維運發現的問題回到需求</a:t>
            </a:r>
          </a:p>
          <a:p>
            <a:r>
              <a:t>• 三個機制：交接靠檔案、規則自動執行、關卡有人簽</a:t>
            </a:r>
          </a:p>
          <a:p>
            <a:r>
              <a:t>• AI 可以做到正式環境門口，不能自己開門</a:t>
            </a:r>
          </a:p>
          <a:p>
            <a:r>
              <a:t>【可能被問】要換掉現有的 Jira 或變更管理嗎？→ 不用，關卡與紀錄接在既有工具上。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依「多常發生 × 需要判斷」把工作分四類</a:t>
            </a:r>
          </a:p>
          <a:p>
            <a:r>
              <a:t>• 右下角就是人工關卡：人決定，AI 只提供資料</a:t>
            </a:r>
          </a:p>
          <a:p>
            <a:r>
              <a:t>• 第一個試點，挑左上角工作多的需求</a:t>
            </a:r>
          </a:p>
          <a:p>
            <a:r>
              <a:t>【可能被問】分類由誰決定？→ 診斷時依貴公司的專案確認。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再保險系統開發模組：規則 → 規格 → 任務 → 測試 → 追溯</a:t>
            </a:r>
          </a:p>
          <a:p>
            <a:r>
              <a:t>• 每一步都有文件，任務最多改 5 個檔案</a:t>
            </a:r>
          </a:p>
          <a:p>
            <a:r>
              <a:t>• 現場可用貴公司的一個需求走一遍</a:t>
            </a:r>
          </a:p>
          <a:p>
            <a:r>
              <a:t>【可能被問】覆蓋率 90% 是實際結果嗎？→ 那是品質閘門要求的門檻，不是已達成的結果；實際執行情形在現場示範時說明。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以前：人照清單逐項點、記、截圖</a:t>
            </a:r>
          </a:p>
          <a:p>
            <a:r>
              <a:t>• 現在：系統自動跑畫面測試，每次改版重跑、錄影留存</a:t>
            </a:r>
          </a:p>
          <a:p>
            <a:r>
              <a:t>• 人只看沒通過的項目</a:t>
            </a:r>
          </a:p>
          <a:p>
            <a:r>
              <a:t>【可能被問】自動測試是 AI 寫的嗎？→ 依 IT 確認的說法回答。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做得快：四個痛點各有做法與指標</a:t>
            </a:r>
          </a:p>
          <a:p>
            <a:r>
              <a:t>• 管得住：監理機關會問的五題，各有做法與紀錄</a:t>
            </a:r>
          </a:p>
          <a:p>
            <a:r>
              <a:t>• 效益不先承諾數字，試點前量基準</a:t>
            </a:r>
          </a:p>
          <a:p>
            <a:r>
              <a:t>【可能被問】上線是誰核准的？→ 貴公司指定的人；寫程式的 AI 不能核准自己的程式。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診斷 4–6 週、試點 6–8 週，各有明確交付物；達標才擴大</a:t>
            </a:r>
          </a:p>
          <a:p>
            <a:r>
              <a:t>• 為什麼選我們：已經在用、在地法規、懂保險業務、可稽核關卡</a:t>
            </a:r>
          </a:p>
          <a:p>
            <a:r>
              <a:t>• 再保系統示範就是證據</a:t>
            </a:r>
          </a:p>
          <a:p>
            <a:r>
              <a:t>【可能被問】為什麼要三個月？→ 含診斷與基準量測；試點本身 6–8 週，同時教會團隊，不只交一個功能。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三步：現場示範 → 一起挑題目 → 開始診斷</a:t>
            </a:r>
          </a:p>
          <a:p>
            <a:r>
              <a:t>• 請提供：窗口、現有流程與工具、候選需求、法遵規範</a:t>
            </a:r>
          </a:p>
          <a:p>
            <a:r>
              <a:t>• AI 讓每一步更快、都留下紀錄；要不要做、能不能上線，由你的人決定</a:t>
            </a:r>
          </a:p>
          <a:p>
            <a:r>
              <a:t>【可能被問】下一步是什麼？→ 約一場用貴公司需求的現場示範。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一句話：AI 的使用成本兩年降到 1/280，出了事責任一分都沒有變少</a:t>
            </a:r>
          </a:p>
          <a:p>
            <a:r>
              <a:t>• 未來的差距，在誰敢讓 AI 寫的程式上線；敢上線靠治理</a:t>
            </a:r>
          </a:p>
          <a:p>
            <a:r>
              <a:t>• 只請一件事：約一場用貴公司需求的現場示範，講完就停</a:t>
            </a:r>
          </a:p>
          <a:p>
            <a:r>
              <a:t>【可能被問】為什麼要現在決定？→ 不用今天決定全案，只約示範；看完再決定要不要診斷。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mckinsey.com/capabilities/quantumblack/our-insights/the-state-of-ai" TargetMode="External"/><Relationship Id="rId3" Type="http://schemas.openxmlformats.org/officeDocument/2006/relationships/hyperlink" Target="https://www.ctee.com.tw/news/20261016700947-430301" TargetMode="External"/><Relationship Id="rId4" Type="http://schemas.openxmlformats.org/officeDocument/2006/relationships/hyperlink" Target="https://udn.com/news/story/7239/9817114" TargetMode="External"/><Relationship Id="rId5" Type="http://schemas.openxmlformats.org/officeDocument/2006/relationships/hyperlink" Target="https://www.veracode.com/press-release/ai-generated-code-poses-major-security-risks-in-nearly-half-of-all-development-tasks-veracode-research-reveals/" TargetMode="External"/><Relationship Id="rId6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stackoverflow.co/company/press/archive/stack-overflow-2025-developer-survey/" TargetMode="External"/><Relationship Id="rId3" Type="http://schemas.openxmlformats.org/officeDocument/2006/relationships/hyperlink" Target="https://finance.yahoo.com/news/jpmorgan-engineers-efficiency-jumps-much-190410471.html" TargetMode="External"/><Relationship Id="rId4" Type="http://schemas.openxmlformats.org/officeDocument/2006/relationships/hyperlink" Target="https://www.deloitte.com/global/en/insights/industry/financial-services/financial-services-industry-predictions/2025/ai-and-bank-software-development.html" TargetMode="External"/><Relationship Id="rId5" Type="http://schemas.openxmlformats.org/officeDocument/2006/relationships/hyperlink" Target="https://www.pwc.com/us/en/industries/financial-services/library/reinventing-insurance.html" TargetMode="External"/><Relationship Id="rId6" Type="http://schemas.openxmlformats.org/officeDocument/2006/relationships/hyperlink" Target="https://cloud.google.com/blog/products/ai-machine-learning/announcing-the-2025-dora-report" TargetMode="External"/><Relationship Id="rId7" Type="http://schemas.openxmlformats.org/officeDocument/2006/relationships/hyperlink" Target="https://softwareengineeringproductivity.stanford.edu" TargetMode="External"/><Relationship Id="rId8" Type="http://schemas.openxmlformats.org/officeDocument/2006/relationships/hyperlink" Target="https://www.pwc.com/gx/en/ceo-survey/2026/pwc-ceo-survey-2026.pdf" TargetMode="Externa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economics.mit.edu/sites/default/files/publications/the%20skill%20content%202003.pdf" TargetMode="External"/><Relationship Id="rId3" Type="http://schemas.openxmlformats.org/officeDocument/2006/relationships/hyperlink" Target="https://www.hbs.edu/faculty/Pages/item.aspx?num=64700" TargetMode="Externa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0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11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hai.stanford.edu/ai-index/2025-ai-index-report" TargetMode="External"/><Relationship Id="rId3" Type="http://schemas.openxmlformats.org/officeDocument/2006/relationships/hyperlink" Target="https://www.leeandli.com/TW/Newsletters/7525.htm" TargetMode="Externa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原生開發：</a:t>
            </a:r>
          </a:p>
          <a:p>
            <a:r>
              <a:rPr sz="2800">
                <a:latin typeface="Georgia"/>
                <a:ea typeface="微軟正黑體"/>
              </a:rPr>
              <a:t>做得快，也管得住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Georgia"/>
                <a:ea typeface="微軟正黑體"/>
              </a:rPr>
              <a:t>從框架到實務：可重複的流程、內建治理、關鍵決定由人做</a:t>
            </a:r>
          </a:p>
          <a:p>
            <a:r>
              <a:rPr sz="1200">
                <a:latin typeface="Georgia"/>
                <a:ea typeface="微軟正黑體"/>
              </a:rPr>
              <a:t>PwC FSC1｜給保險業的提案｜2026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一頁看懂：做得快也管得住，從一個場景開始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提案摘要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先做 4–6 週診斷與 6–8 週單一場景試點；達標後，範本、規則與關卡沿用到下一個系統。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1　為什麼是現在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委外新辦法與 AI 自律規範已上路，AI 產出的最終責任在保險公司；開發流程要拿得出「誰要求、AI 做了什麼、誰核准」的紀錄。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3、9 頁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233672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2　為什麼只買工具不夠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33672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國際研究：AI 讓交付變快，但也更不穩；PwC 調查也顯示，多數 CEO 還沒看到 AI 的財務效益。差別在流程與治理。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233672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4 頁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8055863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3　為什麼找我們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055863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FSC1 自己已經用這套流程開發；懂保險業務與法規的 BA 和實作的 IT 同一組人，從貴公司的一個真實需求開始。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055863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7、10 頁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4489704"/>
            <a:ext cx="91440" cy="12294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502920" y="4489704"/>
            <a:ext cx="5577840" cy="12294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請貴公司決定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安排一場現場示範，指定 IT 與業務窗口，選出 1–2 個候選場景，啟動準備度診斷。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217920" y="4489704"/>
            <a:ext cx="5577840" cy="12294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Georgia"/>
                <a:ea typeface="微軟正黑體"/>
              </a:rPr>
              <a:t>如果先不做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AI 工具照樣在開發團隊擴散，但流程與紀錄沒跟上；等到金檢或內稽時再補紀錄，成本更高、風險更大。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保險公司現在就要把 AI 治理設計進開發流程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保險業過半已在用 AI，生成式 AI 快速擴散；但 AI 寫程式時近半選了不安全的寫法，而責任在保險公司。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全球企業已在用 AI</a:t>
            </a:r>
          </a:p>
        </p:txBody>
      </p:sp>
      <p:sp>
        <p:nvSpPr>
          <p:cNvPr id="323" name="計數 323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24" name="計數 324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20%</a:t>
            </a:r>
          </a:p>
        </p:txBody>
      </p:sp>
      <p:sp>
        <p:nvSpPr>
          <p:cNvPr id="325" name="計數 325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37%</a:t>
            </a:r>
          </a:p>
        </p:txBody>
      </p:sp>
      <p:sp>
        <p:nvSpPr>
          <p:cNvPr id="326" name="計數 326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51%</a:t>
            </a:r>
          </a:p>
        </p:txBody>
      </p:sp>
      <p:sp>
        <p:nvSpPr>
          <p:cNvPr id="327" name="計數 327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62%</a:t>
            </a:r>
          </a:p>
        </p:txBody>
      </p:sp>
      <p:sp>
        <p:nvSpPr>
          <p:cNvPr id="328" name="計數 328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71%</a:t>
            </a:r>
          </a:p>
        </p:txBody>
      </p:sp>
      <p:sp>
        <p:nvSpPr>
          <p:cNvPr id="329" name="計數 329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77%</a:t>
            </a:r>
          </a:p>
        </p:txBody>
      </p:sp>
      <p:sp>
        <p:nvSpPr>
          <p:cNvPr id="330" name="計數 330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82%</a:t>
            </a:r>
          </a:p>
        </p:txBody>
      </p:sp>
      <p:sp>
        <p:nvSpPr>
          <p:cNvPr id="331" name="計數 331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85%</a:t>
            </a:r>
          </a:p>
        </p:txBody>
      </p:sp>
      <p:sp>
        <p:nvSpPr>
          <p:cNvPr id="332" name="計數 332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87%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88%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至少一個部門經常使用 AI；一年前是 78%。多數仍停在試點階段。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McKinsey 全球調查 2025（1,993 人）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287268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保險業已在用 AI</a:t>
            </a:r>
          </a:p>
        </p:txBody>
      </p:sp>
      <p:sp>
        <p:nvSpPr>
          <p:cNvPr id="333" name="計數 333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34" name="計數 334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12%</a:t>
            </a:r>
          </a:p>
        </p:txBody>
      </p:sp>
      <p:sp>
        <p:nvSpPr>
          <p:cNvPr id="335" name="計數 335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22%</a:t>
            </a:r>
          </a:p>
        </p:txBody>
      </p:sp>
      <p:sp>
        <p:nvSpPr>
          <p:cNvPr id="336" name="計數 336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31%</a:t>
            </a:r>
          </a:p>
        </p:txBody>
      </p:sp>
      <p:sp>
        <p:nvSpPr>
          <p:cNvPr id="337" name="計數 337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37%</a:t>
            </a:r>
          </a:p>
        </p:txBody>
      </p:sp>
      <p:sp>
        <p:nvSpPr>
          <p:cNvPr id="338" name="計數 338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42%</a:t>
            </a:r>
          </a:p>
        </p:txBody>
      </p:sp>
      <p:sp>
        <p:nvSpPr>
          <p:cNvPr id="339" name="計數 339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46%</a:t>
            </a:r>
          </a:p>
        </p:txBody>
      </p:sp>
      <p:sp>
        <p:nvSpPr>
          <p:cNvPr id="340" name="計數 340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49%</a:t>
            </a:r>
          </a:p>
        </p:txBody>
      </p:sp>
      <p:sp>
        <p:nvSpPr>
          <p:cNvPr id="341" name="計數 341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51%</a:t>
            </a:r>
          </a:p>
        </p:txBody>
      </p:sp>
      <p:sp>
        <p:nvSpPr>
          <p:cNvPr id="342" name="計數 342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52%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53%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3287268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2024 年是 43%；壽險公司更高達 65%。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3287268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金管會 2026-10 調查（工商時報）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63055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生成式 AI 擴散</a:t>
            </a:r>
          </a:p>
        </p:txBody>
      </p:sp>
      <p:sp>
        <p:nvSpPr>
          <p:cNvPr id="343" name="計數 343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44" name="計數 344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17%</a:t>
            </a:r>
          </a:p>
        </p:txBody>
      </p:sp>
      <p:sp>
        <p:nvSpPr>
          <p:cNvPr id="345" name="計數 345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32%</a:t>
            </a:r>
          </a:p>
        </p:txBody>
      </p:sp>
      <p:sp>
        <p:nvSpPr>
          <p:cNvPr id="346" name="計數 346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44%</a:t>
            </a:r>
          </a:p>
        </p:txBody>
      </p:sp>
      <p:sp>
        <p:nvSpPr>
          <p:cNvPr id="347" name="計數 347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53%</a:t>
            </a:r>
          </a:p>
        </p:txBody>
      </p:sp>
      <p:sp>
        <p:nvSpPr>
          <p:cNvPr id="348" name="計數 348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61%</a:t>
            </a:r>
          </a:p>
        </p:txBody>
      </p:sp>
      <p:sp>
        <p:nvSpPr>
          <p:cNvPr id="349" name="計數 349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66%</a:t>
            </a:r>
          </a:p>
        </p:txBody>
      </p:sp>
      <p:sp>
        <p:nvSpPr>
          <p:cNvPr id="350" name="計數 350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71%</a:t>
            </a:r>
          </a:p>
        </p:txBody>
      </p:sp>
      <p:sp>
        <p:nvSpPr>
          <p:cNvPr id="351" name="計數 351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73%</a:t>
            </a:r>
          </a:p>
        </p:txBody>
      </p:sp>
      <p:sp>
        <p:nvSpPr>
          <p:cNvPr id="352" name="計數 352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75%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76%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163055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有用 AI 的金融業者中，已導入生成式 AI 的比例；一年前是 48%。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163055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4"/>
              </a:rPr>
              <a:t>金管會 2026-10 調查（聯合報）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038843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寫程式的資安</a:t>
            </a:r>
          </a:p>
        </p:txBody>
      </p:sp>
      <p:sp>
        <p:nvSpPr>
          <p:cNvPr id="353" name="計數 353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</p:txBody>
      </p:sp>
      <p:sp>
        <p:nvSpPr>
          <p:cNvPr id="354" name="計數 354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10%</a:t>
            </a:r>
          </a:p>
        </p:txBody>
      </p:sp>
      <p:sp>
        <p:nvSpPr>
          <p:cNvPr id="355" name="計數 355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19%</a:t>
            </a:r>
          </a:p>
        </p:txBody>
      </p:sp>
      <p:sp>
        <p:nvSpPr>
          <p:cNvPr id="356" name="計數 356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26%</a:t>
            </a:r>
          </a:p>
        </p:txBody>
      </p:sp>
      <p:sp>
        <p:nvSpPr>
          <p:cNvPr id="357" name="計數 357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32%</a:t>
            </a:r>
          </a:p>
        </p:txBody>
      </p:sp>
      <p:sp>
        <p:nvSpPr>
          <p:cNvPr id="358" name="計數 358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36%</a:t>
            </a:r>
          </a:p>
        </p:txBody>
      </p:sp>
      <p:sp>
        <p:nvSpPr>
          <p:cNvPr id="359" name="計數 359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39%</a:t>
            </a:r>
          </a:p>
        </p:txBody>
      </p:sp>
      <p:sp>
        <p:nvSpPr>
          <p:cNvPr id="360" name="計數 360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42%</a:t>
            </a:r>
          </a:p>
        </p:txBody>
      </p:sp>
      <p:sp>
        <p:nvSpPr>
          <p:cNvPr id="361" name="計數 361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43%</a:t>
            </a:r>
          </a:p>
        </p:txBody>
      </p:sp>
      <p:sp>
        <p:nvSpPr>
          <p:cNvPr id="362" name="計數 362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44%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45%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9038843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的寫程式任務，AI 選了不安全的寫法。測了 100 多個模型、80 個任務。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038843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5"/>
              </a:rPr>
              <a:t>Veracode，2025-07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168022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502920" y="5168022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責任在誰：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委外新辦法（2025 年底施行）和 AI 自律規範都寫明，AI 產出的最終責任在保險公司。紀錄要設計進流程，不能事後補。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" grpId="0" animBg="1"/>
      <p:bldP spid="323" grpId="1" animBg="1"/>
      <p:bldP spid="324" grpId="0" animBg="1"/>
      <p:bldP spid="324" grpId="1" animBg="1"/>
      <p:bldP spid="325" grpId="0" animBg="1"/>
      <p:bldP spid="325" grpId="1" animBg="1"/>
      <p:bldP spid="326" grpId="0" animBg="1"/>
      <p:bldP spid="326" grpId="1" animBg="1"/>
      <p:bldP spid="327" grpId="0" animBg="1"/>
      <p:bldP spid="327" grpId="1" animBg="1"/>
      <p:bldP spid="328" grpId="0" animBg="1"/>
      <p:bldP spid="328" grpId="1" animBg="1"/>
      <p:bldP spid="329" grpId="0" animBg="1"/>
      <p:bldP spid="329" grpId="1" animBg="1"/>
      <p:bldP spid="330" grpId="0" animBg="1"/>
      <p:bldP spid="330" grpId="1" animBg="1"/>
      <p:bldP spid="331" grpId="0" animBg="1"/>
      <p:bldP spid="331" grpId="1" animBg="1"/>
      <p:bldP spid="332" grpId="0" animBg="1"/>
      <p:bldP spid="332" grpId="1" animBg="1"/>
      <p:bldP spid="306" grpId="0" animBg="1"/>
      <p:bldP spid="333" grpId="0" animBg="1"/>
      <p:bldP spid="333" grpId="1" animBg="1"/>
      <p:bldP spid="334" grpId="0" animBg="1"/>
      <p:bldP spid="334" grpId="1" animBg="1"/>
      <p:bldP spid="335" grpId="0" animBg="1"/>
      <p:bldP spid="335" grpId="1" animBg="1"/>
      <p:bldP spid="336" grpId="0" animBg="1"/>
      <p:bldP spid="336" grpId="1" animBg="1"/>
      <p:bldP spid="337" grpId="0" animBg="1"/>
      <p:bldP spid="337" grpId="1" animBg="1"/>
      <p:bldP spid="338" grpId="0" animBg="1"/>
      <p:bldP spid="338" grpId="1" animBg="1"/>
      <p:bldP spid="339" grpId="0" animBg="1"/>
      <p:bldP spid="339" grpId="1" animBg="1"/>
      <p:bldP spid="340" grpId="0" animBg="1"/>
      <p:bldP spid="340" grpId="1" animBg="1"/>
      <p:bldP spid="341" grpId="0" animBg="1"/>
      <p:bldP spid="341" grpId="1" animBg="1"/>
      <p:bldP spid="342" grpId="0" animBg="1"/>
      <p:bldP spid="342" grpId="1" animBg="1"/>
      <p:bldP spid="310" grpId="0" animBg="1"/>
      <p:bldP spid="343" grpId="0" animBg="1"/>
      <p:bldP spid="343" grpId="1" animBg="1"/>
      <p:bldP spid="344" grpId="0" animBg="1"/>
      <p:bldP spid="344" grpId="1" animBg="1"/>
      <p:bldP spid="345" grpId="0" animBg="1"/>
      <p:bldP spid="345" grpId="1" animBg="1"/>
      <p:bldP spid="346" grpId="0" animBg="1"/>
      <p:bldP spid="346" grpId="1" animBg="1"/>
      <p:bldP spid="347" grpId="0" animBg="1"/>
      <p:bldP spid="347" grpId="1" animBg="1"/>
      <p:bldP spid="348" grpId="0" animBg="1"/>
      <p:bldP spid="348" grpId="1" animBg="1"/>
      <p:bldP spid="349" grpId="0" animBg="1"/>
      <p:bldP spid="349" grpId="1" animBg="1"/>
      <p:bldP spid="350" grpId="0" animBg="1"/>
      <p:bldP spid="350" grpId="1" animBg="1"/>
      <p:bldP spid="351" grpId="0" animBg="1"/>
      <p:bldP spid="351" grpId="1" animBg="1"/>
      <p:bldP spid="352" grpId="0" animBg="1"/>
      <p:bldP spid="352" grpId="1" animBg="1"/>
      <p:bldP spid="314" grpId="0" animBg="1"/>
      <p:bldP spid="353" grpId="0" animBg="1"/>
      <p:bldP spid="353" grpId="1" animBg="1"/>
      <p:bldP spid="354" grpId="0" animBg="1"/>
      <p:bldP spid="354" grpId="1" animBg="1"/>
      <p:bldP spid="355" grpId="0" animBg="1"/>
      <p:bldP spid="355" grpId="1" animBg="1"/>
      <p:bldP spid="356" grpId="0" animBg="1"/>
      <p:bldP spid="356" grpId="1" animBg="1"/>
      <p:bldP spid="357" grpId="0" animBg="1"/>
      <p:bldP spid="357" grpId="1" animBg="1"/>
      <p:bldP spid="358" grpId="0" animBg="1"/>
      <p:bldP spid="358" grpId="1" animBg="1"/>
      <p:bldP spid="359" grpId="0" animBg="1"/>
      <p:bldP spid="359" grpId="1" animBg="1"/>
      <p:bldP spid="360" grpId="0" animBg="1"/>
      <p:bldP spid="360" grpId="1" animBg="1"/>
      <p:bldP spid="361" grpId="0" animBg="1"/>
      <p:bldP spid="361" grpId="1" animBg="1"/>
      <p:bldP spid="362" grpId="0" animBg="1"/>
      <p:bldP spid="362" grpId="1" animBg="1"/>
      <p:bldP spid="3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已普及，但交付沒有跟著變好：AI 放大原有的流程與治理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已經普及，但多數企業還沒看到財務效益；差別在流程與治理，不在工具。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開發者</a:t>
            </a:r>
          </a:p>
        </p:txBody>
      </p:sp>
      <p:sp>
        <p:nvSpPr>
          <p:cNvPr id="328" name="計數 328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29" name="計數 329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0" name="計數 330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35%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1" name="計數 331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2" name="計數 332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3" name="計數 333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67%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4" name="計數 334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74%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5" name="計數 335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78%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6" name="計數 336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81%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37" name="計數 337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Stack Overflow 2025 開發者調查，4.9 萬人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28041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JPMorgan</a:t>
            </a:r>
          </a:p>
        </p:txBody>
      </p:sp>
      <p:sp>
        <p:nvSpPr>
          <p:cNvPr id="338" name="計數 338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0–0%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39" name="計數 339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2–5%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0" name="計數 340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4–8%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1" name="計數 341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6–12%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2" name="計數 342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7–14%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3" name="計數 343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8–16%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4" name="計數 344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9–18%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5" name="計數 345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9–19%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46" name="計數 346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10–19%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10–20%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041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Yahoo Finance，2025-03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14934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Citi</a:t>
            </a:r>
          </a:p>
        </p:txBody>
      </p:sp>
      <p:sp>
        <p:nvSpPr>
          <p:cNvPr id="347" name="計數 347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0.0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48" name="計數 348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0.7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49" name="計數 349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1.3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0" name="計數 350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1.7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1" name="計數 351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2.1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2" name="計數 352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2.4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3" name="計數 353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2.6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4" name="計數 354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2.8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5" name="計數 355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2.9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56" name="計數 356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3.0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4934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4"/>
              </a:rPr>
              <a:t>Deloitte Insights，2025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018269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保險業高階主管</a:t>
            </a:r>
          </a:p>
        </p:txBody>
      </p:sp>
      <p:sp>
        <p:nvSpPr>
          <p:cNvPr id="357" name="計數 357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58" name="計數 358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59" name="計數 359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24%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0" name="計數 360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1" name="計數 361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2" name="計數 362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46%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3" name="計數 363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4" name="計數 364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53%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5" name="計數 365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55%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66" name="計數 366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56%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57%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18269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5"/>
              </a:rPr>
              <a:t>PwC〈Reinventing insurance〉，2025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交付：快了，但更不穩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↑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交付速度變快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↓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交付穩定度下降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233672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舊系統的效益比較小</a:t>
            </a:r>
          </a:p>
        </p:txBody>
      </p:sp>
      <p:sp>
        <p:nvSpPr>
          <p:cNvPr id="367" name="計數 367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0–0%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68" name="計數 368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8–9%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69" name="計數 369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15–17%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0" name="計數 370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20–23%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1" name="計數 371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25–28%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2" name="計數 372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28–32%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3" name="計數 373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31–35%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4" name="計數 374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32–37%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5" name="計數 375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34–39%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35–40%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76" name="計數 376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77" name="計數 377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78" name="計數 378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4%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79" name="計數 379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6%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80" name="計數 380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7%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81" name="計數 381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8%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82" name="計數 382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10%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055863" y="3217856"/>
            <a:ext cx="370332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CEO 怎麼說（PwC 調查）</a:t>
            </a:r>
          </a:p>
        </p:txBody>
      </p:sp>
      <p:sp>
        <p:nvSpPr>
          <p:cNvPr id="383" name="計數 383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4" name="計數 384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13%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5" name="計數 385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24%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6" name="計數 386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32%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7" name="計數 387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39%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8" name="計數 388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45%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89" name="計數 389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49%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90" name="計數 390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52%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91" name="計數 391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54%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92" name="計數 392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55%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56%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5057795"/>
            <a:ext cx="9144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6" name="Rectangle 325"/>
          <p:cNvSpPr/>
          <p:nvPr/>
        </p:nvSpPr>
        <p:spPr>
          <a:xfrm>
            <a:off x="502920" y="5057795"/>
            <a:ext cx="1129284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所以：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效益取決於流程與治理，不取決於買了哪個工具。導入 AI 時，需求、審查、上線與控制方式要一起改，這正是我們協助的部分。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411480" y="588873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下排來源：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6"/>
              </a:rPr>
              <a:t>交付速度與穩定度：Google DORA 2025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7"/>
              </a:rPr>
              <a:t>既有系統效益：Stanford 軟體工程生產力研究（經 DORA 2026 引用）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8"/>
              </a:rPr>
              <a:t>CEO：PwC 第 29 屆全球 CEO 調查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fill="hold" grpId="1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1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grpId="1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fill="hold" grpId="1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199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199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1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fill="hold" grpId="1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" grpId="0" animBg="1"/>
      <p:bldP spid="328" grpId="1" animBg="1"/>
      <p:bldP spid="329" grpId="0" animBg="1"/>
      <p:bldP spid="329" grpId="1" animBg="1"/>
      <p:bldP spid="330" grpId="0" animBg="1"/>
      <p:bldP spid="330" grpId="1" animBg="1"/>
      <p:bldP spid="331" grpId="0" animBg="1"/>
      <p:bldP spid="331" grpId="1" animBg="1"/>
      <p:bldP spid="332" grpId="0" animBg="1"/>
      <p:bldP spid="332" grpId="1" animBg="1"/>
      <p:bldP spid="333" grpId="0" animBg="1"/>
      <p:bldP spid="333" grpId="1" animBg="1"/>
      <p:bldP spid="334" grpId="0" animBg="1"/>
      <p:bldP spid="334" grpId="1" animBg="1"/>
      <p:bldP spid="335" grpId="0" animBg="1"/>
      <p:bldP spid="335" grpId="1" animBg="1"/>
      <p:bldP spid="336" grpId="0" animBg="1"/>
      <p:bldP spid="336" grpId="1" animBg="1"/>
      <p:bldP spid="337" grpId="0" animBg="1"/>
      <p:bldP spid="337" grpId="1" animBg="1"/>
      <p:bldP spid="306" grpId="0" animBg="1"/>
      <p:bldP spid="338" grpId="0" animBg="1"/>
      <p:bldP spid="338" grpId="1" animBg="1"/>
      <p:bldP spid="339" grpId="0" animBg="1"/>
      <p:bldP spid="339" grpId="1" animBg="1"/>
      <p:bldP spid="340" grpId="0" animBg="1"/>
      <p:bldP spid="340" grpId="1" animBg="1"/>
      <p:bldP spid="341" grpId="0" animBg="1"/>
      <p:bldP spid="341" grpId="1" animBg="1"/>
      <p:bldP spid="342" grpId="0" animBg="1"/>
      <p:bldP spid="342" grpId="1" animBg="1"/>
      <p:bldP spid="343" grpId="0" animBg="1"/>
      <p:bldP spid="343" grpId="1" animBg="1"/>
      <p:bldP spid="344" grpId="0" animBg="1"/>
      <p:bldP spid="344" grpId="1" animBg="1"/>
      <p:bldP spid="345" grpId="0" animBg="1"/>
      <p:bldP spid="345" grpId="1" animBg="1"/>
      <p:bldP spid="346" grpId="0" animBg="1"/>
      <p:bldP spid="346" grpId="1" animBg="1"/>
      <p:bldP spid="309" grpId="0" animBg="1"/>
      <p:bldP spid="347" grpId="0" animBg="1"/>
      <p:bldP spid="347" grpId="1" animBg="1"/>
      <p:bldP spid="348" grpId="0" animBg="1"/>
      <p:bldP spid="348" grpId="1" animBg="1"/>
      <p:bldP spid="349" grpId="0" animBg="1"/>
      <p:bldP spid="349" grpId="1" animBg="1"/>
      <p:bldP spid="350" grpId="0" animBg="1"/>
      <p:bldP spid="350" grpId="1" animBg="1"/>
      <p:bldP spid="351" grpId="0" animBg="1"/>
      <p:bldP spid="351" grpId="1" animBg="1"/>
      <p:bldP spid="352" grpId="0" animBg="1"/>
      <p:bldP spid="352" grpId="1" animBg="1"/>
      <p:bldP spid="353" grpId="0" animBg="1"/>
      <p:bldP spid="353" grpId="1" animBg="1"/>
      <p:bldP spid="354" grpId="0" animBg="1"/>
      <p:bldP spid="354" grpId="1" animBg="1"/>
      <p:bldP spid="355" grpId="0" animBg="1"/>
      <p:bldP spid="355" grpId="1" animBg="1"/>
      <p:bldP spid="356" grpId="0" animBg="1"/>
      <p:bldP spid="356" grpId="1" animBg="1"/>
      <p:bldP spid="312" grpId="0" animBg="1"/>
      <p:bldP spid="357" grpId="0" animBg="1"/>
      <p:bldP spid="357" grpId="1" animBg="1"/>
      <p:bldP spid="358" grpId="0" animBg="1"/>
      <p:bldP spid="358" grpId="1" animBg="1"/>
      <p:bldP spid="359" grpId="0" animBg="1"/>
      <p:bldP spid="359" grpId="1" animBg="1"/>
      <p:bldP spid="360" grpId="0" animBg="1"/>
      <p:bldP spid="360" grpId="1" animBg="1"/>
      <p:bldP spid="361" grpId="0" animBg="1"/>
      <p:bldP spid="361" grpId="1" animBg="1"/>
      <p:bldP spid="362" grpId="0" animBg="1"/>
      <p:bldP spid="362" grpId="1" animBg="1"/>
      <p:bldP spid="363" grpId="0" animBg="1"/>
      <p:bldP spid="363" grpId="1" animBg="1"/>
      <p:bldP spid="364" grpId="0" animBg="1"/>
      <p:bldP spid="364" grpId="1" animBg="1"/>
      <p:bldP spid="365" grpId="0" animBg="1"/>
      <p:bldP spid="365" grpId="1" animBg="1"/>
      <p:bldP spid="366" grpId="0" animBg="1"/>
      <p:bldP spid="366" grpId="1" animBg="1"/>
      <p:bldP spid="315" grpId="0" animBg="1"/>
      <p:bldP spid="367" grpId="0" animBg="1"/>
      <p:bldP spid="367" grpId="1" animBg="1"/>
      <p:bldP spid="368" grpId="0" animBg="1"/>
      <p:bldP spid="368" grpId="1" animBg="1"/>
      <p:bldP spid="369" grpId="0" animBg="1"/>
      <p:bldP spid="369" grpId="1" animBg="1"/>
      <p:bldP spid="370" grpId="0" animBg="1"/>
      <p:bldP spid="370" grpId="1" animBg="1"/>
      <p:bldP spid="371" grpId="0" animBg="1"/>
      <p:bldP spid="371" grpId="1" animBg="1"/>
      <p:bldP spid="372" grpId="0" animBg="1"/>
      <p:bldP spid="372" grpId="1" animBg="1"/>
      <p:bldP spid="373" grpId="0" animBg="1"/>
      <p:bldP spid="373" grpId="1" animBg="1"/>
      <p:bldP spid="374" grpId="0" animBg="1"/>
      <p:bldP spid="374" grpId="1" animBg="1"/>
      <p:bldP spid="375" grpId="0" animBg="1"/>
      <p:bldP spid="375" grpId="1" animBg="1"/>
      <p:bldP spid="321" grpId="0" animBg="1"/>
      <p:bldP spid="376" grpId="0" animBg="1"/>
      <p:bldP spid="376" grpId="1" animBg="1"/>
      <p:bldP spid="377" grpId="0" animBg="1"/>
      <p:bldP spid="377" grpId="1" animBg="1"/>
      <p:bldP spid="378" grpId="0" animBg="1"/>
      <p:bldP spid="378" grpId="1" animBg="1"/>
      <p:bldP spid="379" grpId="0" animBg="1"/>
      <p:bldP spid="379" grpId="1" animBg="1"/>
      <p:bldP spid="380" grpId="0" animBg="1"/>
      <p:bldP spid="380" grpId="1" animBg="1"/>
      <p:bldP spid="381" grpId="0" animBg="1"/>
      <p:bldP spid="381" grpId="1" animBg="1"/>
      <p:bldP spid="382" grpId="0" animBg="1"/>
      <p:bldP spid="382" grpId="1" animBg="1"/>
      <p:bldP spid="322" grpId="0" animBg="1"/>
      <p:bldP spid="383" grpId="0" animBg="1"/>
      <p:bldP spid="383" grpId="1" animBg="1"/>
      <p:bldP spid="384" grpId="0" animBg="1"/>
      <p:bldP spid="384" grpId="1" animBg="1"/>
      <p:bldP spid="385" grpId="0" animBg="1"/>
      <p:bldP spid="385" grpId="1" animBg="1"/>
      <p:bldP spid="386" grpId="0" animBg="1"/>
      <p:bldP spid="386" grpId="1" animBg="1"/>
      <p:bldP spid="387" grpId="0" animBg="1"/>
      <p:bldP spid="387" grpId="1" animBg="1"/>
      <p:bldP spid="388" grpId="0" animBg="1"/>
      <p:bldP spid="388" grpId="1" animBg="1"/>
      <p:bldP spid="389" grpId="0" animBg="1"/>
      <p:bldP spid="389" grpId="1" animBg="1"/>
      <p:bldP spid="390" grpId="0" animBg="1"/>
      <p:bldP spid="390" grpId="1" animBg="1"/>
      <p:bldP spid="391" grpId="0" animBg="1"/>
      <p:bldP spid="391" grpId="1" animBg="1"/>
      <p:bldP spid="392" grpId="0" animBg="1"/>
      <p:bldP spid="392" grpId="1" animBg="1"/>
      <p:bldP spid="32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我們的解法：把開發流程串成循環，用三個機制守住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參與每一步；接受需求、核准合併、授權上線等五個關鍵決定，由貴公司指定的人做。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2514600" y="2115589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702440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2514600" y="4023360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 flipV="1">
            <a:off x="1326759" y="4023360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326759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326759" y="2115589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1828800" y="2701636"/>
            <a:ext cx="1371600" cy="13716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828800" y="3048277"/>
            <a:ext cx="137160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協作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參與每一步</a:t>
            </a:r>
          </a:p>
        </p:txBody>
      </p:sp>
      <p:sp>
        <p:nvSpPr>
          <p:cNvPr id="313" name="Oval 312"/>
          <p:cNvSpPr/>
          <p:nvPr/>
        </p:nvSpPr>
        <p:spPr>
          <a:xfrm>
            <a:off x="2080260" y="1681249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4" name="Rectangle 313"/>
          <p:cNvSpPr/>
          <p:nvPr/>
        </p:nvSpPr>
        <p:spPr>
          <a:xfrm>
            <a:off x="2080260" y="1903614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5" name="Oval 314"/>
          <p:cNvSpPr/>
          <p:nvPr/>
        </p:nvSpPr>
        <p:spPr>
          <a:xfrm>
            <a:off x="3268100" y="2317172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6" name="Rectangle 315"/>
          <p:cNvSpPr/>
          <p:nvPr/>
        </p:nvSpPr>
        <p:spPr>
          <a:xfrm>
            <a:off x="3268100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7" name="Oval 316"/>
          <p:cNvSpPr/>
          <p:nvPr/>
        </p:nvSpPr>
        <p:spPr>
          <a:xfrm>
            <a:off x="3268100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Rectangle 317"/>
          <p:cNvSpPr/>
          <p:nvPr/>
        </p:nvSpPr>
        <p:spPr>
          <a:xfrm>
            <a:off x="3268100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Oval 318"/>
          <p:cNvSpPr/>
          <p:nvPr/>
        </p:nvSpPr>
        <p:spPr>
          <a:xfrm>
            <a:off x="2080260" y="4224943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0" name="Rectangle 319"/>
          <p:cNvSpPr/>
          <p:nvPr/>
        </p:nvSpPr>
        <p:spPr>
          <a:xfrm>
            <a:off x="2080260" y="4447309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1" name="Oval 320"/>
          <p:cNvSpPr/>
          <p:nvPr/>
        </p:nvSpPr>
        <p:spPr>
          <a:xfrm>
            <a:off x="892419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892419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3" name="Oval 322"/>
          <p:cNvSpPr/>
          <p:nvPr/>
        </p:nvSpPr>
        <p:spPr>
          <a:xfrm>
            <a:off x="892419" y="2317172"/>
            <a:ext cx="868680" cy="868680"/>
          </a:xfrm>
          <a:prstGeom prst="ellipse">
            <a:avLst/>
          </a:prstGeom>
          <a:solidFill>
            <a:srgbClr val="FFE8D4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892419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75488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機制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355080" y="1691640"/>
            <a:ext cx="3529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怎麼運作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解決的問題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54880" y="2064715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交接靠檔案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355080" y="2064715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需求說明 → 規格 → 實作計畫 → 測試結果 → 核准紀錄，下一步直接接手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2064715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需求反覆、交接失真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754880" y="3014361"/>
            <a:ext cx="15636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規則自動執行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355080" y="3014361"/>
            <a:ext cx="352958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資安、個資、委外規範寫成 AI 自動套用的規則；必守的事由自動關卡擋下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21240" y="3014361"/>
            <a:ext cx="1837943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合規與品質靠個人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754880" y="3964007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關卡有人簽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355080" y="3964007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接受需求、確認規格、核准計畫、核准合併、授權上線，五個決定由指定的人做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921240" y="3964007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怕失控、稽核查不到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295207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295207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可以一路做到正式環境、把上線準備好，但不能自己按下上線。本方法不綁特定 AI 工具，依貴公司政策與合約選定。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流程整合自 FSC1〈AI 協作開發流程與產出範本〉v3。國際研究也建議用不可略過的檢查點、提交前自動檢查、小批次與版本控制，承接 AI 帶來的審查負擔。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分工：重複、判斷少的先交給 AI；關鍵決定永遠由人做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依任務「多常發生 × 需要判斷」分四類；第一個試點場景，優先挑左上角工作多的需求。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51560" y="1734034"/>
            <a:ext cx="3291840" cy="1822981"/>
          </a:xfrm>
          <a:prstGeom prst="rect">
            <a:avLst/>
          </a:prstGeom>
          <a:solidFill>
            <a:srgbClr val="FFE8D4"/>
          </a:solidFill>
          <a:ln w="3810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161288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先做，人確認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61288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欄位清單、Test Case、Test Data、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Unit Test、註解與文件、Release Note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398264" y="1734034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4507992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起草，人逐項審查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507992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程式碼、API 規格、ERD、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Code Review 風險檢查、測試失敗原因分析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51560" y="3607889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161288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做成範本，重複使用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161288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Deploy Guide、User Guide、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Migration Script、部署腳本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398264" y="3607889"/>
            <a:ext cx="3291840" cy="182298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4507992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人決定，AI 只提供資料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507992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接受需求、架構選型、核准合併、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授權上線、事件處置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108960" y="1818824"/>
            <a:ext cx="1143000" cy="288285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★ 從這裡開始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1734034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3607889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5464786"/>
            <a:ext cx="6638544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001000" y="1734034"/>
            <a:ext cx="3794760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第一階段：從左上角開始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001000" y="2157984"/>
            <a:ext cx="3794760" cy="3688357"/>
          </a:xfrm>
          <a:prstGeom prst="rect">
            <a:avLst/>
          </a:prstGeom>
          <a:solidFill>
            <a:srgbClr val="FFE8D4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① 先挑左上角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第一個試點，挑這類工作多的需求：AI 先做、人確認，最快看到效果。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② 右下角永遠由人決定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接受需求、核准合併、授權上線，就是五個人工關卡（第 5 頁）。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③ 依實際專案調整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分類在診斷時，依貴公司的專案與規範確認（第 10 頁）。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97352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方法來源：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Autor, Levy &amp; Murnane，Quarterly Journal of Economics，2003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Dell’Acqua 等，Harvard Business School Working Paper 24-013，2023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示範：再保險系統開發模組，從業務需求到上線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 FSC1 IT 團隊的開發再保系統為例：規則、規格、任務與測試一路相連，每一步都留下文件。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1　需求說明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08" name="Picture 307" descr="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5" y="2098631"/>
            <a:ext cx="1977213" cy="2874374"/>
          </a:xfrm>
          <a:prstGeom prst="rect">
            <a:avLst/>
          </a:prstGeom>
        </p:spPr>
      </p:pic>
      <p:sp>
        <p:nvSpPr>
          <p:cNvPr id="309" name="Rectangle 308"/>
          <p:cNvSpPr/>
          <p:nvPr/>
        </p:nvSpPr>
        <p:spPr>
          <a:xfrm>
            <a:off x="411480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7 條業務規則，含制裁主管覆核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706624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2　規格與規範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706624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2" name="Picture 311" descr="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869" y="2098631"/>
            <a:ext cx="1977213" cy="2874374"/>
          </a:xfrm>
          <a:prstGeom prst="rect">
            <a:avLst/>
          </a:prstGeom>
        </p:spPr>
      </p:pic>
      <p:sp>
        <p:nvSpPr>
          <p:cNvPr id="313" name="Rectangle 312"/>
          <p:cNvSpPr/>
          <p:nvPr/>
        </p:nvSpPr>
        <p:spPr>
          <a:xfrm>
            <a:off x="2706624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6 份規格，各有審閱週期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001768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3　實作計畫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001768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6" name="Picture 315" descr="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013" y="2098631"/>
            <a:ext cx="1977213" cy="2874374"/>
          </a:xfrm>
          <a:prstGeom prst="rect">
            <a:avLst/>
          </a:prstGeom>
        </p:spPr>
      </p:pic>
      <p:sp>
        <p:nvSpPr>
          <p:cNvPr id="317" name="Rectangle 316"/>
          <p:cNvSpPr/>
          <p:nvPr/>
        </p:nvSpPr>
        <p:spPr>
          <a:xfrm>
            <a:off x="5001768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列清楚驗收場景，最多改 5 個檔案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296912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4　程式與測試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296912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0" name="Picture 319" descr="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157" y="2098631"/>
            <a:ext cx="1977213" cy="2874374"/>
          </a:xfrm>
          <a:prstGeom prst="rect">
            <a:avLst/>
          </a:prstGeom>
        </p:spPr>
      </p:pic>
      <p:sp>
        <p:nvSpPr>
          <p:cNvPr id="321" name="Rectangle 320"/>
          <p:cNvSpPr/>
          <p:nvPr/>
        </p:nvSpPr>
        <p:spPr>
          <a:xfrm>
            <a:off x="7296912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10 個測試案例；閘門要求覆蓋率 &gt; 90%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9592056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5　追溯與紀錄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592056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4" name="Picture 323" descr="step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301" y="2098631"/>
            <a:ext cx="1977213" cy="2874374"/>
          </a:xfrm>
          <a:prstGeom prst="rect">
            <a:avLst/>
          </a:prstGeom>
        </p:spPr>
      </p:pic>
      <p:sp>
        <p:nvSpPr>
          <p:cNvPr id="325" name="Rectangle 324"/>
          <p:cNvSpPr/>
          <p:nvPr/>
        </p:nvSpPr>
        <p:spPr>
          <a:xfrm>
            <a:off x="9592056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任務回溯規則代碼，寫入 audit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TASK-000013「金融機構主檔」任務包原文節錄；測試錄影見下一頁。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示範：測試從人工逐項點，變成系統自動跑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以前測試靠人照清單一格一格點、一格一格記；現在同樣的檢查由系統自動跑完，過程錄影留存。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3931920" cy="38155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以前：人工照清單逐項測（示意）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115589"/>
            <a:ext cx="292607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#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31520" y="2115589"/>
            <a:ext cx="2304288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測試步驟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063239" y="2115589"/>
            <a:ext cx="521207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結果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611879" y="2115589"/>
            <a:ext cx="704088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測試人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471706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31520" y="2471706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開啟國家選單，輸入代碼查詢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3063239" y="2471706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611879" y="2471706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2827823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31520" y="2827823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新增一筆，故意漏填必填欄位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063239" y="2827823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611879" y="2827823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3183940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31520" y="3183940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確認出現欄位錯誤提示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3063239" y="3183940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611879" y="3183940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3540058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31520" y="3540058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新增區域，確認提醒訊息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3063239" y="3540058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611879" y="3540058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411480" y="3896175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5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31520" y="3896175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查詢結算幣別，核對結果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3063239" y="3896175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3611879" y="3896175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252292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6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31520" y="4252292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截圖貼進測試報告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3063239" y="4252292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611879" y="4252292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11480" y="4659283"/>
            <a:ext cx="3931920" cy="61048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每次改版都要重來一次：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人工點、人工記、人工截圖；改得越多，測得越少。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526280" y="1691640"/>
            <a:ext cx="7269480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現在：系統自動跑畫面測試（點擊播放）</a:t>
            </a:r>
          </a:p>
        </p:txBody>
      </p:sp>
      <p:pic>
        <p:nvPicPr>
          <p:cNvPr id="337" name="video_countri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6280" y="2115589"/>
            <a:ext cx="4572000" cy="2571750"/>
          </a:xfrm>
          <a:prstGeom prst="rect">
            <a:avLst/>
          </a:prstGeom>
        </p:spPr>
      </p:pic>
      <p:sp>
        <p:nvSpPr>
          <p:cNvPr id="338" name="Rectangle 337"/>
          <p:cNvSpPr/>
          <p:nvPr/>
        </p:nvSpPr>
        <p:spPr>
          <a:xfrm>
            <a:off x="4526280" y="4712776"/>
            <a:ext cx="4572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▶ 國家選單：查詢、新增、欄位檢核</a:t>
            </a:r>
          </a:p>
        </p:txBody>
      </p:sp>
      <p:pic>
        <p:nvPicPr>
          <p:cNvPr id="339" name="video_regions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235440" y="2115589"/>
            <a:ext cx="2286000" cy="1285875"/>
          </a:xfrm>
          <a:prstGeom prst="rect">
            <a:avLst/>
          </a:prstGeom>
        </p:spPr>
      </p:pic>
      <p:sp>
        <p:nvSpPr>
          <p:cNvPr id="340" name="Rectangle 339"/>
          <p:cNvSpPr/>
          <p:nvPr/>
        </p:nvSpPr>
        <p:spPr>
          <a:xfrm>
            <a:off x="9235440" y="3426901"/>
            <a:ext cx="2286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▶ 區域選單：新增與提醒</a:t>
            </a:r>
          </a:p>
        </p:txBody>
      </p:sp>
      <p:pic>
        <p:nvPicPr>
          <p:cNvPr id="341" name="video_currencies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235440" y="3701158"/>
            <a:ext cx="2286000" cy="1285875"/>
          </a:xfrm>
          <a:prstGeom prst="rect">
            <a:avLst/>
          </a:prstGeom>
        </p:spPr>
      </p:pic>
      <p:sp>
        <p:nvSpPr>
          <p:cNvPr id="342" name="Rectangle 341"/>
          <p:cNvSpPr/>
          <p:nvPr/>
        </p:nvSpPr>
        <p:spPr>
          <a:xfrm>
            <a:off x="9235440" y="5012470"/>
            <a:ext cx="2286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▶ 結算幣別選單：查詢結果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11480" y="5337602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4" name="Rectangle 343"/>
          <p:cNvSpPr/>
          <p:nvPr/>
        </p:nvSpPr>
        <p:spPr>
          <a:xfrm>
            <a:off x="502920" y="5337602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差別：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同樣的檢查，系統每次改版都自動重跑一遍，結果與錄影自動留存；人只看沒通過的項目。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411480" y="590569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左側為人工測試清單的示意，待 IT 提供實際的人工測試紀錄；右側為同一系統自動執行畫面測試的錄影（測試資料）。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3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3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341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價值與治理：做得快的地方量得到，管得住的地方查得到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左邊四項讓交付變快、各用一個指標驗收；右邊五題是監理機關會問的，各有做法、也留得下紀錄。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557784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做得快：痛點 → 做法 → 驗收指標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090152"/>
            <a:ext cx="1472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痛點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920240" y="2090152"/>
            <a:ext cx="252374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做法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480560" y="2090152"/>
            <a:ext cx="1472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指標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429311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需求來回很多輪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920240" y="2429311"/>
            <a:ext cx="252374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快速做出原型，業務當場確認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480560" y="2429311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需求定稿時間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3107629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審查排隊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920240" y="3107629"/>
            <a:ext cx="252374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先審，人只判斷風險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480560" y="3107629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審查等待、返工次數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785948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上線出錯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920240" y="3785948"/>
            <a:ext cx="252374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每次改動都自動測試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480560" y="3785948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變更失敗率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4464267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交付難預期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920240" y="4464267"/>
            <a:ext cx="252374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每階段交出檔案，進度看得到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480560" y="4464267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交付時間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6172200" y="1691640"/>
            <a:ext cx="562356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管得住：監理機關會問 → 做法 → 留下的紀錄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172200" y="2090152"/>
            <a:ext cx="165506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監理機關會問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863840" y="2090152"/>
            <a:ext cx="2615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做法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515600" y="2090152"/>
            <a:ext cx="12435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留下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172200" y="2429311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AI 工具有納管嗎？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7863840" y="2429311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診斷時判斷是否屬委外，登錄 AI 清冊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515600" y="2429311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 清冊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172200" y="2971966"/>
            <a:ext cx="165506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個資會進到 AI 嗎？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863840" y="2971966"/>
            <a:ext cx="26151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資料分級，機密檔 AI 讀不到；試點用假資料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0515600" y="2971966"/>
            <a:ext cx="12435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設定與存取紀錄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172200" y="3514621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上線是誰核准的？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863840" y="3514621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指定的人核准；AI 不能核准自己寫的程式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0515600" y="3514621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核准紀錄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172200" y="4057275"/>
            <a:ext cx="165506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出事能退回嗎？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863840" y="4057275"/>
            <a:ext cx="26151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退版先演練；AI 建議，人決定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0515600" y="4057275"/>
            <a:ext cx="12435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演練紀錄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6172200" y="4599930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事後查得到嗎？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7863840" y="4599930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需求、規格、計畫、測試結果都存版本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0515600" y="4599930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完整文件軌跡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11480" y="5295207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2" name="Rectangle 341"/>
          <p:cNvSpPr/>
          <p:nvPr/>
        </p:nvSpPr>
        <p:spPr>
          <a:xfrm>
            <a:off x="502920" y="5295207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的使用，從難以稽核的個人行為，變成有指標、有紀錄的流程。效益不先承諾數字，試點前先量基準、訂合格線。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；回收期參考：需要大量治理的大型企業導入，12–18 個月屬可接受（DORA 2026）。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買到什麼、為什麼選我們：先診斷，再做一個場景的試點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95646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固定範圍、固定價格，成功標準在試點前講好、達標才擴大；同一組 BA 與 IT 從診斷做到試點。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05840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1691640"/>
            <a:ext cx="3794760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準備度診斷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4–6 週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157984"/>
            <a:ext cx="379476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・盤點現況與卡點、法規檢查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・挑出第一個場景、訂成功標準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921092"/>
            <a:ext cx="379476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瓶頸地圖、法規檢查結果、場景建議、導入藍圖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343400" y="1691640"/>
            <a:ext cx="3794760" cy="423949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一個場景的試點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6–8 週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343400" y="2157984"/>
            <a:ext cx="379476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・用一個真實需求走完循環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・建立範本、規則與關卡，同步教會各角色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343400" y="2921092"/>
            <a:ext cx="379476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完成的試點、範本與規則、教材、成效報告</a:t>
            </a:r>
          </a:p>
        </p:txBody>
      </p:sp>
      <p:sp>
        <p:nvSpPr>
          <p:cNvPr id="313" name="Right Arrow 312"/>
          <p:cNvSpPr/>
          <p:nvPr/>
        </p:nvSpPr>
        <p:spPr>
          <a:xfrm>
            <a:off x="4224528" y="1776429"/>
            <a:ext cx="100584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275320" y="1691640"/>
            <a:ext cx="3520440" cy="42394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成功標準（試點前講好）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275320" y="2157984"/>
            <a:ext cx="3520440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・需求定稿時間、第一次審查等待時間、返工次數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・核准紀錄完整（必要條件）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・合格線依診斷期基準約定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達標擴大；未達標檢討後再試或停止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684200"/>
            <a:ext cx="1138428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為什麼選我們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已經在用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FSC1 自己的開發流程已經這樣運作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證據：再保系統示範（第 7 頁）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28041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在地法規內建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委外、雲端、AI 自律規範對應到開發的每一步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證據：法規清單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14934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懂保險業務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BA 懂保險業務與法規；場景直接選理賠、核保、再保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證據：FSC1 開發的再保系統（第 7 頁）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018269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可稽核的人工關卡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誰核准都查得到；寫程式的 AI 不能核准自己的程式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證據：關卡設計（第 5 頁）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312165"/>
            <a:ext cx="9144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502920" y="5312165"/>
            <a:ext cx="11292840" cy="46634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貴公司需配合：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IT 與業務窗口、一個真實需求與團隊、測試環境、AI 工具的合約或內部核准。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90569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國際方案多以預建代理與藍圖為主。擴大階段、工具包授權與駐點支援可依需求討論。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如何開始：先看現場示範，再挑一個開發場景或業務痛點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三個步驟開始；請貴公司先指定窗口，並給我們一份想做的需求清單。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0　準備度診斷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4–6 週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選定場景與成功標準</a:t>
            </a:r>
          </a:p>
        </p:txBody>
      </p:sp>
      <p:sp>
        <p:nvSpPr>
          <p:cNvPr id="308" name="Right Arrow 307"/>
          <p:cNvSpPr/>
          <p:nvPr/>
        </p:nvSpPr>
        <p:spPr>
          <a:xfrm>
            <a:off x="3154680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282696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1　場景試點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6–8 週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2696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指標達到合格線</a:t>
            </a:r>
          </a:p>
        </p:txBody>
      </p:sp>
      <p:sp>
        <p:nvSpPr>
          <p:cNvPr id="311" name="Right Arrow 310"/>
          <p:cNvSpPr/>
          <p:nvPr/>
        </p:nvSpPr>
        <p:spPr>
          <a:xfrm>
            <a:off x="6025896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153912" y="1691640"/>
            <a:ext cx="2743200" cy="59352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2　相鄰場景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依範圍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53912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管理層核准擴大</a:t>
            </a:r>
          </a:p>
        </p:txBody>
      </p:sp>
      <p:sp>
        <p:nvSpPr>
          <p:cNvPr id="314" name="Right Arrow 313"/>
          <p:cNvSpPr/>
          <p:nvPr/>
        </p:nvSpPr>
        <p:spPr>
          <a:xfrm>
            <a:off x="8897112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025128" y="1691640"/>
            <a:ext cx="2743200" cy="59352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3　全公司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持續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25128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7" name="Oval 316"/>
          <p:cNvSpPr/>
          <p:nvPr/>
        </p:nvSpPr>
        <p:spPr>
          <a:xfrm>
            <a:off x="411480" y="3055426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051560" y="2963487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現場示範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拿貴公司的一個真實需求，當場跑一次：從寫需求到上線前的核准。</a:t>
            </a:r>
          </a:p>
        </p:txBody>
      </p:sp>
      <p:sp>
        <p:nvSpPr>
          <p:cNvPr id="319" name="Oval 318"/>
          <p:cNvSpPr/>
          <p:nvPr/>
        </p:nvSpPr>
        <p:spPr>
          <a:xfrm>
            <a:off x="411480" y="3835492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3743553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一起挑題目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開一次會，挑出 1–2 個最適合先做的需求，順便確認資料、系統和法規上有哪些限制。</a:t>
            </a:r>
          </a:p>
        </p:txBody>
      </p:sp>
      <p:sp>
        <p:nvSpPr>
          <p:cNvPr id="321" name="Oval 320"/>
          <p:cNvSpPr/>
          <p:nvPr/>
        </p:nvSpPr>
        <p:spPr>
          <a:xfrm>
            <a:off x="411480" y="4615558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051560" y="4523619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開始診斷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定好範圍和雙方窗口，開始盤點現在的開發流程和法規要求。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315200" y="2963487"/>
            <a:ext cx="4480560" cy="2255409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請貴公司提供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・IT 主管與業務單位窗口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・現有開發流程與工具（Jira、CI、變更管理）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・候選需求清單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・資安、個資與法遵規範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11480" y="5422392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502920" y="5422392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幫你把每一步做得更快，每一步都留下紀錄；要不要做、能不能上線，永遠由你的人決定。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寫程式很快就是常態；決勝關鍵在治理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速度大家都買得到；讓每一步查得到、每個關鍵決定由人做，才是保險公司能放心擴大的條件。</a:t>
            </a:r>
          </a:p>
        </p:txBody>
      </p:sp>
      <p:sp>
        <p:nvSpPr>
          <p:cNvPr id="310" name="計數 310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1" name="計數 311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1/64；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2" name="計數 312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1/118；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3" name="計數 313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1/162；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4" name="計數 314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1/197；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5" name="計數 315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1/224；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6" name="計數 316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1/245；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7" name="計數 317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1/260；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8" name="計數 318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1/270；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19" name="計數 319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1/276；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20" name="計數 320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1/279；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1/280；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4404914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微軟正黑體"/>
                <a:ea typeface="微軟正黑體"/>
                <a:hlinkClick r:id="rId2"/>
              </a:rPr>
              <a:t>1/280：Stanford AI Index 2025（同等能力的 AI，2022-11 → 2024-10）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責任：保險業作業委外辦法、AI 自律規範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4828863"/>
            <a:ext cx="1138428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敢上線的前提：每一步查得到、每個關鍵決定由人做。這就是我們幫保險公司建好的東西。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5210417"/>
            <a:ext cx="91440" cy="89029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502920" y="5210417"/>
            <a:ext cx="11292840" cy="89029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Georgia"/>
                <a:ea typeface="微軟正黑體"/>
              </a:rPr>
              <a:t>下一步：</a:t>
            </a:r>
            <a:r>
              <a:rPr sz="1500" b="1">
                <a:solidFill>
                  <a:srgbClr val="000000"/>
                </a:solidFill>
                <a:latin typeface="Georgia"/>
                <a:ea typeface="微軟正黑體"/>
              </a:rPr>
              <a:t>約一場現場示範，用貴公司的一個真實需求，當場從需求跑到上線前的核准。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兩週內就能安排；只需要一位 IT 窗口、一位業務窗口和一份需求。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669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" grpId="0" animBg="1"/>
      <p:bldP spid="310" grpId="1" animBg="1"/>
      <p:bldP spid="311" grpId="0" animBg="1"/>
      <p:bldP spid="311" grpId="1" animBg="1"/>
      <p:bldP spid="312" grpId="0" animBg="1"/>
      <p:bldP spid="312" grpId="1" animBg="1"/>
      <p:bldP spid="313" grpId="0" animBg="1"/>
      <p:bldP spid="313" grpId="1" animBg="1"/>
      <p:bldP spid="314" grpId="0" animBg="1"/>
      <p:bldP spid="314" grpId="1" animBg="1"/>
      <p:bldP spid="315" grpId="0" animBg="1"/>
      <p:bldP spid="315" grpId="1" animBg="1"/>
      <p:bldP spid="316" grpId="0" animBg="1"/>
      <p:bldP spid="316" grpId="1" animBg="1"/>
      <p:bldP spid="317" grpId="0" animBg="1"/>
      <p:bldP spid="317" grpId="1" animBg="1"/>
      <p:bldP spid="318" grpId="0" animBg="1"/>
      <p:bldP spid="318" grpId="1" animBg="1"/>
      <p:bldP spid="319" grpId="0" animBg="1"/>
      <p:bldP spid="319" grpId="1" animBg="1"/>
      <p:bldP spid="320" grpId="0" animBg="1"/>
      <p:bldP spid="320" grpId="1" animBg="1"/>
      <p:bldP spid="305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