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7" r:id="rId28"/>
    <p:sldId id="269" r:id="rId30"/>
    <p:sldId id="270" r:id="rId31"/>
    <p:sldId id="273" r:id="rId34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結論：從一個場景開始，做得快，也管得住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週一個場景試點，達標才擴大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個候選場景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保險業 53% 已在用 AI；用 AI 的業者 76% 已導入生成式 AI</a:t>
            </a:r>
          </a:p>
          <a:p>
            <a:r>
              <a:t>• AI 寫的程式約 45% 有資安漏洞</a:t>
            </a:r>
          </a:p>
          <a:p>
            <a:r>
              <a:t>• 責任在保險公司：紀錄要設計進流程，不能事後補</a:t>
            </a:r>
          </a:p>
          <a:p>
            <a:r>
              <a:t>【可能被問】45% 是你們測的嗎？→ 不是，是資安公司 Veracode 2025 年的研究，來源可點。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 在用；57% 保險業高階主管列為首要投資</a:t>
            </a:r>
          </a:p>
          <a:p>
            <a:r>
              <a:t>• 但交付更不穩；複雜的既有系統，效益常在 10% 以下</a:t>
            </a:r>
          </a:p>
          <a:p>
            <a:r>
              <a:t>• PwC 調查：56% 的 CEO 還沒看到 AI 的財務效益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再保險系統開發模組：規則 → 規格 → 任務 → 測試 → 追溯</a:t>
            </a:r>
          </a:p>
          <a:p>
            <a:r>
              <a:t>• 每一步都有文件，任務最多改 5 個檔案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以前：人照清單逐項點、記、截圖</a:t>
            </a:r>
          </a:p>
          <a:p>
            <a:r>
              <a:t>• 現在：系統自動跑畫面測試，每次改版重跑、錄影留存</a:t>
            </a:r>
          </a:p>
          <a:p>
            <a:r>
              <a:t>• 人只看沒通過的項目</a:t>
            </a:r>
          </a:p>
          <a:p>
            <a:r>
              <a:t>【可能被問】自動測試是 AI 寫的嗎？→ 依 IT 確認的說法回答。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做得快：四個痛點各有做法與指標</a:t>
            </a:r>
          </a:p>
          <a:p>
            <a:r>
              <a:t>• 管得住：監理機關會問的五題，各有做法與紀錄</a:t>
            </a:r>
          </a:p>
          <a:p>
            <a:r>
              <a:t>• 效益不先承諾數字，試點前量基準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週，各有明確交付物；達標才擴大</a:t>
            </a:r>
          </a:p>
          <a:p>
            <a:r>
              <a:t>• 為什麼選我們：已經在用、在地法規、懂保險業務、可稽核關卡</a:t>
            </a:r>
          </a:p>
          <a:p>
            <a:r>
              <a:t>• 再保系統示範就是證據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一起挑題目 → 開始診斷</a:t>
            </a:r>
          </a:p>
          <a:p>
            <a:r>
              <a:t>• 請提供：窗口、現有流程與工具、候選需求、法遵規範</a:t>
            </a:r>
          </a:p>
          <a:p>
            <a:r>
              <a:t>• 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一句話：AI 的使用成本兩年降到 1/280，出了事責任一分都沒有變少</a:t>
            </a:r>
          </a:p>
          <a:p>
            <a:r>
              <a:t>• 未來的差距，在誰敢讓 AI 寫的程式上線；敢上線靠治理</a:t>
            </a:r>
          </a:p>
          <a:p>
            <a:r>
              <a:t>• 只請一件事：約一場用貴公司需求的現場示範，講完就停</a:t>
            </a:r>
          </a:p>
          <a:p>
            <a:r>
              <a:t>【可能被問】為什麼要現在決定？→ 不用今天決定全案，只約示範；看完再決定要不要診斷。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www.pwc.com/us/en/industries/financial-services/library/reinventing-insurance.html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hai.stanford.edu/ai-index/2025-ai-index-report" TargetMode="External"/><Relationship Id="rId3" Type="http://schemas.openxmlformats.org/officeDocument/2006/relationships/hyperlink" Target="https://www.leeandli.com/TW/Newsletters/7525.htm" TargetMode="Externa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一頁看懂：做得快也管得住，從一個場景開始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週單一場景試點；達標後，範本、規則與關卡沿用到下一個系統。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3、9 頁</a:t>
            </a:r>
          </a:p>
        </p:txBody>
      </p:sp>
      <p:sp>
        <p:nvSpPr>
          <p:cNvPr id="9" name="Rectangle 8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國際研究：AI 讓交付變快，但也更不穩；PwC 調查也顯示，多數 CEO 還沒看到 AI 的財務效益。差別在流程與治理。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7、10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個候選場景，啟動準備度診斷。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24" name="計數 24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25" name="計數 2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20%</a:t>
            </a:r>
          </a:p>
        </p:txBody>
      </p:sp>
      <p:sp>
        <p:nvSpPr>
          <p:cNvPr id="26" name="計數 2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27" name="計數 27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28" name="計數 28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62%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77%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82%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85%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87%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4" name="計數 34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35" name="計數 35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12%</a:t>
            </a:r>
          </a:p>
        </p:txBody>
      </p:sp>
      <p:sp>
        <p:nvSpPr>
          <p:cNvPr id="36" name="計數 36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22%</a:t>
            </a:r>
          </a:p>
        </p:txBody>
      </p:sp>
      <p:sp>
        <p:nvSpPr>
          <p:cNvPr id="37" name="計數 37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31%</a:t>
            </a:r>
          </a:p>
        </p:txBody>
      </p:sp>
      <p:sp>
        <p:nvSpPr>
          <p:cNvPr id="38" name="計數 38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37%</a:t>
            </a:r>
          </a:p>
        </p:txBody>
      </p:sp>
      <p:sp>
        <p:nvSpPr>
          <p:cNvPr id="39" name="計數 3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40" name="計數 4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</p:txBody>
      </p:sp>
      <p:sp>
        <p:nvSpPr>
          <p:cNvPr id="41" name="計數 41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</p:txBody>
      </p:sp>
      <p:sp>
        <p:nvSpPr>
          <p:cNvPr id="42" name="計數 42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51%</a:t>
            </a:r>
          </a:p>
        </p:txBody>
      </p:sp>
      <p:sp>
        <p:nvSpPr>
          <p:cNvPr id="43" name="計數 43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44" name="計數 4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45" name="計數 45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17%</a:t>
            </a:r>
          </a:p>
        </p:txBody>
      </p:sp>
      <p:sp>
        <p:nvSpPr>
          <p:cNvPr id="46" name="計數 46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47" name="計數 47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48" name="計數 48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49" name="計數 49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61%</a:t>
            </a:r>
          </a:p>
        </p:txBody>
      </p:sp>
      <p:sp>
        <p:nvSpPr>
          <p:cNvPr id="50" name="計數 50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66%</a:t>
            </a:r>
          </a:p>
        </p:txBody>
      </p:sp>
      <p:sp>
        <p:nvSpPr>
          <p:cNvPr id="51" name="計數 51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71%</a:t>
            </a:r>
          </a:p>
        </p:txBody>
      </p:sp>
      <p:sp>
        <p:nvSpPr>
          <p:cNvPr id="52" name="計數 52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73%</a:t>
            </a:r>
          </a:p>
        </p:txBody>
      </p:sp>
      <p:sp>
        <p:nvSpPr>
          <p:cNvPr id="53" name="計數 5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54" name="計數 54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</p:txBody>
      </p:sp>
      <p:sp>
        <p:nvSpPr>
          <p:cNvPr id="55" name="計數 55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10%</a:t>
            </a:r>
          </a:p>
        </p:txBody>
      </p:sp>
      <p:sp>
        <p:nvSpPr>
          <p:cNvPr id="56" name="計數 56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</p:txBody>
      </p:sp>
      <p:sp>
        <p:nvSpPr>
          <p:cNvPr id="57" name="計數 5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26%</a:t>
            </a:r>
          </a:p>
        </p:txBody>
      </p:sp>
      <p:sp>
        <p:nvSpPr>
          <p:cNvPr id="58" name="計數 5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32%</a:t>
            </a:r>
          </a:p>
        </p:txBody>
      </p:sp>
      <p:sp>
        <p:nvSpPr>
          <p:cNvPr id="59" name="計數 59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36%</a:t>
            </a:r>
          </a:p>
        </p:txBody>
      </p:sp>
      <p:sp>
        <p:nvSpPr>
          <p:cNvPr id="60" name="計數 60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39%</a:t>
            </a:r>
          </a:p>
        </p:txBody>
      </p:sp>
      <p:sp>
        <p:nvSpPr>
          <p:cNvPr id="61" name="計數 61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42%</a:t>
            </a:r>
          </a:p>
        </p:txBody>
      </p:sp>
      <p:sp>
        <p:nvSpPr>
          <p:cNvPr id="62" name="計數 62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43%</a:t>
            </a:r>
          </a:p>
        </p:txBody>
      </p:sp>
      <p:sp>
        <p:nvSpPr>
          <p:cNvPr id="63" name="計數 63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7" grpId="0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11" grpId="0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15" grpId="0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1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29" name="計數 29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" name="計數 30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1" name="計數 31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2" name="計數 32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3" name="計數 33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4" name="計數 34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5" name="計數 3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6" name="計數 3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7" name="計數 37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81%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8" name="計數 38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9" name="計數 3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0–0%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0" name="計數 40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2–5%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1" name="計數 41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4–8%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2" name="計數 42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6–12%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3" name="計數 43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7–14%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4" name="計數 44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8–16%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5" name="計數 45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9–18%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6" name="計數 46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9–19%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47" name="計數 47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10–19%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48" name="計數 48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49" name="計數 49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0" name="計數 50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1" name="計數 5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1.7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2" name="計數 5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2.1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3" name="計數 53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2.4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4" name="計數 54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2.6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5" name="計數 55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2.8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6" name="計數 56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2.9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57" name="計數 57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3.0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58" name="計數 58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59" name="計數 59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0" name="計數 60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24%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1" name="計數 61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2" name="計數 62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3" name="計數 63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46%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4" name="計數 6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5" name="計數 6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6" name="計數 66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55%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67" name="計數 67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56%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把生成式與代理式 AI 列為 2026 年首要科技投資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PwC〈Reinventing insurance〉，2025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68" name="計數 6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0–0%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69" name="計數 69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8–9%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0" name="計數 7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15–17%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1" name="計數 7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20–23%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2" name="計數 72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25–28%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3" name="計數 73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28–32%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4" name="計數 74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31–35%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5" name="計數 75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32–37%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6" name="計數 76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34–39%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77" name="計數 77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8" name="計數 78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79" name="計數 7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0" name="計數 80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1" name="計數 8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7%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2" name="計數 8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8%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83" name="計數 83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84" name="計數 8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5" name="計數 85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13%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6" name="計數 86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24%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7" name="計數 87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8" name="計數 88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39%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89" name="計數 89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0" name="計數 90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49%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1" name="計數 9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52%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2" name="計數 92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54%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93" name="計數 9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55%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449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7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xit" presetSubtype="0" fill="hold" grpId="1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8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grpId="1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1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1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xit" presetSubtype="0" fill="hold" grpId="1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131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1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xit" presetSubtype="0" fill="hold" grpId="1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xit" presetSubtype="0" fill="hold" grpId="1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1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xit" presetSubtype="0" fill="hold" grpId="1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" presetClass="exit" presetSubtype="0" fill="hold" grpId="1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xit" presetSubtype="0" fill="hold" grpId="1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163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xit" presetSubtype="0" fill="hold" grpId="1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xit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xit" presetSubtype="0" fill="hold" grpId="1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xit" presetSubtype="0" fill="hold" grpId="1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xit" presetSubtype="0" fill="hold" grpId="1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xit" presetSubtype="0" fill="hold" grpId="1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18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xit" presetSubtype="0" fill="hold" grpId="1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xit" presetSubtype="0" fill="hold" grpId="1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xit" presetSubtype="0" fill="hold" grpId="1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xit" presetSubtype="0" fill="hold" grpId="1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grpId="1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199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xit" presetSubtype="0" fill="hold" grpId="1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xit" presetSubtype="0" fill="hold" grpId="1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213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xit" presetSubtype="0" fill="hold" grpId="1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7" grpId="0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  <p:bldP spid="42" grpId="0" animBg="1"/>
      <p:bldP spid="42" grpId="1" animBg="1"/>
      <p:bldP spid="43" grpId="0" animBg="1"/>
      <p:bldP spid="43" grpId="1" animBg="1"/>
      <p:bldP spid="44" grpId="0" animBg="1"/>
      <p:bldP spid="44" grpId="1" animBg="1"/>
      <p:bldP spid="45" grpId="0" animBg="1"/>
      <p:bldP spid="45" grpId="1" animBg="1"/>
      <p:bldP spid="46" grpId="0" animBg="1"/>
      <p:bldP spid="46" grpId="1" animBg="1"/>
      <p:bldP spid="47" grpId="0" animBg="1"/>
      <p:bldP spid="47" grpId="1" animBg="1"/>
      <p:bldP spid="10" grpId="0" animBg="1"/>
      <p:bldP spid="48" grpId="0" animBg="1"/>
      <p:bldP spid="48" grpId="1" animBg="1"/>
      <p:bldP spid="49" grpId="0" animBg="1"/>
      <p:bldP spid="49" grpId="1" animBg="1"/>
      <p:bldP spid="50" grpId="0" animBg="1"/>
      <p:bldP spid="50" grpId="1" animBg="1"/>
      <p:bldP spid="51" grpId="0" animBg="1"/>
      <p:bldP spid="51" grpId="1" animBg="1"/>
      <p:bldP spid="52" grpId="0" animBg="1"/>
      <p:bldP spid="52" grpId="1" animBg="1"/>
      <p:bldP spid="53" grpId="0" animBg="1"/>
      <p:bldP spid="53" grpId="1" animBg="1"/>
      <p:bldP spid="54" grpId="0" animBg="1"/>
      <p:bldP spid="54" grpId="1" animBg="1"/>
      <p:bldP spid="55" grpId="0" animBg="1"/>
      <p:bldP spid="55" grpId="1" animBg="1"/>
      <p:bldP spid="56" grpId="0" animBg="1"/>
      <p:bldP spid="56" grpId="1" animBg="1"/>
      <p:bldP spid="57" grpId="0" animBg="1"/>
      <p:bldP spid="57" grpId="1" animBg="1"/>
      <p:bldP spid="13" grpId="0" animBg="1"/>
      <p:bldP spid="58" grpId="0" animBg="1"/>
      <p:bldP spid="58" grpId="1" animBg="1"/>
      <p:bldP spid="59" grpId="0" animBg="1"/>
      <p:bldP spid="59" grpId="1" animBg="1"/>
      <p:bldP spid="60" grpId="0" animBg="1"/>
      <p:bldP spid="60" grpId="1" animBg="1"/>
      <p:bldP spid="61" grpId="0" animBg="1"/>
      <p:bldP spid="61" grpId="1" animBg="1"/>
      <p:bldP spid="62" grpId="0" animBg="1"/>
      <p:bldP spid="62" grpId="1" animBg="1"/>
      <p:bldP spid="63" grpId="0" animBg="1"/>
      <p:bldP spid="6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16" grpId="0" animBg="1"/>
      <p:bldP spid="68" grpId="0" animBg="1"/>
      <p:bldP spid="68" grpId="1" animBg="1"/>
      <p:bldP spid="69" grpId="0" animBg="1"/>
      <p:bldP spid="69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73" grpId="0" animBg="1"/>
      <p:bldP spid="73" grpId="1" animBg="1"/>
      <p:bldP spid="74" grpId="0" animBg="1"/>
      <p:bldP spid="74" grpId="1" animBg="1"/>
      <p:bldP spid="75" grpId="0" animBg="1"/>
      <p:bldP spid="75" grpId="1" animBg="1"/>
      <p:bldP spid="76" grpId="0" animBg="1"/>
      <p:bldP spid="76" grpId="1" animBg="1"/>
      <p:bldP spid="22" grpId="0" animBg="1"/>
      <p:bldP spid="77" grpId="0" animBg="1"/>
      <p:bldP spid="77" grpId="1" animBg="1"/>
      <p:bldP spid="78" grpId="0" animBg="1"/>
      <p:bldP spid="78" grpId="1" animBg="1"/>
      <p:bldP spid="79" grpId="0" animBg="1"/>
      <p:bldP spid="79" grpId="1" animBg="1"/>
      <p:bldP spid="80" grpId="0" animBg="1"/>
      <p:bldP spid="80" grpId="1" animBg="1"/>
      <p:bldP spid="81" grpId="0" animBg="1"/>
      <p:bldP spid="81" grpId="1" animBg="1"/>
      <p:bldP spid="82" grpId="0" animBg="1"/>
      <p:bldP spid="82" grpId="1" animBg="1"/>
      <p:bldP spid="83" grpId="0" animBg="1"/>
      <p:bldP spid="83" grpId="1" animBg="1"/>
      <p:bldP spid="23" grpId="0" animBg="1"/>
      <p:bldP spid="84" grpId="0" animBg="1"/>
      <p:bldP spid="84" grpId="1" animBg="1"/>
      <p:bldP spid="85" grpId="0" animBg="1"/>
      <p:bldP spid="85" grpId="1" animBg="1"/>
      <p:bldP spid="86" grpId="0" animBg="1"/>
      <p:bldP spid="86" grpId="1" animBg="1"/>
      <p:bldP spid="87" grpId="0" animBg="1"/>
      <p:bldP spid="87" grpId="1" animBg="1"/>
      <p:bldP spid="88" grpId="0" animBg="1"/>
      <p:bldP spid="88" grpId="1" animBg="1"/>
      <p:bldP spid="89" grpId="0" animBg="1"/>
      <p:bldP spid="89" grpId="1" animBg="1"/>
      <p:bldP spid="90" grpId="0" animBg="1"/>
      <p:bldP spid="90" grpId="1" animBg="1"/>
      <p:bldP spid="91" grpId="0" animBg="1"/>
      <p:bldP spid="91" grpId="1" animBg="1"/>
      <p:bldP spid="92" grpId="0" animBg="1"/>
      <p:bldP spid="92" grpId="1" animBg="1"/>
      <p:bldP spid="93" grpId="0" animBg="1"/>
      <p:bldP spid="93" grpId="1" animBg="1"/>
      <p:bldP spid="25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14" name="Oval 13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16" name="Oval 15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18" name="Oval 17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22" name="Oval 21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24" name="Oval 23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工具，依貴公司政策與合約選定。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157984"/>
            <a:ext cx="3794760" cy="3688357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5 頁）。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分類在診斷時，依貴公司的專案與規範確認（第 10 頁）。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9" name="Picture 8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3" name="Picture 12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17" name="Picture 16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1" name="Picture 20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25" name="Picture 24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8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40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42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8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左邊四項讓交付變快、各用一個指標驗收；右邊五題是監理機關會問的，各有做法、也留得下紀錄。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管得住：監理機關會問 → 做法 → 留下的紀錄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監理機關會問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7 頁）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7 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5 頁）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國際方案多以預建代理與藍圖為主。擴大階段、工具包授權與駐點支援可依需求討論。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三個步驟開始；請貴公司先指定窗口，並給我們一份想做的需求清單。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拿貴公司的一個真實需求，當場跑一次：從寫需求到上線前的核准。</a:t>
            </a:r>
          </a:p>
        </p:txBody>
      </p:sp>
      <p:sp>
        <p:nvSpPr>
          <p:cNvPr id="20" name="Oval 19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寫程式很快就是常態；決勝關鍵在治理</a:t>
            </a:r>
          </a:p>
        </p:txBody>
      </p:sp>
      <p:sp>
        <p:nvSpPr>
          <p:cNvPr id="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11" name="計數 1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2" name="計數 12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1/64；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3" name="計數 13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1/118；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4" name="計數 14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1/162；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5" name="計數 1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1/197；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6" name="計數 16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1/224；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7" name="計數 17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1/245；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8" name="計數 18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1/260；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19" name="計數 19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0" name="計數 20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1/276；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21" name="計數 21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1/279；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11384280" cy="258608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000" b="0">
                <a:solidFill>
                  <a:srgbClr val="FFFFFF"/>
                </a:solidFill>
                <a:latin typeface="Georgia"/>
                <a:ea typeface="微軟正黑體"/>
              </a:rPr>
              <a:t>AI 的使用成本，兩年降到 1/280；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Georgia"/>
                <a:ea typeface="微軟正黑體"/>
              </a:rPr>
              <a:t>出了事，責任一分都沒有變少。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8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800" b="0">
                <a:solidFill>
                  <a:srgbClr val="FFFFFF"/>
                </a:solidFill>
                <a:latin typeface="Georgia"/>
                <a:ea typeface="微軟正黑體"/>
              </a:rPr>
              <a:t>未來的差距，不在誰寫得快，而在誰敢讓 AI 寫的程式上線。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4049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微軟正黑體"/>
                <a:ea typeface="微軟正黑體"/>
                <a:hlinkClick r:id="rId2"/>
              </a:rPr>
              <a:t>1/280：Stanford AI Index 2025（同等能力的 AI，2022-11 → 2024-10）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責任：保險業作業委外辦法、AI 自律規範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4828863"/>
            <a:ext cx="1138428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敢上線的前提：每一步查得到、每個關鍵決定由人做。這就是我們幫保險公司建好的東西。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10417"/>
            <a:ext cx="91440" cy="89029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210417"/>
            <a:ext cx="11292840" cy="89029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約一場現場示範，用貴公司的一個真實需求，當場從需求跑到上線前的核准。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116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12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1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6" grpId="0" animBg="1"/>
    </p:bldLst>
  </p:timing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