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hyperlink" Target="https://www.deloitte.com/global/en/what-we-do/capabilities/agentic-ai-blueprint-for-insurance.html" TargetMode="External"/><Relationship Id="rId3" Type="http://schemas.openxmlformats.org/officeDocument/2006/relationships/hyperlink" Target="https://sas.com/nl_nl/news/press-releases/2022/may/deloitte-partners-with-sas-to-power-ifrs-17-accelerator-solution.html" TargetMode="External"/><Relationship Id="rId4" Type="http://schemas.openxmlformats.org/officeDocument/2006/relationships/hyperlink" Target="https://sas.com/en_ca/news/press-releases/2022/september/pvi-insurance-deploys-kpmg-ifrs-17-express.html" TargetMode="External"/><Relationship Id="rId5" Type="http://schemas.openxmlformats.org/officeDocument/2006/relationships/hyperlink" Target="https://www.capgemini.com/wp-content/uploads/2026/10/GW-datasheet_Final-version.pdf" TargetMode="External"/><Relationship Id="rId6" Type="http://schemas.openxmlformats.org/officeDocument/2006/relationships/hyperlink" Target="https://www.ey.com/en_us/insurance/nexus" TargetMode="External"/><Relationship Id="rId7" Type="http://schemas.openxmlformats.org/officeDocument/2006/relationships/hyperlink" Target="https://www.mckinsey.com/industries/financial-services/our-insights/can-agentic-ai-finally-modernize-core-technologies-in-insurance" TargetMode="External"/><Relationship Id="rId8" Type="http://schemas.openxmlformats.org/officeDocument/2006/relationships/hyperlink" Target="https://www.bcg.com/assets/2026/executive-perspectives-ai-first-companies-win-the-future-property-casualty-insuranc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原生軟體開發提案：</a:t>
            </a:r>
          </a:p>
          <a:p>
            <a:r>
              <a:rPr sz="2800">
                <a:latin typeface="Georgia"/>
                <a:ea typeface="微軟正黑體"/>
              </a:rPr>
              <a:t>內部小組會議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Arial"/>
                <a:ea typeface="微軟正黑體"/>
              </a:rPr>
              <a:t>FSC1 內部｜客戶版定稿前的對齊｜2026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今天的目的：對齊提案故事線，拍板七件事，客戶版才能定稿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57784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今天要達成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5577840" cy="30175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1　</a:t>
            </a: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確認客戶版以四個面向為主軸的故事線（第 3 頁）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2　</a:t>
            </a: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確認 Sam 審閱後的 11 項修改（第 4 頁）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3　</a:t>
            </a: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審閱兩個新增頁：法規檢查清單、試點成功標準（第 5–6 頁）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4　</a:t>
            </a:r>
            <a:r>
              <a:rPr sz="1300" b="0">
                <a:solidFill>
                  <a:srgbClr val="000000"/>
                </a:solidFill>
                <a:latin typeface="Arial"/>
                <a:ea typeface="微軟正黑體"/>
              </a:rPr>
              <a:t>拍板價格、人力、目標客戶等七件事（第 9 頁）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57784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提案的三個關鍵選擇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577840" cy="3017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對外只推兩步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微軟正黑體"/>
                <a:ea typeface="微軟正黑體"/>
              </a:rPr>
              <a:t>準備度診斷 → 陪你做一個試點；工具包與駐點等客戶問了再談。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差異化要看得到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用「法規檢查清單」和 IT 團隊的實作成果或現場示範證明，不只用說的。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價值先講好標準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不先寫效益數字，試點前雙方訂好三個指標和合格線。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074920"/>
            <a:ext cx="914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74920"/>
            <a:ext cx="11292840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核心價值主張：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讓保險公司用 AI 加快系統交付，同時守住法規、留下每一步紀錄，並把做法變成團隊可以重複使用的能力。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提案故事線：客戶版正文 14 頁，四個面向各回答一個問題，最後落在「如何開始」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74320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1　面向誰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微軟正黑體"/>
              </a:rPr>
              <a:t>Who we serve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2743200" cy="2606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3 頁　保險公司的難題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4 頁　四種角色在意什麼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1554480"/>
            <a:ext cx="128016" cy="256032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82696" y="1325880"/>
            <a:ext cx="274320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2　解決什麼問題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微軟正黑體"/>
              </a:rPr>
              <a:t>Problems we solve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2103120"/>
            <a:ext cx="2743200" cy="2606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5 頁　六個卡點與做法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6 頁　從直線變循環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7 頁　四個面向如何組成方案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8 頁　為什麼選我們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9 頁　法規檢查清單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25896" y="1554480"/>
            <a:ext cx="128016" cy="256032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1325880"/>
            <a:ext cx="274320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3　帶來什麼價值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微軟正黑體"/>
              </a:rPr>
              <a:t>Value we deliver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2103120"/>
            <a:ext cx="2743200" cy="2606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・第 10 頁　問題 → 價值 → 指標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11 頁　試點成功標準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97112" y="1554480"/>
            <a:ext cx="128016" cy="256032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25128" y="1325880"/>
            <a:ext cx="2743200" cy="731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4　可擴充、可複製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Arial"/>
                <a:ea typeface="微軟正黑體"/>
              </a:rPr>
              <a:t>Scalable and repeatable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5128" y="2103120"/>
            <a:ext cx="2743200" cy="2606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・第 12 頁　從一個團隊到全公司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846320"/>
            <a:ext cx="11384280" cy="54864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如何開始　</a:t>
            </a:r>
            <a:r>
              <a:rPr sz="1200" b="0">
                <a:solidFill>
                  <a:srgbClr val="FFFFFF"/>
                </a:solidFill>
                <a:latin typeface="Arial"/>
                <a:ea typeface="微軟正黑體"/>
              </a:rPr>
              <a:t>第 13 頁　合作方式：診斷與陪你做試點　｜　第 14 頁　路線圖與下一步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321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附錄：A 示範情境（理賠進度自助查詢）、B 資料與假設說明及來源。英文標籤依 Sam 建議改為較自然的說法，中文名稱不變。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Sam 審閱後的 11 項修改：8 項已改進客戶版，3 項要等 IT、法遵或 Sam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4663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25880"/>
            <a:ext cx="38953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Sam 的疑問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325880"/>
            <a:ext cx="5541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59" y="1325880"/>
            <a:ext cx="13350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狀態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466344" cy="3474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28216"/>
            <a:ext cx="3895344" cy="3474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第 8 頁「為什麼選我們」是空的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728216"/>
            <a:ext cx="5541264" cy="3474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保留待填框；來不及就改成現場示範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59" y="1728216"/>
            <a:ext cx="1335024" cy="3474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待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12264"/>
            <a:ext cx="466344" cy="3474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112264"/>
            <a:ext cx="3895344" cy="3474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「懂台灣法規」同業也會說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112264"/>
            <a:ext cx="5541264" cy="3474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起草法規檢查清單當證據（第 5 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59" y="2112264"/>
            <a:ext cx="1335024" cy="3474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待法遵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96312"/>
            <a:ext cx="466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496312"/>
            <a:ext cx="3895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每頁標籤像在說自己不確定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496312"/>
            <a:ext cx="554126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客戶版拿掉，改在附錄說明資料與假設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59" y="2496312"/>
            <a:ext cx="133502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880360"/>
            <a:ext cx="4663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880360"/>
            <a:ext cx="38953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圖中有「Claude」，像在賣工具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880360"/>
            <a:ext cx="554126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改用自己畫的循環圖，寫明不綁特定工具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59" y="2880360"/>
            <a:ext cx="133502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264408"/>
            <a:ext cx="466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264408"/>
            <a:ext cx="3895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理賠情境不是我們的案例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264408"/>
            <a:ext cx="554126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標成「示範情境」，移到附錄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59" y="3264408"/>
            <a:ext cx="133502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648456"/>
            <a:ext cx="4663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648456"/>
            <a:ext cx="38953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26 頁太長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3648456"/>
            <a:ext cx="554126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客戶版正文 14 頁＋附錄 2 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59" y="3648456"/>
            <a:ext cx="133502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032504"/>
            <a:ext cx="466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032504"/>
            <a:ext cx="3895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擴充章在講我們自己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4032504"/>
            <a:ext cx="554126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改成客戶角度「從一個團隊到全公司」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59" y="4032504"/>
            <a:ext cx="133502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416552"/>
            <a:ext cx="4663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416552"/>
            <a:ext cx="38953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四個方案太多；駐點有獨立性疑慮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4416552"/>
            <a:ext cx="554126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對外只推診斷＋陪你做試點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59" y="4416552"/>
            <a:ext cx="133502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800600"/>
            <a:ext cx="466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800600"/>
            <a:ext cx="3895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價值沒有數字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4800600"/>
            <a:ext cx="554126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新增「試點成功標準」（第 6 頁）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59" y="4800600"/>
            <a:ext cx="133502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184648"/>
            <a:ext cx="4663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184648"/>
            <a:ext cx="389534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95% 是跨產業數字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5184648"/>
            <a:ext cx="554126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痛點改以保險業新制與法規為主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59" y="5184648"/>
            <a:ext cx="1335024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568696"/>
            <a:ext cx="466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5568696"/>
            <a:ext cx="389534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「Face who」英文不自然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0" y="5568696"/>
            <a:ext cx="554126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改為 Who we serve 等，中文名稱不變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24159" y="5568696"/>
            <a:ext cx="1335024" cy="3474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605332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淺橘底兩項是客戶版能不能拿出去的關鍵。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新增：保險業 AI 開發法規檢查清單（草稿），差異化的證據，對外前需法遵確認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8895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檢查項目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25880"/>
            <a:ext cx="3483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依據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25880"/>
            <a:ext cx="3483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開發流程中怎麼落實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78440" y="1325880"/>
            <a:ext cx="1380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在哪一步檢查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是否屬作業委外、是否需依規定辦理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728216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保險業作業委託他人處理內部作業制度及程序辦法（2025-12-31 施行）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728216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導入前判斷並留下紀錄；AI 工具納入委外管理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78440" y="1728216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95144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雲端資料存放、雲端業者管理與查核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295144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保險業作業委外使用雲端服務自律規範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295144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使用公司核准的雲端合約；保留查核所需紀錄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2295144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62072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AI 工具登錄 AI 清冊並做風險評估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862072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保險業運用人工智慧系統自律規範（2025-04-10 備查）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862072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每個 AI 工具與用途登錄；高風險用途加審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78440" y="2862072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29000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關鍵決定由人做，保險公司負最終責任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429000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同上；金管會 AI 指引「治理及問責」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429000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五個人工關卡，各有指定核准人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8440" y="3429000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①–⑤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95928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個資與客戶資料不進入 AI 可讀範圍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995928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個人資料保護法；金管會 AI 指引「隱私及客戶權益」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995928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資料分級；集中設定禁止讀取機密檔與金鑰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3995928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規格、開發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562856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程式經資安審查，出事可退回上一版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562856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金管會 AI 指引「系統穩健性與安全性」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562856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資安初審＋人工審查；退版流程事先演練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8440" y="4562856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合併、⑤ 上線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29783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誰要求、AI 產出什麼、誰核准，查得到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5129783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金管會 AI 指引「透明性與可解釋性」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129783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需求說明、規格、計畫與核准紀錄版本化保存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78440" y="5129783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全程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87044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草稿，請法遵與 R&amp;Q 審閱；條文以主管機關公告為準，非法律意見。金管會 AI 指引六大原則名稱依公開資料整理。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新增：試點成功標準，用「先講好指標和合格線」回答「能省多少」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523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指標（可依痛點替換）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325880"/>
            <a:ext cx="3255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怎麼量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基準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32588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合格線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252374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需求定稿時間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728216"/>
            <a:ext cx="32552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從第一次討論到需求說明定稿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282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7282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14016"/>
            <a:ext cx="252374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第一次審查等待時間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414016"/>
            <a:ext cx="32552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從提交程式到收到第一次審查意見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414016"/>
            <a:ext cx="14264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2414016"/>
            <a:ext cx="14264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99816"/>
            <a:ext cx="252374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有完整核准紀錄的改動比例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3099816"/>
            <a:ext cx="32552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比對版本紀錄與核准紀錄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0998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30998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1325880"/>
            <a:ext cx="2423160" cy="24688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結果怎麼用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達標：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擴大到下一個團隊。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未達標：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一起檢討原因，調整後再試或停止，不擴大。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69080"/>
            <a:ext cx="11384280" cy="10972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為什麼這樣做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效益不先寫數字，而是試點開始前一起訂好指標和合格線；數據大多已在版本紀錄與 CI 系統中，不需要另外填表。試點結束，用同一套指標比較前後。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492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待 Sam 確認：是否願意對客戶承諾「未達標不擴大」。指標可依客戶痛點替換，以三個為限。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微軟正黑體"/>
                <a:ea typeface="微軟正黑體"/>
              </a:rPr>
              <a:t>方案全貌：四種方案都保留在內部，對外只推「診斷 → 陪你做試點」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340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325880"/>
            <a:ext cx="33467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206654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收費模式（建議）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325880"/>
            <a:ext cx="1380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對外策略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325880"/>
            <a:ext cx="206654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原因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28216"/>
            <a:ext cx="234086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準備度診斷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728216"/>
            <a:ext cx="334670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瓶頸地圖、法規檢查、試點建議、導入藍圖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28216"/>
            <a:ext cx="2066543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固定價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728216"/>
            <a:ext cx="138074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對外主推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728216"/>
            <a:ext cx="2066543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低門檻，客戶容易說好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78024"/>
            <a:ext cx="234086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陪你做｜試點陪跑＋教學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478024"/>
            <a:ext cx="334670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完成的試點、成效報告、範本與審查規則、教材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478024"/>
            <a:ext cx="2066543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每個試點固定價，可加里程碑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478024"/>
            <a:ext cx="138074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對外主推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478024"/>
            <a:ext cx="2066543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看得到成效，最能證明價值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227832"/>
            <a:ext cx="234086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你自己做｜工具包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3227832"/>
            <a:ext cx="334670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範本、規範技能、閘門設定、交付手冊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227832"/>
            <a:ext cx="2066543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授權或年費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3227832"/>
            <a:ext cx="138074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客戶問了再談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3227832"/>
            <a:ext cx="2066543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要先從試點累積成熟的資產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77639"/>
            <a:ext cx="234086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幫你做｜駐點開發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977639"/>
            <a:ext cx="334670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程式、文件與完整紀錄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977639"/>
            <a:ext cx="2066543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人月或按交付項目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977639"/>
            <a:ext cx="138074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客戶問了再談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3977639"/>
            <a:ext cx="2066543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偏人力派遣；審計客戶有獨立性限制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572000"/>
            <a:ext cx="91440" cy="5943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572000"/>
            <a:ext cx="11292840" cy="59436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計價原則（建議）：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按「每次診斷」「每個試點」等任務或成果計價，不按工時。金額與期程待 Sam、Luke 決定（第 9 頁）。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3035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三種方案概念出自 Sawhney, MIT Sloan Management Review, 2024。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我們自己的產品化邏輯（不放客戶版）：同業已在做，我們借鏡加速器模式，用資產累積拉開差距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7922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同業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325880"/>
            <a:ext cx="38039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產品／方案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325880"/>
            <a:ext cx="56784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對我們的意思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28216"/>
            <a:ext cx="17922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Deloitte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728216"/>
            <a:ext cx="38039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Agentic AI Blueprint for Insurance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28216"/>
            <a:ext cx="56784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最接近的競品：AI 導入方法＋預建代理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95144"/>
            <a:ext cx="179222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Capgemini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295144"/>
            <a:ext cx="38039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Guidewire 生成式 AI／代理工具組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295144"/>
            <a:ext cx="567842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核心系統遷移＋AI，和第 3 集影片主題重疊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62072"/>
            <a:ext cx="17922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Deloitte、KPMG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2862072"/>
            <a:ext cx="38039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IFRS 17 加速器（與 SAS 合作）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862072"/>
            <a:ext cx="56784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預建資產＋明確期程，降低客戶疑慮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20440"/>
            <a:ext cx="5577840" cy="16916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為什麼要產品化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・只接專案，營收靠多請人才能成長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・客戶會拿同業的現成方案來比較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・開發工作多半常發生、規則清楚，適合做成產品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5577840" cy="1691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資產怎麼累積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每個案子結束，至少萃取一個可重用的範本或規範技能，回到共用資產庫；累積成熟後才推出「你自己做」的工具包。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3492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同業資料為業者公開資訊，未經獨立驗證；連結見附錄。對外不點名同業。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客戶版定稿前要拍板的七件事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416966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事項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325880"/>
            <a:ext cx="3255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為什麼重要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1325880"/>
            <a:ext cx="21579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負責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04120" y="1325880"/>
            <a:ext cx="16550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期限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4169663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診斷與試點的價格區間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728216"/>
            <a:ext cx="325526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客戶第一個問題就會問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728216"/>
            <a:ext cx="215798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Sam、Luke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1728216"/>
            <a:ext cx="165506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本次會議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95144"/>
            <a:ext cx="4169663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人力：診斷與試點由誰負責、排不排得出來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295144"/>
            <a:ext cx="325526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承諾期程前要先確認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2295144"/>
            <a:ext cx="215798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Sam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4120" y="2295144"/>
            <a:ext cx="165506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本次會議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62072"/>
            <a:ext cx="4169663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IT 實作成果（客戶版第 8 頁）或現場示範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862072"/>
            <a:ext cx="325526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差異化的證據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2862072"/>
            <a:ext cx="215798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Kenny／IT 團隊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20" y="2862072"/>
            <a:ext cx="165506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本次會議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29000"/>
            <a:ext cx="4169663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法規檢查清單審閱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3429000"/>
            <a:ext cx="32552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對外前需法遵確認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3429000"/>
            <a:ext cx="215798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法遵、R&amp;Q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3429000"/>
            <a:ext cx="16550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本次會議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95928"/>
            <a:ext cx="4169663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試點成功標準：是否承諾「未達標不擴大」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3995928"/>
            <a:ext cx="32552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影響客戶信任與我們的風險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3995928"/>
            <a:ext cx="215798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Sam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3995928"/>
            <a:ext cx="16550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本次會議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562856"/>
            <a:ext cx="4169663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目標客戶名單與獨立性確認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4562856"/>
            <a:ext cx="32552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審計客戶需先經 R&amp;Q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562856"/>
            <a:ext cx="215798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Sam、R&amp;Q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4562856"/>
            <a:ext cx="16550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推案前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29783"/>
            <a:ext cx="4169663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對外使用的 AI 工具與所內政策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5129783"/>
            <a:ext cx="32552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客戶會問用什麼工具、資料去哪裡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5129783"/>
            <a:ext cx="215798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IT、R&amp;Q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5129783"/>
            <a:ext cx="16550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推案前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7607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負責人與期限為提案，以會議決定為準。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接下來：內部確認完成後才定稿客戶版，再約第一場客戶工作坊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2148840" cy="5943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本次會議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03120"/>
            <a:ext cx="2148840" cy="12801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對齊故事線，拍板七件事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429000"/>
            <a:ext cx="2148840" cy="4572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全員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9464" y="1627632"/>
            <a:ext cx="137160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15768" y="1463040"/>
            <a:ext cx="2148840" cy="59436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補證據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2103120"/>
            <a:ext cx="2148840" cy="12801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IT 實績或示範；法遵審清單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5768" y="3429000"/>
            <a:ext cx="2148840" cy="4572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Kenny、法遵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3752" y="1627632"/>
            <a:ext cx="137160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0056" y="1463040"/>
            <a:ext cx="2148840" cy="59436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定價與人力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2103120"/>
            <a:ext cx="2148840" cy="12801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價格區間、負責人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6" y="3429000"/>
            <a:ext cx="2148840" cy="4572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Sam、Luke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78040" y="1627632"/>
            <a:ext cx="137160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4344" y="1463040"/>
            <a:ext cx="2148840" cy="59436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客戶版定稿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24344" y="2103120"/>
            <a:ext cx="2148840" cy="12801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更新第 8、9 頁並人工確認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24344" y="3429000"/>
            <a:ext cx="2148840" cy="4572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BA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82328" y="1627632"/>
            <a:ext cx="137160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28632" y="1463040"/>
            <a:ext cx="2148840" cy="5943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Arial"/>
                <a:ea typeface="微軟正黑體"/>
              </a:rPr>
              <a:t>第一場工作坊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28632" y="2103120"/>
            <a:ext cx="2148840" cy="12801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對齊目標、挑候選試點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8632" y="3429000"/>
            <a:ext cx="2148840" cy="4572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Sam＋團隊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06240"/>
            <a:ext cx="91440" cy="6400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1129284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原則：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客戶資料不放進外部 AI 工具；AI 協助產出的內容對外前一定人工確認；審計客戶推案前先和 R&amp;Q 確認獨立性。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2920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各步驟日期待本次會議決定。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附錄｜同業產品與來源（業者公開資訊）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內部小組會議｜AI 原生軟體開發提案籌備｜AI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73736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Deloitte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325880"/>
            <a:ext cx="420624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Agentic AI Blueprint for Insurance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325880"/>
            <a:ext cx="534924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2"/>
              </a:rPr>
              <a:t>www.deloitte.com 原文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173736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Deloitte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874519"/>
            <a:ext cx="420624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IFRS 17 Regulatory Assist（與 SAS 合作）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874519"/>
            <a:ext cx="534924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3"/>
              </a:rPr>
              <a:t>sas.com 原文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173736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KPMG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423160"/>
            <a:ext cx="420624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IFRS 17 Express, powered by SAS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423160"/>
            <a:ext cx="534924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4"/>
              </a:rPr>
              <a:t>sas.com 原文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71800"/>
            <a:ext cx="173736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Capgemini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971800"/>
            <a:ext cx="420624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Guidewire 生成式 AI／代理工具組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971800"/>
            <a:ext cx="534924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5"/>
              </a:rPr>
              <a:t>www.capgemini.com 原文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20439"/>
            <a:ext cx="173736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520439"/>
            <a:ext cx="420624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EY Nexus for Insurance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520439"/>
            <a:ext cx="534924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6"/>
              </a:rPr>
              <a:t>www.ey.com 原文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69080"/>
            <a:ext cx="173736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McKinsey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069080"/>
            <a:ext cx="420624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代理型 AI 核心現代化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069080"/>
            <a:ext cx="5349240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7"/>
              </a:rPr>
              <a:t>www.mckinsey.com 原文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617720"/>
            <a:ext cx="173736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BCG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4617720"/>
            <a:ext cx="420624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AI-First 產險公司藍圖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4617720"/>
            <a:ext cx="5349240" cy="4937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Arial"/>
                <a:ea typeface="微軟正黑體"/>
                <a:hlinkClick r:id="rId8"/>
              </a:rPr>
              <a:t>www.bcg.com 原文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3035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完整盤點見 research/productization/保險顧問產品化服務盤點.md。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