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admin-setup" TargetMode="External"/><Relationship Id="rId3" Type="http://schemas.openxmlformats.org/officeDocument/2006/relationships/hyperlink" Target="https://code.claude.com/docs/en/settings" TargetMode="External"/><Relationship Id="rId4" Type="http://schemas.openxmlformats.org/officeDocument/2006/relationships/hyperlink" Target="https://code.claude.com/docs/en/permissions" TargetMode="External"/><Relationship Id="rId5" Type="http://schemas.openxmlformats.org/officeDocument/2006/relationships/hyperlink" Target="https://code.claude.com/docs/en/sandboxing" TargetMode="External"/><Relationship Id="rId6" Type="http://schemas.openxmlformats.org/officeDocument/2006/relationships/hyperlink" Target="https://code.claude.com/docs/en/hooks-guide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code.claude.com/docs/en/plugin-marketplaces" TargetMode="External"/><Relationship Id="rId9" Type="http://schemas.openxmlformats.org/officeDocument/2006/relationships/hyperlink" Target="https://code.claude.com/docs/en/managed-mcp" TargetMode="External"/><Relationship Id="rId10" Type="http://schemas.openxmlformats.org/officeDocument/2006/relationships/hyperlink" Target="https://code.claude.com/docs/en/third-party-integrations" TargetMode="External"/><Relationship Id="rId11" Type="http://schemas.openxmlformats.org/officeDocument/2006/relationships/hyperlink" Target="https://code.claude.com/docs/en/monitoring-usage" TargetMode="External"/><Relationship Id="rId12" Type="http://schemas.openxmlformats.org/officeDocument/2006/relationships/hyperlink" Target="https://code.claude.com/docs/en/security" TargetMode="External"/><Relationship Id="rId13" Type="http://schemas.openxmlformats.org/officeDocument/2006/relationships/hyperlink" Target="https://platform.claude.com/docs/en/manage-claude/compliance-ap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原生軟體開發流程：</a:t>
            </a:r>
          </a:p>
          <a:p>
            <a:r>
              <a:rPr sz="28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FSC1｜給管理層與客戶的白話說明｜2026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88720" y="128016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一頁看懂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28016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三句話說清楚：現況、做法、把關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0" y="128016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1837943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883664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為什麼要改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83664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AI 讓寫程式變快，瓶頸移到前後的人工步驟；流程從直線變循環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0" y="1883664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244144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2542032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48716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實際怎麼運作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8716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六個階段對照，以及理賠進度自助查詢從提出到上線的完整範例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98480" y="248716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7–10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720" y="3044951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145536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8720" y="3090672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誰把關、怎麼控制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090672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稽核軌跡、五個人工關卡、事件處理、技能與鉤子等控制機制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0" y="3090672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11–15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648456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48640" y="3749039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3694176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客戶常問、法規與成效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694176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五個常見問題、保險業法規要注意的事，以及每個階段要看的指標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98480" y="3694176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16–19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4251960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48640" y="4352544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29768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怎麼開始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429768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導入順序圖與三步導入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98480" y="429768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20–22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855464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8640" y="4956047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0" y="4901183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PwC FSC1 能提供什麼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4901183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服務模組、教學計畫、人員變革，以及我們做得到的依據與下一步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98480" y="4901183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23–27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88720" y="545896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48640" y="5559551"/>
            <a:ext cx="438912" cy="438912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20" y="550468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翻譯小抄、對客戶的說法、來源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50468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工程用語白話對照、30 秒說法、官方文件連結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98480" y="550468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28–32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88720" y="6062472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一頁看懂：寫程式變快之後，整個開發流程也要跟著改，關鍵決定仍由人來做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寫程式的速度比一年前快很多，但需求、審查、上線還是人工速度，整體交付時間沒有等比例縮短。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404872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15768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532888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532888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把「規劃、設計、開發、測試、上線、維運」串成一個循環。每個階段結束都留下一份檔案，下一個階段從這份檔案接手。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7280" y="3611880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1480" y="3922776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739896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把關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739896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負責起草、檢查與執行。接受需求、核准計畫、核准上線這類需要判斷的決定，一律由指定的人做，而且都有紀錄。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325880"/>
            <a:ext cx="4983480" cy="43891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對客戶的三個好處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1828800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828800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手冊預期，從想法到可執行的需求，可由數週縮短到數小時。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724912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724912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誰提出、AI 產出什麼、誰核准，全部寫在版本紀錄裡，就是現成的稽核軌跡。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621024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3621024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會照做的規則；正式上線前一定要有人授權。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20640"/>
            <a:ext cx="9144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29284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給客戶的一句話：</a:t>
            </a: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為什麼要改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AI 已經讓寫程式變快，為什麼整體交付還是不夠快？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・瓶頸從開發移到需求、審查、上線這些人工步驟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・開發流程從「一條直線」變成「一個循環」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為什麼要改：AI 把「寫程式」縮短到幾小時，等待時間移到了前後的人工步驟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675120" cy="2578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3931920"/>
            <a:ext cx="66751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1「The bottleneck moved」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32588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719072"/>
            <a:ext cx="4480560" cy="2194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上排「Before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過去每個階段都靠人工，其中開發（橘色 Build）最花時間。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下排「After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讓開發縮成一小段，但規劃、設計、測試、上線、維運的長度都沒變。右邊虛線框是「可以拿回來的時間」，要靠流程一起改才拿得到。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93192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圖中英文：Plan 規劃｜Design 設計｜Build 開發｜Test 測試｜Deploy 上線｜Maintain 維運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需求、審查、上線還是人工速度，整體時間被這些步驟卡住。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控制跟不上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逐行人工審查，在人寫程式的年代合理；AI 寫出大部分程式後就追不上。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治理成本上升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例外事項還是要等每週或每月的會議，AI 做得越快，排隊越長。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76672"/>
            <a:ext cx="1138428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資安審查的例子：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資安人力是依人寫程式的產量配置。程式量倍增後，不是審查排隊變長，就是沒審完就上線。受監理的機構兩者都不能接受，所以檢查也必須跟上 AI 的速度。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3–4 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從「一條直線」變成「一個循環」：每一步自動交棒，人在循環上方發起、指揮與把關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253756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5102352"/>
            <a:ext cx="5253756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2「The line and the loop」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5276" y="1325880"/>
            <a:ext cx="5810483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5276" y="1719072"/>
            <a:ext cx="5810483" cy="3337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左邊「Traditional — the line」傳統的直線：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六個階段由不同角色依序負責，靠文件、工單、簽核交接。只要退回一次，就等於重新開始一個版本週期。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右邊「AI-native — the loop」AI 原生的循環：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AI（圖中的 Claude）在中間參與每一個階段。上一步核准的檔案直接觸發下一步，手冊的說法是「以小時計，不是以週計」。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人在循環上方：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人負責發起、指揮與治理，專心看 AI 標出來的重點，不必每一步從頭做起。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白話：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以前是「做完一段、交給下一組人、等簽核」；現在每一段做完就把檔案交出去，下一段立刻接手，人只在關卡上做決定。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5、8–9 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導入之後，一個需求從提出到上線，每一步實際發生什麼事？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・六個階段的新舊做法對照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・理賠進度自助查詢從提出到上線的七個步驟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・手冊範例原文與中文翻譯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六個階段白話對照：做法都變了，但每一步都留下一份下一步能接手的紀錄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877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28016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以前怎麼做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現在怎麼做（AI 原生）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誰拍板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82495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682495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需求要經過多次工作坊與簽核，再由專人寫成文件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82495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提出想法的人直接和 AI 討論，整理成一份需求說明檔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682495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intent.md
需求說明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682495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95728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95728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分析師寫需求，設計師再轉成設計，兩組人分開做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395728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依需求說明一次產出需求與設計規格，套用資安、法遵、品牌規範，並標出疑慮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395728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spec.md
規格書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239572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08960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工程師讀完設計就寫程式，做法只在自己腦中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60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先寫實作計畫，工程師修正、核准後才動手；團隊慣例寫成 AI 每次都會讀的說明檔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3108960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plan.md 實作計畫
程式與測試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0" y="310896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22191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822191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階段結束才由 QA 把關，問題很晚才發現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822191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每改一次就自己跑測試，通過才交給人；AI 的設定改了，也要重跑評測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822191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測試結果
建置紀錄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3822191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535424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535424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每一行程式都由人審，品質看審查者忙不忙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535424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先做多輪審查並排出嚴重度，人專注判斷意圖與風險；正式上線一定要人授權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4535424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 審查紀錄
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4535424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48656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5880" y="5248656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人盯著系統，事件常被擱置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248656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監控程式發現異常才請 AI 診斷，結果寫成新的需求說明，重新進入循環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5248656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
新的 intent.md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5248656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6 頁「The shifts」及各階段說明。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實際走一遍（手冊範例）：「理賠進度自助查詢」從客服痛點到上線的七個步驟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理賠作業人員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向 AI 描述問題：客戶常打電話問理賠進度，約三分之一通話時間花在查進度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intent.md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938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911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檢查並修正 AI 整理的需求說明，決定是否接受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7015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AI＋產品負責人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產出規格並套用資安規範（入口網站不新增個資）；疑慮交給規範負責人處理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spec.md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84648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工程師＋AI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4376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寫實作計畫：改哪些檔案、順序、風險（核心系統每秒 50 次請求上限，要加快取）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4376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plan.md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1325880"/>
            <a:ext cx="1572768" cy="77724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照計畫寫程式並自己跑測試，四種理賠狀態都要通過，畫面截圖比對設計稿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程式＋測試結果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39912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 審查＋人核准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依審查規則查錯誤、資安、合規；程式負責人核准合併；發布經理授權上線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06754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77272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監控＋AI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727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先診斷，必要時執行事先演練的回復，寫成新的需求說明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7727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709160"/>
            <a:ext cx="1138428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 的觀察：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整個過程中，人做了三件事：說清楚問題（第 1 步）、決定要不要做（第 2 步）、決定能不能上線（第 6 步）。其餘起草、計畫、寫程式、測試、初審都由 AI 先做，再交給人看。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深橘為人做決定的步驟。數字（三分之一通話時間、每秒 50 次）為手冊示例，非實際客戶資料。來源：Anthropic《The AI-Native SDLC Playbook》，第 12–20、48–52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手冊範例原文：需求說明與實作計畫長什麼樣子（附中文翻譯）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需求說明（intent.md）：理賠部門同仁和 AI 討論後產出</a:t>
            </a:r>
          </a:p>
        </p:txBody>
      </p:sp>
      <p:pic>
        <p:nvPicPr>
          <p:cNvPr id="8" name="Picture 7" descr="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38" y="1719072"/>
            <a:ext cx="4592403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標題：理賠進度自助查詢｜提出者：理賠作業 J. Ortiz｜狀態：草稿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問題：客戶打電話問理賠進度，處理人員約三分之一通話時間只在回答進度。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期望結果：客戶在網站上看到理賠狀態、下一步與預計日期。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影響對象：理賠人員、網站團隊、理賠核心系統 API。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限制：網站不新增個資，只用現有登入方式。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待釐清：外部理賠公估人是否也需要使用？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實作計畫（plan.md）：工程師核准後才開始寫程式</a:t>
            </a:r>
          </a:p>
        </p:txBody>
      </p:sp>
      <p:pic>
        <p:nvPicPr>
          <p:cNvPr id="11" name="Picture 10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379" y="1719072"/>
            <a:ext cx="4886640" cy="2697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標題：理賠進度自助查詢（依 2026-06-02 的需求說明）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要改的檔案：網站理賠狀態面板（新增）、理賠 API 路由與測試。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軟正黑體"/>
                <a:ea typeface="微軟正黑體"/>
              </a:rPr>
              <a:t>工作順序：① 在現有驗證下新增狀態 API　② 面板串接 API　③ 放進網站選單。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風險：理賠核心 API 每秒最多 50 次請求，面板必須做快取。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完成證明：測試涵蓋四種理賠狀態；畫面截圖與核准的設計稿一致。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第 13、20 頁。兩份檔案都是一般文字，產品負責人和 AI 都能直接閱讀與修改；內容為手冊示例，非客戶資料。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誰把關、</a:t>
            </a:r>
          </a:p>
          <a:p>
            <a:r>
              <a:rPr sz="3000">
                <a:latin typeface="Georgia"/>
                <a:ea typeface="微軟正黑體"/>
              </a:rPr>
              <a:t>怎麼控制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AI 做了這麼多事，出事誰負責？怎麼確保不會失控？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・每一步留下的紀錄如何串成稽核軌跡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・五個一定由人決定的關卡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・上線後出事時 AI 與人怎麼分工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・技能、鉤子等控制機制的白話說明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每一步都留下紀錄：串起來就是一條完整的稽核軌跡，回答「誰要了什麼、誰核准」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intent.md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誰提出、什麼時候、要解決什麼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spec.md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套用了哪些規範、哪些疑慮怎麼處理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50791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plan.md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誰核准了做法與風險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程式＋測試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改動本身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改了什麼、測試是否通過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PR 審查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審查紀錄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找到什麼、人怎麼決定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81151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126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事件紀錄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維運紀錄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發生什麼、怎麼處理、學到什麼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752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已經有 Jira、ServiceNow 或需求管理系統，怎麼辦？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以程式庫為準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47472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需求說明、規格等檔案是正式紀錄，舊系統放連結。一個工具、一個時間戳記，最乾淨。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9768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以現有系統為準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9768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Jira 等系統是正式紀錄，AI 開工時讀取、做完寫回；檔案只是工作副本。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20640"/>
            <a:ext cx="2103120" cy="7498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至少互相連結（起步建議）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12064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檔案記下工單編號，工單記下檔案版本號。接受兩個來源並存，先讓兩邊能對上。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5321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稽核時可以直接回答的三個問題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63016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347472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誰要求了什麼？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需求說明檔的作者、時間與修改歷程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44531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429768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產出了什麼？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規格、計畫、程式與測試結果，以及當時套用的規範版本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512064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誰核准？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每個關卡的核准人與時間，記在合併與審查紀錄中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不需要汰換現有系統，重點是每一種紀錄都說清楚「以哪個系統為準」。來源：Anthropic《The AI-Native SDLC Playbook》，第 6–7、22 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人在哪裡把關：五個關鍵決定由指定的人做，AI 寫的程式不能自己核准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決定什麼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怎麼確保一定經過這一關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82495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5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這個想法值不值得做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82495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接受或關閉需求說明，留下紀錄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395728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95728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規格有沒有解決原本的問題，標出的疑慮是否已找規範負責人處理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395728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108960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工程師（高風險找技術主管或架構師）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108960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要怎麼改、最大的風險在哪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108960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計畫模式下，核准前 AI 不能修改任何檔案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1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822191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22191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改動是否符合原意、風險能否接受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822191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分支保護：沒有程式負責人核准就不能合併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35424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535424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535424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能不能進入正式環境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535424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上線閘門：沒有授權，上線指令會被擋下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5780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上線後出事怎麼辦：AI 在事件頻道當第一線回應，但「要不要回復」由人說了算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035040" cy="29777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349388"/>
            <a:ext cx="60350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4「A first responder in the incident channel」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325880"/>
            <a:ext cx="5074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對話中文翻譯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37360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22:04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結帳頁的 5xx 錯誤率從 21:40 上版後一直上升，@claude 幫忙看一下？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2523744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22:07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處理中，正在比對錯誤特徵與這次上版的差異。原因看起來是新的快取鍵漏掉了租戶 ID。今天早上已在測試環境演練過回復，要執行嗎？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3310128"/>
            <a:ext cx="507492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22:08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執行。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096512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22:12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已回復。5xx 錯誤率回到正常範圍，事後檢討已寫入 lessons/2026-06-checkout-cache.md。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83480"/>
            <a:ext cx="11384280" cy="10058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重點：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先診斷原因並提出建議，但只有工程師回覆「執行」之後才回復上一版。請求、診斷、人的授權、處理結果都留在同一個頻道，頻道本身就是稽核軌跡；事後檢討寫成檔案，下次遇到類似事件可以直接參考。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Claude Tag 在手冊撰寫時為 Slack 上的公開測試版，對客戶說明前先確認現況。來源：Anthropic《The AI-Native SDLC Playbook》，第 52 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控制機制白話版：規範手冊讓 AI 照著做，自動閘門讓違規做不到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會讀的公司規範手冊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資安、API、品牌規範寫成檔案，AI 寫程式時自動套用。規範改了，大家下一次使用就是新版。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建議性：讓違規變少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鉤子（Hook）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動作前的自動閘門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每個動作前先檢查，可以放行、要求核准或擋下。例如沒有變更單不能改基礎設施，修錯時不能改測試。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強制性：讓違規幾乎做不到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集中管理設定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IT 統一鎖定的規則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禁止讀取密碼與金鑰檔、限制可連的網站、只用公司核准的外掛。工程師無法自行關閉。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由 IT 管理，個人改不動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分環境授權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環境越重要，AI 權限越小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開發環境 AI 可以自由部署；正式環境由 AI 準備、發布經理授權。退回上一版是最常演練的流程。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正式環境一定要人授權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手冊原話：技能讓違規變少，鉤子讓違規幾乎不可能。來源：Anthropic《The AI-Native SDLC Playbook》，第 25–27、40–46 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客戶常問、</a:t>
            </a:r>
          </a:p>
          <a:p>
            <a:r>
              <a:rPr sz="3000">
                <a:latin typeface="Georgia"/>
                <a:ea typeface="微軟正黑體"/>
              </a:rPr>
              <a:t>法規與成效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導入前會被問到哪些問題？保險業法規怎麼處理？怎麼證明有效？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・五個常見問題與回答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・委外辦法、雲端與 AI 自律規範的要點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・每個階段要量測的指標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客戶最常問的五個問題，以及可以怎麼回答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8421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82495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82495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只能走核准過的路徑。正式上線一定要指定的人授權，每一次放行或阻擋都有時間戳記。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42032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42032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每個需要判斷的決定都由人做，並記在版本紀錄中。寫程式的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01568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會和現有 Jira、變更管理衝突嗎？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401568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不需要汰換。每種紀錄指定一個「以誰為準」的系統，其他系統放連結；起步可先做互相連結。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61104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261104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讀取金鑰與機密檔、限制對外連線、在隔離環境執行。也可透過 AWS Bedrock、Google Vertex 或 Microsoft Foundry 使用，留在公司既有的雲端合約內。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120640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5120640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用版本紀錄與 CI 系統本來就有的資料量測，例如需求定稿時間、第一次就通過測試的比例、審查等待時間、上線失敗率。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保險業的委外與 AI 自律規範要點見下一頁。來源：Anthropic《The AI-Native SDLC Playbook》，第 22、37、41–46 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保險業要先想清楚的法規：用外部 AI 工具處理程式與需求，可能涉及委外，導入前就要規劃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法規或規範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28016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80160"/>
            <a:ext cx="3118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對這套流程的意思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15400" y="1280160"/>
            <a:ext cx="2843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這套流程裡對應的做法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《保險業作業委託他人處理內部作業制度及程序辦法》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682495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2025-12-31 施行，取代原注意事項，屬法規命令，違反可處罰鍰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682495"/>
            <a:ext cx="3118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程式碼與需求文件交給外部 AI 模型處理，可能屬於作業委外，需判斷是否要申報與納入委外管理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82495"/>
            <a:ext cx="284378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集中管理設定限制 AI 能讀的範圍；可走 AWS Bedrock、Google Vertex、Microsoft Foundry 等既有雲端合約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55117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《保險業作業委外使用雲端服務自律規範》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255117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壽險、產險公會訂定，2026-06 修正後經金管會備查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2551176"/>
            <a:ext cx="3118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服務若架在雲端，雲端業者的管理與查核安排要一併處理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2551176"/>
            <a:ext cx="284378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沙箱隔離、禁止讀取金鑰與機密檔、只用公司核准的外掛，並保留查核所需紀錄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19856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《保險業運用人工智慧系統自律規範》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341985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2025-04-10 經金管會同意備查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3419856"/>
            <a:ext cx="3118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保險公司對 AI 系統的結果負最終責任，不能因外包或人工覆核轉嫁；要納入 AI 清冊與風險管理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400" y="3419856"/>
            <a:ext cx="284378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五個人工關卡與職責分離；每一步的版本紀錄就是可提供的佐證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金管會《金融業運用 AI 指引》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28853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2024-06 發布，六大原則、四個生命週期階段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4288536"/>
            <a:ext cx="3118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治理與問責、透明可解釋、系統穩健與安全等原則都要有對應做法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4288536"/>
            <a:ext cx="284378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技能寫入規範、鉤子強制執行、評測確保品質不退步、監控紀錄完整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12080"/>
            <a:ext cx="1138428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我們在現況診斷時會一起做：</a:t>
            </a: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判斷是否屬作業委外、是否需申報　② 雲端與 AI 業者的查核安排　③ 把 AI 工具登錄進 AI 清冊　④ 資料分級：哪些程式庫與文件可以給 AI 讀、哪些不行。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是否屬委外、是否需申報須依客戶個案與實際架構判斷，並與客戶法遵確認；本頁為導入規劃重點，非法律意見。法規日期依公開資料整理。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怎麼衡量成效：數據大多已經在版本紀錄和 CI 系統裡，不需要另外填表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28016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先看（領先指標）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280160"/>
            <a:ext cx="4764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後看（落後指標）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1682495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從第一次討論到需求說明定稿的時間（手冊預期由數週降到數小時）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1682495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被接受、進入設計的需求比例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286000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需求說明到規格定稿的時間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2286000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89504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889504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89504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每個改動的返工次數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93008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493008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493008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 PR 的審查時間、上線失敗率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96512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096512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第一次審查的等待時間（目標降到分鐘級）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96512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合併前抓到的缺陷，對比上線後才發現的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700016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700016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異常發生到寫成需求說明的時間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160" y="4700016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13248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試點前先記下現況基準，試點後用同一套指標比較，對外只引用自己量到的數字。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整體交付績效可再搭配業界常用的 DORA 指標（部署頻率、交付時間、變更失敗率、復原時間）。來源：Anthropic《The AI-Native SDLC Playbook》，各階段「How to measure it」。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怎麼開始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第一步做什麼？哪些可以先做、哪些要等前面完成？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・導入順序圖：哪些項目不需要前置條件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・三步導入，以及第一個試點怎麼挑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導入順序圖：橘色項目不需要任何前置條件，可以先做；箭頭代表誰要先於誰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mb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498079" cy="2826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198024"/>
            <a:ext cx="749807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3「The play dependency graph」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325880"/>
            <a:ext cx="3611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圖中方塊中文對照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73736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Capture intent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12680" y="173736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記錄需求（需求說明）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07568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12680" y="207568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需求與設計規格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14015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2414015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技能（規範手冊）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752344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CLAUDE.md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12680" y="2752344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團隊說明檔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309067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Subagents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309067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子代理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42900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Plan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342900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計畫模式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3767327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Evals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3767327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持續評測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4105656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Feedback loop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4105656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自我驗證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4443983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PR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443983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PR 審查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78231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478231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自動化流水線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512064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Hooks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12680" y="512064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鉤子（自動閘門）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545896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Closing the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545896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閉環維運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572000"/>
            <a:ext cx="7498079" cy="14173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怎麼讀：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圖由左到右分成規劃、設計、開發、測試、上線、維運六欄。橘色方塊是入口，不需要先做任何事就能開始；實線箭頭表示「A 要先於 B」；虛線表示「有幫助但不是必要」。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例如：PR 審查要等團隊說明檔與技能到位，閉環維運則要等審查、鉤子與 CI/CD 都準備好，所以放在最後。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8–9 頁。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怎麼開始：先做不需要前置條件的項目，再一步一步把循環接起來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第一步｜先做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不需要任何前置條件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・需求說明範本（intent.md）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・團隊說明檔（CLAUDE.md）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・把一條常被漏掉的規範寫成技能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・讓 AI 自己跑測試再交件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・用鉤子守住現有的核准關卡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41648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61188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第二步｜串起來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以第一步為基礎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・設計規格由 AI 起草、人審核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・計畫模式成為開發的起點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參與 PR 審查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設定變更要跑持續評測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5863" y="1325880"/>
            <a:ext cx="361188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第三步｜自動化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關卡都到位之後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進入 CI/CD（先唯讀，再寫入）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・監控觸發 AI 診斷，結果回到規劃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・事件頻道裡由 AI 擔任第一線回應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1138428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第一個試點怎麼挑：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依手冊建議，挑「規格清楚、影響範圍小、已經有測試覆蓋」的日常工作。先用人工逐步帶著 AI 做，關卡穩定後，再讓核准過的檔案自動觸發下一步。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提醒：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自動化要在核准關卡都到位之後才做，否則只是讓沒把關的東西更快上線。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各項目的先後順序見上一頁導入順序圖。來源：Anthropic《The AI-Native SDLC Playbook》，第 8–9、21、44 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PwC FSC1</a:t>
            </a:r>
          </a:p>
          <a:p>
            <a:r>
              <a:rPr sz="3000">
                <a:latin typeface="Georgia"/>
                <a:ea typeface="微軟正黑體"/>
              </a:rPr>
              <a:t>能提供什麼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06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我們能幫客戶做什麼、教什麼？憑什麼做得到？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・四個服務模組與交付成果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・五種角色的教學計畫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・人員變革與阻力處理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・實作成果、客戶好處與下一步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PwC FSC1 能提供什麼：四個服務模組，從診斷、規範設計、陪跑教學到量測擴大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①　現況診斷與導入藍圖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盤點客戶六個階段的審查、核准與交接方式，找出真正卡住的地方；對照手冊的導入順序圖排出先後，挑出第一個試點。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瓶頸地圖、導入藍圖、試點選擇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②　規範與控制設計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把客戶的資安、法遵、品牌規範寫成 AI 會照做的技能；把必須守住的核准關卡寫成鉤子；設計集中管理設定、分環境授權，以及和既有 Jira、變更管理的對接方式。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技能庫、鉤子清單、管理設定、紀錄對接方案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③　試點陪跑與教學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用客戶一個真實需求，帶團隊走完需求說明、規格、計畫、開發測試、審查上線、上線後監看；過程中建立團隊說明檔與審查規則，同步教會每個角色。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完成的試點、團隊說明檔、審查規則、教材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7112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5128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④　量測與擴大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試點前後用同一套指標比較，數字站得住再擴大到更多團隊，逐步接上 CI/CD 與閉環維運；需要時由 FSC1 人力駐點支援。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成效報告、擴大路線圖、駐點支援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49240"/>
            <a:ext cx="1138428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對應手冊：</a:t>
            </a: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對應導入順序圖與試點選擇；② 對應技能、鉤子、集中管理設定；③ 對應規劃到上線的六個階段；④ 對應各階段的量測指標與閉環維運。客戶可以只買其中一段，也可以從 ① 一路做到 ④。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服務內容依本簡報與手冊整理；期程與報價依客戶範圍另行提出。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教學計畫：不同角色學不同的東西，每一堂課都用客戶自己的需求實際操作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112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對象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28016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28016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上課方式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280160"/>
            <a:ext cx="2798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學完能做到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82495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這套流程怎麼運作、人在哪裡把關、怎麼看成效指標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682495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概念說明＋決策演練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82495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能判斷要不要導入、從哪裡開始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14015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產品負責人／業務單位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2414015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用自己的話和 AI 討論需求、寫出需求說明，審核 AI 起草的規格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414015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414015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能獨立產出一份可交給工程團隊的需求說明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工程師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14553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計畫模式、團隊說明檔、技能、鉤子、平行工作階段、讓 AI 自己驗證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14553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實作工作坊＋試點陪跑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314553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能用計畫模式完成一個改動，並建立團隊說明檔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77056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資安、法遵、稽核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3877056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技能與鉤子如何成為控制、稽核軌跡去哪裡查、誰核准了什麼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87705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控制設計工作坊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877056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能把一條規範寫成技能，知道怎麼查核紀錄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0857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平台／IT 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60857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集中管理設定、沙箱、權限、CI/CD 串接、監控與成本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60857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技術設定工作坊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460857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能為全公司下發一致的設定與核准關卡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教學原則：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不用通用範例上課。每個角色都拿客戶自己的一個需求、自己的一條規範實際做一次，課程結束時試點已經往前推進。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各角色內容對應手冊各階段的「Getting started」與「How to execute it」。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人的變化：每個角色的工作重心都會移動，阻力要事先處理，工具才用得起來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3803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以前的重心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80160"/>
            <a:ext cx="5769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之後的重心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1682495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親手寫需求文件、反覆開會釐清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682495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和 AI 討論需求，審核 AI 起草的規格，專心判斷「要不要做」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49424"/>
            <a:ext cx="1700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工程師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2249424"/>
            <a:ext cx="38039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自己一行行寫程式，一次處理一件事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249424"/>
            <a:ext cx="5769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先和 AI 定好計畫再動手，同時指揮幾個 AI 工作，重心在設計與審查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16352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測試與 QA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816352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階段結束才集中測試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816352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設計評測與測試，讓 AI 每次改動都自己驗證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83279"/>
            <a:ext cx="1700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程式審查者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3383279"/>
            <a:ext cx="38039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逐行看每一行程式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383279"/>
            <a:ext cx="5769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先查錯誤與資安，人專心判斷意圖與風險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50208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資安與法遵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950208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事後審查、開會處理例外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950208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把規範寫成技能、把關卡寫成鉤子，事前就套用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2628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常見的阻力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52628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我們的處理方式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19472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「我的價值被 AI 拿走了」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016752" y="5001768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919472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資深工程師主導團隊說明檔與審查規則，經驗變成整個團隊都用得到的規則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303520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「AI 寫的東西不可信」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16752" y="5385816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5303520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測試先行、AI 自己驗證、人工關卡把關，用第一次通過率等數字說話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687568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「又多一套工具要學」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16752" y="5769864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687568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從不需前置條件的項目開始，沿用 Jira 與現有流程，不一次全換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角色變化依手冊各階段的「Traditional／AI-native」對照整理；阻力處理為導入建議。試點建議找自願的團隊，並公開分享量到的成果。來源：Anthropic《The AI-Native SDLC Playbook》。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 PwC FSC1：我們已經實際做出成果，並且熟悉保險業務與治理要求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我們已經做出來的成果（請 IT 團隊填寫）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01952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37360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已經做出來的系統或工具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團隊填寫】名稱、給誰用、解決了什麼問題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743200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78608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用了手冊的哪些做法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團隊填寫】例如計畫模式、團隊說明檔、技能、鉤子、AI 審查、CI/CD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84448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419856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量到的成效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微軟正黑體"/>
                <a:ea typeface="微軟正黑體"/>
              </a:rPr>
              <a:t>【IT 團隊填寫】導入前 → 導入後，例如需求定稿時間、審查等待時間、上線失敗率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425696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61104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可以現場示範的內容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團隊填寫】示範哪一段流程、需要多久、需要什麼環境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客戶得到的好處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試點直接用你的業務情境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FSC1 熟悉理賠、核保、核心系統與 IFRS 17，不必從頭解釋業務，第一個試點就能選你們真正在痛的流程。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578608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金檢時拿得出紀錄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我們把你的控制目標寫成技能與鉤子，接上 AI 清冊；金管會或內稽來查時，誰要求、誰核准、AI 做了什麼都有紀錄。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419856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管理層、業務、IT 聽同一套說法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BA 把工程語言翻成管理層與業務單位聽得懂的話，決策不會卡在溝通。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261104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不是交一份報告就走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試點之後可由 FSC1 駐點核心系統、數據與 AI 治理人力，把流程真正留在你的團隊裡。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193792"/>
            <a:ext cx="11384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下一步：</a:t>
            </a: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① 30 分鐘現場示範：用客戶提供的一個需求，示範從需求說明到實作計畫。② 現況診斷。③ 選定試點、開始陪跑。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填寫提醒：</a:t>
            </a: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左欄只放實際做出來、可以現場展示的成果；數字用實際量到的；不放客戶名稱與機密資料。填寫表見 IT團隊實績填寫表.md。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客戶若同時是所內審計客戶，推案前先與 Risk &amp; Quality 確認獨立性。左欄填好之前，這一頁不對外使用。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附錄：翻譯小抄、</a:t>
            </a:r>
          </a:p>
          <a:p>
            <a:r>
              <a:rPr sz="3000">
                <a:latin typeface="Georgia"/>
                <a:ea typeface="微軟正黑體"/>
              </a:rPr>
              <a:t>對客戶的說法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聽到工程用語時怎麼翻成白話？要對客戶開口時怎麼說？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・22 個工程用語的白話對照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・30 秒版本、可以強調與要避免的說法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・官方文件連結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翻譯小抄（1／2）：工程團隊常用詞，對管理層和客戶可以這樣說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SDLC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軟體從想法到上線、再到維護的整套流程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intent.md（需求說明）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提出者用自己的話寫下：要什麼、為什麼、有什麼限制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spec.md（規格書）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依需求說明和公司規範起草，人負責審核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plan.md（實作計畫）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要改哪些地方、順序、風險、怎麼證明完成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CLAUDE.md（團隊說明檔）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新進同仁第一天要知道的事，AI 每次開工都先讀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Skill（技能）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會自動套用的公司規範手冊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Hook（鉤子）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動作前的自動檢查站：放行、詢問或擋下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 mode（計畫模式）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只能讀不能改，等人核准計畫才動手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Auto mode（自動模式）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計畫核准後，AI 不必每改一處都問人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PR（Pull request）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改動送審單：附上改了什麼、測試結果，等人核准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Code review（程式審查）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先查錯誤與資安，人判斷意圖與風險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翻譯小抄（2／2）：工程團隊常用詞，對管理層和客戶可以這樣說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自動建置、測試、部署的流水線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Eval（評測）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用一組真實任務考 AI，確認換模型或改設定後品質沒有退步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Worktree／平行工作階段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一位工程師同時開幾個 AI 分頭做不同工作，彼此不干擾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Subagent（子代理）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專做一件事的小幫手，例如驗證程式能不能正常執行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讓 AI 安全連接其他系統（Jira、部署工具）的標準介面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Sandbox（沙箱）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隔離環境：AI 在裡面執行，碰不到不該碰的檔案和網路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Managed settings（集中管理設定）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統一下發、工程師不能改的設定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Control band（σ）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指標的正常波動範圍，超出越多，AI 能做的處理越多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Rollback（回復）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一個指令退回上一版，平時就要演練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DORA 指標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業界常用的交付績效指標：部署頻率、交付時間、變更失敗率、復原時間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OpenTelemetry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 AI 每個動作記錄下來、送到監控系統的標準格式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對客戶怎麼講：30 秒版本、可以強調的重點，以及要避免的說法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30 秒版本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384280" cy="1051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「現在 AI 寫程式很快，但如果需求、審查、上線還照舊，整體不會快多少。我們協助你把開發流程重新設計：AI 參與每一步，每一步都留下紀錄，關鍵決定仍由你的人做。先從一個小系統試，用你們既有的版本紀錄和 CI 數據量測成效。」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5532120" cy="38404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可以強調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5532120" cy="2606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・每一步都有紀錄，稽核時可以直接調出來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・寫程式的 AI 不能核准自己的程式，職責分離不變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・可沿用現有的 Jira、ServiceNow 與變更管理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・從不需要前置條件的項目開始，風險小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・正式上線一定要指定的人授權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926080"/>
            <a:ext cx="553212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避免的說法 → 改成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64992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會取代工程師」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5360" y="3557016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3364992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工程師的工作轉為規劃、指揮與審查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「以後不用人審了」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595360" y="4215384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023360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人審集中在高風險與受監理的程式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81728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「保證從數週變數小時」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4873752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681728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手冊預期可大幅縮短，實際以試點量測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5340096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會自己上線」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595360" y="5532120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5340096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只做到上線前，授權一定由人來做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確認獨立性；客戶資料不放進任何外部 AI 工具試用。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來源與延伸閱讀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主要來源：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Claxton（Anthropic），《The AI-Native SDLC Playbook》，2026。本簡報的流程、範例與控制機制皆整理自該手冊，並改寫為白話中文。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手冊列出的官方文件（依導入順序，可點擊）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組織導入總覽（先看這份）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設定與優先順序（含集中管理設定）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權限設定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沙箱：檔案與網路隔離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鉤子（Hooks）指南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技能（Skills）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外掛與私有市集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集中管理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企業部署：Bedrock、Vertex、Foundry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監控（OpenTelemetry）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安全模型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合規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連結取自手冊第 54 頁；本工作環境無法開啟網頁，使用前請點開確認。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