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code.claude.com/docs/en/admin-setup" TargetMode="External"/><Relationship Id="rId3" Type="http://schemas.openxmlformats.org/officeDocument/2006/relationships/hyperlink" Target="https://code.claude.com/docs/en/settings" TargetMode="External"/><Relationship Id="rId4" Type="http://schemas.openxmlformats.org/officeDocument/2006/relationships/hyperlink" Target="https://code.claude.com/docs/en/permissions" TargetMode="External"/><Relationship Id="rId5" Type="http://schemas.openxmlformats.org/officeDocument/2006/relationships/hyperlink" Target="https://code.claude.com/docs/en/sandboxing" TargetMode="External"/><Relationship Id="rId6" Type="http://schemas.openxmlformats.org/officeDocument/2006/relationships/hyperlink" Target="https://code.claude.com/docs/en/hooks-guide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code.claude.com/docs/en/plugin-marketplaces" TargetMode="External"/><Relationship Id="rId9" Type="http://schemas.openxmlformats.org/officeDocument/2006/relationships/hyperlink" Target="https://code.claude.com/docs/en/managed-mcp" TargetMode="External"/><Relationship Id="rId10" Type="http://schemas.openxmlformats.org/officeDocument/2006/relationships/hyperlink" Target="https://code.claude.com/docs/en/third-party-integrations" TargetMode="External"/><Relationship Id="rId11" Type="http://schemas.openxmlformats.org/officeDocument/2006/relationships/hyperlink" Target="https://code.claude.com/docs/en/monitoring-usage" TargetMode="External"/><Relationship Id="rId12" Type="http://schemas.openxmlformats.org/officeDocument/2006/relationships/hyperlink" Target="https://code.claude.com/docs/en/security" TargetMode="External"/><Relationship Id="rId13" Type="http://schemas.openxmlformats.org/officeDocument/2006/relationships/hyperlink" Target="https://platform.claude.com/docs/en/manage-claude/compliance-ap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原生軟體開發流程：</a:t>
            </a:r>
          </a:p>
          <a:p>
            <a:r>
              <a:rPr sz="2800">
                <a:latin typeface="Georgia"/>
                <a:ea typeface="微軟正黑體"/>
              </a:rPr>
              <a:t>實際怎麼運作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FSC1｜給管理層與客戶的白話說明｜2026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一頁看懂：寫程式變快之後，整個開發流程也要跟著改，關鍵決定仍由人來做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1480" y="150876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325880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現況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325880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寫程式的速度比一年前快很多，但需求、審查、上線還是人工速度，整體交付時間沒有等比例縮短。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2404872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11480" y="2715768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532888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做法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532888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把「規劃、設計、開發、測試、上線、維運」串成一個循環。每個階段結束都留下一份檔案，下一個階段從這份檔案接手。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97280" y="3611880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11480" y="3922776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739896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把關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739896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負責起草、檢查與執行。接受需求、核准計畫、核准上線這類需要判斷的決定，一律由指定的人做，而且都有紀錄。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2280" y="1325880"/>
            <a:ext cx="4983480" cy="43891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對客戶的三個好處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1828800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更快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828800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手冊預期，從想法到可執行的需求，可由數週縮短到數小時。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724912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查得到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2724912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誰提出、AI 產出什麼、誰核准，全部寫在版本紀錄裡，就是現成的稽核軌跡。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3621024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守得住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3621024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公司規範寫成 AI 會照做的規則；正式上線前一定要有人授權。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120640"/>
            <a:ext cx="9144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29284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給客戶的一句話：</a:t>
            </a: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「AI 幫你把每一步做得更快，每一步也都留下紀錄；要不要上線，永遠由你的人決定。」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3–7 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為什麼要改：AI 把「寫程式」縮短到幾小時，等待時間移到了前後的人工步驟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1338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95959"/>
                </a:solidFill>
                <a:latin typeface="Arial"/>
                <a:ea typeface="微軟正黑體"/>
              </a:rPr>
              <a:t>過去：每個階段都是人工速度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00784"/>
            <a:ext cx="114300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700784"/>
            <a:ext cx="132588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1700784"/>
            <a:ext cx="3520440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700784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700784"/>
            <a:ext cx="114300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1700784"/>
            <a:ext cx="114300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23160"/>
            <a:ext cx="11338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95959"/>
                </a:solidFill>
                <a:latin typeface="Arial"/>
                <a:ea typeface="微軟正黑體"/>
              </a:rPr>
              <a:t>現在：開發縮短，其他階段沒變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52344"/>
            <a:ext cx="114300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00200" y="2752344"/>
            <a:ext cx="132588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752344"/>
            <a:ext cx="594359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752344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2752344"/>
            <a:ext cx="114300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752344"/>
            <a:ext cx="114300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2752344"/>
            <a:ext cx="2926079" cy="475488"/>
          </a:xfrm>
          <a:prstGeom prst="rect">
            <a:avLst/>
          </a:prstGeom>
          <a:noFill/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D5108"/>
                </a:solidFill>
                <a:latin typeface="Arial"/>
                <a:ea typeface="微軟正黑體"/>
              </a:rPr>
              <a:t>省下的時間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20440"/>
            <a:ext cx="113385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開發縮短之後，會出現三個問題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395020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931920"/>
            <a:ext cx="3108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瓶頸移位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462272"/>
            <a:ext cx="365760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需求、審查、上線還是人工速度，整體時間被這些步驟卡住。</a:t>
            </a:r>
          </a:p>
        </p:txBody>
      </p:sp>
      <p:sp>
        <p:nvSpPr>
          <p:cNvPr id="26" name="Oval 25"/>
          <p:cNvSpPr/>
          <p:nvPr/>
        </p:nvSpPr>
        <p:spPr>
          <a:xfrm>
            <a:off x="4233672" y="395020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3931920"/>
            <a:ext cx="3108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控制跟不上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33672" y="4462272"/>
            <a:ext cx="365760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逐行人工審查，在人寫程式的年代合理；AI 寫出大部分程式後就追不上。</a:t>
            </a:r>
          </a:p>
        </p:txBody>
      </p:sp>
      <p:sp>
        <p:nvSpPr>
          <p:cNvPr id="29" name="Oval 28"/>
          <p:cNvSpPr/>
          <p:nvPr/>
        </p:nvSpPr>
        <p:spPr>
          <a:xfrm>
            <a:off x="8055863" y="395020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04503" y="3931920"/>
            <a:ext cx="3108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治理成本上升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5863" y="4462272"/>
            <a:ext cx="365760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例外事項還是要等每週或每月的會議，AI 做得越快，排隊越長。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440680"/>
            <a:ext cx="11384280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資安審查的例子：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資安人力是依人寫程式的產量配置。程式量倍增後，不是審查排隊變長，就是沒審完就上線。受監理的機構兩者都不能接受，所以檢查也必須跟上 AI 的速度。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長條長度為示意，非實測比例。來源：Anthropic《The AI-Native SDLC Playbook》，第 3–4 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從「一條直線」變成「一個循環」：每一步自動交棒，人在循環上方發起、指揮與把關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420624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傳統：一條直線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83080"/>
            <a:ext cx="1554480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9" name="Down Arrow 8"/>
          <p:cNvSpPr/>
          <p:nvPr/>
        </p:nvSpPr>
        <p:spPr>
          <a:xfrm>
            <a:off x="1536192" y="2212848"/>
            <a:ext cx="201168" cy="128016"/>
          </a:xfrm>
          <a:prstGeom prst="downArrow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350008"/>
            <a:ext cx="1554480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536192" y="2779776"/>
            <a:ext cx="201168" cy="128016"/>
          </a:xfrm>
          <a:prstGeom prst="downArrow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916936"/>
            <a:ext cx="1554480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536192" y="3346704"/>
            <a:ext cx="201168" cy="128016"/>
          </a:xfrm>
          <a:prstGeom prst="downArrow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483863"/>
            <a:ext cx="1554480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536192" y="3913631"/>
            <a:ext cx="201168" cy="128016"/>
          </a:xfrm>
          <a:prstGeom prst="downArrow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4050791"/>
            <a:ext cx="1554480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536192" y="4480559"/>
            <a:ext cx="201168" cy="128016"/>
          </a:xfrm>
          <a:prstGeom prst="downArrow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4617720"/>
            <a:ext cx="1554480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1783080"/>
            <a:ext cx="2057400" cy="3246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每個階段由不同角色負責：產品經理寫需求、架構師做設計、工程師開發、QA 測試、發布團隊上線、維運團隊監看。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階段之間靠文件、工單、簽核交接。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退回一次，就是一個新的版本週期。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80" y="1280160"/>
            <a:ext cx="681228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AI 原生：一個循環</a:t>
            </a:r>
          </a:p>
        </p:txBody>
      </p:sp>
      <p:sp>
        <p:nvSpPr>
          <p:cNvPr id="21" name="Oval 20"/>
          <p:cNvSpPr/>
          <p:nvPr/>
        </p:nvSpPr>
        <p:spPr>
          <a:xfrm>
            <a:off x="5897880" y="2194560"/>
            <a:ext cx="2834640" cy="2834640"/>
          </a:xfrm>
          <a:prstGeom prst="ellipse">
            <a:avLst/>
          </a:prstGeom>
          <a:noFill/>
          <a:ln w="25400">
            <a:solidFill>
              <a:srgbClr val="FE7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12280" y="1975104"/>
            <a:ext cx="1005840" cy="438912"/>
          </a:xfrm>
          <a:prstGeom prst="round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9715" y="2683764"/>
            <a:ext cx="1005840" cy="438912"/>
          </a:xfrm>
          <a:prstGeom prst="round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9715" y="4101083"/>
            <a:ext cx="1005840" cy="438912"/>
          </a:xfrm>
          <a:prstGeom prst="round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4809744"/>
            <a:ext cx="1005840" cy="438912"/>
          </a:xfrm>
          <a:prstGeom prst="round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84844" y="4101084"/>
            <a:ext cx="1005840" cy="438912"/>
          </a:xfrm>
          <a:prstGeom prst="round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84844" y="2683763"/>
            <a:ext cx="1005840" cy="438912"/>
          </a:xfrm>
          <a:prstGeom prst="round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3264408"/>
            <a:ext cx="1371600" cy="6949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AI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每一步都參與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1783080"/>
            <a:ext cx="2651760" cy="3246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交棒自動化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上一步核准的檔案，直接觸發下一步。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以小時計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手冊的說法是「數小時，不是數週」。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人在上方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人負責發起、指揮與治理，專心看 AI 標出來的重點，不必每一步從頭做起。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303520"/>
            <a:ext cx="1138428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白話：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以前是「做完一段、交給下一組人、等簽核」；現在每一段做完就把檔案交出去，下一段立刻接手，人只在關卡上做決定。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5、8–9 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六個階段白話對照：做法都變了，但每一步都留下一份下一步能接手的紀錄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877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280160"/>
            <a:ext cx="2752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以前怎麼做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28016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現在怎麼做（AI 原生）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280160"/>
            <a:ext cx="1929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留下的紀錄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128016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誰拍板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82495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682495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需求要經過多次工作坊與簽核，再由專人寫成文件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682495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提出想法的人直接和 AI 討論，整理成一份需求說明檔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682495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intent.md
需求說明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1682495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95728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2395728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分析師寫需求，設計師再轉成設計，兩組人分開做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395728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依需求說明一次產出需求與設計規格，套用資安、法遵、品牌規範，並標出疑慮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395728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spec.md
規格書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0" y="2395728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08960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3108960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工程師讀完設計就寫程式，做法只在自己腦中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3108960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先寫實作計畫，工程師修正、核准後才動手；團隊慣例寫成 AI 每次都會讀的說明檔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3108960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plan.md 實作計畫
程式與測試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0" y="3108960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22191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822191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階段結束才由 QA 把關，問題很晚才發現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3822191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每改一次就自己跑測試，通過才交給人；AI 的設定改了，也要重跑評測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3822191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測試結果
建置紀錄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3822191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535424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" y="4535424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每一行程式都由人審，品質看審查者忙不忙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535424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先做多輪審查並排出嚴重度，人專注判斷意圖與風險；正式上線一定要人授權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4535424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 審查紀錄
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4535424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48656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25880" y="5248656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人盯著系統，事件常被擱置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248656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監控程式發現異常才請 AI 診斷，結果寫成新的需求說明，重新進入循環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5248656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事件紀錄
新的 intent.md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5248656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6 頁「The shifts」及各階段說明。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實際走一遍（手冊範例）：「理賠進度自助查詢」從客服痛點到上線的七個步驟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理賠作業人員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向 AI 描述問題：客戶常打電話問理賠進度，約三分之一通話時間花在查進度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intent.md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938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9112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911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檢查並修正 AI 整理的需求說明，決定是否接受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3911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7015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6744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AI＋產品負責人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66744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產出規格並套用資安規範（入口網站不新增個資）；疑慮交給規範負責人處理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66744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spec.md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84648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4376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工程師＋AI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4376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寫實作計畫：改哪些檔案、順序、風險（核心系統每秒 50 次請求上限，要加快取）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4376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plan.md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1325880"/>
            <a:ext cx="1572768" cy="77724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22008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照計畫寫程式並自己跑測試，四種理賠狀態都要通過，畫面截圖比對設計稿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22008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程式＋測試結果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439912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6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 審查＋人核准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依審查規則查錯誤、資安、合規；程式負責人核准合併；發布經理授權上線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審查與核准紀錄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06754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77272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7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監控＋AI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7727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錯誤率超出正常範圍時，AI 先診斷，必要時執行事先演練的回復，寫成新的需求說明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7727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709160"/>
            <a:ext cx="1138428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BA 的觀察：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整個過程中，人做了三件事：說清楚問題（第 1 步）、決定要不要做（第 2 步）、決定能不能上線（第 6 步）。其餘起草、計畫、寫程式、測試、初審都由 AI 先做，再交給人看。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深橘為人做決定的步驟。數字（三分之一通話時間、每秒 50 次）為手冊示例，非實際客戶資料。來源：Anthropic《The AI-Native SDLC Playbook》，第 12–20、48–52 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每一步都留下紀錄：串起來就是一條完整的稽核軌跡，回答「誰要了什麼、誰核准」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intent.md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誰提出、什麼時候、要解決什麼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3055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172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spec.md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套用了哪些規範、哪些疑慮怎麼處理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50791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plan.md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誰核准了做法與風險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7103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程式＋測試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改動本身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改了什麼、測試是否通過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9127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PR 審查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審查紀錄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找到什麼、人怎麼決定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81151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126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事件紀錄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維運紀錄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發生什麼、怎麼處理、學到什麼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1752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已經有 Jira、ServiceNow 或需求管理系統，怎麼辦？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7472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以程式庫為準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47472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需求說明、規格等檔案是正式紀錄，舊系統放連結。一個工具、一個時間戳記，最乾淨。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9768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以現有系統為準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9768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Jira 等系統是正式紀錄，AI 開工時讀取、做完寫回；檔案只是工作副本。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20640"/>
            <a:ext cx="2103120" cy="7498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至少互相連結（起步建議）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512064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檔案記下工單編號，工單記下檔案版本號。接受兩個來源並存，先讓兩邊能對上。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017520"/>
            <a:ext cx="55321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稽核時可以直接回答的三個問題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63016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12280" y="347472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誰要求了什麼？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需求說明檔的作者、時間與修改歷程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445312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80" y="429768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產出了什麼？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規格、計畫、程式與測試結果，以及當時套用的規範版本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527608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512064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誰核准？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每個關卡的核准人與時間，記在合併與審查紀錄中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不需要汰換現有系統，重點是每一種紀錄都說清楚「以哪個系統為準」。來源：Anthropic《The AI-Native SDLC Playbook》，第 6–7、22 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人在哪裡把關：五個關鍵決定由指定的人做，AI 寫的程式不能自己核准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563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80160"/>
            <a:ext cx="3621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決定什麼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3346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怎麼確保一定經過這一關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82495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5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這個想法值不值得做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682495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接受或關閉需求說明，留下紀錄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95728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395728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95728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規格有沒有解決原本的問題，標出的疑慮是否已找規範負責人處理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395728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規格與需求說明一起存檔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08960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3108960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工程師（高風險找技術主管或架構師）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3108960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要怎麼改、最大的風險在哪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108960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計畫模式下，核准前 AI 不能修改任何檔案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2191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822191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822191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改動是否符合原意、風險能否接受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822191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分支保護：沒有程式負責人核准就不能合併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35424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535424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4535424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能不能進入正式環境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535424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上線閘門：沒有授權，上線指令會被擋下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57800"/>
            <a:ext cx="9144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57800"/>
            <a:ext cx="11292840" cy="71323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可以一路做到正式環境的門口，但不能自己開門。寫程式的 AI 沒有核准權限，職責分離和現在一樣。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13、17、20、39、46 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控制機制白話版：規範手冊讓 AI 照著做，自動閘門讓違規做不到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技能（Skill）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會讀的公司規範手冊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資安、API、品牌規範寫成檔案，AI 寫程式時自動套用。規範改了，大家下一次使用就是新版。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建議性：讓違規變少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鉤子（Hook）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動作前的自動閘門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每個動作前先檢查，可以放行、要求核准或擋下。例如沒有變更單不能改基礎設施，修錯時不能改測試。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強制性：讓違規幾乎做不到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集中管理設定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IT 統一鎖定的規則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禁止讀取密碼與金鑰檔、限制可連的網站、只用公司核准的外掛。工程師無法自行關閉。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由 IT 管理，個人改不動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分環境授權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環境越重要，AI 權限越小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開發環境 AI 可以自由部署；正式環境由 AI 準備、發布經理授權。退回上一版是最常演練的流程。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正式環境一定要人授權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手冊原話：技能讓違規變少，鉤子讓違規幾乎不可能。來源：Anthropic《The AI-Native SDLC Playbook》，第 25–27、40–46 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客戶最常問的五個問題，以及可以怎麼回答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客戶問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280160"/>
            <a:ext cx="8421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可以這樣回答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82495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82495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只能走核准過的路徑。正式上線一定要指定的人授權，每一次放行或阻擋都有時間戳記。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542032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542032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每個需要判斷的決定都由人做，並記在版本紀錄中。寫程式的 AI 不能核准自己的程式，職責分離不變。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01568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會和現有 Jira、變更管理衝突嗎？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401568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不需要汰換。每種紀錄指定一個「以誰為準」的系統，其他系統放連結；起步可先做互相連結。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61104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4261104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讀取金鑰與機密檔、限制對外連線、在隔離環境執行。也可透過 AWS Bedrock、Google Vertex 或 Microsoft Foundry 使用，留在公司既有的雲端合約內。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120640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怎麼知道有沒有效？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5120640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用版本紀錄與 CI 系統本來就有的資料量測，例如需求定稿時間、第一次就通過測試的比例、審查等待時間、上線失敗率。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22、37、41–46 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怎麼衡量成效：數據大多已經在版本紀錄和 CI 系統裡，不需要另外填表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060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1280160"/>
            <a:ext cx="5449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先看（領先指標）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60" y="1280160"/>
            <a:ext cx="4764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後看（落後指標）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82495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1682495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從第一次討論到需求說明定稿的時間（手冊預期由數週降到數小時）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95160" y="1682495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被接受、進入設計的需求比例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8760" y="2286000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需求說明到規格定稿的時間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60" y="2286000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開發開始後還要改規格的次數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89504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889504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第一次實作就能合併的比例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2889504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每個改動的返工次數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93008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3493008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改動第一次就通過 CI 的比例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3493008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 PR 的審查時間、上線失敗率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096512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4096512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第一次審查的等待時間（目標降到分鐘級）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96512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合併前抓到的缺陷，對比上線後才發現的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700016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4700016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異常發生到寫成需求說明的時間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5160" y="4700016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同類事件重複發生的次數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413248"/>
            <a:ext cx="1138428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建議：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試點前先記下現況基準，試點後用同一套指標比較，對外只引用自己量到的數字。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整體交付績效可再搭配業界常用的 DORA 指標（部署頻率、交付時間、變更失敗率、復原時間）。來源：Anthropic《The AI-Native SDLC Playbook》，各階段「How to measure it」。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怎麼開始：先做不需要前置條件的項目，再一步一步把循環接起來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61188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第一步｜先做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不需要任何前置條件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・需求說明範本（intent.md）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・團隊說明檔（CLAUDE.md）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・把一條常被漏掉的規範寫成技能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・讓 AI 自己跑測試再交件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・用鉤子守住現有的核准關卡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41648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325880"/>
            <a:ext cx="3611880" cy="6858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第二步｜串起來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以第一步為基礎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・設計規格由 AI 起草、人審核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・計畫模式成為開發的起點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參與 PR 審查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設定變更要跑持續評測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63840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55863" y="1325880"/>
            <a:ext cx="361188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第三步｜自動化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關卡都到位之後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進入 CI/CD（先唯讀，再寫入）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・監控觸發 AI 診斷，結果回到規劃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・事件頻道裡由 AI 擔任第一線回應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54880"/>
            <a:ext cx="11384280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第一個試點怎麼挑：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依手冊建議，挑「規格清楚、影響範圍小、已經有測試覆蓋」的日常工作。先用人工逐步帶著 AI 做，關卡穩定後，再讓核准過的檔案自動觸發下一步。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提醒：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自動化要在核准關卡都到位之後才做，否則只是讓沒把關的東西更快上線。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8–9 頁（相依關係圖）、第 21、44 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翻譯小抄（1／2）：工程團隊常用詞，對管理層和客戶可以這樣說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SDLC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軟體從想法到上線、再到維護的整套流程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intent.md（需求說明）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提出者用自己的話寫下：要什麼、為什麼、有什麼限制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spec.md（規格書）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依需求說明和公司規範起草，人負責審核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plan.md（實作計畫）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要改哪些地方、順序、風險、怎麼證明完成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CLAUDE.md（團隊說明檔）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新進同仁第一天要知道的事，AI 每次開工都先讀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Skill（技能）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會自動套用的公司規範手冊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Hook（鉤子）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動作前的自動檢查站：放行、詢問或擋下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 mode（計畫模式）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只能讀不能改，等人核准計畫才動手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Auto mode（自動模式）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計畫核准後，AI 不必每改一處都問人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PR（Pull request）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改動送審單：附上改了什麼、測試結果，等人核准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Code review（程式審查）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先查錯誤與資安，人判斷意圖與風險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翻譯小抄（2／2）：工程團隊常用詞，對管理層和客戶可以這樣說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自動建置、測試、部署的流水線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Eval（評測）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用一組真實任務考 AI，確認換模型或改設定後品質沒有退步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Worktree／平行工作階段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一位工程師同時開幾個 AI 分頭做不同工作，彼此不干擾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Subagent（子代理）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專做一件事的小幫手，例如驗證程式能不能正常執行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讓 AI 安全連接其他系統（Jira、部署工具）的標準介面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Sandbox（沙箱）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隔離環境：AI 在裡面執行，碰不到不該碰的檔案和網路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Managed settings（集中管理設定）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統一下發、工程師不能改的設定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Control band（σ）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指標的正常波動範圍，超出越多，AI 能做的處理越多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Rollback（回復）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一個指令退回上一版，平時就要演練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DORA 指標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業界常用的交付績效指標：部署頻率、交付時間、變更失敗率、復原時間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OpenTelemetry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 AI 每個動作記錄下來、送到監控系統的標準格式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對客戶怎麼講：30 秒版本、可以強調的重點，以及要避免的說法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30 秒版本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00784"/>
            <a:ext cx="11384280" cy="1051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「現在 AI 寫程式很快，但如果需求、審查、上線還照舊，整體不會快多少。我們協助你把開發流程重新設計：AI 參與每一步，每一步都留下紀錄，關鍵決定仍由你的人做。先從一個小系統試，用你們既有的版本紀錄和 CI 數據量測成效。」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926080"/>
            <a:ext cx="5532120" cy="38404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可以強調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364992"/>
            <a:ext cx="5532120" cy="2606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・每一步都有紀錄，稽核時可以直接調出來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・寫程式的 AI 不能核准自己的程式，職責分離不變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・可沿用現有的 Jira、ServiceNow 與變更管理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・從不需要前置條件的項目開始，風險小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・正式上線一定要指定的人授權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926080"/>
            <a:ext cx="553212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避免的說法 → 改成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364992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會取代工程師」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5360" y="3557016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15400" y="3364992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工程師的工作轉為規劃、指揮與審查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4023360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「以後不用人審了」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595360" y="4215384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4023360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人審集中在高風險與受監理的程式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681728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「保證從數週變數小時」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595360" y="4873752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4681728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手冊預期可大幅縮短，實際以試點量測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5340096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會自己上線」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595360" y="5532120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5340096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AI 只做到上線前，授權一定由人來做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推案前：客戶若同時是所內審計客戶，先與 Risk &amp; Quality 確認獨立性；客戶資料不放進任何外部 AI 工具試用。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來源與延伸閱讀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主要來源：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Louis Claxton（Anthropic），《The AI-Native SDLC Playbook》，2026。本簡報的流程、範例與控制機制皆整理自該手冊，並改寫為白話中文。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113842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手冊列出的官方文件（依導入順序，可點擊）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組織導入總覽（先看這份）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設定與優先順序（含集中管理設定）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權限設定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沙箱：檔案與網路隔離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鉤子（Hooks）指南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技能（Skills）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外掛與私有市集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集中管理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企業部署：Bedrock、Vertex、Foundry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監控（OpenTelemetry）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安全模型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合規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連結取自手冊第 54 頁；本工作環境無法開啟網頁，使用前請點開確認。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