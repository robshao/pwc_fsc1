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www.bain.com/ko/results/reimagining-insurance-for-the-ai-era" TargetMode="External"/><Relationship Id="rId3" Type="http://schemas.openxmlformats.org/officeDocument/2006/relationships/hyperlink" Target="https://amp.claimsjournal.com/news/national/2025/11/17/334094.htm" TargetMode="External"/><Relationship Id="rId4" Type="http://schemas.openxmlformats.org/officeDocument/2006/relationships/hyperlink" Target="https://www.leeandli.com/TW/Newsletters/7525.htm" TargetMode="External"/><Relationship Id="rId5" Type="http://schemas.openxmlformats.org/officeDocument/2006/relationships/hyperlink" Target="https://law.lia-roc.org.tw/Law/GetFile/0000394231" TargetMode="External"/><Relationship Id="rId6" Type="http://schemas.openxmlformats.org/officeDocument/2006/relationships/hyperlink" Target="https://law.lia-roc.org.tw/Law/GetFile/0000419987" TargetMode="External"/><Relationship Id="rId7" Type="http://schemas.openxmlformats.org/officeDocument/2006/relationships/hyperlink" Target="https://www.fsc.gov.tw/websitedowndoc?file=chfsc/202408231741530.pdf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ey.com/en_us/insurance/nexus" TargetMode="External"/><Relationship Id="rId7" Type="http://schemas.openxmlformats.org/officeDocument/2006/relationships/hyperlink" Target="https://www.wtwco.com/en-gh/news/2025/10/wtw-launch-of-radar-5-with-gen-ai-capability-marks-a-major-milestone-in-insurance-pricing" TargetMode="External"/><Relationship Id="rId8" Type="http://schemas.openxmlformats.org/officeDocument/2006/relationships/hyperlink" Target="https://www.mckinsey.com/industries/financial-services/how-we-help-clients/insurance/global-insurance-pools" TargetMode="External"/><Relationship Id="rId9" Type="http://schemas.openxmlformats.org/officeDocument/2006/relationships/hyperlink" Target="https://www.mckinsey.com/industries/financial-services/our-insights/can-agentic-ai-finally-modernize-core-technologies-in-insurance" TargetMode="External"/><Relationship Id="rId10" Type="http://schemas.openxmlformats.org/officeDocument/2006/relationships/hyperlink" Target="https://www.bcg.com/assets/2026/executive-perspectives-ai-first-companies-win-the-future-property-casualty-insurance.pd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原生軟體開發：</a:t>
            </a:r>
          </a:p>
          <a:p>
            <a:r>
              <a:rPr sz="2800">
                <a:latin typeface="Georgia"/>
                <a:ea typeface="微軟正黑體"/>
              </a:rPr>
              <a:t>可複製的導入方案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Arial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一頁看懂：我們協助保險公司把 AI 用進整個系統開發流程，交付更快，每一步都守得住、查得到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98448"/>
            <a:ext cx="11384280" cy="65836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Arial"/>
                <a:ea typeface="微軟正黑體"/>
              </a:rPr>
              <a:t>核心價值主張：</a:t>
            </a:r>
            <a:r>
              <a:rPr sz="1350" b="0">
                <a:solidFill>
                  <a:srgbClr val="000000"/>
                </a:solidFill>
                <a:latin typeface="Arial"/>
                <a:ea typeface="微軟正黑體"/>
              </a:rPr>
              <a:t>讓保險公司用 AI 加快系統交付，同時守住法規、留下每一步紀錄，並把做法變成團隊可以重複使用的能力。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103120"/>
            <a:ext cx="2743200" cy="74980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1　面向誰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  <a:ea typeface="微軟正黑體"/>
              </a:rPr>
              <a:t>Face who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898648"/>
            <a:ext cx="2743200" cy="1965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有系統開發需求的台灣壽險、產險公司；決策與使用者是 IT／數位主管、業務單位主管、法遵與風控。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4680" y="2359152"/>
            <a:ext cx="128016" cy="237744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82696" y="2103120"/>
            <a:ext cx="2743200" cy="74980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2　解決什麼問題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  <a:ea typeface="微軟正黑體"/>
              </a:rPr>
              <a:t>Solve what problem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2696" y="2898648"/>
            <a:ext cx="2743200" cy="1965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讓寫程式變快，但需求、審查、上線還是人工速度；同時擔心委外、個資、AI 責任與稽核。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25896" y="2359152"/>
            <a:ext cx="128016" cy="237744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2103120"/>
            <a:ext cx="2743200" cy="74980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3　帶來什麼價值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  <a:ea typeface="微軟正黑體"/>
              </a:rPr>
              <a:t>Bring what value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53912" y="2898648"/>
            <a:ext cx="2743200" cy="1965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新功能更快上線（以試點量測）、規範自動執行、每一步有紀錄可查、團隊學會方法。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97112" y="2359152"/>
            <a:ext cx="128016" cy="237744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25128" y="2103120"/>
            <a:ext cx="2743200" cy="74980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4　可擴充、可複製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  <a:ea typeface="微軟正黑體"/>
              </a:rPr>
              <a:t>Extendable, duplicable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5128" y="2898648"/>
            <a:ext cx="2743200" cy="1965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共用範本、規範技能、閘門設定與交付手冊；從一個試點擴到更多團隊、情境與產業。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074920"/>
            <a:ext cx="91440" cy="6400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074920"/>
            <a:ext cx="1129284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如何開始：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從「AI 原生開發準備度診斷」開始，挑一個真實需求做試點，用同一套指標比較前後，數字站得住再擴大。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議程：以四個面向回答三件事：為什麼需要、為什麼選我們、如何開始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1371600"/>
            <a:ext cx="3291840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面向誰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371600"/>
            <a:ext cx="6035040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客戶的難題與四種角色的關心點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52760" y="1371600"/>
            <a:ext cx="1143000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4–6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34440" y="2039112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548640" y="2176272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2084832"/>
            <a:ext cx="3291840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解決什麼問題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084832"/>
            <a:ext cx="6035040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卡點與解法、運作方式、四個面向如何組成方案、為什麼選我們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52760" y="2084832"/>
            <a:ext cx="1143000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7–11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34440" y="2752344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8640" y="2889504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4440" y="2798064"/>
            <a:ext cx="3291840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帶來什麼價值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2798064"/>
            <a:ext cx="6035040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微軟正黑體"/>
                <a:ea typeface="微軟正黑體"/>
              </a:rPr>
              <a:t>問題 → 解法 → 價值 → 指標、應用情境、怎麼證明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52760" y="2798064"/>
            <a:ext cx="1143000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12–15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34440" y="3465576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8640" y="3602736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34440" y="3511296"/>
            <a:ext cx="3291840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可擴充、可複製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3511296"/>
            <a:ext cx="6035040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服務套組、標準化與客製化、交付模式、同業做法、擴充路線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2760" y="3511296"/>
            <a:ext cx="1143000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16–21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234440" y="4178808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48640" y="4315968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34440" y="4224528"/>
            <a:ext cx="3291840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如何開始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0" y="4224528"/>
            <a:ext cx="6035040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分階段路線圖與下一步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52760" y="4224528"/>
            <a:ext cx="1143000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22–24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234440" y="489204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548640" y="5029200"/>
            <a:ext cx="457200" cy="457200"/>
          </a:xfrm>
          <a:prstGeom prst="ellipse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軟正黑體"/>
              </a:rPr>
              <a:t>附錄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440" y="4937760"/>
            <a:ext cx="3291840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標示說明、來源、同業產品清單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0" y="4937760"/>
            <a:ext cx="6035040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10652760" y="4937760"/>
            <a:ext cx="1143000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25–26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234440" y="5605272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11480" y="585216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右側數字為頁碼。每頁右上方標示內容性質：事實（有公開來源）、建議（我們的提案）、示意（說明用，非實測或報價）。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Face who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客戶遇到什麼難題？誰在意、各自在意什麼？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・AI 寫程式變快，交付卻沒變快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・投資回報與法規的雙重壓力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・四種角色的關心點與我們的答案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客戶的難題：AI 已經讓寫程式變快，但整體交付沒有變快，法規要求反而更多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事實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370332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瓶頸移到前後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828800"/>
            <a:ext cx="3703320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FD5108"/>
                </a:solidFill>
                <a:latin typeface="Arial"/>
                <a:ea typeface="微軟正黑體"/>
              </a:rPr>
              <a:t>人工速度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697480"/>
            <a:ext cx="3703320" cy="1600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需求討論、程式審查、上線核准仍是人工速度。程式量變多之後，審查反而排得更長，整體交付時間沒有等比例縮短。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297680"/>
            <a:ext cx="3703320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3–4 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3672" y="1325880"/>
            <a:ext cx="370332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投資看不到回報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33672" y="1828800"/>
            <a:ext cx="3703320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FD5108"/>
                </a:solidFill>
                <a:latin typeface="Arial"/>
                <a:ea typeface="微軟正黑體"/>
              </a:rPr>
              <a:t>95%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33672" y="2697480"/>
            <a:ext cx="3703320" cy="1600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投資 AI 但尚未看到可衡量回報的企業比例（跨產業）。同時 57% 的保險高階主管把生成式與代理型 AI 列為 2026 年首要科技投資。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33672" y="4297680"/>
            <a:ext cx="3703320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來源：Bain 引述 MIT 2025；PwC 調查（Claims Journal，2025-11）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55863" y="1325880"/>
            <a:ext cx="370332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法規要求同時到位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55863" y="1828800"/>
            <a:ext cx="3703320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Arial"/>
                <a:ea typeface="微軟正黑體"/>
              </a:rPr>
              <a:t>2025-12-31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5863" y="2697480"/>
            <a:ext cx="3703320" cy="1600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保險業作業委外新辦法施行。公會 AI 自律規範（2025-04-10 備查）要求保險公司對 AI 結果負最終責任；金管會 AI 指引 2024-06 發布。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55863" y="4297680"/>
            <a:ext cx="3703320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來源：理律法律事務所；壽險／產險公會；金管會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983480"/>
            <a:ext cx="914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983480"/>
            <a:ext cx="11292840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所以：</a:t>
            </a: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問題不在「要不要用 AI 寫程式」，而在「怎麼讓整個開發流程跟上 AI 的速度，同時守得住法規、拿得出紀錄」。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8064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完整來源與連結見附錄 A。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面向誰：有系統開發需求的保險公司；四種角色在意的事不同，方案都要回答得了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340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角色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1325880"/>
            <a:ext cx="30723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他們在意什麼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1325880"/>
            <a:ext cx="58613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我們的答案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234086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IT／數位主管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1728216"/>
            <a:ext cx="307238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交付速度、品質、團隊產能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97880" y="1728216"/>
            <a:ext cx="58613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五階段流程與範本，AI 參與每一步；先在一個試點量出成效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368296"/>
            <a:ext cx="234086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業務單位主管
（理賠、核保、商品）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88920" y="2368296"/>
            <a:ext cx="307238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需求說得清楚、上線不要拖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7880" y="2368296"/>
            <a:ext cx="58613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業務人員和 AI 一起整理需求說明，每階段交出檔案，不必反覆開會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008376"/>
            <a:ext cx="234086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法遵、風控、稽核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8920" y="3008376"/>
            <a:ext cx="307238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委外、個資、AI 責任、稽核軌跡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97880" y="3008376"/>
            <a:ext cx="58613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規範寫進 AI 會照做的技能；關卡有指定核准人；每一步留下紀錄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648456"/>
            <a:ext cx="234086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管理層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88920" y="3648456"/>
            <a:ext cx="307238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投資回報、風險可控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97880" y="3648456"/>
            <a:ext cx="58613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從小試點開始，用同一套指標比較前後，數字站得住才擴大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34840"/>
            <a:ext cx="1138428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595959"/>
                </a:solidFill>
                <a:latin typeface="Arial"/>
                <a:ea typeface="微軟正黑體"/>
              </a:rPr>
              <a:t>客戶情況不同，起點不同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800600"/>
            <a:ext cx="3703320" cy="7772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已有 IT 團隊、缺方法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→ 你自己做（工具包）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33672" y="4800600"/>
            <a:ext cx="370332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想先看到成效再決定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→ 陪你做（試點陪跑，多數客戶的起點）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55863" y="4800600"/>
            <a:ext cx="3703320" cy="7772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人力不足、時程緊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→ 幫你做（駐點開發）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76072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客戶若同時是所內審計客戶，推案前先與 Risk &amp; Quality 確認獨立性。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Solve what problem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我們實際提供什麼？怎麼運作？為什麼選我們？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・六個卡點與對應做法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・從直線到循環：AI 參與每一步，人在關鍵點決定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・四個面向如何組成完整方案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・我們的差異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解決什麼問題：把客戶最常遇到的六個卡點，對應到流程裡的具體做法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客戶卡點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325880"/>
            <a:ext cx="58613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我們的做法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1325880"/>
            <a:ext cx="25237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用到的元件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需求來回好幾輪才定稿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728216"/>
            <a:ext cx="58613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業務人員和 AI 一起整理需求說明；AI 追問範圍與限制、標出缺口，不自行補需求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728216"/>
            <a:ext cx="252374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需求說明範本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36829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規格、程式、測試對不起來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2368296"/>
            <a:ext cx="58613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每個階段交出一份檔案，下一階段直接接手；測試案例綁需求編號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2368296"/>
            <a:ext cx="252374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規格、實作計畫範本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00837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審查排隊、品質看人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3008376"/>
            <a:ext cx="58613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先做多輪審查並排出嚴重度，人專注判斷意圖與風險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3008376"/>
            <a:ext cx="252374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審查規則、Review Checklist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64845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公司規範沒人照做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7560" y="3648456"/>
            <a:ext cx="58613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資安、個資、委外規範寫成 AI 做事時自動套用的技能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35440" y="3648456"/>
            <a:ext cx="252374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技能（Skill）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28853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怕 AI 失控、稽核查不到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7560" y="4288536"/>
            <a:ext cx="58613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沒有核准不能合併、不能上線；誰核准、何時核准都有紀錄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4288536"/>
            <a:ext cx="252374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自動閘門（Hook）、集中設定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92861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上線後同樣問題一再發生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37560" y="4928616"/>
            <a:ext cx="58613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異常由 AI 先診斷，結果寫成新的需求說明，回到流程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4928616"/>
            <a:ext cx="252374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維運回饋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8064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做法依據 Anthropic《The AI-Native SDLC Playbook》；五階段流程沿用 FSC1 IT 團隊的開發流程（需求分析、SA&amp;D、開發、測試、上版／交付）。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我們的做法：把直線流程變成循環，AI 參與每一步，關鍵決定由客戶指定的人做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事實</a:t>
            </a:r>
          </a:p>
        </p:txBody>
      </p:sp>
      <p:pic>
        <p:nvPicPr>
          <p:cNvPr id="8" name="Picture 7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4997475" cy="35661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11480" y="4937760"/>
            <a:ext cx="4997475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 手冊圖 2「The line and the loop」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83275" y="1325880"/>
            <a:ext cx="6112484" cy="38404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五個由人把關的關卡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83275" y="1764792"/>
            <a:ext cx="1463040" cy="4937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① 接受需求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92035" y="1764792"/>
            <a:ext cx="4603724" cy="4937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83275" y="2313432"/>
            <a:ext cx="1463040" cy="4937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② 確認規格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92035" y="2313432"/>
            <a:ext cx="4603724" cy="4937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產品負責人（高風險加技術主管）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3275" y="2862072"/>
            <a:ext cx="1463040" cy="4937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③ 核准計畫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92035" y="2862072"/>
            <a:ext cx="4603724" cy="4937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工程師（高風險找架構師）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3275" y="3410711"/>
            <a:ext cx="1463040" cy="4937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④ 核准合併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92035" y="3410711"/>
            <a:ext cx="4603724" cy="4937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程式負責人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83275" y="3959352"/>
            <a:ext cx="1463040" cy="4937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⑤ 授權上線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92035" y="3959352"/>
            <a:ext cx="4603724" cy="4937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發布經理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074920"/>
            <a:ext cx="91440" cy="71323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074920"/>
            <a:ext cx="11292840" cy="71323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可以一路做到正式環境的門口，但不能自己開門。寫程式的 AI 沒有核准權限，職責分離和現在一樣；上線後的異常寫成新需求，回到第一步。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8978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5、13、17、20、39、46 頁。左圖左邊為傳統直線，右邊為 AI 原生循環。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四個面向環環相扣：找對客戶、解對問題，用可衡量的價值證明，再用共用資產複製擴大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457200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1　面向誰　Face who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4572000" cy="1371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保險公司的 IT、業務、法遵與管理層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  <a:ea typeface="微軟正黑體"/>
              </a:rPr>
              <a:t>第 4–6 頁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1325880"/>
            <a:ext cx="457200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2　解決什麼問題　Solve what problem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783080"/>
            <a:ext cx="4572000" cy="1371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交付卡在人工步驟，又要守住法規與稽核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  <a:ea typeface="微軟正黑體"/>
              </a:rPr>
              <a:t>第 7–11 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3611880"/>
            <a:ext cx="457200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　帶來什麼價值　Bring what value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0" y="4069080"/>
            <a:ext cx="4572000" cy="1371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更快上線、規範自動執行、紀錄可查、團隊學會方法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  <a:ea typeface="微軟正黑體"/>
              </a:rPr>
              <a:t>第 12–15 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611880"/>
            <a:ext cx="45720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4　可擴充、可複製　Extendable, duplicable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069080"/>
            <a:ext cx="4572000" cy="1371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標準資產＋客製設定；擴到更多團隊、情境與產業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  <a:ea typeface="微軟正黑體"/>
              </a:rPr>
              <a:t>第 16–21 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66360" y="2331720"/>
            <a:ext cx="1874519" cy="21031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核心價值主張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AI 加快交付
守住法規
留下紀錄
能力留在客戶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20640" y="1554480"/>
            <a:ext cx="196596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9372600" y="3200400"/>
            <a:ext cx="292608" cy="384048"/>
          </a:xfrm>
          <a:prstGeom prst="down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Left Arrow 18"/>
          <p:cNvSpPr/>
          <p:nvPr/>
        </p:nvSpPr>
        <p:spPr>
          <a:xfrm>
            <a:off x="5120640" y="4846320"/>
            <a:ext cx="1965960" cy="292608"/>
          </a:xfrm>
          <a:prstGeom prst="lef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Up Arrow 19"/>
          <p:cNvSpPr/>
          <p:nvPr/>
        </p:nvSpPr>
        <p:spPr>
          <a:xfrm>
            <a:off x="2560320" y="3200400"/>
            <a:ext cx="292608" cy="384048"/>
          </a:xfrm>
          <a:prstGeom prst="up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5532120"/>
            <a:ext cx="9144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532120"/>
            <a:ext cx="11292840" cy="5029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循環：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每做完一個客戶，範本、規範技能與指標基準就回到共用資產庫，下一個客戶導入更快，也能服務更多類型的客戶。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為什麼選我們：台灣保險法規、保險業務與在地系統、可稽核的關卡，三者同時具備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05840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待確認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1371600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31089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Arial"/>
                <a:ea typeface="微軟正黑體"/>
              </a:rPr>
              <a:t>台灣保險法規內建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965960"/>
            <a:ext cx="3703320" cy="1600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委外辦法、公會 AI 與雲端自律規範、金管會 AI 指引，直接寫進技能與檢查清單；診斷時一併做法規檢查。</a:t>
            </a:r>
          </a:p>
        </p:txBody>
      </p:sp>
      <p:sp>
        <p:nvSpPr>
          <p:cNvPr id="12" name="Oval 11"/>
          <p:cNvSpPr/>
          <p:nvPr/>
        </p:nvSpPr>
        <p:spPr>
          <a:xfrm>
            <a:off x="4233672" y="1371600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28032" y="1371600"/>
            <a:ext cx="31089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Arial"/>
                <a:ea typeface="微軟正黑體"/>
              </a:rPr>
              <a:t>懂保險業務與在地系統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33672" y="1965960"/>
            <a:ext cx="3703320" cy="1600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FSC1 熟悉理賠、核保、核心系統與 IFRS 17，試點直接用客戶真正在痛的流程，不必從頭解釋業務。</a:t>
            </a:r>
          </a:p>
        </p:txBody>
      </p:sp>
      <p:sp>
        <p:nvSpPr>
          <p:cNvPr id="15" name="Oval 14"/>
          <p:cNvSpPr/>
          <p:nvPr/>
        </p:nvSpPr>
        <p:spPr>
          <a:xfrm>
            <a:off x="8055863" y="1371600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50224" y="1371600"/>
            <a:ext cx="31089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Arial"/>
                <a:ea typeface="微軟正黑體"/>
              </a:rPr>
              <a:t>可稽核的人工關卡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55863" y="1965960"/>
            <a:ext cx="3703320" cy="1600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五個關卡誰核准、什麼時候核准，全部查得到；寫程式的 AI 不能核准自己的程式。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749039"/>
            <a:ext cx="113842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我們做得到的依據（待 IT 團隊填入）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・已經做出來的系統或工具：名稱、給誰用、解決什麼問題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・用到的做法：需求說明、規格、計畫範本，技能，自動閘門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・量到的成效與可以現場示範的內容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3492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虛線框內容須由 IT 團隊提供實際成果後才對外使用，不以假設數字代替。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Bring what value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每個問題解決之後，客戶得到什麼？怎麼證明？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微軟正黑體"/>
                <a:ea typeface="微軟正黑體"/>
              </a:rPr>
              <a:t>・問題 → 解法 → 商業價值 → 衡量指標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・應用情境：理賠進度自助查詢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・試點前後怎麼比較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帶來什麼價值：每個客戶問題都對應一個可以量測的商業成果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157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客戶問題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1325880"/>
            <a:ext cx="2706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解決方式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49240" y="1325880"/>
            <a:ext cx="30723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商業價值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58200" y="1325880"/>
            <a:ext cx="3300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衡量指標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21579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需求定稿慢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1728216"/>
            <a:ext cx="270662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需求說明範本＋AI 追問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1728216"/>
            <a:ext cx="30723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新功能更快上線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58200" y="1728216"/>
            <a:ext cx="33009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從第一次討論到需求定稿的時間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404872"/>
            <a:ext cx="215798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審查排隊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40" y="2404872"/>
            <a:ext cx="270662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先審、人判斷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2404872"/>
            <a:ext cx="307238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工程師把時間花在需要判斷的工作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404872"/>
            <a:ext cx="330098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第一次審查的等待時間、每個改動的返工次數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081528"/>
            <a:ext cx="21579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品質不穩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40" y="3081528"/>
            <a:ext cx="270662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自行測試，案例綁需求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49240" y="3081528"/>
            <a:ext cx="30723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上線事故減少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3081528"/>
            <a:ext cx="33009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上線失敗率、上線後才發現的缺陷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758183"/>
            <a:ext cx="215798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法規與稽核壓力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40" y="3758183"/>
            <a:ext cx="270662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技能＋自動閘門＋紀錄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49240" y="3758183"/>
            <a:ext cx="307238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主管機關或稽核詢問時拿得出佐證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58200" y="3758183"/>
            <a:ext cx="330098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有完整核准紀錄的改動比例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434840"/>
            <a:ext cx="21579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知識只在個人腦中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06040" y="4434840"/>
            <a:ext cx="270662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團隊說明檔、範本與教學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49240" y="4434840"/>
            <a:ext cx="30723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人員異動不影響交付，新人上手更快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58200" y="4434840"/>
            <a:ext cx="33009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新成員獨立交付第一個改動的時間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57800"/>
            <a:ext cx="91440" cy="6400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257800"/>
            <a:ext cx="1129284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說明：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價值以試點前後用同一套指標比較，不預先承諾數字。手冊所述預期：從想法到需求定稿可由數週縮短到數小時（非實測）。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應用情境：「理賠進度自助查詢」從客服痛點到上線，人只在關鍵點做決定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事實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1572768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① 提出問題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965960"/>
            <a:ext cx="1572768" cy="1188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理賠同仁和 AI 整理需求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200400"/>
            <a:ext cx="157276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需求說明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48256" y="1371600"/>
            <a:ext cx="1572768" cy="5486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② 接受需求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48256" y="1965960"/>
            <a:ext cx="1572768" cy="11887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產品負責人決定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3200400"/>
            <a:ext cx="157276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接受紀錄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85032" y="1371600"/>
            <a:ext cx="1572768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③ 起草規格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85032" y="1965960"/>
            <a:ext cx="1572768" cy="1188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自動套用公司規範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5032" y="3200400"/>
            <a:ext cx="157276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規格書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21808" y="1371600"/>
            <a:ext cx="1572768" cy="5486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④ 實作計畫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21808" y="1965960"/>
            <a:ext cx="1572768" cy="11887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工程師核准前 AI 不能改程式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21808" y="3200400"/>
            <a:ext cx="157276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實作計畫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58584" y="1371600"/>
            <a:ext cx="1572768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⑤ 程式與測試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58584" y="1965960"/>
            <a:ext cx="1572768" cy="1188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自己跑測試，全過才交人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58584" y="3200400"/>
            <a:ext cx="157276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測試結果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95359" y="1371600"/>
            <a:ext cx="1572768" cy="5486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⑥ 審查上線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5359" y="1965960"/>
            <a:ext cx="1572768" cy="11887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程式負責人、發布經理核准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95359" y="3200400"/>
            <a:ext cx="157276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核准紀錄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32136" y="1371600"/>
            <a:ext cx="1572768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⑦ 上線後監看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232136" y="1965960"/>
            <a:ext cx="1572768" cy="1188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異常由 AI 先診斷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232136" y="3200400"/>
            <a:ext cx="157276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事件紀錄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749039"/>
            <a:ext cx="11384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  <a:ea typeface="微軟正黑體"/>
              </a:rPr>
              <a:t>橘色＝人做決定的關卡；黑色＝AI 先做、人檢查。框線內為每一步留下的紀錄。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160520"/>
            <a:ext cx="5577840" cy="13258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情境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客戶常打電話問理賠進度。理賠部門同仁直接和 AI 說明問題，AI 追問範圍、使用者與限制，一路走到上線，上線後持續監看。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4160520"/>
            <a:ext cx="5577840" cy="13258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對客戶的意義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業務需求不必經過多輪會議才定稿；每一步都有檔案和核准紀錄，稽核時可以直接調出來。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62356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此為 Anthropic《The AI-Native SDLC Playbook》 的範例（第 12–20、37–52 頁），非客戶案例；手冊中「客服約三分之一通話時間在回答進度」為示例數字。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怎麼證明價值：試點前先量基準，試點後用同一套指標比較，數字站得住才擴大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示意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426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階段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1874520" y="1325880"/>
            <a:ext cx="416966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指標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325880"/>
            <a:ext cx="16093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基準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26680" y="1325880"/>
            <a:ext cx="17007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期望方向（示意）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14264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74520" y="1728216"/>
            <a:ext cx="4169663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從第一次討論到需求定稿的時間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1728216"/>
            <a:ext cx="16093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26680" y="1728216"/>
            <a:ext cx="170078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縮短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276856"/>
            <a:ext cx="142646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74520" y="2276856"/>
            <a:ext cx="4169663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開發開始後還要改規格的次數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60" y="2276856"/>
            <a:ext cx="160934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6680" y="2276856"/>
            <a:ext cx="170078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減少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825496"/>
            <a:ext cx="14264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74520" y="2825496"/>
            <a:ext cx="4169663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第一次實作就能合併的比例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2825496"/>
            <a:ext cx="16093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26680" y="2825496"/>
            <a:ext cx="170078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提高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374136"/>
            <a:ext cx="142646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74520" y="3374136"/>
            <a:ext cx="4169663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改動第一次就通過 CI 的比例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3374136"/>
            <a:ext cx="160934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26680" y="3374136"/>
            <a:ext cx="170078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提高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922776"/>
            <a:ext cx="14264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74520" y="3922776"/>
            <a:ext cx="4169663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第一次審查的等待時間、上線失敗率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0760" y="3922776"/>
            <a:ext cx="16093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26680" y="3922776"/>
            <a:ext cx="170078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縮短、降低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471416"/>
            <a:ext cx="142646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74520" y="4471416"/>
            <a:ext cx="4169663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同類事件重複發生的次數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60" y="4471416"/>
            <a:ext cx="160934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26680" y="4471416"/>
            <a:ext cx="170078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減少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46920" y="1325880"/>
            <a:ext cx="2148840" cy="374903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原則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數據大多已在客戶的版本紀錄與 CI 系統裡，不需要另外填表。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對外只引用自己試點量到的數字，不引用手冊或他人的預期值。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25780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指標定義依 Anthropic《The AI-Native SDLC Playbook》 各階段「How to measure it」，可搭配 DORA 指標（部署頻率、交付時間、變更失敗率、復原時間）。期望方向為示意，非承諾。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可擴充、可複製</a:t>
            </a:r>
          </a:p>
          <a:p>
            <a:r>
              <a:rPr sz="3000">
                <a:latin typeface="Georgia"/>
                <a:ea typeface="微軟正黑體"/>
              </a:rPr>
              <a:t>Extendable, duplicable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怎麼把框架變成可以重複銷售、重複交付的方案？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・一個入門診斷加三種方案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・哪些標準化、哪些客製化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・共用資產與交付手冊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・同業怎麼做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・擴充路線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產品化：一個入門診斷加三種方案，客戶依需要的人力參與程度選擇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05840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示意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25880"/>
            <a:ext cx="206654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方案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1325880"/>
            <a:ext cx="16550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目標客群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325880"/>
            <a:ext cx="29352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交付成果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78040" y="1325880"/>
            <a:ext cx="183794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執行方式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59" y="1325880"/>
            <a:ext cx="11064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期程（示意）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95559" y="1325880"/>
            <a:ext cx="1563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收費模式（建議）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728216"/>
            <a:ext cx="2066543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入門｜準備度診斷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1728216"/>
            <a:ext cx="165506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想評估是否導入、從哪裡開始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1728216"/>
            <a:ext cx="293522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瓶頸地圖、法規檢查、試點建議、導入藍圖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1728216"/>
            <a:ext cx="1837943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訪談、流程盤點、工作坊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59" y="1728216"/>
            <a:ext cx="110642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4–6 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95559" y="1728216"/>
            <a:ext cx="156362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固定價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596896"/>
            <a:ext cx="2066543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你自己做｜工具包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14600" y="2596896"/>
            <a:ext cx="165506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已有 IT 團隊、缺方法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2596896"/>
            <a:ext cx="293522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範本、保險業規範技能、閘門設定、Review Checklist、交付手冊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8040" y="2596896"/>
            <a:ext cx="1837943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授權＋導入說明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59" y="2596896"/>
            <a:ext cx="110642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2–4 週導入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95559" y="2596896"/>
            <a:ext cx="156362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授權或年費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465576"/>
            <a:ext cx="2066543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陪你做｜試點陪跑＋教學（主推）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600" y="3465576"/>
            <a:ext cx="165506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想先看到成效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3465576"/>
            <a:ext cx="293522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完成的試點、團隊說明檔、審查規則、教材、成效報告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3465576"/>
            <a:ext cx="1837943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與客戶團隊一起走完五階段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2559" y="3465576"/>
            <a:ext cx="110642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6–8 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95559" y="3465576"/>
            <a:ext cx="156362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每個試點固定價，可加里程碑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334256"/>
            <a:ext cx="2066543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幫你做｜駐點開發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4334256"/>
            <a:ext cx="165506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人力不足、時程緊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6240" y="4334256"/>
            <a:ext cx="293522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程式、文件與完整紀錄；期末交接工具包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78040" y="4334256"/>
            <a:ext cx="1837943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FSC1 人力駐點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52559" y="4334256"/>
            <a:ext cx="110642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依範圍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95559" y="4334256"/>
            <a:ext cx="156362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人月或按交付項目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257800"/>
            <a:ext cx="91440" cy="5669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257800"/>
            <a:ext cx="11292840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計價原則：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依產品化研究的建議，按「每次診斷」「每個試點」等任務或成果計價，而非按工時；金額依客戶範圍另行報價。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8978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期程為示意，以診斷結果為準。三種方案概念出自 Sawhney, MIT Sloan Management Review, 2024（Do it yourself／with me／for me）。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可複製的關鍵：流程、範本與工具標準化，客製只集中在客戶自己的規範、系統與核准人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557784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標準化：每個客戶都一樣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828800"/>
            <a:ext cx="5577840" cy="32004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182880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✓　五階段流程與五個人工關卡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✓　需求說明、規格、實作計畫範本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✓　Review Checklist 九項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✓　保險業共通規範技能（個資、委外、AI 責任）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✓　自動閘門設定樣板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✓　教材與交付手冊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✓　成效指標定義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25880"/>
            <a:ext cx="557784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客製化：依客戶調整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828800"/>
            <a:ext cx="5577840" cy="32004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182880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●　客戶自己的資安、命名與品牌規範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●　核心系統與既有工具串接（Jira、變更管理）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●　資料分級：哪些可以給 AI 讀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●　各關卡的核准人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●　試點題目與指標基準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●　雲端與 AI 工具的委外安排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212080"/>
            <a:ext cx="91440" cy="6400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212080"/>
            <a:ext cx="1129284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好處：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標準化的部分讓交付快、品質一致；客製化的部分讓方案符合每家公司的規範與系統。客製內容做完，經整理後回到共用資產庫。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可複製的交付模式：共用資產庫加標準交付手冊，每做完一個客戶，資產就更完整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463040" cy="3931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交付手冊
診斷
↓
試點
↓
擴大
每一步的做法、檔案與檢查點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1325880"/>
            <a:ext cx="15544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客戶情境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325880"/>
            <a:ext cx="1207008" cy="1188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理賠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19472" y="1325880"/>
            <a:ext cx="1207008" cy="1188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核保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4" y="1325880"/>
            <a:ext cx="1207008" cy="1188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商品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43216" y="1325880"/>
            <a:ext cx="1207008" cy="1188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核心系統周邊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05088" y="1325880"/>
            <a:ext cx="1207008" cy="1188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IFRS 17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2651760"/>
            <a:ext cx="15544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五階段模組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2651760"/>
            <a:ext cx="1207008" cy="11887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19472" y="2651760"/>
            <a:ext cx="1207008" cy="11887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4" y="2651760"/>
            <a:ext cx="1207008" cy="11887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43216" y="2651760"/>
            <a:ext cx="1207008" cy="11887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5088" y="2651760"/>
            <a:ext cx="1207008" cy="11887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3977639"/>
            <a:ext cx="15544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共用資產庫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3977639"/>
            <a:ext cx="1207008" cy="11887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範本庫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3977639"/>
            <a:ext cx="1207008" cy="11887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規範技能庫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1344" y="3977639"/>
            <a:ext cx="1207008" cy="11887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閘門設定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43216" y="3977639"/>
            <a:ext cx="1207008" cy="11887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Checklist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05088" y="3977639"/>
            <a:ext cx="1207008" cy="11887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教材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04120" y="1325880"/>
            <a:ext cx="1691640" cy="3931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回饋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每個案子結束，至少萃取一個可重用的範本或技能，回到共用資產庫。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下一個客戶從更完整的資產開始。</a:t>
            </a:r>
          </a:p>
        </p:txBody>
      </p:sp>
      <p:sp>
        <p:nvSpPr>
          <p:cNvPr id="28" name="Left Arrow 27"/>
          <p:cNvSpPr/>
          <p:nvPr/>
        </p:nvSpPr>
        <p:spPr>
          <a:xfrm>
            <a:off x="10012680" y="3108960"/>
            <a:ext cx="91440" cy="274320"/>
          </a:xfrm>
          <a:prstGeom prst="lef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1480" y="54406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上層隨客戶與情境替換；中層流程固定；下層資產跨客戶共用並持續累積。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同業怎麼做：保險顧問業產品化已是常態，我們借鏡加速器模式，以在地法規與可稽核關卡區隔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058400" y="914400"/>
            <a:ext cx="804672" cy="274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事實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25880"/>
            <a:ext cx="206654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產品化型態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1325880"/>
            <a:ext cx="4032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同業做法（代表例）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1325880"/>
            <a:ext cx="24780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值得借鏡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98280" y="1325880"/>
            <a:ext cx="26609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我們的做法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28216"/>
            <a:ext cx="2066543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軟體／數據產品
（你自己做）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14600" y="1728216"/>
            <a:ext cx="4032504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國際保險顧問的定價與核保軟體；策略顧問的保險市場資料庫訂閱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1728216"/>
            <a:ext cx="2478024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用自有數據做成訂閱產品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1728216"/>
            <a:ext cx="2660904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長期方向：累積的規範技能庫與指標基準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532888"/>
            <a:ext cx="2066543" cy="7680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加速器＋顧問導入
（陪你做）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2532888"/>
            <a:ext cx="4032504" cy="7680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會計師事務所的保險業代理型 AI 藍圖與預建代理；IFRS 17 加速器（業者宣稱 90 天內產出）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2532888"/>
            <a:ext cx="2478024" cy="7680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預建資產加明確期程，降低客戶疑慮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2532888"/>
            <a:ext cx="2660904" cy="7680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主推方案：固定範圍與期程的試點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337560"/>
            <a:ext cx="2066543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核心系統＋AI 工具組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14600" y="3337560"/>
            <a:ext cx="4032504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系統整合商的核心系統 AI 工具組（業者宣稱 300 個以上保險加速器）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3337560"/>
            <a:ext cx="2478024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鎖定核心系統遷移情境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3337560"/>
            <a:ext cx="2660904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聚焦台灣在地核心系統與法規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142232"/>
            <a:ext cx="2066543" cy="768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方法論與藍圖
（框架）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14600" y="4142232"/>
            <a:ext cx="4032504" cy="768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策略顧問的 AI-First 藍圖、代理型 AI 核心現代化方法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0" y="4142232"/>
            <a:ext cx="2478024" cy="768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清楚的成熟度階段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98280" y="4142232"/>
            <a:ext cx="2660904" cy="768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五階段＋五關卡，並直接落地到試點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074920"/>
            <a:ext cx="9144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074920"/>
            <a:ext cx="11292840" cy="5029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差異化：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台灣保險法規內建、懂保險業務與在地系統、五個可稽核的人工關卡。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6692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具體公司、產品與來源連結見附錄 B。資料為業者公開資訊，未經獨立驗證；「宣稱」數字為業者自述。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可擴充：同一套資產，依序延伸到更多情境、產業與功能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1325880"/>
            <a:ext cx="3154680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現在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1325880"/>
            <a:ext cx="3154680" cy="41148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下一步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59" y="1325880"/>
            <a:ext cx="3154680" cy="41148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未來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28800"/>
            <a:ext cx="160020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Arial"/>
                <a:ea typeface="微軟正黑體"/>
              </a:rPr>
              <a:t>情境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1828800"/>
            <a:ext cx="3154680" cy="9601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核心系統周邊開發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1828800"/>
            <a:ext cx="315468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IFRS 17／TW-ICS 系統、AI 治理（AI 清冊與模型驗證）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95359" y="1828800"/>
            <a:ext cx="315468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代理型 AI 核保與理賠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880360"/>
            <a:ext cx="160020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Arial"/>
                <a:ea typeface="微軟正黑體"/>
              </a:rPr>
              <a:t>產業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2880360"/>
            <a:ext cx="3154680" cy="9601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壽險、產險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9240" y="2880360"/>
            <a:ext cx="315468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銀行、證券（金融業共通法規）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59" y="2880360"/>
            <a:ext cx="315468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其他受監理產業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931920"/>
            <a:ext cx="160020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Arial"/>
                <a:ea typeface="微軟正黑體"/>
              </a:rPr>
              <a:t>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03120" y="3931920"/>
            <a:ext cx="3154680" cy="9601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開發流程五階段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3931920"/>
            <a:ext cx="315468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測試自動化、維運閉環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59" y="3931920"/>
            <a:ext cx="315468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跨團隊規模化、CI/CD 自動串接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120640"/>
            <a:ext cx="91440" cy="6400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120640"/>
            <a:ext cx="1129284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前提：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每一步擴充都以前一步的試點成效為依據；共用資產庫讓新情境不必從零開始，只需補上該情境的範本與規範。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如何開始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05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從評估到落地，第一步做什麼？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・四階段導入路線圖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・下一步與我們需要客戶提供的資料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如何開始：從準備度診斷開始，用一個試點證明價值，再逐步擴大與規模化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示意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74320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4–6 週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4680" y="1536192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2057400"/>
            <a:ext cx="274320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做什麼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盤點現況、法規檢查、挑選試點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154680"/>
            <a:ext cx="2743200" cy="10058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瓶頸地圖、導入藍圖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206240"/>
            <a:ext cx="274320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進下一階段的條件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選定試點與指標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2696" y="1325880"/>
            <a:ext cx="274320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1　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6–8 週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25896" y="1536192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82696" y="2057400"/>
            <a:ext cx="274320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做什麼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用一個真實需求走完五階段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82696" y="3154680"/>
            <a:ext cx="2743200" cy="10058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完成的試點、成效報告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82696" y="4206240"/>
            <a:ext cx="274320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進下一階段的條件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指標比基準改善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53912" y="1325880"/>
            <a:ext cx="2743200" cy="68580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2　擴大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1–2 季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97112" y="1536192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3912" y="2057400"/>
            <a:ext cx="274320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做什麼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複製到更多團隊，加入客戶規範技能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53912" y="3154680"/>
            <a:ext cx="2743200" cy="10058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擴大路線圖、技能庫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3912" y="4206240"/>
            <a:ext cx="274320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進下一階段的條件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管理層核准擴大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25128" y="1325880"/>
            <a:ext cx="2743200" cy="6858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3　規模化與閉環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持續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25128" y="2057400"/>
            <a:ext cx="274320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做什麼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接上 CI/CD 與維運閉環，必要時駐點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5128" y="3154680"/>
            <a:ext cx="2743200" cy="10058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持續運作的流程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5128" y="4206240"/>
            <a:ext cx="274320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進下一階段的條件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30352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期程為示意，實際依客戶範圍與診斷結果調整。每一階段結束由客戶決定是否進入下一階段。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下一步：三件事就能啟動準備度診斷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Oval 7"/>
          <p:cNvSpPr/>
          <p:nvPr/>
        </p:nvSpPr>
        <p:spPr>
          <a:xfrm>
            <a:off x="411480" y="1600200"/>
            <a:ext cx="594360" cy="594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371600"/>
            <a:ext cx="585216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對齊工作坊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對齊目標，從客戶的需求清單挑 1–2 個候選試點。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2788920"/>
            <a:ext cx="594360" cy="594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560320"/>
            <a:ext cx="585216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前置確認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資料分級、雲端與 AI 工具的委外安排；若客戶同時是所內審計客戶，先確認獨立性。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3977639"/>
            <a:ext cx="594360" cy="594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749039"/>
            <a:ext cx="585216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啟動診斷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確認診斷範圍與雙方窗口，開始盤點現況。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1371600"/>
            <a:ext cx="4480560" cy="34290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18288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我們需要客戶提供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・公司資安、個資與法遵規範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074920"/>
            <a:ext cx="91440" cy="6400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074920"/>
            <a:ext cx="1129284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一句話：</a:t>
            </a: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A｜標示說明與來源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事實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1384280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事實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＝有公開來源　</a:t>
            </a: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建議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＝我們的提案　</a:t>
            </a:r>
            <a:r>
              <a:rPr sz="1200" b="1">
                <a:solidFill>
                  <a:srgbClr val="595959"/>
                </a:solidFill>
                <a:latin typeface="Arial"/>
                <a:ea typeface="微軟正黑體"/>
              </a:rPr>
              <a:t>示意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＝說明用，非實測數據或報價　</a:t>
            </a:r>
            <a:r>
              <a:rPr sz="1200" b="1">
                <a:solidFill>
                  <a:srgbClr val="595959"/>
                </a:solidFill>
                <a:latin typeface="Arial"/>
                <a:ea typeface="微軟正黑體"/>
              </a:rPr>
              <a:t>待確認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＝需內部提供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965960"/>
            <a:ext cx="11384280" cy="40233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1. 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Louis Claxton（Anthropic），The AI-Native SDLC Playbook，2026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23160"/>
            <a:ext cx="1138428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2. </a:t>
            </a:r>
            <a:r>
              <a:rPr sz="110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Bain，Reimagining Insurance for the AI Era（引述 MIT 2025：95%）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80360"/>
            <a:ext cx="11384280" cy="40233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3. </a:t>
            </a:r>
            <a:r>
              <a:rPr sz="110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Claims Journal，PwC 保險高階主管調查（57%），2025-11-17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337560"/>
            <a:ext cx="1138428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4. </a:t>
            </a:r>
            <a:r>
              <a:rPr sz="110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理律法律事務所，保險業作業委外新辦法（2025-12-31 施行）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794760"/>
            <a:ext cx="11384280" cy="40233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5. </a:t>
            </a:r>
            <a:r>
              <a:rPr sz="110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壽險／產險公會，保險業運用人工智慧系統自律規範（2025-04-10 備查）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251960"/>
            <a:ext cx="1138428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6. </a:t>
            </a:r>
            <a:r>
              <a:rPr sz="110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壽險／產險公會，保險業作業委外使用雲端服務自律規範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709160"/>
            <a:ext cx="11384280" cy="40233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7. </a:t>
            </a:r>
            <a:r>
              <a:rPr sz="110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金管會，金融業運用人工智慧（AI）指引，2024-06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5166360"/>
            <a:ext cx="1138428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8. 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Mohanbir Sawhney，How to Turn Professional Services Into Products，MIT Sloan Management Review，2024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6692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連結可點擊。金管會 AI 指引連結取自研究連結庫，使用前請點開確認。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B｜同業具體產品與來源（業者公開資訊）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FSC1｜提案討論稿｜標示「建議」「示意」者非實測數據或報價，實際以診斷與試點結果為準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事實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38074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1325880"/>
            <a:ext cx="362102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產品／方案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1325880"/>
            <a:ext cx="156362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型態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86600" y="1325880"/>
            <a:ext cx="467258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來源（可點擊）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91640"/>
            <a:ext cx="138074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Deloitte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1691640"/>
            <a:ext cx="362102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Agentic AI Blueprint for Insurance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0" y="1691640"/>
            <a:ext cx="156362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加速器＋導入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1691640"/>
            <a:ext cx="467258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121408"/>
            <a:ext cx="138074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Deloitte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2121408"/>
            <a:ext cx="362102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IFRS 17 Regulatory Assist（與 SAS 合作）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2121408"/>
            <a:ext cx="156362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加速器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2121408"/>
            <a:ext cx="467258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551176"/>
            <a:ext cx="138074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KPMG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2551176"/>
            <a:ext cx="362102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IFRS 17 Express, powered by SAS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2551176"/>
            <a:ext cx="156362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加速器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86600" y="2551176"/>
            <a:ext cx="467258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980944"/>
            <a:ext cx="138074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Capgemini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0" y="2980944"/>
            <a:ext cx="362102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Guidewire 生成式 AI／代理工具組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0" y="2980944"/>
            <a:ext cx="156362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核心系統＋AI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86600" y="2980944"/>
            <a:ext cx="467258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410712"/>
            <a:ext cx="138074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EY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0" y="3410712"/>
            <a:ext cx="362102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EY Nexus for Insurance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0" y="3410712"/>
            <a:ext cx="156362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平台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86600" y="3410712"/>
            <a:ext cx="467258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www.ey.com 原文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840479"/>
            <a:ext cx="138074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WTW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28800" y="3840479"/>
            <a:ext cx="362102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Radar 5（保險定價與核保軟體）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0" y="3840479"/>
            <a:ext cx="156362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軟體產品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6600" y="3840479"/>
            <a:ext cx="467258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www.wtwco.com 原文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4270248"/>
            <a:ext cx="138074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McKinsey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0" y="4270248"/>
            <a:ext cx="362102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Global Insurance Pools（訂閱資料庫）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0" y="4270248"/>
            <a:ext cx="156362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數據產品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86600" y="4270248"/>
            <a:ext cx="467258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8"/>
              </a:rPr>
              <a:t>www.mckinsey.com 原文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4700016"/>
            <a:ext cx="138074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McKinsey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0" y="4700016"/>
            <a:ext cx="362102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代理型 AI 核心現代化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0" y="4700016"/>
            <a:ext cx="156362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框架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86600" y="4700016"/>
            <a:ext cx="467258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9"/>
              </a:rPr>
              <a:t>www.mckinsey.com 原文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5129783"/>
            <a:ext cx="138074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BCG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28800" y="5129783"/>
            <a:ext cx="362102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AI-First 產險公司藍圖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0" y="5129783"/>
            <a:ext cx="156362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框架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86600" y="5129783"/>
            <a:ext cx="467258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10"/>
              </a:rPr>
              <a:t>www.bcg.com 原文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56692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對外提案前請確認是否保留本頁公司名稱。資料為業者新聞稿與產品頁，規模數字為業者自述，未經獨立驗證。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