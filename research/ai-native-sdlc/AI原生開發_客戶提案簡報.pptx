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amp.claimsjournal.com/news/national/2025/11/17/334094.htm" TargetMode="External"/><Relationship Id="rId3" Type="http://schemas.openxmlformats.org/officeDocument/2006/relationships/hyperlink" Target="https://www.bain.com/ko/results/reimagining-insurance-for-the-ai-era" TargetMode="External"/><Relationship Id="rId4" Type="http://schemas.openxmlformats.org/officeDocument/2006/relationships/hyperlink" Target="https://www.leeandli.com/TW/Newsletters/7525.htm" TargetMode="External"/><Relationship Id="rId5" Type="http://schemas.openxmlformats.org/officeDocument/2006/relationships/hyperlink" Target="https://law.lia-roc.org.tw/Law/GetFile/0000394231" TargetMode="External"/><Relationship Id="rId6" Type="http://schemas.openxmlformats.org/officeDocument/2006/relationships/hyperlink" Target="https://law.lia-roc.org.tw/Law/GetFile/0000419987" TargetMode="External"/><Relationship Id="rId7" Type="http://schemas.openxmlformats.org/officeDocument/2006/relationships/hyperlink" Target="https://www.fsc.gov.tw/websitedowndoc?file=chfsc/202408231741530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原生軟體開發：</a:t>
            </a:r>
          </a:p>
          <a:p>
            <a:r>
              <a:rPr sz="2800">
                <a:latin typeface="Georgia"/>
                <a:ea typeface="微軟正黑體"/>
              </a:rPr>
              <a:t>從一個試點開始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一頁看懂：協助保險公司把 AI 用進整個系統開發流程，交付更快，每一步都守得住、查得到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84280" cy="65836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Arial"/>
                <a:ea typeface="微軟正黑體"/>
              </a:rPr>
              <a:t>我們的主張：</a:t>
            </a:r>
            <a:r>
              <a:rPr sz="1350" b="0">
                <a:solidFill>
                  <a:srgbClr val="000000"/>
                </a:solidFill>
                <a:latin typeface="Arial"/>
                <a:ea typeface="微軟正黑體"/>
              </a:rPr>
              <a:t>讓保險公司用 AI 加快系統交付，同時守住法規、留下每一步紀錄，並把做法變成團隊可以重複使用的能力。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21408"/>
            <a:ext cx="2743200" cy="74980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1　面向誰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Who we 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916936"/>
            <a:ext cx="2743200" cy="1920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有系統開發需求的壽險、產險公司：IT／數位主管、業務單位、法遵與風控、管理層。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3774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2121408"/>
            <a:ext cx="2743200" cy="74980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2　解決什麼問題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Problems we 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2696" y="2916936"/>
            <a:ext cx="2743200" cy="1920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讓寫程式變快，但需求、審查、上線還是人工速度；又要面對新制上路與 AI 法規。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5896" y="23774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2121408"/>
            <a:ext cx="2743200" cy="74980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3　帶來什麼價值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Value we deliver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916936"/>
            <a:ext cx="2743200" cy="1920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新功能更快上線、規範自動執行、每一步有紀錄可查；成效用雙方先講好的指標證明。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97112" y="23774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25128" y="2121408"/>
            <a:ext cx="2743200" cy="7498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4　可擴充、可複製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Scalable and repeatable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2916936"/>
            <a:ext cx="2743200" cy="1920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同一套範本、規範與關卡，從一個團隊推到全公司，下一個系統不必從頭來。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02920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如何開始：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先做一次準備度診斷，再挑一個真實需求做試點。試點前雙方先講好三個指標和合格線，達標才擴大。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保險公司的難題：同時要上新制、要用 AI、要守新規，開發流程卻還是舊的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1　面向誰｜Who we serve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70332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新制上路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Arial"/>
                <a:ea typeface="微軟正黑體"/>
              </a:rPr>
              <a:t>2026-01-01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IFRS 17 與 TW-ICS 接軌，財務、精算與報表系統都要跟著調整，系統開發需求增加。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297680"/>
            <a:ext cx="3703320" cy="5029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來源：金管會保險局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325880"/>
            <a:ext cx="370332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AI 投資要看到回報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828800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D5108"/>
                </a:solidFill>
                <a:latin typeface="Arial"/>
                <a:ea typeface="微軟正黑體"/>
              </a:rPr>
              <a:t>57%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269748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保險高階主管把生成式與代理型 AI 列為 2026 年首要科技投資；但跨產業有 95% 投資 AI 的企業尚未看到可衡量回報。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4297680"/>
            <a:ext cx="3703320" cy="5029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來源：PwC 調查（Claims Journal，2025-11）；Bain 引述 MIT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3" y="1325880"/>
            <a:ext cx="370332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法規要求同時到位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3" y="1828800"/>
            <a:ext cx="370332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Arial"/>
                <a:ea typeface="微軟正黑體"/>
              </a:rPr>
              <a:t>2025-12-31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3" y="269748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保險業作業委外新辦法施行；AI 自律規範要求保險公司對 AI 結果負最終責任。用外部 AI 工具開發，要先想清楚。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3" y="4297680"/>
            <a:ext cx="3703320" cy="5029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來源：理律法律事務所；壽險／產險公會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98348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8348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所以：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問題不在「要不要用 AI 寫程式」，而在讓整個開發流程跟上 AI 的速度，同時守得住法規、拿得出紀錄。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面向誰：IT、業務、法遵、管理層在意的事不同，這個方案都要回答得了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1　面向誰｜Who we serve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3072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他們在意什麼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8613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我們的答案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3408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IT／數位主管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728216"/>
            <a:ext cx="307238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交付速度、品質、團隊產能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728216"/>
            <a:ext cx="586130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五階段流程與範本，AI 參與每一步；先在一個試點量出成效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14016"/>
            <a:ext cx="23408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業務單位主管
（理賠、核保、商品）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414016"/>
            <a:ext cx="307238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需求說得清楚、上線不要拖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2414016"/>
            <a:ext cx="586130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業務人員和 AI 一起整理需求說明，每階段交出檔案，不必反覆開會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99816"/>
            <a:ext cx="23408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法遵、風控、稽核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099816"/>
            <a:ext cx="307238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委外、個資、AI 責任、稽核軌跡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099816"/>
            <a:ext cx="586130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規範寫進 AI 會照做的規則；關卡有指定核准人；每一步留下紀錄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85616"/>
            <a:ext cx="23408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管理層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785616"/>
            <a:ext cx="307238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投資回報、風險可控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3785616"/>
            <a:ext cx="586130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從小試點開始，用先講好的指標比較前後，達標才擴大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17720"/>
            <a:ext cx="557784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想先評估要不要做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微軟正黑體"/>
                <a:ea typeface="微軟正黑體"/>
              </a:rPr>
              <a:t>→ 準備度診斷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17720"/>
            <a:ext cx="5577840" cy="8686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想先看到成效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微軟正黑體"/>
                <a:ea typeface="微軟正黑體"/>
              </a:rPr>
              <a:t>→ 陪你做一個試點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解決什麼問題：把最常見的六個卡點，對應到流程裡的具體做法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2　解決什麼問題｜Problems we 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889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卡點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6044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我們的做法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用到的元件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8895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需求來回好幾輪才定稿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728216"/>
            <a:ext cx="604418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業務人員和 AI 一起整理需求說明；AI 追問範圍與限制、標出缺口，不自行補需求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728216"/>
            <a:ext cx="234086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需求說明範本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86584"/>
            <a:ext cx="28895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規格、程式、測試對不起來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386584"/>
            <a:ext cx="604418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每個階段交出一份檔案，下一階段直接接手；測試案例綁需求編號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386584"/>
            <a:ext cx="234086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規格、實作計畫範本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44952"/>
            <a:ext cx="28895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審查排隊、品質看人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044952"/>
            <a:ext cx="604418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先做多輪審查並排出嚴重度，人專注判斷意圖與風險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3044952"/>
            <a:ext cx="234086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審查規則、檢查清單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28895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公司規範沒人照做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703320"/>
            <a:ext cx="604418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資安、個資、委外規範寫成 AI 做事時自動套用的規則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3703320"/>
            <a:ext cx="234086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規範規則庫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361688"/>
            <a:ext cx="288950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怕 AI 失控、稽核查不到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361688"/>
            <a:ext cx="604418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沒有核准不能合併、不能上線；誰核准、何時核准都有紀錄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4361688"/>
            <a:ext cx="2340864" cy="6217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自動關卡與集中設定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20056"/>
            <a:ext cx="288950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上線後同樣問題一再發生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5020056"/>
            <a:ext cx="604418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異常先由 AI 診斷，結果寫成新的需求，回到流程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5020056"/>
            <a:ext cx="2340864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維運回饋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我們的做法：把直線流程變成循環，AI 參與每一步，關鍵決定由貴公司指定的人做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2　解決什麼問題｜Problems we 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920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Arial"/>
                <a:ea typeface="微軟正黑體"/>
              </a:rPr>
              <a:t>以前：一條直線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40864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44368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47872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151376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754880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394960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微軟正黑體"/>
              </a:rPr>
              <a:t>每一段做完才交棒，退回一次就要重來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32588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現在：一個循環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1920240"/>
            <a:ext cx="1385813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77853" y="2720340"/>
            <a:ext cx="0" cy="16002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892040" y="4320540"/>
            <a:ext cx="1385813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506226" y="4320540"/>
            <a:ext cx="1385814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06226" y="2720339"/>
            <a:ext cx="0" cy="1600201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06226" y="1920240"/>
            <a:ext cx="1385814" cy="800099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206240" y="2834640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15468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參與每一步</a:t>
            </a:r>
          </a:p>
        </p:txBody>
      </p:sp>
      <p:sp>
        <p:nvSpPr>
          <p:cNvPr id="25" name="Oval 24"/>
          <p:cNvSpPr/>
          <p:nvPr/>
        </p:nvSpPr>
        <p:spPr>
          <a:xfrm>
            <a:off x="4411979" y="144018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1979" y="16916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27" name="Oval 26"/>
          <p:cNvSpPr/>
          <p:nvPr/>
        </p:nvSpPr>
        <p:spPr>
          <a:xfrm>
            <a:off x="5797793" y="224028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97793" y="24917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29" name="Oval 28"/>
          <p:cNvSpPr/>
          <p:nvPr/>
        </p:nvSpPr>
        <p:spPr>
          <a:xfrm>
            <a:off x="5797793" y="38404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97793" y="40919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31" name="Oval 30"/>
          <p:cNvSpPr/>
          <p:nvPr/>
        </p:nvSpPr>
        <p:spPr>
          <a:xfrm>
            <a:off x="4411979" y="46405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11979" y="48920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33" name="Oval 32"/>
          <p:cNvSpPr/>
          <p:nvPr/>
        </p:nvSpPr>
        <p:spPr>
          <a:xfrm>
            <a:off x="3026166" y="38404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26166" y="40919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35" name="Oval 34"/>
          <p:cNvSpPr/>
          <p:nvPr/>
        </p:nvSpPr>
        <p:spPr>
          <a:xfrm>
            <a:off x="3026166" y="2240279"/>
            <a:ext cx="960120" cy="96012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26166" y="24917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325880"/>
            <a:ext cx="448056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五個由人把關的關卡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1764792"/>
            <a:ext cx="14173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① 接受需求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764792"/>
            <a:ext cx="30175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產品負責人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295144"/>
            <a:ext cx="14173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② 確認規格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2295144"/>
            <a:ext cx="30175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產品負責人（高風險加技術主管）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2825496"/>
            <a:ext cx="14173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③ 核准計畫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2825496"/>
            <a:ext cx="30175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工程師（高風險找架構師）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355848"/>
            <a:ext cx="14173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④ 核准合併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3355848"/>
            <a:ext cx="30175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程式負責人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886200"/>
            <a:ext cx="14173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⑤ 授權上線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3886200"/>
            <a:ext cx="301752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發布經理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4480560"/>
            <a:ext cx="448056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可以一路做到正式環境的門口，但不能自己開門；寫程式的 AI 沒有核准權限。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7607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本方法不綁特定 AI 工具，使用哪一套工具依貴公司政策與合約決定。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四個面向環環相扣：找對人、解對問題，用先講好的指標證明價值，再推到全公司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45720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1　面向誰　Who we serve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457200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保險公司的 IT、業務、法遵與管理層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  <a:ea typeface="微軟正黑體"/>
              </a:rPr>
              <a:t>第 3–4 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25880"/>
            <a:ext cx="45720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2　解決什麼問題　Problems we solve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83080"/>
            <a:ext cx="457200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交付卡在人工步驟，又要守住新制與法規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  <a:ea typeface="微軟正黑體"/>
              </a:rPr>
              <a:t>第 5–9 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611880"/>
            <a:ext cx="45720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3　帶來什麼價值　Value we deliver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4069080"/>
            <a:ext cx="457200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更快上線、規範自動執行、紀錄可查；以試點成功標準證明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  <a:ea typeface="微軟正黑體"/>
              </a:rPr>
              <a:t>第 10–11 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11880"/>
            <a:ext cx="45720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4　可擴充、可複製　Scalable and repeatable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069080"/>
            <a:ext cx="457200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同一套範本、規範與關卡，從一個團隊推到全公司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  <a:ea typeface="微軟正黑體"/>
              </a:rPr>
              <a:t>第 12 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331720"/>
            <a:ext cx="1874519" cy="21031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我們的主張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AI 加快交付
守住法規
留下紀錄
能力留在貴公司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1554480"/>
            <a:ext cx="196596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372600" y="3200400"/>
            <a:ext cx="292608" cy="384048"/>
          </a:xfrm>
          <a:prstGeom prst="down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5120640" y="4846320"/>
            <a:ext cx="1965960" cy="292608"/>
          </a:xfrm>
          <a:prstGeom prst="lef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18"/>
          <p:cNvSpPr/>
          <p:nvPr/>
        </p:nvSpPr>
        <p:spPr>
          <a:xfrm>
            <a:off x="2560320" y="3200400"/>
            <a:ext cx="292608" cy="384048"/>
          </a:xfrm>
          <a:prstGeom prst="up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532120"/>
            <a:ext cx="9144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32120"/>
            <a:ext cx="11292840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循環：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每推到一個新團隊，範本與規範就更完整；下一個系統導入更快，也能服務更多業務單位。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為什麼選我們：台灣保險法規、保險業務與在地系統、可稽核的關卡，三者同時具備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2　解決什麼問題｜Problems we solve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台灣保險法規內建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委外辦法、公會 AI 與雲端自律規範、金管會 AI 指引，已整理成開發流程的檢查清單（下一頁），寫進 AI 會照做的規則。</a:t>
            </a:r>
          </a:p>
        </p:txBody>
      </p:sp>
      <p:sp>
        <p:nvSpPr>
          <p:cNvPr id="11" name="Oval 10"/>
          <p:cNvSpPr/>
          <p:nvPr/>
        </p:nvSpPr>
        <p:spPr>
          <a:xfrm>
            <a:off x="4233672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2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懂保險業務與在地系統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96596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FSC1 熟悉理賠、核保、核心系統與 IFRS 17，試點直接用貴公司真正在痛的流程，不必從頭解釋業務。</a:t>
            </a:r>
          </a:p>
        </p:txBody>
      </p:sp>
      <p:sp>
        <p:nvSpPr>
          <p:cNvPr id="14" name="Oval 13"/>
          <p:cNvSpPr/>
          <p:nvPr/>
        </p:nvSpPr>
        <p:spPr>
          <a:xfrm>
            <a:off x="8055863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50224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可稽核的人工關卡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3" y="1965960"/>
            <a:ext cx="3703320" cy="1600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五個關卡誰核准、什麼時候核准，全部查得到；寫程式的 AI 不能核准自己的程式。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49039"/>
            <a:ext cx="11384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我們的實作成果與現場示範【待 IT 團隊填入，填好前本頁不對外】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・已經做出來的系統或工具：名稱、給誰用、解決什麼問題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・用到的做法與量到的成效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・現場可以示範的內容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看得到的差異：保險業 AI 開發法規檢查清單，把法規要求對應到開發流程的每一步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889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檢查項目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依據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開發流程中怎麼落實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8440" y="132588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在哪一步檢查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是否屬作業委外、是否需依規定辦理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1728216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5144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雲端資料存放、雲端業者管理與查核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2295144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62072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AI 工具登錄 AI 清冊並做風險評估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2862072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29000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同上；金管會 AI 指引「治理及問責」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五個人工關卡，各有指定核准人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429000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95928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個資與客戶資料不進入 AI 可讀範圍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3995928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規格、開發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62856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程式經資安審查，出事可退回上一版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4562856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29783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指引「透明性與可解釋性」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8440" y="5129783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全程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87044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本清單為導入規劃工具，非法律意見；是否屬委外、是否需申報，依貴公司個案與實際架構判斷，並與貴公司法遵確認。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2　解決什麼問題｜Problems we solve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帶來什麼價值：每個問題都對應一個可以量測的商業成果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3　帶來什麼價值｜Value we deliver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1579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客戶問題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25880"/>
            <a:ext cx="27066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解決方式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325880"/>
            <a:ext cx="3072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商業價值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325880"/>
            <a:ext cx="33009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衡量指標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2157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需求定稿慢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28216"/>
            <a:ext cx="270662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需求說明範本＋AI 追問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728216"/>
            <a:ext cx="30723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新功能更快上線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728216"/>
            <a:ext cx="3300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從第一次討論到需求定稿的時間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423160"/>
            <a:ext cx="21579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審查排隊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423160"/>
            <a:ext cx="270662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先審、人判斷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423160"/>
            <a:ext cx="30723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工程師把時間花在需要判斷的工作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423160"/>
            <a:ext cx="33009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第一次審查的等待時間、返工次數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18104"/>
            <a:ext cx="2157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品質不穩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118104"/>
            <a:ext cx="270662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自行測試，案例綁需求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118104"/>
            <a:ext cx="30723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上線事故減少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118104"/>
            <a:ext cx="3300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上線失敗率、上線後才發現的缺陷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13048"/>
            <a:ext cx="21579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法規與稽核壓力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3813048"/>
            <a:ext cx="270662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規範規則＋自動關卡＋紀錄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3813048"/>
            <a:ext cx="30723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主管機關或稽核詢問時拿得出佐證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813048"/>
            <a:ext cx="3300984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有完整核准紀錄的改動比例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07992"/>
            <a:ext cx="2157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知識只在個人腦中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507992"/>
            <a:ext cx="270662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團隊說明檔、範本與教學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507992"/>
            <a:ext cx="30723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人員異動不影響交付，新人上手更快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4507992"/>
            <a:ext cx="3300984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新成員獨立交付第一個改動的時間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試點成功標準：開始之前，雙方先講好三個指標和合格線，達標才擴大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523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指標（可依痛點替換）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32588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怎麼量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基準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合格線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需求定稿時間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7282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從第一次討論到需求說明定稿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14016"/>
            <a:ext cx="252374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第一次審查等待時間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14016"/>
            <a:ext cx="32552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從提交程式到收到第一次審查意見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98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有完整核准紀錄的改動比例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0998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比對版本紀錄與核准紀錄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325880"/>
            <a:ext cx="2423160" cy="24688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結果怎麼用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擴大到下一個團隊。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未達標：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一起檢討原因，調整後再試或停止，不擴大。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11384280" cy="10972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為什麼這樣做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效益不先寫數字，而是試點開始前一起訂好指標和合格線；數據大多已在版本紀錄與 CI 系統中，不需要另外填表。試點結束，用同一套指標比較前後。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3　帶來什麼價值｜Value we deliver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可擴充、可複製：同一套做法從一個團隊推到全公司，下一個系統不必從頭來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4　可擴充、可複製｜Scalable and repeatable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70332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一個試點團隊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703320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用一個真實需求走完五個階段；建立範本、規範規則與團隊說明檔。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3944" y="1463040"/>
            <a:ext cx="100584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325880"/>
            <a:ext cx="3703320" cy="5486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更多團隊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920240"/>
            <a:ext cx="3703320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範本、規範規則與關卡設定直接沿用；只補該系統自己的規範與核准人。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46136" y="1463040"/>
            <a:ext cx="100584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3" y="1325880"/>
            <a:ext cx="370332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全公司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920240"/>
            <a:ext cx="3703320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集中管理設定、統一關卡與紀錄格式；AI 工具納入 AI 清冊統一管理。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91840"/>
            <a:ext cx="557784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每個客戶都一樣（直接沿用）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30752"/>
            <a:ext cx="5577840" cy="14630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✓　五階段流程與五個人工關卡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✓　需求說明、規格、實作計畫範本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✓　保險業法規檢查清單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✓　成效指標定義與教材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577840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依貴公司調整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30752"/>
            <a:ext cx="557784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●　貴公司的資安、命名與品牌規範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●　核心系統與既有工具串接（Jira、變更管理）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●　資料分級與各關卡的核准人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●　試點題目與指標基準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914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49240"/>
            <a:ext cx="11292840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延伸：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同一套做法可延伸到 IFRS 17／TW-ICS 相關系統、AI 治理，以及核保、理賠等更多業務情境。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合作方式：從準備度診斷開始，再陪貴公司做一個試點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778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準備度診斷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57784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・盤點六個階段的現況與卡點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・法規檢查：委外、雲端、AI 清冊、資料分級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・挑選試點並訂好成功標準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29000"/>
            <a:ext cx="5577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交付：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瓶頸地圖、法規檢查結果、試點建議與導入藍圖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51960"/>
            <a:ext cx="557784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建議期程：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約 4–6 週，依範圍確認；固定範圍、固定價格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77840" cy="5486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陪你做一個試點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57784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・用一個真實需求走完五個階段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・同步教會各角色，建立範本與審查規則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・用先講好的指標比較前後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29000"/>
            <a:ext cx="5577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交付：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完成的試點、成效報告、範本與規範規則、教材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51960"/>
            <a:ext cx="557784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建議期程：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約 6–8 週，依範圍確認；固定範圍、固定價格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7608" y="1463040"/>
            <a:ext cx="18288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937760"/>
            <a:ext cx="91440" cy="5943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60"/>
            <a:ext cx="11292840" cy="5943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之後：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試點達標後，依貴公司需要擴大到更多團隊；工具包授權與駐點支援等合作方式可再討論。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如何開始：三件事啟動診斷，四個階段從評估走到全公司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74320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0　準備度診斷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4320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選定試點與指標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14630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2696" y="1325880"/>
            <a:ext cx="274320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1　試點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874519"/>
            <a:ext cx="274320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指標達到合格線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14630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325880"/>
            <a:ext cx="2743200" cy="50292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2　擴大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874519"/>
            <a:ext cx="274320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管理層核准擴大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97112" y="146304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5128" y="1325880"/>
            <a:ext cx="2743200" cy="50292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3　全公司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874519"/>
            <a:ext cx="2743200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持續運作與改善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27432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606040"/>
            <a:ext cx="594360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  <a:ea typeface="微軟正黑體"/>
              </a:rPr>
              <a:t>對齊工作坊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對齊目標，從貴公司的需求清單挑 1–2 個候選試點。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611879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474720"/>
            <a:ext cx="594360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  <a:ea typeface="微軟正黑體"/>
              </a:rPr>
              <a:t>前置確認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資料分級、雲端與 AI 工具的委外安排。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448056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343400"/>
            <a:ext cx="594360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  <a:ea typeface="微軟正黑體"/>
              </a:rPr>
              <a:t>啟動診斷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確認範圍與雙方窗口，開始盤點現況。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606040"/>
            <a:ext cx="4480560" cy="25146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請貴公司提供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・資安、個資與法遵規範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49240"/>
            <a:ext cx="914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292840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 A｜示範情境：「理賠進度自助查詢」從客服痛點到上線，人只在關鍵點做決定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572768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① 提出問題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65960"/>
            <a:ext cx="1572768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理賠同仁和 AI 整理需求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需求說明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8256" y="1371600"/>
            <a:ext cx="1572768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② 接受需求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1965960"/>
            <a:ext cx="1572768" cy="1188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產品負責人決定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8256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接受紀錄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5032" y="1371600"/>
            <a:ext cx="1572768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③ 起草規格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1965960"/>
            <a:ext cx="1572768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自動套用公司規範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規格書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8" y="1371600"/>
            <a:ext cx="1572768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④ 實作計畫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965960"/>
            <a:ext cx="1572768" cy="1188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工程師核准前 AI 不能改程式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實作計畫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8584" y="1371600"/>
            <a:ext cx="1572768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⑤ 程式與測試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8584" y="1965960"/>
            <a:ext cx="1572768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自己跑測試，全過才交人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8584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測試結果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59" y="1371600"/>
            <a:ext cx="1572768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⑥ 審查上線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59" y="1965960"/>
            <a:ext cx="1572768" cy="1188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程式負責人、發布經理核准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59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核准紀錄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32136" y="1371600"/>
            <a:ext cx="1572768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⑦ 上線後監看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32136" y="1965960"/>
            <a:ext cx="1572768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異常由 AI 先診斷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32136" y="3200400"/>
            <a:ext cx="15727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事件紀錄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49039"/>
            <a:ext cx="11384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  <a:ea typeface="微軟正黑體"/>
              </a:rPr>
              <a:t>橘色＝人做決定的關卡；黑色＝AI 先做、人檢查。框線內為每一步留下的紀錄。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0624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0624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說明：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此為示範情境，取自公開的 AI 原生開發實務範例，非客戶案例；實際試點題目於診斷時與貴公司共同挑選。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 B｜資料與假設說明、來源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PwC FSC1｜AI 原生軟體開發提案｜期程為建議，效益依試點實測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84280" cy="868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資料與假設：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數字皆引自下列公開來源。期程為建議，依範圍確認；效益不預先承諾，以試點前雙方約定的指標與合格線實測。法規檢查清單為導入規劃工具，非法律意見。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31720"/>
            <a:ext cx="11384280" cy="3840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1. 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金管會保險局，IFRS 17／TW-ICS 專區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61487"/>
            <a:ext cx="11384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2.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2"/>
              </a:rPr>
              <a:t>Claims Journal，PwC 保險高階主管調查（57%），2025-11-17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91256"/>
            <a:ext cx="11384280" cy="3840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3.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3"/>
              </a:rPr>
              <a:t>Bain，Reimagining Insurance for the AI Era（引述 MIT 2025：95%）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21024"/>
            <a:ext cx="11384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4.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4"/>
              </a:rPr>
              <a:t>理律法律事務所，保險業作業委外新辦法（2025-12-31 施行）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050791"/>
            <a:ext cx="11384280" cy="3840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5.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5"/>
              </a:rPr>
              <a:t>壽險／產險公會，保險業運用人工智慧系統自律規範（2025-04-10 備查）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480559"/>
            <a:ext cx="11384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6.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6"/>
              </a:rPr>
              <a:t>壽險／產險公會，保險業作業委外使用雲端服務自律規範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910327"/>
            <a:ext cx="11384280" cy="3840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7. </a:t>
            </a: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7"/>
              </a:rPr>
              <a:t>金管會，金融業運用人工智慧（AI）指引，2024-06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340096"/>
            <a:ext cx="11384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8. 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流程概念參考：Louis Claxton，Anthropic《The AI-Native SDLC Playbook》，2026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