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【這頁的重點】30 秒開場，先講結論。</a:t>
            </a:r>
          </a:p>
          <a:p>
            <a:r>
              <a:t>【講法】「AI 寫程式的工具，各位的團隊大概都已經在用了。今天不談工具，談三件事：這套 AI 原生的開發做法在實務上怎麼跑、怎麼讓範本與規則每個案子都能沿用，以及做得快的同時，治理和人工把關放在哪裡。結論先講：從一個用例開始，做得快，也管得住。」</a:t>
            </a:r>
          </a:p>
          <a:p>
            <a:r>
              <a:t>【轉場】「我先用一頁把整件事講完，後面再展開。」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【這頁的重點】如果對方只看一頁，就是這頁：建議、三個理由、請對方決定的事、不做的代價。</a:t>
            </a:r>
          </a:p>
          <a:p>
            <a:r>
              <a:t>【講法】「我們的建議是：先做 4 到 6 週的準備度診斷，再做 6 到 8 週、一個用例的試點；達到事先講好的標準才擴大，而且範本、規則與關卡會沿用到下一個系統。理由有三個。第一，為什麼是現在：委外辦法和 AI 自律規範已經上路，AI 產出的最終責任在保險公司，流程要拿得出誰要求、AI 做了什麼、誰核准的紀錄。第二，為什麼只買工具不夠：AI 讓交付變快，但也更不穩，PwC 調查也顯示多數 CEO 還沒看到 AI 的財務效益。第三，為什麼找我們：我們自己已經這樣在做，懂保險業務與法規的 BA 和實作的 IT 是同一組人。」最後指向下方：今天想請貴公司決定的，是安排一場現場示範並選出 1–2 個候選用例；如果先不做，工具照樣擴散，但紀錄要等到金檢時再補。</a:t>
            </a:r>
          </a:p>
          <a:p>
            <a:r>
              <a:t>【轉場】「接下來四章依序展開。」</a:t>
            </a:r>
          </a:p>
          <a:p>
            <a:r>
              <a:t>【可能被問】「試點要多少錢？」→ 固定範圍、固定價格，另行報價。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【這頁的重點】說明結構與時間安排。</a:t>
            </a:r>
          </a:p>
          <a:p>
            <a:r>
              <a:t>【講法】四章加附錄：面向誰、解決什麼問題、帶來什麼價值、可擴充與可複製。時間不夠時，優先講第 02 章的解法、AI 分工與現場示範，以及第 03 章的「你買到什麼」；附錄依提問使用。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【轉場】「先講為什麼保險公司現在就要處理這件事，以及我們優先服務誰。」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【這頁的重點】保險業已經在用 AI，而且擴散很快；但 AI 寫的程式有風險，責任在保險公司。</a:t>
            </a:r>
          </a:p>
          <a:p>
            <a:r>
              <a:t>【講法】「三個數字。第一，金管會今年 10 月的調查：保險業已經有 53% 在用 AI，前年是 43%，壽險公司更高達 65%。第二，有用 AI 的金融業者裡，76% 已經導入生成式 AI，一年前還不到一半。第三，Veracode 測了 100 多個 AI 模型：AI 寫的程式，約 45% 有資安漏洞。而委外新辦法和 AI 自律規範都寫明，責任在保險公司。所以紀錄要設計進流程，不能事後補。」</a:t>
            </a:r>
          </a:p>
          <a:p>
            <a:r>
              <a:t>【可能被問】「45% 是你們測的嗎？」→ 不是，是資安公司 Veracode 2025 年的研究，來源在頁底可以點。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【這頁的重點】採購時有四種人，各自在意的事不同；我們的 BA 能直接用 AI 做出原型，這是新的做法。</a:t>
            </a:r>
          </a:p>
          <a:p>
            <a:r>
              <a:t>【講法】中間是試點，四個角落是四種人：IT 主管付錢，在意交付跟不上；業務單位在意需求來回很多輪，我們的 BA 可以用 AI 當場做出原型，一起確認需求；法遵、風控、資安握有否決權，在意出事誰負責；管理層在意回報。中間下方是新做法：前線打樣的 BA，像軟體業的「前線部署工程師」一樣，駐點在客戶現場直接做原型。最下面是我們優先找的客戶條件。</a:t>
            </a:r>
          </a:p>
          <a:p>
            <a:r>
              <a:t>【可能被問】「開發全部外包的公司呢？」→ 可以做，但要先談好外包廠商在試點中的角色（附錄試點風險）。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【轉場】「接下來講問題：工具已經普及，為什麼交付沒有跟著變好，以及我們怎麼解。」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【這頁的重點】AI 已經普及，但多數企業還沒看到錢；差別在流程與治理。</a:t>
            </a:r>
          </a:p>
          <a:p>
            <a:r>
              <a:t>【講法】上排四個數字說明普及：開發者 84% 在用或計畫用 AI；JPMorgan、Citi 已大規模導入；PwC 調查，57% 的保險業高階主管把生成式 AI 列為 2026 年首要科技投資。下排是問題：交付變快了，但也更不穩；在複雜的既有系統上，效益常常不到 10%，而保險公司的核心系統大多是這種；PwC 全球 CEO 調查，56% 的 CEO 說 AI 還沒帶來營收或成本上的明顯效益。所以導入 AI 時，需求、審查、上線與控制方式要一起改。</a:t>
            </a:r>
          </a:p>
          <a:p>
            <a:r>
              <a:t>【可能被問】「JPMorgan 不是提升 10–20%？」→ 那是個人生產力、公司自述；看整體交付和財務效益，結果就不一樣。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【這頁的重點】把開發流程串成循環，用三個機制守住；關鍵決定由人做。</a:t>
            </a:r>
          </a:p>
          <a:p>
            <a:r>
              <a:t>【講法】左邊是循環：需求分析、設計、開發、測試、上線、維運，維運發現的問題回到下一個需求。右邊是三個機制：交接靠檔案，每一步交出文件給下一步；規則自動執行，資安、個資、委外規範寫成 AI 自動套用的規則；關卡有人簽，接受需求、確認規格、核准計畫、核准合併、授權上線，五個決定由貴公司指定的人做。原則只有一句：AI 可以一路做到正式環境的門口，但不能自己開門。頁底：DORA 2026 建議的不可略過檢查點、提交前檢查、小批次與版本控制，和這三個機制一致。</a:t>
            </a:r>
          </a:p>
          <a:p>
            <a:r>
              <a:t>【可能被問】「要換掉我們現有的 Jira 或變更管理嗎？」→ 不用，關卡與紀錄接在既有工具上，診斷時確認做法。「綁哪個 AI 工具？」→ 不綁，依貴公司政策與合約選定。</a:t>
            </a:r>
          </a:p>
          <a:p>
            <a:r>
              <a:t>【轉場】「人到底在什麼時候介入？下一頁。」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【這頁的重點】第一階段從左上角開始：常發生、判斷少的工作先交給 AI；右下角永遠由人決定。</a:t>
            </a:r>
          </a:p>
          <a:p>
            <a:r>
              <a:t>【講法】依「多常發生、需要多少判斷」分四類。左上角框起來的是我們的起點：測試案例、文件、Release Note 這類，AI 先做、人確認，最快看到效果，所以第一個試點挑這類工作多的需求。右上，程式碼、API 規格，AI 起草、人逐項審。左下做成範本。右下，接受需求、核准合併、授權上線，永遠由人決定，就是五個人工關卡。分類會在診斷時依客戶的專案確認。</a:t>
            </a:r>
          </a:p>
          <a:p>
            <a:r>
              <a:t>【轉場】「實際長什麼樣子？看示範。」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【這頁的重點】不是概念：上方是同一個功能從規則到測試的文件，下方是系統自動跑畫面測試的錄影。</a:t>
            </a:r>
          </a:p>
          <a:p>
            <a:r>
              <a:t>【講法】「上面五個框是金融機構主檔這個功能：7 條業務規則，包括制裁國家建檔要主管覆核；6 份規格；每個任務寫明驗收場景，最多只能改 5 個檔案；QA 規格定了 10 個測試案例，品質閘門要求覆蓋率超過 90%；每個任務都回溯到規則代碼，制裁建檔寫入審計。下面三段錄影，點一下就會播放：系統自動跑畫面測試，包括查詢、開新增視窗、欄位檢核。」最後邀請：「現場示範可以用貴公司的一個需求走一遍。」</a:t>
            </a:r>
          </a:p>
          <a:p>
            <a:r>
              <a:t>【可能被問】「覆蓋率 90% 是實際結果嗎？」→ 那是品質閘門要求的門檻，不是已達成的結果；實際執行情形在現場示範時說明。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【轉場】「看完怎麼做，接下來講帶來什麼價值、給法遵的答案，以及你買到什麼。」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【這頁的重點】五個痛點，每個都有一個做法、一個數字驗收。</a:t>
            </a:r>
          </a:p>
          <a:p>
            <a:r>
              <a:t>【講法】由上往下：需求來回很多輪，AI 快速做出原型，業務當場確認，量需求定稿時間；審查排隊，AI 先審、人只判斷風險，量等待時間和返工次數；上線出錯，每次改動自動測試，量變更失敗率；稽核壓力，每一步自動留紀錄，量調閱佐證的時間；交付難預期，每階段交出檔案，量交付時間。試點前先量基準，不先承諾數字。</a:t>
            </a:r>
          </a:p>
          <a:p>
            <a:r>
              <a:t>【可能被問】「能保證快多少嗎？」→ 不承諾數字，用試點前後的實測證明。回收期參考：需要大量治理的大型企業，12 到 18 個月屬可接受。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【這頁的重點】金檢和內稽一定會問的五題，每一題都有做法、也留得下紀錄。</a:t>
            </a:r>
          </a:p>
          <a:p>
            <a:r>
              <a:t>【講法】逐張講：AI 工具有沒有納管？診斷時就判斷委外、登錄 AI 清冊。個資會不會進到 AI？資料分級，機密檔 AI 讀不到。上線誰核准？指定的人，AI 不能核准自己寫的程式。出事能不能退？先演練，AI 建議、人決定。事後查不查得到？所有文件都存版本。一句話：AI 的使用從個人行為變成有紀錄的流程。</a:t>
            </a:r>
          </a:p>
          <a:p>
            <a:r>
              <a:t>【建議】這頁最好在法遵在場時講，或會前先單獨給法遵看。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【這頁的重點】先診斷、再試點；成功標準事先講好，達標才擴大。</a:t>
            </a:r>
          </a:p>
          <a:p>
            <a:r>
              <a:t>【講法】左邊，準備度診斷 4–6 週：盤點現況與卡點、做法規檢查、挑第一個用例、訂成功標準；交付瓶頸地圖、法規檢查結果、用例建議與導入藍圖。中間，一個用例的試點 6–8 週：用真實需求走完循環，建立範本、規則與關卡，同時教會各角色；交付完成的試點、範本與規則、教材與成效報告。右邊是成功標準：需求定稿時間、第一次審查等待時間、返工次數；核准紀錄完整是必要條件；合格線用診斷期量到的基準在試點前約定。達標擴大，未達標就檢討後再試或停止。下方是需要貴公司配合的事項，以及我們的團隊組成；試點風險見附錄。</a:t>
            </a:r>
          </a:p>
          <a:p>
            <a:r>
              <a:t>【可能被問】「價格？」→ 固定範圍、固定價格，另行報價。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【這頁的重點】已在用的做法，加上在地法規與可稽核關卡。</a:t>
            </a:r>
          </a:p>
          <a:p>
            <a:r>
              <a:t>【講法】四個差異，每個都有證據：已經在用，見現場示範；台灣保險法規內建，見法規檢查清單；懂保險業務與在地系統，用例直接挑理賠、核保、核心系統周邊；可稽核的人工關卡，寫程式的 AI 不能核准自己的程式。和國際方案的差別：國際方案多以預建代理與藍圖為主，我們從貴公司的一個真實需求開始。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【轉場】「最後講怎麼擴大：每一步都沿用前一步的範本、規則與關卡，所以越做越快。」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【這頁的重點】每一步只承諾下一步；越往上，範本和規則越多，下一個越快。</a:t>
            </a:r>
          </a:p>
          <a:p>
            <a:r>
              <a:t>【講法】四個台階，箭頭往上：一個用例，然後驗證價值，決定擴大、調整或停止，再到相鄰用例，最後才是全公司。右邊是為什麼這樣做：風險小、成本可控、有數據才擴大、越做越快。最後一點：導入初期會先變慢一陣子，最常見的失敗是在低谷時喊停，所以成功標準和觀察期間要先講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【這頁的重點】不是概念：上方是同一個功能從規則到測試的文件，下方是系統自動跑畫面測試的錄影。</a:t>
            </a:r>
          </a:p>
          <a:p>
            <a:r>
              <a:t>【講法】「上面五個框是金融機構主檔這個功能：7 條業務規則，包括制裁國家建檔要主管覆核；6 份規格；每個任務寫明驗收場景，最多只能改 5 個檔案；QA 規格定了 10 個測試案例，品質閘門要求覆蓋率超過 90%；每個任務都回溯到規則代碼，制裁建檔寫入審計。下面三段錄影，點一下就會播放：系統自動跑畫面測試，包括查詢、開新增視窗、欄位檢核。」最後邀請：「現場示範可以用貴公司的一個需求走一遍。」</a:t>
            </a:r>
          </a:p>
          <a:p>
            <a:r>
              <a:t>【可能被問】「覆蓋率 90% 是實際結果嗎？」→ 那是品質閘門要求的門檻，不是已達成的結果；實際執行情形在現場示範時說明。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【用途】附錄依提問使用，不主動講。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【用途】對方想看一個完整流程的例子時使用。說明每個階段導入前後的差別，以及由誰決定。這是改編自公開範例的示意，不是客戶案例。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【用途】被問「之後能延伸到哪裡」時使用：同一客戶的其他系統、新制專案、AI 治理、其他保險公司、其他金融業，各有沿用的資產與前提。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【用途】被問到競爭對手時使用。這些都是業者公開資訊，規模與期程數字為業者自述。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【用途】法遵追問條文時使用。說明每條規範在開發流程的哪一步落實。這是導入規劃工具，不是法律意見，草稿待法遵確認。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【用途】示範之後，法遵或稽核想看證據時使用。從任一條業務規則，都能找到對應的使用案例、測試案例與開發任務。也可以強調：缺口一眼看得出來，例如有兩條規則還沒有對應的測試。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【用途】被問「會出什麼問題」時使用。五個風險各有提早發現的訊號、事前降低的做法、發生時的應變與負責人。正式清單於診斷時與貴公司共同確認。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【用途】被問數字出處時使用。−1.5%、−7.2% 是 AI 採用率每增加 25% 的模型估計；JPMorgan 數字為公司自述。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ctee.com.tw/news/20261016700947-430301" TargetMode="External"/><Relationship Id="rId3" Type="http://schemas.openxmlformats.org/officeDocument/2006/relationships/hyperlink" Target="https://udn.com/news/story/7239/9817114" TargetMode="External"/><Relationship Id="rId4" Type="http://schemas.openxmlformats.org/officeDocument/2006/relationships/hyperlink" Target="https://www.veracode.com/press-release/ai-generated-code-poses-major-security-risks-in-nearly-half-of-all-development-tasks-veracode-research-reveals/" TargetMode="Externa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finance.yahoo.com/news/jpmorgan-engineers-efficiency-jumps-much-190410471.html" TargetMode="External"/><Relationship Id="rId4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5" Type="http://schemas.openxmlformats.org/officeDocument/2006/relationships/hyperlink" Target="https://amp.claimsjournal.com/news/national/2025/11/17/334094.htm" TargetMode="External"/><Relationship Id="rId6" Type="http://schemas.openxmlformats.org/officeDocument/2006/relationships/hyperlink" Target="https://www.pwc.com/gx/en/ceo-survey/2026/pwc-ceo-survey-2026.pdf" TargetMode="External"/><Relationship Id="rId7" Type="http://schemas.openxmlformats.org/officeDocument/2006/relationships/hyperlink" Target="https://cloud.google.com/blog/products/ai-machine-learning/announcing-the-2025-dora-report" TargetMode="External"/><Relationship Id="rId8" Type="http://schemas.openxmlformats.org/officeDocument/2006/relationships/hyperlink" Target="https://softwareengineeringproductivity.stanford.edu" TargetMode="External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microsoft.com/office/2007/relationships/media" Target="../media/media1.mp4"/><Relationship Id="rId8" Type="http://schemas.openxmlformats.org/officeDocument/2006/relationships/video" Target="../media/media1.mp4"/><Relationship Id="rId9" Type="http://schemas.openxmlformats.org/officeDocument/2006/relationships/image" Target="../media/image10.png"/><Relationship Id="rId10" Type="http://schemas.microsoft.com/office/2007/relationships/media" Target="../media/media2.mp4"/><Relationship Id="rId11" Type="http://schemas.openxmlformats.org/officeDocument/2006/relationships/video" Target="../media/media2.mp4"/><Relationship Id="rId12" Type="http://schemas.openxmlformats.org/officeDocument/2006/relationships/image" Target="../media/image11.png"/><Relationship Id="rId13" Type="http://schemas.microsoft.com/office/2007/relationships/media" Target="../media/media3.mp4"/><Relationship Id="rId14" Type="http://schemas.openxmlformats.org/officeDocument/2006/relationships/video" Target="../media/media3.mp4"/><Relationship Id="rId15" Type="http://schemas.openxmlformats.org/officeDocument/2006/relationships/image" Target="../media/image12.png"/><Relationship Id="rId1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deloitte.com/global/en/what-we-do/capabilities/agentic-ai-blueprint-for-insurance.html" TargetMode="External"/><Relationship Id="rId3" Type="http://schemas.openxmlformats.org/officeDocument/2006/relationships/hyperlink" Target="https://sas.com/nl_nl/news/press-releases/2022/may/deloitte-partners-with-sas-to-power-ifrs-17-accelerator-solution.html" TargetMode="External"/><Relationship Id="rId4" Type="http://schemas.openxmlformats.org/officeDocument/2006/relationships/hyperlink" Target="https://sas.com/en_ca/news/press-releases/2022/september/pvi-insurance-deploys-kpmg-ifrs-17-express.html" TargetMode="External"/><Relationship Id="rId5" Type="http://schemas.openxmlformats.org/officeDocument/2006/relationships/hyperlink" Target="https://www.capgemini.com/wp-content/uploads/2026/10/GW-datasheet_Final-version.pdf" TargetMode="External"/><Relationship Id="rId6" Type="http://schemas.openxmlformats.org/officeDocument/2006/relationships/hyperlink" Target="https://www.wtwco.com/en-gh/news/2025/10/wtw-launch-of-radar-5-with-gen-ai-capability-marks-a-major-milestone-in-insurance-pricing" TargetMode="External"/><Relationship Id="rId7" Type="http://schemas.openxmlformats.org/officeDocument/2006/relationships/hyperlink" Target="https://www.mckinsey.com/industries/financial-services/our-insights/can-agentic-ai-finally-modernize-core-technologies-in-insurance" TargetMode="External"/><Relationship Id="rId8" Type="http://schemas.openxmlformats.org/officeDocument/2006/relationships/hyperlink" Target="https://www.bcg.com/assets/2026/executive-perspectives-ai-first-companies-win-the-future-property-casualty-insurance.pdf" TargetMode="External"/><Relationship Id="rId9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cloud.google.com/blog/products/devops-sre/announcing-the-2024-dora-report" TargetMode="External"/><Relationship Id="rId4" Type="http://schemas.openxmlformats.org/officeDocument/2006/relationships/hyperlink" Target="https://cloud.google.com/blog/products/ai-machine-learning/announcing-the-2025-dora-report" TargetMode="External"/><Relationship Id="rId5" Type="http://schemas.openxmlformats.org/officeDocument/2006/relationships/hyperlink" Target="https://services.google.com/fh/files/misc/dora-roi-of-ai-assisted-software-development-2026.pdf" TargetMode="External"/><Relationship Id="rId6" Type="http://schemas.openxmlformats.org/officeDocument/2006/relationships/hyperlink" Target="https://www.infoq.com/news/2025/09/dora-state-of-ai-in-dev-2025" TargetMode="External"/><Relationship Id="rId7" Type="http://schemas.openxmlformats.org/officeDocument/2006/relationships/hyperlink" Target="https://finance.yahoo.com/news/jpmorgan-engineers-efficiency-jumps-much-190410471.html" TargetMode="External"/><Relationship Id="rId8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9" Type="http://schemas.openxmlformats.org/officeDocument/2006/relationships/hyperlink" Target="https://amp.claimsjournal.com/news/national/2025/11/17/334094.htm" TargetMode="External"/><Relationship Id="rId10" Type="http://schemas.openxmlformats.org/officeDocument/2006/relationships/hyperlink" Target="https://www.ctee.com.tw/news/20261016700947-430301" TargetMode="External"/><Relationship Id="rId11" Type="http://schemas.openxmlformats.org/officeDocument/2006/relationships/hyperlink" Target="https://www.veracode.com/press-release/ai-generated-code-poses-major-security-risks-in-nearly-half-of-all-development-tasks-veracode-research-reveals/" TargetMode="External"/><Relationship Id="rId12" Type="http://schemas.openxmlformats.org/officeDocument/2006/relationships/hyperlink" Target="https://www.pwc.com/gx/en/ceo-survey/2026/pwc-ceo-survey-2026.pdf" TargetMode="External"/><Relationship Id="rId13" Type="http://schemas.openxmlformats.org/officeDocument/2006/relationships/hyperlink" Target="https://hai.stanford.edu/ai-index/2025-ai-index-report" TargetMode="External"/><Relationship Id="rId14" Type="http://schemas.openxmlformats.org/officeDocument/2006/relationships/hyperlink" Target="https://www.mckinsey.com/capabilities/tech-and-ai/our-insights/the-top-trends-in-tech" TargetMode="External"/><Relationship Id="rId15" Type="http://schemas.openxmlformats.org/officeDocument/2006/relationships/hyperlink" Target="https://www.allenandgledhill.com/sg/publication/articles/29565/mas-publishes-information-paper-on-ai-model-risk-management" TargetMode="External"/><Relationship Id="rId16" Type="http://schemas.openxmlformats.org/officeDocument/2006/relationships/hyperlink" Target="https://www.leeandli.com/TW/Newsletters/7525.htm" TargetMode="External"/><Relationship Id="rId17" Type="http://schemas.openxmlformats.org/officeDocument/2006/relationships/hyperlink" Target="https://law.lia-roc.org.tw/Law/GetFile/0000394231" TargetMode="External"/><Relationship Id="rId18" Type="http://schemas.openxmlformats.org/officeDocument/2006/relationships/hyperlink" Target="https://www.fsc.gov.tw/websitedowndoc?file=chfsc/202408231741530.pdf" TargetMode="External"/><Relationship Id="rId19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原生開發：</a:t>
            </a:r>
          </a:p>
          <a:p>
            <a:r>
              <a:rPr sz="2800">
                <a:latin typeface="Georgia"/>
                <a:ea typeface="微軟正黑體"/>
              </a:rPr>
              <a:t>做得快，也管得住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Georgia"/>
                <a:ea typeface="微軟正黑體"/>
              </a:rPr>
              <a:t>從框架到實務：可重複的流程、內建治理、關鍵決定由人做</a:t>
            </a:r>
          </a:p>
          <a:p>
            <a:r>
              <a:rPr sz="1200">
                <a:latin typeface="Georgia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一頁看懂：做得快也管得住，從一個用例開始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提案摘要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先做 4–6 週診斷與 6–8 週單一用例試點；達標後，範本、規則與關卡沿用到下一個系統。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為什麼是現在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委外新辦法與 AI 自律規範已上路，AI 產出的最終責任在保險公司；開發流程要拿得出「誰要求、AI 做了什麼、誰核准」的紀錄。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5、14 頁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233672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為什麼只買工具不夠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國際研究：AI 讓交付變快，但也更不穩；PwC 調查也顯示，多數 CEO 還沒看到 AI 的財務效益。差別在流程與治理。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33672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8 頁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8055863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為什麼找我們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055863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FSC1 自己已經用這套流程開發；懂保險業務與法規的 BA 和實作的 IT 同一組人，從貴公司的一個真實需求開始。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55863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11、16 頁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489704"/>
            <a:ext cx="91440" cy="12294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502920" y="4489704"/>
            <a:ext cx="5577840" cy="12294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請貴公司決定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安排一場現場示範，指定 IT 與業務窗口，選出 1–2 個候選用例，啟動準備度診斷。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217920" y="4489704"/>
            <a:ext cx="5577840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595959"/>
                </a:solidFill>
                <a:latin typeface="Georgia"/>
                <a:ea typeface="微軟正黑體"/>
              </a:rPr>
              <a:t>如果先不做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AI 工具照樣在開發團隊擴散，但流程與紀錄沒跟上；等到金檢或內稽時再補紀錄，成本更高、風險更大。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" y="466344"/>
            <a:ext cx="7315200" cy="758952"/>
          </a:xfrm>
        </p:spPr>
        <p:txBody>
          <a:bodyPr/>
          <a:lstStyle/>
          <a:p>
            <a:r>
              <a:rPr b="1">
                <a:latin typeface="Georgia"/>
                <a:ea typeface="微軟正黑體"/>
              </a:rPr>
              <a:t>議程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議程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38912" y="1243584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為什麼現在要做、怎麼落地、帶來什麼價值，以及怎麼做成可沿用的做法。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82597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" y="231060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325880" y="173403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面向誰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173403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保險公司為什麼現在要做、優先服務誰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32720" y="173403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4–6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263147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0100" y="3116108"/>
            <a:ext cx="0" cy="339160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325880" y="253953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解決什麼問題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3953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全球趨勢與只買工具為什麼不夠、我們的解法、AI 分工、現場示範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253953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7–11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4369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0100" y="3921612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325880" y="3345041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帶來什麼價值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345041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價值與衡量、給法遵與風控、你買到什麼、為什麼選我們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0" y="3345041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12–16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24248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00100" y="472711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325880" y="415054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可擴充、可複製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60" y="415054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做成可沿用的做法：逐步擴大、如何開始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32720" y="415054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17–19</a:t>
            </a:r>
          </a:p>
        </p:txBody>
      </p:sp>
      <p:sp>
        <p:nvSpPr>
          <p:cNvPr id="28" name="Oval 27"/>
          <p:cNvSpPr/>
          <p:nvPr/>
        </p:nvSpPr>
        <p:spPr>
          <a:xfrm>
            <a:off x="548640" y="504798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25880" y="495604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495604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示範情境、延伸方式、同業參考、法規清單、示範追溯、試點風險、資料來源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332720" y="495604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20–27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右側數字為頁碼。頁面右上方標示「建議」「示意」「假設」「待確認」者為建議或示意內容；未標示者為有來源的事實或既有設計。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面向誰</a:t>
            </a:r>
          </a:p>
          <a:p>
            <a:r>
              <a:rPr sz="3000">
                <a:latin typeface="Georgia"/>
                <a:ea typeface="微軟正黑體"/>
              </a:rPr>
              <a:t>Who we serve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01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保險公司現在就要把 AI 治理設計進開發流程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保險業過半已在用 AI，生成式 AI 快速擴散；但 AI 寫的程式近半有資安漏洞，而責任在保險公司。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保險業已在用 AI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2024 年是 43%；壽險公司更高達 65%。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金管會 2026-10 調查（工商時報）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45864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生成式 AI 擴散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45864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76%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245864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有用 AI 的金融業者中，已導入生成式 AI 的比例；一年前是 48%。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245864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金管會 2026-10 調查（聯合報）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80247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寫的程式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8080247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45%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080247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含有資安漏洞。測了 100 多個 AI 模型、80 個寫程式任務。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080247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Veracode，2025-07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516802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502920" y="516802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責任在誰：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委外新辦法（2025 年底施行）和 AI 自律規範都寫明，AI 產出的最終責任在保險公司。紀錄要設計進流程，不能事後補。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優先客群：有自建開發團隊的壽險與產險公司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依經驗推估：IT 主管決策與付費，法遵、風控與資安握有否決權；決策鏈需在診斷訪談中確認。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假設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IT／數位主管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決策與付費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交付跟不上，AI 用了卻沒變快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一個看得到數字的試點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7589520" y="1691640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業務單位主管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提需求、共同贊助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需求來回很多輪，上線時間說不準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BA 用 AI 當場做出原型，一起確認需求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3641805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法遵、風控、資安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握有否決權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委外、個資、AI 出事誰負責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法規清單、人工關卡、完整紀錄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589520" y="3641805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管理層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核准預算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AI 花了錢要看到回報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小範圍起步，成功標準先講好</a:t>
            </a:r>
          </a:p>
        </p:txBody>
      </p:sp>
      <p:sp>
        <p:nvSpPr>
          <p:cNvPr id="310" name="Oval 309"/>
          <p:cNvSpPr/>
          <p:nvPr/>
        </p:nvSpPr>
        <p:spPr>
          <a:xfrm>
            <a:off x="5230368" y="1713253"/>
            <a:ext cx="1737360" cy="173736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1" name="Rectangle 310"/>
          <p:cNvSpPr/>
          <p:nvPr/>
        </p:nvSpPr>
        <p:spPr>
          <a:xfrm>
            <a:off x="5230368" y="2200378"/>
            <a:ext cx="1737360" cy="7631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保險公司的</a:t>
            </a:r>
          </a:p>
          <a:p>
            <a:pPr algn="ctr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AI 開發試點</a:t>
            </a:r>
          </a:p>
        </p:txBody>
      </p:sp>
      <p:cxnSp>
        <p:nvCxnSpPr>
          <p:cNvPr id="312" name="Connector 311"/>
          <p:cNvCxnSpPr/>
          <p:nvPr/>
        </p:nvCxnSpPr>
        <p:spPr>
          <a:xfrm>
            <a:off x="4617720" y="2412353"/>
            <a:ext cx="640080" cy="127185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H="1">
            <a:off x="6949440" y="2412353"/>
            <a:ext cx="640080" cy="127185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V="1">
            <a:off x="4617720" y="3217856"/>
            <a:ext cx="822960" cy="805504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H="1" flipV="1">
            <a:off x="6766560" y="3217856"/>
            <a:ext cx="822960" cy="805504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6" name="Rectangle 315"/>
          <p:cNvSpPr/>
          <p:nvPr/>
        </p:nvSpPr>
        <p:spPr>
          <a:xfrm>
            <a:off x="4754880" y="3938570"/>
            <a:ext cx="2697480" cy="1187057"/>
          </a:xfrm>
          <a:prstGeom prst="rect">
            <a:avLst/>
          </a:prstGeom>
          <a:solidFill>
            <a:srgbClr val="FFE8D4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新做法：前線打樣的 BA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我們的 BA 駐點客戶現場，用 AI 直接做出可操作的原型，類似軟體業的「前線部署工程師」做法。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5337602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優先客群：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有自己或駐點的開發團隊；已有版本控制與 CI；近期有新制或核心系統周邊的開發需求。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解決什麼問題</a:t>
            </a:r>
          </a:p>
          <a:p>
            <a:r>
              <a:rPr sz="3000">
                <a:latin typeface="Georgia"/>
                <a:ea typeface="微軟正黑體"/>
              </a:rPr>
              <a:t>Problems we solve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02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已普及，但交付沒有跟著變好：AI 放大原有的流程與治理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已經普及，但多數企業還沒看到財務效益；差別在流程與治理，不在工具。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開發者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073194"/>
            <a:ext cx="2777489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328041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JPMorgan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3280410" y="2073194"/>
            <a:ext cx="2777489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10–20%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614934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Citi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6149340" y="2073194"/>
            <a:ext cx="2777489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9018269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保險業高階主管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9018269" y="2073194"/>
            <a:ext cx="2777489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57%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 AI 列為 2026 年首要科技投資（PwC 調查）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交付：快了，但更不穩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↑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交付速度變快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↓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交付穩定度下降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233672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舊系統的效益比較小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35–40%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10%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8055863" y="3217856"/>
            <a:ext cx="370332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CEO 怎麼說（PwC 調查）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56%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057795"/>
            <a:ext cx="9144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502920" y="5057795"/>
            <a:ext cx="1129284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效益取決於流程與治理，不取決於買了哪個工具。導入 AI 時，需求、審查、上線與控制方式要一起改，這正是我們協助的部分。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736114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Stack Overflow 2025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JPMorgan（Yahoo Finance）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Citi（Deloitte Insights）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PwC 保險高階主管調查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6"/>
              </a:rPr>
              <a:t>PwC 第 29 屆全球 CEO 調查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99048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/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7"/>
              </a:rPr>
              <a:t>交付速度與穩定度：Google DORA 2025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8"/>
              </a:rPr>
              <a:t>既有系統效益：Stanford 軟體工程生產力研究（經 DORA 2026 引用）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我們的解法：把開發流程串成循環，用三個機制守住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參與每一步；接受需求、核准合併、授權上線等五個關鍵決定，由貴公司指定的人做。</a:t>
            </a:r>
          </a:p>
        </p:txBody>
      </p:sp>
      <p:cxnSp>
        <p:nvCxnSpPr>
          <p:cNvPr id="305" name="Connector 304"/>
          <p:cNvCxnSpPr/>
          <p:nvPr/>
        </p:nvCxnSpPr>
        <p:spPr>
          <a:xfrm>
            <a:off x="2514600" y="2115589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702440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H="1">
            <a:off x="2514600" y="4023360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H="1" flipV="1">
            <a:off x="1326759" y="4023360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326759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326759" y="2115589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Oval 310"/>
          <p:cNvSpPr/>
          <p:nvPr/>
        </p:nvSpPr>
        <p:spPr>
          <a:xfrm>
            <a:off x="1828800" y="2701636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828800" y="3048277"/>
            <a:ext cx="137160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參與每一步</a:t>
            </a:r>
          </a:p>
        </p:txBody>
      </p:sp>
      <p:sp>
        <p:nvSpPr>
          <p:cNvPr id="313" name="Oval 312"/>
          <p:cNvSpPr/>
          <p:nvPr/>
        </p:nvSpPr>
        <p:spPr>
          <a:xfrm>
            <a:off x="2080260" y="1681249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4" name="Rectangle 313"/>
          <p:cNvSpPr/>
          <p:nvPr/>
        </p:nvSpPr>
        <p:spPr>
          <a:xfrm>
            <a:off x="2080260" y="1903614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5" name="Oval 314"/>
          <p:cNvSpPr/>
          <p:nvPr/>
        </p:nvSpPr>
        <p:spPr>
          <a:xfrm>
            <a:off x="3268100" y="2317172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6" name="Rectangle 315"/>
          <p:cNvSpPr/>
          <p:nvPr/>
        </p:nvSpPr>
        <p:spPr>
          <a:xfrm>
            <a:off x="3268100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7" name="Oval 316"/>
          <p:cNvSpPr/>
          <p:nvPr/>
        </p:nvSpPr>
        <p:spPr>
          <a:xfrm>
            <a:off x="3268100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3268100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Oval 318"/>
          <p:cNvSpPr/>
          <p:nvPr/>
        </p:nvSpPr>
        <p:spPr>
          <a:xfrm>
            <a:off x="2080260" y="4224943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0" name="Rectangle 319"/>
          <p:cNvSpPr/>
          <p:nvPr/>
        </p:nvSpPr>
        <p:spPr>
          <a:xfrm>
            <a:off x="2080260" y="4447309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1" name="Oval 320"/>
          <p:cNvSpPr/>
          <p:nvPr/>
        </p:nvSpPr>
        <p:spPr>
          <a:xfrm>
            <a:off x="892419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892419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3" name="Oval 322"/>
          <p:cNvSpPr/>
          <p:nvPr/>
        </p:nvSpPr>
        <p:spPr>
          <a:xfrm>
            <a:off x="892419" y="2317172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892419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75488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機制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355080" y="1691640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怎麼運作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解決的問題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54880" y="2064715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交接靠檔案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355080" y="2064715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2064715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需求反覆、交接失真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754880" y="3014361"/>
            <a:ext cx="15636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規則自動執行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355080" y="3014361"/>
            <a:ext cx="352958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21240" y="3014361"/>
            <a:ext cx="1837943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合規與品質靠個人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754880" y="3964007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關卡有人簽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355080" y="3964007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9921240" y="3964007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怕失控、稽核查不到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295207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295207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可以一路做到正式環境、把上線準備好，但不能自己按下上線。本方法不綁特定 AI 工具，依貴公司政策與合約選定。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流程整合自 FSC1〈AI 協作開發流程與產出範本〉v3。國際研究也建議用不可略過的檢查點、提交前自動檢查、小批次與版本控制，承接 AI 帶來的審查負擔（附錄 G）。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分工：重複、判斷少的先交給 AI；關鍵決定永遠由人做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依任務「多常發生 × 需要判斷」分四類；第一個試點用例，優先挑左上角工作多的需求。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51560" y="1734034"/>
            <a:ext cx="3291840" cy="1822981"/>
          </a:xfrm>
          <a:prstGeom prst="rect">
            <a:avLst/>
          </a:prstGeom>
          <a:solidFill>
            <a:srgbClr val="FFE8D4"/>
          </a:solidFill>
          <a:ln w="3810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6" name="Rectangle 305"/>
          <p:cNvSpPr/>
          <p:nvPr/>
        </p:nvSpPr>
        <p:spPr>
          <a:xfrm>
            <a:off x="1161288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先做，人確認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161288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欄位清單、Test Case、Test Data、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Unit Test、註解與文件、Release Note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98264" y="1734034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9" name="Rectangle 308"/>
          <p:cNvSpPr/>
          <p:nvPr/>
        </p:nvSpPr>
        <p:spPr>
          <a:xfrm>
            <a:off x="4507992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起草，人逐項審查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507992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程式碼、API 規格、ERD、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Code Review 風險檢查、測試失敗原因分析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051560" y="3607889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161288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做成範本，重複使用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1161288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Deploy Guide、User Guide、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Migration Script、部署腳本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398264" y="3607889"/>
            <a:ext cx="3291840" cy="182298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4507992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人決定，AI 只提供資料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507992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接受需求、架構選型、核准合併、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授權上線、事件處置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3108960" y="1818824"/>
            <a:ext cx="1143000" cy="288285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★ 從這裡開始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1734034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3607889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5464786"/>
            <a:ext cx="6638544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001000" y="1734034"/>
            <a:ext cx="379476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第一階段：從左上角開始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001000" y="2242773"/>
            <a:ext cx="3794760" cy="3222013"/>
          </a:xfrm>
          <a:prstGeom prst="rect">
            <a:avLst/>
          </a:prstGeom>
          <a:solidFill>
            <a:srgbClr val="FFE8D4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① 先挑左上角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第一個試點，挑這類工作多的需求：AI 先做、人確認，最快看到效果。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② 右下角永遠由人決定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接受需求、核准合併、授權上線，就是五個人工關卡（第 9 頁）。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③ 依實際專案調整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分類在診斷時，依貴公司的專案與規範確認（第 15 頁）。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FSC1 開發流程實務；方法參考 MIT Sloan Management Review，2024。分類為初步判斷。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現場示範：再保險系統主檔模組，從業務規則到上線畫面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 FSC1 IT 團隊的實作為例：規則、規格、任務與測試一路相連；下方錄影是系統自動跑的畫面測試。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1　需求說明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08" name="Picture 307" descr="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91" y="2098631"/>
            <a:ext cx="2074881" cy="1517737"/>
          </a:xfrm>
          <a:prstGeom prst="rect">
            <a:avLst/>
          </a:prstGeom>
        </p:spPr>
      </p:pic>
      <p:sp>
        <p:nvSpPr>
          <p:cNvPr id="309" name="Rectangle 308"/>
          <p:cNvSpPr/>
          <p:nvPr/>
        </p:nvSpPr>
        <p:spPr>
          <a:xfrm>
            <a:off x="411480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7 條業務規則，含制裁主管覆核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2　規格與規範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706624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2" name="Picture 311" descr="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1035" y="2098631"/>
            <a:ext cx="2074881" cy="1517737"/>
          </a:xfrm>
          <a:prstGeom prst="rect">
            <a:avLst/>
          </a:prstGeom>
        </p:spPr>
      </p:pic>
      <p:sp>
        <p:nvSpPr>
          <p:cNvPr id="313" name="Rectangle 312"/>
          <p:cNvSpPr/>
          <p:nvPr/>
        </p:nvSpPr>
        <p:spPr>
          <a:xfrm>
            <a:off x="2706624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6 份規格，各有審閱週期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5001768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3　實作計畫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001768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6" name="Picture 315" descr="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6179" y="2098631"/>
            <a:ext cx="2074881" cy="1517737"/>
          </a:xfrm>
          <a:prstGeom prst="rect">
            <a:avLst/>
          </a:prstGeom>
        </p:spPr>
      </p:pic>
      <p:sp>
        <p:nvSpPr>
          <p:cNvPr id="317" name="Rectangle 316"/>
          <p:cNvSpPr/>
          <p:nvPr/>
        </p:nvSpPr>
        <p:spPr>
          <a:xfrm>
            <a:off x="5001768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列明驗收場景，最多改 5 個檔案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296912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4　程式與測試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296912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0" name="Picture 319" descr="st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1323" y="2098631"/>
            <a:ext cx="2074881" cy="1517737"/>
          </a:xfrm>
          <a:prstGeom prst="rect">
            <a:avLst/>
          </a:prstGeom>
        </p:spPr>
      </p:pic>
      <p:sp>
        <p:nvSpPr>
          <p:cNvPr id="321" name="Rectangle 320"/>
          <p:cNvSpPr/>
          <p:nvPr/>
        </p:nvSpPr>
        <p:spPr>
          <a:xfrm>
            <a:off x="7296912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10 個測試案例；閘門要求覆蓋率 &gt; 90%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9592056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5　追溯與紀錄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9592056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4" name="Picture 323" descr="step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56467" y="2098631"/>
            <a:ext cx="2074881" cy="1517737"/>
          </a:xfrm>
          <a:prstGeom prst="rect">
            <a:avLst/>
          </a:prstGeom>
        </p:spPr>
      </p:pic>
      <p:sp>
        <p:nvSpPr>
          <p:cNvPr id="325" name="Rectangle 324"/>
          <p:cNvSpPr/>
          <p:nvPr/>
        </p:nvSpPr>
        <p:spPr>
          <a:xfrm>
            <a:off x="9592056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任務回溯規則代碼，寫入審計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277729"/>
            <a:ext cx="3703320" cy="1373595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7" name="video_countries.mp4">
            <a:hlinkClick r:id="" action="ppaction://media"/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1087387" y="4303166"/>
            <a:ext cx="2351504" cy="1322721"/>
          </a:xfrm>
          <a:prstGeom prst="rect">
            <a:avLst/>
          </a:prstGeom>
        </p:spPr>
      </p:pic>
      <p:sp>
        <p:nvSpPr>
          <p:cNvPr id="328" name="Rectangle 327"/>
          <p:cNvSpPr/>
          <p:nvPr/>
        </p:nvSpPr>
        <p:spPr>
          <a:xfrm>
            <a:off x="411480" y="5668282"/>
            <a:ext cx="370332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國家選單：查詢、新增、欄位檢核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233672" y="4277729"/>
            <a:ext cx="3703320" cy="1373595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30" name="video_regions.mp4">
            <a:hlinkClick r:id="" action="ppaction://media"/>
          </p:cNvPr>
          <p:cNvPicPr>
            <a:picLocks noChangeAspect="1"/>
          </p:cNvPicPr>
          <p:nvPr>
            <a:videoFile r:link="rId11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4909579" y="4303166"/>
            <a:ext cx="2351504" cy="1322721"/>
          </a:xfrm>
          <a:prstGeom prst="rect">
            <a:avLst/>
          </a:prstGeom>
        </p:spPr>
      </p:pic>
      <p:sp>
        <p:nvSpPr>
          <p:cNvPr id="331" name="Rectangle 330"/>
          <p:cNvSpPr/>
          <p:nvPr/>
        </p:nvSpPr>
        <p:spPr>
          <a:xfrm>
            <a:off x="4233672" y="5668282"/>
            <a:ext cx="370332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區域選單：新增與提醒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8055863" y="4277729"/>
            <a:ext cx="3703320" cy="1373595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33" name="video_currencies.mp4">
            <a:hlinkClick r:id="" action="ppaction://media"/>
          </p:cNvPr>
          <p:cNvPicPr>
            <a:picLocks noChangeAspect="1"/>
          </p:cNvPicPr>
          <p:nvPr>
            <a:videoFile r:link="rId14"/>
            <p:extLst>
              <p:ext uri="{DAA4B4D4-6D71-4841-9C94-3DE7FCFB9230}">
                <p14:media xmlns:p14="http://schemas.microsoft.com/office/powerpoint/2010/main" r:embed="rId13"/>
              </p:ext>
            </p:extLst>
          </p:nvPr>
        </p:nvPicPr>
        <p:blipFill>
          <a:blip r:embed="rId15"/>
          <a:stretch>
            <a:fillRect/>
          </a:stretch>
        </p:blipFill>
        <p:spPr>
          <a:xfrm>
            <a:off x="8731771" y="4303166"/>
            <a:ext cx="2351504" cy="1322721"/>
          </a:xfrm>
          <a:prstGeom prst="rect">
            <a:avLst/>
          </a:prstGeom>
        </p:spPr>
      </p:pic>
      <p:sp>
        <p:nvSpPr>
          <p:cNvPr id="334" name="Rectangle 333"/>
          <p:cNvSpPr/>
          <p:nvPr/>
        </p:nvSpPr>
        <p:spPr>
          <a:xfrm>
            <a:off x="8055863" y="5668282"/>
            <a:ext cx="370332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結算幣別選單：查詢結果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上方為 TASK-000013「金融機構主檔」任務包原文節錄；下方為同一系統自動執行畫面測試的錄影（點擊播放，測試資料）。追溯表見附錄 E。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27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330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333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帶來什麼價值</a:t>
            </a:r>
          </a:p>
          <a:p>
            <a:r>
              <a:rPr sz="3000">
                <a:latin typeface="Georgia"/>
                <a:ea typeface="微軟正黑體"/>
              </a:rPr>
              <a:t>Value we deliver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03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帶來什麼價值：每個痛點對應一項成果與衡量指標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很快就能做出原型，需求、審查、測試都跟著變快；每一項都用一個數字驗收。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51460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595959"/>
                </a:solidFill>
                <a:latin typeface="Georgia"/>
                <a:ea typeface="微軟正黑體"/>
              </a:rPr>
              <a:t>需求來回很多輪</a:t>
            </a:r>
          </a:p>
        </p:txBody>
      </p:sp>
      <p:sp>
        <p:nvSpPr>
          <p:cNvPr id="307" name="Right Arrow 306"/>
          <p:cNvSpPr/>
          <p:nvPr/>
        </p:nvSpPr>
        <p:spPr>
          <a:xfrm>
            <a:off x="3017520" y="1895135"/>
            <a:ext cx="365760" cy="237411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3474720" y="1691640"/>
            <a:ext cx="525780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AI 快速做出原型，業務當場確認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8823960" y="1691640"/>
            <a:ext cx="2971800" cy="635923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量：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需求定稿時間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429311"/>
            <a:ext cx="251460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595959"/>
                </a:solidFill>
                <a:latin typeface="Georgia"/>
                <a:ea typeface="微軟正黑體"/>
              </a:rPr>
              <a:t>審查排隊</a:t>
            </a:r>
          </a:p>
        </p:txBody>
      </p:sp>
      <p:sp>
        <p:nvSpPr>
          <p:cNvPr id="311" name="Right Arrow 310"/>
          <p:cNvSpPr/>
          <p:nvPr/>
        </p:nvSpPr>
        <p:spPr>
          <a:xfrm>
            <a:off x="3017520" y="2632806"/>
            <a:ext cx="365760" cy="237411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3474720" y="2429311"/>
            <a:ext cx="525780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AI 先審，人只判斷風險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823960" y="2429311"/>
            <a:ext cx="2971800" cy="635923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量：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審查等待時間、返工次數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166982"/>
            <a:ext cx="251460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595959"/>
                </a:solidFill>
                <a:latin typeface="Georgia"/>
                <a:ea typeface="微軟正黑體"/>
              </a:rPr>
              <a:t>上線出錯</a:t>
            </a:r>
          </a:p>
        </p:txBody>
      </p:sp>
      <p:sp>
        <p:nvSpPr>
          <p:cNvPr id="315" name="Right Arrow 314"/>
          <p:cNvSpPr/>
          <p:nvPr/>
        </p:nvSpPr>
        <p:spPr>
          <a:xfrm>
            <a:off x="3017520" y="3370478"/>
            <a:ext cx="365760" cy="237411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3474720" y="3166982"/>
            <a:ext cx="525780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每次改動都自動測試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8823960" y="3166982"/>
            <a:ext cx="2971800" cy="635923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量：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變更失敗率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904654"/>
            <a:ext cx="251460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595959"/>
                </a:solidFill>
                <a:latin typeface="Georgia"/>
                <a:ea typeface="微軟正黑體"/>
              </a:rPr>
              <a:t>稽核壓力</a:t>
            </a:r>
          </a:p>
        </p:txBody>
      </p:sp>
      <p:sp>
        <p:nvSpPr>
          <p:cNvPr id="319" name="Right Arrow 318"/>
          <p:cNvSpPr/>
          <p:nvPr/>
        </p:nvSpPr>
        <p:spPr>
          <a:xfrm>
            <a:off x="3017520" y="4108149"/>
            <a:ext cx="365760" cy="237411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3474720" y="3904654"/>
            <a:ext cx="525780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每一步自動留下紀錄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823960" y="3904654"/>
            <a:ext cx="2971800" cy="635923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量：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調閱佐證所需時間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642325"/>
            <a:ext cx="251460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595959"/>
                </a:solidFill>
                <a:latin typeface="Georgia"/>
                <a:ea typeface="微軟正黑體"/>
              </a:rPr>
              <a:t>交付難預期</a:t>
            </a:r>
          </a:p>
        </p:txBody>
      </p:sp>
      <p:sp>
        <p:nvSpPr>
          <p:cNvPr id="323" name="Right Arrow 322"/>
          <p:cNvSpPr/>
          <p:nvPr/>
        </p:nvSpPr>
        <p:spPr>
          <a:xfrm>
            <a:off x="3017520" y="4845821"/>
            <a:ext cx="365760" cy="237411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3474720" y="4642325"/>
            <a:ext cx="525780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每階段交出檔案，進度看得到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8823960" y="4642325"/>
            <a:ext cx="2971800" cy="635923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量：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交付時間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54957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試點前先量基準、訂合格線；效益不先承諾數字，以實測為準。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回收期參考：需要大量治理的大型企業導入，12–18 個月屬可接受（國際研究，附錄 G）。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給法遵與風控：每一個 AI 產出，都查得到誰要求、誰核准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金檢與內稽一定會問這五題，每一題都有做法、也留得下紀錄；條文見附錄 D，實例見附錄 E。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203704" cy="80550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AI 工具有納管嗎？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539538"/>
            <a:ext cx="2203704" cy="15686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診斷時就判斷是否屬委外，並登錄 AI 清冊。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4150544"/>
            <a:ext cx="2203704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留下：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清冊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706624" y="1691640"/>
            <a:ext cx="2203704" cy="80550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個資會進到 AI 嗎？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706624" y="2539538"/>
            <a:ext cx="2203704" cy="15686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資料分級，機密檔 AI 讀不到；試點用假資料。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4150544"/>
            <a:ext cx="2203704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留下：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設定與存取紀錄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001768" y="1691640"/>
            <a:ext cx="2203704" cy="80550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上線是誰核准的？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001768" y="2539538"/>
            <a:ext cx="2203704" cy="15686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指定的人核准；AI 不能核准自己寫的程式。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001768" y="4150544"/>
            <a:ext cx="2203704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留下：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核准紀錄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296912" y="1691640"/>
            <a:ext cx="2203704" cy="80550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出事能退回嗎？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7296912" y="2539538"/>
            <a:ext cx="2203704" cy="15686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退版先演練；AI 建議退版，人決定。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296912" y="4150544"/>
            <a:ext cx="2203704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留下：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演練紀錄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592056" y="1691640"/>
            <a:ext cx="2203704" cy="80550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事後查得到嗎？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9592056" y="2539538"/>
            <a:ext cx="2203704" cy="15686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需求、規格、計畫、測試結果都存版本。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9592056" y="4150544"/>
            <a:ext cx="2203704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留下：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完整文件軌跡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4956048"/>
            <a:ext cx="91440" cy="67831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1" name="Rectangle 320"/>
          <p:cNvSpPr/>
          <p:nvPr/>
        </p:nvSpPr>
        <p:spPr>
          <a:xfrm>
            <a:off x="502920" y="4956048"/>
            <a:ext cx="11292840" cy="67831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AI 的使用，從「難以稽核的個人行為」變成「有紀錄的流程」。法規檢查清單是草稿，診斷時與貴公司法遵逐條確認。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你買到什麼：先診斷，再做一個用例的試點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95646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成功標準在試點前雙方講好，達標才擴大；固定範圍、固定價格，金額另行報價。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05840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1691640"/>
            <a:ext cx="379476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4–6 週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・挑出第一個用例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・雙方訂好成功標準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瓶頸地圖、法規檢查結果、用例建議、導入藍圖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343400" y="1691640"/>
            <a:ext cx="3794760" cy="50873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一個用例的試點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6–8 週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34340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・建立範本、規範規則與關卡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・同步教會各角色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313" name="Right Arrow 312"/>
          <p:cNvSpPr/>
          <p:nvPr/>
        </p:nvSpPr>
        <p:spPr>
          <a:xfrm>
            <a:off x="4224528" y="1818824"/>
            <a:ext cx="100584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8275320" y="1691640"/>
            <a:ext cx="3520440" cy="50873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成功標準（試點前講好）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275320" y="2242773"/>
            <a:ext cx="3520440" cy="241650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・需求定稿時間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・第一次審查等待時間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・返工次數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・核准紀錄完整（流程內建的必要條件）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・合格線：以診斷期量到的基準，試點前約定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擴大到下一個用例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未達標：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檢討後再試或停止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4786468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7" name="Rectangle 316"/>
          <p:cNvSpPr/>
          <p:nvPr/>
        </p:nvSpPr>
        <p:spPr>
          <a:xfrm>
            <a:off x="502920" y="4786468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貴公司需配合：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379997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9" name="Rectangle 318"/>
          <p:cNvSpPr/>
          <p:nvPr/>
        </p:nvSpPr>
        <p:spPr>
          <a:xfrm>
            <a:off x="502920" y="5379997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我們的團隊：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懂保險業務與法規的 BA 主導需求與法規檢查，IT 主導實作與示範；同一組人從診斷做到試點。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期程依範圍確認。擴大階段、工具包授權與駐點支援可依需求討論。試點風險與因應見附錄 F。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為什麼選我們：已在用的做法，加上在地法規與可稽核關卡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國際方案多以預建代理與藍圖為主；我們綁上在地法規與可稽核關卡，從貴公司的一個真實需求開始。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差異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2788920" y="1691640"/>
            <a:ext cx="5998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貴公司得到什麼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證據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064715"/>
            <a:ext cx="23408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已經在用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788920" y="2064715"/>
            <a:ext cx="59984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我們自己的開發流程已經這樣運作：各階段的產出、AI 分工與檢查點都已定義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823960" y="2064715"/>
            <a:ext cx="293522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現場示範（第 11 頁）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014361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台灣保險法規內建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788920" y="3014361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委外、雲端、AI 自律規範與金管會指引，對應到開發的每一步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823960" y="3014361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法規檢查清單（附錄 D）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964007"/>
            <a:ext cx="23408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懂保險業務與在地系統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788920" y="3964007"/>
            <a:ext cx="59984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用例直接選理賠、核保、核心系統周邊等真實流程，不必從頭解釋業務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60" y="3964007"/>
            <a:ext cx="29352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[待補：2–3 個 FSC1 保險業專案]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913653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可稽核的人工關卡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2788920" y="4913653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誰核准、何時核准都查得到；寫程式的 AI 不能核准自己的程式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8823960" y="4913653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關卡設計（第 9 頁）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同業具體產品與來源見附錄 C。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可擴充、可複製</a:t>
            </a:r>
          </a:p>
          <a:p>
            <a:r>
              <a:rPr sz="3000">
                <a:latin typeface="Georgia"/>
                <a:ea typeface="微軟正黑體"/>
              </a:rPr>
              <a:t>Scalable and repeatable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04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可擴充、可複製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從一個用例開始，驗證價值後再逐步擴大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可擴充、可複製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每一步只承諾下一步、每一步都可以停，不必一開始就承諾全面轉型。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3811385"/>
            <a:ext cx="2057400" cy="118705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1　一個用例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試點一個範圍小、可量測的需求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承諾：診斷＋一個試點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560320" y="3175461"/>
            <a:ext cx="2057400" cy="1822981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2　驗證價值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對照試點前講好的成功標準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56032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決定：擴大、調整或停止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709160" y="2539538"/>
            <a:ext cx="2057400" cy="245890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3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沿用範本、規則與關卡，只補該系統的規範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70916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承諾：下一個用例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858000" y="1903614"/>
            <a:ext cx="2057400" cy="309482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4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集中管理設定，統一關卡與紀錄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85800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承諾：依前面成果決定</a:t>
            </a:r>
          </a:p>
        </p:txBody>
      </p:sp>
      <p:cxnSp>
        <p:nvCxnSpPr>
          <p:cNvPr id="314" name="Connector 313"/>
          <p:cNvCxnSpPr/>
          <p:nvPr/>
        </p:nvCxnSpPr>
        <p:spPr>
          <a:xfrm flipV="1">
            <a:off x="548640" y="1564455"/>
            <a:ext cx="8229600" cy="2034955"/>
          </a:xfrm>
          <a:prstGeom prst="line">
            <a:avLst/>
          </a:prstGeom>
          <a:ln w="50800">
            <a:solidFill>
              <a:srgbClr val="FE7C39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5" name="Rectangle 314"/>
          <p:cNvSpPr/>
          <p:nvPr/>
        </p:nvSpPr>
        <p:spPr>
          <a:xfrm>
            <a:off x="9098280" y="1691640"/>
            <a:ext cx="2697480" cy="387489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為什麼這樣做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風險小：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第一步只動一個用例。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成本可控：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有數據才擴大：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每一步都對照同一套指標。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越做越快：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範本與規則沿用，下一個用例不必從頭來。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先講好 J 曲線：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導入初期會先變慢一陣子，最常見的失敗是在低谷時喊停；成功標準和觀察期間要先講好。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71915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各用例可沿用與需客製的內容、延伸到其他系統與產業的方式，見附錄 B。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如何開始：先看現場示範，再挑一個用例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可擴充、可複製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三個步驟就能開始；請貴公司先指定窗口，並給我們一份想做的需求清單。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4–6 週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選定用例與成功標準</a:t>
            </a:r>
          </a:p>
        </p:txBody>
      </p:sp>
      <p:sp>
        <p:nvSpPr>
          <p:cNvPr id="308" name="Right Arrow 307"/>
          <p:cNvSpPr/>
          <p:nvPr/>
        </p:nvSpPr>
        <p:spPr>
          <a:xfrm>
            <a:off x="3154680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282696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1　用例試點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6–8 週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2696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指標達到合格線</a:t>
            </a:r>
          </a:p>
        </p:txBody>
      </p:sp>
      <p:sp>
        <p:nvSpPr>
          <p:cNvPr id="311" name="Right Arrow 310"/>
          <p:cNvSpPr/>
          <p:nvPr/>
        </p:nvSpPr>
        <p:spPr>
          <a:xfrm>
            <a:off x="6025896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6153912" y="1691640"/>
            <a:ext cx="2743200" cy="59352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2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依範圍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53912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管理層核准擴大</a:t>
            </a:r>
          </a:p>
        </p:txBody>
      </p:sp>
      <p:sp>
        <p:nvSpPr>
          <p:cNvPr id="314" name="Right Arrow 313"/>
          <p:cNvSpPr/>
          <p:nvPr/>
        </p:nvSpPr>
        <p:spPr>
          <a:xfrm>
            <a:off x="8897112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9025128" y="1691640"/>
            <a:ext cx="2743200" cy="59352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持續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25128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7" name="Oval 316"/>
          <p:cNvSpPr/>
          <p:nvPr/>
        </p:nvSpPr>
        <p:spPr>
          <a:xfrm>
            <a:off x="411480" y="305542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051560" y="2963487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拿貴公司的一個真實需求，當場跑一次：從寫需求到上線前的核准。</a:t>
            </a:r>
          </a:p>
        </p:txBody>
      </p:sp>
      <p:sp>
        <p:nvSpPr>
          <p:cNvPr id="319" name="Oval 318"/>
          <p:cNvSpPr/>
          <p:nvPr/>
        </p:nvSpPr>
        <p:spPr>
          <a:xfrm>
            <a:off x="411480" y="3835492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3743553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一起挑題目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開一次會，挑出 1–2 個最適合先做的需求，順便確認資料、系統和法規上有哪些限制。</a:t>
            </a:r>
          </a:p>
        </p:txBody>
      </p:sp>
      <p:sp>
        <p:nvSpPr>
          <p:cNvPr id="321" name="Oval 320"/>
          <p:cNvSpPr/>
          <p:nvPr/>
        </p:nvSpPr>
        <p:spPr>
          <a:xfrm>
            <a:off x="411480" y="461555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051560" y="4523619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開始診斷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定好範圍和雙方窗口，開始盤點現在的開發流程和法規要求。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15200" y="2963487"/>
            <a:ext cx="4480560" cy="225540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・資安、個資與法遵規範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22392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5" name="Rectangle 324"/>
          <p:cNvSpPr/>
          <p:nvPr/>
        </p:nvSpPr>
        <p:spPr>
          <a:xfrm>
            <a:off x="502920" y="5422392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A｜示範情境：「理賠進度自助查詢」導入前後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以一個常見的保險需求，說明每個階段 AI 做什麼、由誰決定。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335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階段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7830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導入前（常見做法）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709160" y="1691640"/>
            <a:ext cx="5221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966960" y="1691640"/>
            <a:ext cx="1792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誰決定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783080" y="2064715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多次會議，再由專人寫成文件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709160" y="2064715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理賠同仁和 AI 一起整理需求說明，AI 追問範圍與限制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966960" y="2064715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產品負責人接受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675201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783080" y="2675201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分析與設計分開做，規範靠人記得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709160" y="2675201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起草規格，自動套用「入口網站不新增個資」等規範，衝突處標出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966960" y="2675201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產品負責人確認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285688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783080" y="3285688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讀完設計就寫，做法只在個人腦中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709160" y="3285688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先寫實作計畫（含核心系統流量限制與快取），核准後才動手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9966960" y="3285688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工程師核准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3896175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783080" y="3896175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階段末才測，問題晚發現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709160" y="3896175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每次改動自己跑測試，各種理賠狀態都正確才交人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66960" y="3896175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自行驗證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506661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783080" y="4506661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逐行人工審查，排隊等待核准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09160" y="4506661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先審並排嚴重度，人判斷風險；沒有授權不能上線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9966960" y="4506661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程式負責人、發布經理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117148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783080" y="5117148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事件常被擱置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4709160" y="5117148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錯誤率異常時 AI 先診斷並建議退版；服務負責人核准後執行，問題寫成新需求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66960" y="5117148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服務負責人核准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情境改編自 Anthropic《The AI-Native SDLC Playbook》 的公開範例，非客戶案例；「導入前」為常見做法的示意。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B｜延伸方式：同一套資產延伸到其他系統、客戶與產業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流程、範本與關卡可以沿用；不同延伸方向要補的內容與前提不同。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延伸方向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例子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120640" y="1691640"/>
            <a:ext cx="22494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沿用什麼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0664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要新增什麼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60120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前提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同一客戶的其他系統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理賠 → 核保規則、保單服務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120640" y="2064715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流程、範本、關卡、規範規則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0664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該系統的規範與核准人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60120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前一個用例達標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00638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新制相關專案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00638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17／TW-ICS 報表與資料調整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5120640" y="2700638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流程、關卡、法規清單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0664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財會與精算規範、資料品質檢查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60120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財會、精算參與；高風險加審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336562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治理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336562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清冊與模型驗證流程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120640" y="3336562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紀錄與關卡、自律規範對應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0664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模型驗證規則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60120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屬治理服務，另行界定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3972486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其他保險公司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3972486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另一家壽險或產險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120640" y="3972486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全部標準模組與資產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0664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該公司規範與系統串接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60120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審計客戶需先確認獨立性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608409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其他金融業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608409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銀行、證券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5120640" y="4608409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流程、關卡、指標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0664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該產業法規規則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60120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以金管會 AI 指引為共同基礎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295207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需客製的部分：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貴公司的資安與命名規範、系統與工具串接、資料分級與核准人、用例題目與基準、委外安排。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C｜同業產品化參考：具體產品與來源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國際顧問與軟體業者已推出保險業 AI 相關方案；以下整理自業者公開資訊。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82880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產品／方案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548640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型態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086600" y="1691640"/>
            <a:ext cx="4672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來源（可點擊）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73194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1828800" y="2073194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Agentic AI Blueprint for Insurance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486400" y="2073194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加速器＋導入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086600" y="2073194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www.deloitte.com 原文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48017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1828800" y="2548017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Regulatory Assist（與 SAS 合作）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486400" y="2548017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6600" y="2548017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sas.com 原文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22840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KPMG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828800" y="3022840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Express, powered by SAS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486400" y="3022840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7086600" y="3022840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sas.com 原文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97663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Capgemini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828800" y="3497663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Guidewire 生成式 AI／代理工具組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486400" y="3497663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核心系統＋AI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086600" y="3497663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www.capgemini.com 原文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72486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WTW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828800" y="3972486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Radar 5（保險定價與核保軟體）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486400" y="3972486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軟體產品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086600" y="3972486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www.wtwco.com 原文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47309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McKinsey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1828800" y="4447309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代理型 AI 核心現代化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5486400" y="4447309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7086600" y="4447309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www.mckinsey.com 原文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22132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BCG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1828800" y="4922132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AI-First 產險公司藍圖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486400" y="4922132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7086600" y="4922132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www.bcg.com 原文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50718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規模與期程數字為業者自述。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D｜保險業 AI 開發法規檢查清單（草稿）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把台灣保險業的委外、雲端、AI 與個資規範，對應到開發流程中的檢查點。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檢查項目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33756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依據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85800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開發流程中怎麼落實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1037844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在哪一步檢查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是否屬作業委外、是否需依規定辦理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33756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保險業作業委託他人處理內部作業制度及程序辦法（2025-12-31 施行）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85800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導入前判斷並留下紀錄；AI 工具納入委外管理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10378440" y="2064715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624328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雲端資料存放、雲端業者管理與查核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33756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保險業作業委外使用雲端服務自律規範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85800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使用公司核准的雲端合約；保留查核所需紀錄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10378440" y="2624328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183940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工具登錄 AI 清冊並做風險評估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33756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保險業運用人工智慧系統自律規範（2025-04-10 備查）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85800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每個 AI 工具與用途登錄；高風險用途加審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378440" y="3183940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743553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關鍵決定由人做，保險公司負最終責任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33756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同上；金管會 AI 指引「治理及問責」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85800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五個人工關卡，各有指定核准人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10378440" y="3743553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①–⑤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4303166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個資與客戶資料不進入 AI 可讀範圍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333756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個人資料保護法；金管會 AI 指引「隱私及客戶權益」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85800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378440" y="4303166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規格、開發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862779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程式經資安審查，出事可退回上一版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333756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指引「系統穩健性與安全性」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85800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資安初審＋人工審查；退版流程事先演練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10378440" y="4862779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④ 合併、⑤ 上線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5422392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誰要求、AI 產出什麼、誰核准，查得到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33756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指引「透明性與可解釋性」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85800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需求說明、規格、計畫與核准紀錄版本化保存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10378440" y="5422392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全程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導入規劃工具，非法律意見；條文以主管機關公告為準；草稿待法遵確認。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E｜示範案例：每條業務規則都追溯到測試與任務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以再保險系統「金融機構主檔」為例；稽核時從任一條規則，都找得到對應的使用案例、測試與程式範圍。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業務規則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0690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使用案例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44652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測試案例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開發任務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BR-FI-01　代碼唯一性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06908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44652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TC-FI-03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823960" y="2064715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3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39538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BR-FI-02　引用後鎖定唯讀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06908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44652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60" y="2539538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14361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BR-FI-03　引用防刪與軟作廢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06908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UC-FI-04、UC-FI-06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44652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TC-FI-07、TC-FI-08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823960" y="3014361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89184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BR-FI-04　SWIFT/BIC 格式檢核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06908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44652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TC-FI-04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8823960" y="3489184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4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64007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BR-FI-05　作廢資料隔離與追溯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06908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UC-FI-06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44652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8823960" y="3964007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38830"/>
            <a:ext cx="36210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BR-FI-06　制裁連動與主管覆核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06908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UC-FI-03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44652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TC-FI-05、TC-FI-06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8823960" y="4438830"/>
            <a:ext cx="29352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13653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BR-FI-07　順序自動計算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06908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44652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TC-FI-02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8823960" y="4913653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2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42239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42239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追溯表的用處：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缺口一眼看得出來：BR-FI-02、BR-FI-05 目前沒有對應的測試案例；任務包只附 001 與 005 兩個任務。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605831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TASK-000013 任務包（SA、使用案例、QA 規格與任務文件）；任務與規則的對應依任務內容判讀，待 IT 團隊確認。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F｜試點風險與因應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試點前就講好可能出問題的地方、怎麼提早發現，以及誰負責處理。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風險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提早發現的訊號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89204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事前降低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98079" y="1691640"/>
            <a:ext cx="2386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發生時的應變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負責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用例效益偏低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用例落在複雜的既有系統，重複性工作少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892040" y="2064715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診斷時優先挑「常發生、判斷少」工作多的需求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98079" y="2064715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調整範圍或換用例，不硬撐到底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921240" y="2064715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PwC（BA、IT）＋貴公司 IT 主管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85428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初期下滑被誤判（J 曲線）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85428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前幾週需求定稿與審查時間變長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892040" y="2785428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試點前講好預期的下滑與觀察期間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98079" y="2785428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依約定期間判斷，不在低谷時中止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921240" y="2785428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貴公司管理層＋PwC 帶隊人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506142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個資或機密進入 AI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506142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設定或存取紀錄出現例外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892040" y="3506142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資料分級；試點用假資料；集中設定禁止讀取機密檔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98079" y="3506142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立即停用該工具、通報並檢討設定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21240" y="3506142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貴公司資安＋PwC IT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226855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工具未獲內部核准，時程延誤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4226855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 2 週仍未完成委外判斷與清冊登錄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892040" y="4226855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診斷第一週就啟動委外判斷與清冊登錄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98079" y="4226855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先用已核准的工具試點，或調整時程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4226855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貴公司法遵、IT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947569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駐點團隊配合度低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947569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試點任務排不進工作、出席率低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892040" y="4947569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試點前與 IT 主管談好駐點團隊的角色與工時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98079" y="4947569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改由貴公司自有人員或 PwC 補位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921240" y="4947569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 IT 主管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84634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依 DORA 2026（J 曲線、既有系統效益）與試點規劃整理；正式清單於診斷時與貴公司共同確認。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G｜資料來源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本提案引用的外部研究、法規與內部研究。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Stack Overflow，2025 Developer Survey 新聞稿（84%）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929051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2.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Google Cloud，Announcing the 2024 DORA report（−1.5%、−7.2%）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66462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3.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Google Cloud，Announcing the 2025 DORA report（約 90%、速度與穩定度）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403874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4.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DORA，The ROI of AI-assisted Software Development，v.2026.1（放大器、J 曲線、既有系統效益、回收期）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641285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5.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InfoQ，DORA 2025 State of AI-assisted Software Development 整理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878697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6.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Yahoo Finance，JPMorgan 工程師使用寫程式助手效率提升至多 20%，2025-03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116108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7.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Deloitte Insights，AI and bank software development，2025（Citi 3 萬名開發者）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3353520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8.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9"/>
              </a:rPr>
              <a:t>Claims Journal，PwC 保險高階主管調查（57%），2025-11-17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3590931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9.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0"/>
              </a:rPr>
              <a:t>金管會 AI 使用調查，2026-10（工商時報報導：保險業 53%、生成式 AI 76%）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828343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10.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1"/>
              </a:rPr>
              <a:t>Veracode，2025 GenAI Code Security Report 新聞稿（45%）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4065754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11.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2"/>
              </a:rPr>
              <a:t>PwC，第 29 屆全球 CEO 調查，2026（56%）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4303166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12.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3"/>
              </a:rPr>
              <a:t>Stanford HAI，AI Index 2025（模型使用成本）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540577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13.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4"/>
              </a:rPr>
              <a:t>McKinsey，Technology Trends Outlook 2026（代理式軟體開發列為新趨勢）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4777989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14.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5"/>
              </a:rPr>
              <a:t>Allen &amp; Gledhill，MAS 發布 AI 模型風險管理資訊文件（2024-12-05）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5015400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15.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6"/>
              </a:rPr>
              <a:t>理律法律事務所，保險業作業委外新辦法（2025-12-31 施行）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252812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16.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7"/>
              </a:rPr>
              <a:t>壽險／產險公會，保險業運用人工智慧系統自律規範（2025-04-10 備查）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490223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17.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8"/>
              </a:rPr>
              <a:t>金管會，金融業運用人工智慧（AI）指引，2024-06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5727635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18. </a:t>
            </a:r>
            <a:r>
              <a:rPr sz="950" b="0">
                <a:solidFill>
                  <a:srgbClr val="000000"/>
                </a:solidFill>
                <a:latin typeface="Georgia"/>
                <a:ea typeface="微軟正黑體"/>
              </a:rPr>
              <a:t>研究一：FSC1〈AI 協作開發流程與產出範本〉v3；研究二：AI 原生 SDLC 說明，整理自 Anthropic《The AI-Native SDLC Playbook》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607527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「−1.5%」「−7.2%」為 AI 採用率每增加 25% 的模型估計；JPMorgan 數字為公司自述；金管會數字依媒體報導，以金管會公布為準。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