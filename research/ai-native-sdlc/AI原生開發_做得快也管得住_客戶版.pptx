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寫程式的工具，各位的團隊大概都已經在用了。今天不談工具，談三件事：這套 AI 原生的開發做法在實務上怎麼跑、怎麼讓範本與規則每個案子都能沿用，以及做得快的同時，治理和人工把關放在哪裡。結論先講：從一個用例開始，做得快，也管得住。」</a:t>
            </a:r>
          </a:p>
          <a:p>
            <a:r>
              <a:t>【轉場】「我先用一頁把整件事講完，後面再展開。」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【這頁的重點】如果對方只看一頁，就是這頁：建議、三個理由、請對方決定的事、不做的代價。</a:t>
            </a:r>
          </a:p>
          <a:p>
            <a:r>
              <a:t>【講法】「我們的建議是：先做 4 到 6 週的準備度診斷，再做 6 到 8 週、一個用例的試點；達到事先講好的標準才擴大，而且範本、規則與關卡會沿用到下一個系統。理由有三個。第一，為什麼是現在：委外辦法和 AI 自律規範已經上路，AI 產出的最終責任在保險公司，流程要拿得出誰要求、AI 做了什麼、誰核准的紀錄。第二，為什麼只買工具不夠：DORA 2025 發現，AI 讓交付變快，但交付穩定度在下降。第三，為什麼找我們：我們自己已經這樣在做，懂保險業務與法規的 BA 和實作的 IT 是同一組人。」最後指向下方：今天想請貴公司決定的，是安排一場現場示範並選出 1–2 個候選用例；如果先不做，工具照樣擴散，但紀錄要等到金檢時再補。</a:t>
            </a:r>
          </a:p>
          <a:p>
            <a:r>
              <a:t>【轉場】「接下來四章依序展開。」</a:t>
            </a:r>
          </a:p>
          <a:p>
            <a:r>
              <a:t>【可能被問】「試點要多少錢？」→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【講法】四章加附錄：面向誰、解決什麼問題、帶來什麼價值、可擴充與可複製。時間不夠時，優先講第 02 章的解法、AI 分工與現場示範，以及第 03 章的「你買到什麼」；附錄依提問使用。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【這頁的重點】責任已經落在保險公司，紀錄必須設計進流程。</a:t>
            </a:r>
          </a:p>
          <a:p>
            <a:r>
              <a:t>【講法】三張卡由左到右：第一，委外新辦法 2025 年底施行，AI 自律規範要求保險公司對 AI 結果負最終責任。第二，金管會 AI 指引要求治理及問責、透明性；新加坡金管局檢查銀行後，發現多數已建 AI 清冊、高風險 AI 要獨立驗證，這是區域監理的方向。第三，IFRS 17 與 TW-ICS 上路後，相關系統要跟著調整，開發需求集中。意涵：紀錄不能事後補，要在流程裡設計好；新制帶來的系統調整，正好是一起導入的時機。</a:t>
            </a:r>
          </a:p>
          <a:p>
            <a:r>
              <a:t>【可能被問】「新加坡的例子是銀行？」→ 是，當作區域監理方向的參考；台灣的直接依據是金管會指引與公會自律規範。</a:t>
            </a:r>
          </a:p>
          <a:p>
            <a:r>
              <a:t>【注意】不要說保險業「比其他產業更急」，證據不支持。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【這頁的重點】先服務有自建或駐點開發團隊的壽險與產險公司。</a:t>
            </a:r>
          </a:p>
          <a:p>
            <a:r>
              <a:t>【講法】表格是採購中的四種角色：IT 主管決策與付費，業務單位提出需求，法遵、風控與資安握有否決權，管理層核准預算；每個角色各有在意的問題與我們的答案。這是依經驗推估的決策鏈，會在診斷訪談中確認。下方是優先客群的三個條件。</a:t>
            </a:r>
          </a:p>
          <a:p>
            <a:r>
              <a:t>【可能被問】「開發全部外包的公司呢？」→ 可以做，但要先談好外包廠商在試點中的角色（見附錄試點風險）。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【這頁的重點】工具已普及，但效益取決於流程與治理。</a:t>
            </a:r>
          </a:p>
          <a:p>
            <a:r>
              <a:t>【講法】上排五個數字說明普及程度：開發者 84%、技術團隊約九成在用 AI，JPMorgan、Citi 已大規模導入，保險業 57% 的高階主管把生成式 AI 列為首要投資。下排是三個發現：DORA 2025，速度轉為正相關，但穩定度仍是負相關；DORA 2026 引述 Stanford 研究，新開發的簡單任務可提升 35–40%，但複雜的既有系統常在 10% 以下，而保險公司的核心系統多屬後者；DORA 2026 的結論是，AI 是放大器，回報來自內部平台、清楚的流程與團隊協作，不是工具本身。所以導入 AI 時，需求、審查、上線與控制方式要一起改。</a:t>
            </a:r>
          </a:p>
          <a:p>
            <a:r>
              <a:t>【可能被問】「JPMorgan 不是提升 10–20% 嗎？」→ 那是個人生產力，而且是公司自述；DORA 看的是整體交付，兩者不衝突。</a:t>
            </a:r>
          </a:p>
          <a:p>
            <a:r>
              <a:t>【轉場】「那要怎麼一起改？看我們的解法。」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【這頁的重點】把開發流程串成循環，用三個機制守住；關鍵決定由人做。</a:t>
            </a:r>
          </a:p>
          <a:p>
            <a:r>
              <a:t>【講法】左邊是循環：需求分析、設計、開發、測試、上線、維運，維運發現的問題回到下一個需求。右邊是三個機制：交接靠檔案，每一步交出文件給下一步；規則自動執行，資安、個資、委外規範寫成 AI 自動套用的規則；關卡有人簽，接受需求、確認規格、核准計畫、核准合併、授權上線，五個決定由貴公司指定的人做。原則只有一句：AI 可以一路做到正式環境的門口，但不能自己開門。頁底：DORA 2026 建議的不可略過檢查點、提交前檢查、小批次與版本控制，和這三個機制一致。</a:t>
            </a:r>
          </a:p>
          <a:p>
            <a:r>
              <a:t>【可能被問】「要換掉我們現有的 Jira 或變更管理嗎？」→ 不用，關卡與紀錄接在既有工具上，診斷時確認做法。「綁哪個 AI 工具？」→ 不綁，依貴公司政策與合約選定。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【這頁的重點】回答「人在什麼時候介入」：依多常發生、需要多少判斷，把工作分四類。</a:t>
            </a:r>
          </a:p>
          <a:p>
            <a:r>
              <a:t>【講法】左上，常發生、判斷少，例如測試案例、文件、Release Note：AI 先做、人確認，這類最先交給 AI，也最先做成範本。右上，常發生、判斷多，例如程式碼、API 規格：AI 起草、人逐項審查。左下，少發生、判斷少：做成範本重複使用。右下，少發生、判斷多，例如接受需求、核准合併、授權上線：人決定，AI 只提供資料，這就是前一頁的五個關卡。右側的意義：第一個試點，優先挑左上角工作多的需求，最快看到效果。</a:t>
            </a:r>
          </a:p>
          <a:p>
            <a:r>
              <a:t>【轉場】「說了這麼多，實際長什麼樣子？看示範。」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【這頁的重點】不是概念，是我們 IT 團隊在再保險系統上實際做出來的。</a:t>
            </a:r>
          </a:p>
          <a:p>
            <a:r>
              <a:t>【講法】「五個框由左到右是同一個功能的五個步驟。第一，需求說明：金融機構主檔有 7 條業務規則，包括制裁國家的機構建檔要主管覆核，這是洗錢防制的規則。第二，依範本產出六份規格，從系統分析、資料庫、API、畫面到測試，每份都有審閱週期。第三，實作計畫：每個任務寫明驗收場景，而且最多只能改 5 個檔案，修改範圍事先鎖定。第四，QA 規格定了 10 個測試案例，品質閘門要求覆蓋率超過 90%、測試零失敗才能過關。第五，追溯與紀錄：每個任務都回溯到規則代碼，制裁建檔會寫入審計紀錄。下方是同一系統的實際畫面。」最後邀請：「現場示範可以用貴公司提供的一個需求，走一遍。」</a:t>
            </a:r>
          </a:p>
          <a:p>
            <a:r>
              <a:t>【可能被問】「這是哪家客戶的系統？」→ 依 IT 確認的說法回答。「追溯怎麼查？」→ 翻到附錄追溯表。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【轉場】「看完怎麼做，接下來講帶來什麼價值、給法遵的答案，以及你買到什麼。」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【這頁的重點】每個痛點對應一個做法、一項價值、一個量得到的指標。</a:t>
            </a:r>
          </a:p>
          <a:p>
            <a:r>
              <a:t>【講法】逐列講：需求來回多輪，對應業務和 AI 一起寫需求說明，看需求定稿時間；審查排隊，對應 AI 先審、人判斷風險，看第一次審查等待時間與返工次數；上線出錯，對應每次改動自行測試，看變更失敗率；法規與稽核壓力，對應規則、關卡與紀錄，看內稽調閱佐證所需時間；交付難預期，對應每階段交出檔案，看交付時間。試點用流程指標驗收；DORA 四項指標需要較長期間，擴大後再追蹤。我們不先承諾數字。頁底的回收期基準：需要大量治理的大型企業導入，12 到 18 個月屬可接受。</a:t>
            </a:r>
          </a:p>
          <a:p>
            <a:r>
              <a:t>【可能被問】「能保證快多少嗎？」→ 不承諾數字，試點前量基準、訂合格線，用實測證明。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【這頁的重點】寫給握有否決權的人：金檢與內稽會問的五個問題，流程中都有答案與紀錄。</a:t>
            </a:r>
          </a:p>
          <a:p>
            <a:r>
              <a:t>【講法】逐列講：AI 工具有沒有納入委外管理與 AI 清冊；客戶個資有沒有進到 AI；改動是誰核准上線的；出事能不能退回；AI 做了什麼，事後查不查得到。每一題對應流程中的做法，以及會留下的紀錄。結論：AI 的使用從難以稽核的個人行為，變成有紀錄的流程。條文對照在附錄法規清單，實例在附錄追溯表。</a:t>
            </a:r>
          </a:p>
          <a:p>
            <a:r>
              <a:t>【建議】這頁最好在法遵在場時講，或會前先單獨給法遵看。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【這頁的重點】先診斷、再試點；成功標準事先講好，達標才擴大。</a:t>
            </a:r>
          </a:p>
          <a:p>
            <a:r>
              <a:t>【講法】左邊，準備度診斷 4–6 週：盤點現況與卡點、做法規檢查、挑第一個用例、訂成功標準；交付瓶頸地圖、法規檢查結果、用例建議與導入藍圖。中間，一個用例的試點 6–8 週：用真實需求走完循環，建立範本、規則與關卡，同時教會各角色；交付完成的試點、範本與規則、教材與成效報告。右邊是成功標準：需求定稿時間、第一次審查等待時間、返工次數；核准紀錄完整是必要條件；合格線用診斷期量到的基準在試點前約定。達標擴大，未達標就檢討後再試或停止。下方是需要貴公司配合的事項，以及我們的團隊組成；試點風險見附錄。</a:t>
            </a:r>
          </a:p>
          <a:p>
            <a:r>
              <a:t>【可能被問】「價格？」→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【這頁的重點】已在用的做法，加上在地法規與可稽核關卡。</a:t>
            </a:r>
          </a:p>
          <a:p>
            <a:r>
              <a:t>【講法】四個差異，每個都有證據：已經在用，見現場示範；台灣保險法規內建，見法規檢查清單；懂保險業務與在地系統，用例直接挑理賠、核保、核心系統周邊；可稽核的人工關卡，寫程式的 AI 不能核准自己的程式。和國際方案的差別：國際方案多以預建代理與藍圖為主，我們從貴公司的一個真實需求開始。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【轉場】「最後講怎麼擴大：每一步都沿用前一步的範本、規則與關卡，所以越做越快。」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【這頁的重點】每一步只承諾下一步；範本與規則沿用，越做越快。</a:t>
            </a:r>
          </a:p>
          <a:p>
            <a:r>
              <a:t>【講法】四個台階：一個用例，然後驗證價值、決定擴大、調整或停止，接著是相鄰用例，只補該系統的規範，最後才是全公司。右側是為什麼這樣做：風險小、成本可控、有數據才擴大、越做越快。最後一點是 J 曲線：DORA 2026 指出，導入初期會有短暫下滑，常見的失敗是在低谷時撤資，所以成功標準與觀察期間要事先講好。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【這頁的重點】不是概念，是我們 IT 團隊在再保險系統上實際做出來的。</a:t>
            </a:r>
          </a:p>
          <a:p>
            <a:r>
              <a:t>【講法】「五個框由左到右是同一個功能的五個步驟。第一，需求說明：金融機構主檔有 7 條業務規則，包括制裁國家的機構建檔要主管覆核，這是洗錢防制的規則。第二，依範本產出六份規格，從系統分析、資料庫、API、畫面到測試，每份都有審閱週期。第三，實作計畫：每個任務寫明驗收場景，而且最多只能改 5 個檔案，修改範圍事先鎖定。第四，QA 規格定了 10 個測試案例，品質閘門要求覆蓋率超過 90%、測試零失敗才能過關。第五，追溯與紀錄：每個任務都回溯到規則代碼，制裁建檔會寫入審計紀錄。下方是同一系統的實際畫面。」最後邀請：「現場示範可以用貴公司提供的一個需求，走一遍。」</a:t>
            </a:r>
          </a:p>
          <a:p>
            <a:r>
              <a:t>【可能被問】「這是哪家客戶的系統？」→ 依 IT 確認的說法回答。「追溯怎麼查？」→ 翻到附錄追溯表。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【用途】被問「會出什麼問題」時使用。五個風險各有提早發現的訊號、事前降低的做法、發生時的應變與負責人。正式清單於診斷時與貴公司共同確認。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mckinsey.com/capabilities/tech-and-ai/our-insights/the-top-trends-in-tech" TargetMode="External"/><Relationship Id="rId11" Type="http://schemas.openxmlformats.org/officeDocument/2006/relationships/hyperlink" Target="https://www.allenandgledhill.com/sg/publication/articles/29565/mas-publishes-information-paper-on-ai-model-risk-management" TargetMode="External"/><Relationship Id="rId12" Type="http://schemas.openxmlformats.org/officeDocument/2006/relationships/hyperlink" Target="https://www.leeandli.com/TW/Newsletters/7525.htm" TargetMode="External"/><Relationship Id="rId13" Type="http://schemas.openxmlformats.org/officeDocument/2006/relationships/hyperlink" Target="https://law.lia-roc.org.tw/Law/GetFile/0000394231" TargetMode="External"/><Relationship Id="rId14" Type="http://schemas.openxmlformats.org/officeDocument/2006/relationships/hyperlink" Target="https://www.fsc.gov.tw/websitedowndoc?file=chfsc/202408231741530.pdf" TargetMode="External"/><Relationship Id="rId15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一頁看懂：做得快也管得住，從一個用例開始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5、14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8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11、16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7–11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12–16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做成可沿用的做法：逐步擴大、如何開始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17–19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使用率已達八至九成，但交付穩定度下降；DORA 2026 指出，只買授權不保證回報。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既有系統的效益較小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新開發的簡單任務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複雜的既有系統（常見）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研究結論（DORA 2026）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回報來自內部平台、清楚的流程與團隊協作，不是工具本身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2024、2025、2026；JPMorgan（公司自述）；Deloitte Insights 2025；PwC 保險高階主管調查。完整連結見附錄 G。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既有系統的生產力數字為 DORA 2026 引述的 Stanford 研究。DORA 2024 模型估計：AI 採用率每增加 25%，穩定度 −7.2%、速度 −1.5%。顧問業者已推出相關方案（附錄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協作開發流程與產出範本〉v3。DORA 2026 建議以不可略過的檢查點、提交前自動檢查、小批次與版本控制承接 AI 帶來的審查負擔，與三個機制一致（附錄 G）。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9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15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現場示範：再保險系統主檔模組，從業務規則到上線畫面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團隊的實作為例：業務規則、規格、任務與測試一路相連，每一步都留下文件與紀錄。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1" y="2098631"/>
            <a:ext cx="2074881" cy="151773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35" y="2098631"/>
            <a:ext cx="2074881" cy="1517737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179" y="2098631"/>
            <a:ext cx="2074881" cy="1517737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列明驗收場景，最多改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323" y="2098631"/>
            <a:ext cx="2074881" cy="1517737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467" y="2098631"/>
            <a:ext cx="2074881" cy="1517737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7" name="Picture 326" descr="screen_currenc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7387" y="4303166"/>
            <a:ext cx="2351504" cy="1322721"/>
          </a:xfrm>
          <a:prstGeom prst="rect">
            <a:avLst/>
          </a:prstGeom>
        </p:spPr>
      </p:pic>
      <p:sp>
        <p:nvSpPr>
          <p:cNvPr id="328" name="Rectangle 327"/>
          <p:cNvSpPr/>
          <p:nvPr/>
        </p:nvSpPr>
        <p:spPr>
          <a:xfrm>
            <a:off x="411480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結算幣別選單：清單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233672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0" name="Picture 329" descr="screen_countri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9579" y="4303166"/>
            <a:ext cx="2351504" cy="1322721"/>
          </a:xfrm>
          <a:prstGeom prst="rect">
            <a:avLst/>
          </a:prstGeom>
        </p:spPr>
      </p:pic>
      <p:sp>
        <p:nvSpPr>
          <p:cNvPr id="331" name="Rectangle 330"/>
          <p:cNvSpPr/>
          <p:nvPr/>
        </p:nvSpPr>
        <p:spPr>
          <a:xfrm>
            <a:off x="4233672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國家選單：新增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055863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3" name="Picture 332" descr="screen_regi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1771" y="4303166"/>
            <a:ext cx="2351504" cy="1322721"/>
          </a:xfrm>
          <a:prstGeom prst="rect">
            <a:avLst/>
          </a:prstGeom>
        </p:spPr>
      </p:pic>
      <p:sp>
        <p:nvSpPr>
          <p:cNvPr id="334" name="Rectangle 333"/>
          <p:cNvSpPr/>
          <p:nvPr/>
        </p:nvSpPr>
        <p:spPr>
          <a:xfrm>
            <a:off x="8055863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區域選單：新增與提醒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文件為 TASK-000013「金融機構主檔」任務包原文節錄；畫面取自同一系統的示範錄影，使用測試資料。追溯表見附錄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76949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776949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489184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489184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01418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201418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913653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4913653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76155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2026：回收期 6–9 個月是敏捷團隊的優異目標；需要大量治理的大型企業導入，12–18 個月屬可接受。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金檢與內稽會問的五個問題，在流程中都有對應的做法與紀錄；條文對照見附錄 D，實例見附錄 E。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金檢與內稽會問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703320" y="1691640"/>
            <a:ext cx="50840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流程中的做法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59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留下的紀錄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工具有沒有納入委外管理與 AI 清冊？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703320" y="2064715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診斷時判斷是否屬委外並登錄 AI 清冊；高風險用途加審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59" y="2064715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委外判斷紀錄、AI 清冊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69215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客戶個資有沒有進到 AI？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703320" y="269215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資料分級；集中設定禁止讀取機密檔與金鑰；試點用假資料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59" y="269215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設定檔與存取紀錄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319604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這個改動是誰核准上線的？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3319604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五個關卡各有指定核准人；寫程式的 AI 不能核准自己的程式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59" y="3319604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核准紀錄（人、時間、版本）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94704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出事能不能退回？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703320" y="394704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退版流程事先演練；AI 建議退版，服務負責人核准後執行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59" y="394704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演練與事件紀錄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574493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做了什麼，事後查得到嗎？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703320" y="4574493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需求說明、規格、實作計畫與測試結果版本化保存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823959" y="4574493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完整的文件軌跡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33760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33760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對法遵的意義：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使用從「難以稽核的個人行為」變成「有紀錄的流程」。法規檢查清單為草稿，診斷時與貴公司法遵逐條確認。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11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9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2026 指出導入初期會有短暫下滑，常見的失敗是在低谷時撤資；成功標準與期間事先講好。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用例效益偏低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用例落在複雜的既有系統，重複性工作少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調整範圍或換用例，不硬撐到底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92643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93647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594651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895655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196659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497663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798666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09967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McKinsey，Technology Trends Outlook 2026（代理式軟體開發列為新趨勢）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00674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Allen &amp; Gledhill，MAS 發布 AI 模型風險管理資訊文件（2024-12-05）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01678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理律法律事務所，保險業作業委外新辦法（2025-12-31 施行）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02682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壽險／產險公會，保險業運用人工智慧系統自律規範（2025-04-10 備查）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03686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金管會，金融業運用人工智慧（AI）指引，2024-06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604690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