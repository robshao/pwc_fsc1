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【這頁的重點】30 秒開場，先講結論。</a:t>
            </a:r>
          </a:p>
          <a:p>
            <a:r>
              <a:t>【講法】「AI 寫程式的工具，各位的團隊大概都已經在用了。今天不談工具，談三件事：這套 AI 原生的開發做法在實務上怎麼跑、怎麼讓範本與規則每個案子都能沿用，以及做得快的同時，治理和人工把關放在哪裡。結論先講：從一個場景開始，做得快，也管得住。」</a:t>
            </a:r>
          </a:p>
          <a:p>
            <a:r>
              <a:t>【轉場】「我先用一頁把整件事講完，後面再展開。」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【這頁的重點】如果對方只看一頁，就是這頁：建議、三個理由、請對方決定的事、不做的代價。</a:t>
            </a:r>
          </a:p>
          <a:p>
            <a:r>
              <a:t>【講法】「我們的建議是：先做 4 到 6 週的準備度診斷，再做 6 到 8 週、一個場景的試點；達到事先講好的標準才擴大，而且範本、規則與關卡會沿用到下一個系統。理由有三個。第一，為什麼是現在：委外辦法和 AI 自律規範已經上路，AI 產出的最終責任在保險公司，流程要拿得出誰要求、AI 做了什麼、誰核准的紀錄。第二，為什麼只買工具不夠：AI 讓交付變快，但也更不穩，PwC 調查也顯示多數 CEO 還沒看到 AI 的財務效益。第三，為什麼找我們：我們自己已經這樣在做，懂保險業務與法規的 BA 和實作的 IT 是同一組人。」最後指向下方：今天想請貴公司決定的，是安排一場現場示範並選出 1–2 個候選場景；如果先不做，工具照樣擴散，但紀錄要等到金檢時再補。</a:t>
            </a:r>
          </a:p>
          <a:p>
            <a:r>
              <a:t>【轉場】「接下來四章依序展開。」</a:t>
            </a:r>
          </a:p>
          <a:p>
            <a:r>
              <a:t>【可能被問】「試點要多少錢？」→ 固定範圍、固定價格，另行報價。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【這頁的重點】說明結構與時間安排。</a:t>
            </a:r>
          </a:p>
          <a:p>
            <a:r>
              <a:t>【講法】四章加附錄：面向誰、解決什麼問題、帶來什麼價值、下一步。時間不夠時，優先講第 02 章的解法、AI 分工與現場示範，以及第 03 章的「你買到什麼」；附錄依提問使用。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【轉場】「先講為什麼保險公司現在就要處理這件事，以及我們優先服務誰。」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【這頁的重點】保險業已經在用 AI，而且擴散很快；但 AI 寫的程式有風險，責任在保險公司。</a:t>
            </a:r>
          </a:p>
          <a:p>
            <a:r>
              <a:t>【講法】「四個數字。第一，McKinsey 去年對全球近兩千位主管的調查：88% 的企業已經至少在一個部門經常使用 AI，一年前是 78%，但多數還停在試點。第二，金管會今年 10 月的調查：保險業已經有 53% 在用 AI，前年是 43%，壽險公司更高達 65%。第三，有用 AI 的金融業者裡，76% 已經導入生成式 AI，一年前還不到一半。第四，Veracode 測了 100 多個 AI 模型、80 個寫程式任務：有 45% 的任務，AI 選了不安全的寫法。而委外新辦法和 AI 自律規範都寫明，責任在保險公司。所以紀錄要設計進流程，不能事後補。」</a:t>
            </a:r>
          </a:p>
          <a:p>
            <a:r>
              <a:t>【可能被問】「45% 是你們測的嗎？」→ 不是，是資安公司 Veracode 2025 年的研究，來源在頁底可以點。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【這頁的重點】採購時有四種人，各自在意的事不同；我們的 BA 能直接用 AI 做出原型，這是新的做法。</a:t>
            </a:r>
          </a:p>
          <a:p>
            <a:r>
              <a:t>【講法】中間是試點，四個角落是四種人：IT 主管付錢，在意交付跟不上；業務單位在意需求來回很多輪，我們的 BA 可以用 AI 當場做出原型，一起確認需求；法遵、風控、資安握有否決權，在意出事誰負責；管理層在意回報。中間下方是市場訊號：BlackRock 今年 10 月在新加坡、香港招募「Forward Deployed Business Analyst」，前線部署的 BA 已經是金融業正在找的職位；這也是 FSC1 BA 的未來展望：駐點客戶現場，用 AI 當場做出原型。最下面是我們優先找的客戶條件。</a:t>
            </a:r>
          </a:p>
          <a:p>
            <a:r>
              <a:t>【可能被問】「開發全部外包的公司呢？」→ 可以做，但要先談好外包廠商在試點中的角色（附錄試點風險）。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【轉場】「接下來講問題：工具已經普及，為什麼交付沒有跟著變好，以及我們怎麼解。」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【這頁的重點】AI 已經普及，但多數企業還沒看到錢；差別在流程與治理。</a:t>
            </a:r>
          </a:p>
          <a:p>
            <a:r>
              <a:t>【講法】上排四個數字說明普及，出處都寫在每張卡下方：開發者 84% 在用或計畫用 AI，這是 Stack Overflow 2025 年對 4.9 萬名開發者的調查；JPMorgan、Citi 已大規模導入；PwC 調查，57% 的保險業高階主管把生成式與代理式 AI 列為 2026 年首要科技投資。下排是問題：交付變快了，但也更不穩；在複雜的既有系統上，效益常常不到 10%，而保險公司的核心系統大多是這種；PwC 全球 CEO 調查，56% 的 CEO 說 AI 還沒帶來營收或成本上的明顯效益。所以導入 AI 時，需求、審查、上線與控制方式要一起改。</a:t>
            </a:r>
          </a:p>
          <a:p>
            <a:r>
              <a:t>【可能被問】「JPMorgan 不是提升 10–20%？」→ 那是個人生產力、公司自述；看整體交付和財務效益，結果就不一樣。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【這頁的重點】先講以前怎麼做，再講我們帶來的新做法：AI 參與每一步，但用三個機制守住，關鍵決定由人做。</a:t>
            </a:r>
          </a:p>
          <a:p>
            <a:r>
              <a:t>【以前】需求、設計、開發、測試、上線一段一段交接，靠開會和個人經驗；文件常常跟不上程式。AI 是工程師各自在用的小工具：誰用了、AI 改了什麼、誰核准，事後查不到。規範靠人記得，審查靠人排隊。</a:t>
            </a:r>
          </a:p>
          <a:p>
            <a:r>
              <a:t>【新的做法】把開發流程串成一個循環，AI 參與每一步，維運發現的問題直接回到下一個需求。三個機制守住：第一，交接靠檔案，需求說明、規格、實作計畫、測試結果、核准紀錄，下一步直接接手；第二，規則自動執行，資安、個資、委外規範寫成 AI 自動套用的規則，必守的事由自動關卡擋下；第三，關卡有人簽，接受需求、確認規格、核准計畫、核准合併、授權上線，五個決定由貴公司指定的人做。</a:t>
            </a:r>
          </a:p>
          <a:p>
            <a:r>
              <a:t>【講法】「原則只有一句：AI 可以一路做到正式環境、把上線準備好，但不能自己按下上線。這套方法也不綁特定 AI 工具。」</a:t>
            </a:r>
          </a:p>
          <a:p>
            <a:r>
              <a:t>【可能被問】「要換掉我們現有的 Jira 或變更管理嗎？」→ 不用，關卡與紀錄接在既有工具上，診斷時確認做法。</a:t>
            </a:r>
          </a:p>
          <a:p>
            <a:r>
              <a:t>【轉場】「人到底在什麼時候介入？下一頁。」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【這頁的重點】第一階段從左上角開始：常發生、判斷少的工作先交給 AI；右下角永遠由人決定。</a:t>
            </a:r>
          </a:p>
          <a:p>
            <a:r>
              <a:t>【講法】依「多常發生、需要多少判斷」分四類。左上角框起來的是我們的起點：測試案例、文件、Release Note 這類，AI 先做、人確認，最快看到效果，所以第一個試點挑這類工作多的需求。右上，程式碼、API 規格，AI 起草、人逐項審。左下做成範本。右下，接受需求、核准合併、授權上線，永遠由人決定，就是五個人工關卡。這兩個軸不是我們自己想的：橫軸來自 MIT 經濟學者 Autor 等人 2003 年的研究，例行性越高的任務越先被技術取代；縱軸來自哈佛商學院和 BCG 對 758 位顧問的實驗，AI 能力範圍內的任務品質高約四成，範圍外的任務正確率反而下降。所以判斷多的工作，一定要人審。分類會在診斷時依客戶的專案確認。</a:t>
            </a:r>
          </a:p>
          <a:p>
            <a:r>
              <a:t>【轉場】「實際長什麼樣子？看示範。」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【這頁的重點】不是概念：同一個功能從業務需求到上線，每一步都有文件。</a:t>
            </a:r>
          </a:p>
          <a:p>
            <a:r>
              <a:t>【講法】「五個框是金融機構主檔這個功能：7 條業務規則，包括制裁國家建檔要主管覆核；6 份規格；每個任務列清楚驗收場景，最多只能改 5 個檔案；QA 規格定了 10 個測試案例，品質閘門要求覆蓋率超過 90%；每個任務都回溯到規則代碼，制裁建檔寫入審計。下一頁看測試實際怎麼跑。」</a:t>
            </a:r>
          </a:p>
          <a:p>
            <a:r>
              <a:t>【可能被問】「覆蓋率 90% 是實際結果嗎？」→ 那是品質閘門要求的門檻，不是已達成的結果；實際執行情形在現場示範時說明。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【這頁的重點】讓沒寫過程式的人也看得懂：以前測試靠人，現在系統自動跑。</a:t>
            </a:r>
          </a:p>
          <a:p>
            <a:r>
              <a:t>【講法】「左邊是以前的做法：測試人員拿一張清單，一格一格點、一格一格記、再截圖貼進報告；每次改版都要重來，改得越多，測得越少。右邊是同一個系統現在的做法：一樣的檢查，系統自動跑完，每次改版都重跑一遍，錄影和結果自動留下來。大的這段是國家選單，示範查詢、新增，以及故意漏填欄位時系統有沒有擋下來。人只需要看沒通過的項目。」</a:t>
            </a:r>
          </a:p>
          <a:p>
            <a:r>
              <a:t>【可能被問】「自動測試是 AI 寫的嗎？」→ 依 IT 確認的說法回答。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【轉場】「看完怎麼做，接下來講帶來什麼價值、給法遵的答案，以及你買到什麼。」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【這頁的重點】一頁講完價值與治理：左邊是做得快的地方，每項都有指標；右邊是管得住的地方，每題都有紀錄。</a:t>
            </a:r>
          </a:p>
          <a:p>
            <a:r>
              <a:t>【講法】「左邊四個痛點：需求來回很多輪，AI 快速做出原型、業務當場確認，量需求定稿時間；審查排隊，AI 先審、人只判斷風險，量等待時間和返工次數；上線出錯，每次改動都自動測試，量變更失敗率；交付難預期，每階段交出檔案，量交付時間。右邊五題是監理機關會問的：AI 工具有沒有納管、個資會不會進到 AI、上線誰核准、出事能不能退、事後查不查得到；每一題都有做法，也留得下紀錄。」</a:t>
            </a:r>
          </a:p>
          <a:p>
            <a:r>
              <a:t>【可能被問】「能保證快多少嗎？」→ 不承諾數字，試點前量基準、訂合格線，用實測證明。</a:t>
            </a:r>
          </a:p>
          <a:p>
            <a:r>
              <a:t>【建議】右半頁最好在法遵在場時講，或會前先單獨給法遵看。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【這頁的重點】先診斷、再做一個場景的試點；成功標準先講好，達標才擴大。為什麼找我們，四個理由各有證據。</a:t>
            </a:r>
          </a:p>
          <a:p>
            <a:r>
              <a:t>【講法】「上半頁是買到什麼：準備度診斷 4 到 6 週，盤點現況、做法規檢查、挑出第一個場景、訂好成功標準；接著一個場景的試點 6 到 8 週，用真實需求走完循環，同時建立範本、規則與關卡、教會各角色。右邊是成功標準，達標才擴大。下半頁是為什麼選我們：已經在用，剛才的再保系統就是例子；台灣保險法規內建；BA 懂保險業務；人工關卡可稽核。」</a:t>
            </a:r>
          </a:p>
          <a:p>
            <a:r>
              <a:t>【可能被問】「價格？」→ 固定範圍、固定價格，另行報價。「跟國際顧問比？」→ 他們多以預建代理與藍圖為主，我們綁上在地法規與可稽核關卡，從貴公司的一個真實需求開始。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【轉場】「最後講下一步：怎麼開始、怎麼逐步擴大；每一步都沿用前一步的範本、規則與關卡，所以越做越快。」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【這頁的重點】每一步只承諾下一步；每個檢查點都可以擴大、調整或停止，彈性在客戶手上。</a:t>
            </a:r>
          </a:p>
          <a:p>
            <a:r>
              <a:t>【講法】「上面四步：一個場景、驗證價值、相鄰場景、全公司。每一步下面的橘色條，是可以沿用的範本與規則，越往後越多，所以下一個越快。每兩步之間有一個檢查點，三條路：達到合格線就擴大；部分達標就縮小範圍或換場景再試；不值得做就停，損失只限於這一步。最後提醒 J 曲線：導入初期會先變慢一陣子，最常見的失敗是在低谷時喊停，所以成功標準和觀察期間要在試點前講好。」</a:t>
            </a:r>
          </a:p>
          <a:p>
            <a:r>
              <a:t>【可能被問】「多久能全公司導入？」→ 依前一階段的成果決定，不預先承諾時程。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【這頁的重點】三個步驟就能開始。</a:t>
            </a:r>
          </a:p>
          <a:p>
            <a:r>
              <a:t>【講法】第一，現場示範：拿貴公司一個真實需求，當場跑一次，從寫需求到上線前的核准。第二，一起挑題目：開一次會，挑出 1 到 2 個最適合先做的開發場景或業務痛點，順便確認資料、系統和法規上的限制。第三，開始診斷：定好範圍和窗口，開始盤點現在的開發流程和法規要求。右邊是需要貴公司提供的資料。</a:t>
            </a:r>
          </a:p>
          <a:p>
            <a:r>
              <a:t>【轉場】「最後，用一頁把今天收起來。」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【這頁的重點】收尾只講一句話，讓大家帶走：AI 讓寫程式變便宜，但責任沒有變少；敢讓 AI 的程式上線，靠的是治理。</a:t>
            </a:r>
          </a:p>
          <a:p>
            <a:r>
              <a:t>【講法】慢慢唸橘色那兩行：「AI 的使用成本，兩年降到 280 分之一；出了事，責任一分都沒有變少。」停兩秒。「所以未來的差距，不在誰寫得快，而在誰敢讓 AI 寫的程式上線。敢上線的前提，是每一步查得到、每個關鍵決定由人做，這就是我們幫保險公司建好的東西。」接著講下一步：「我們想請貴公司做的只有一件事：約一場現場示範，用你們自己的一個需求。」</a:t>
            </a:r>
          </a:p>
          <a:p>
            <a:r>
              <a:t>【收尾】講完下一步就停，不要再補充；把時間留給對方回應。</a:t>
            </a:r>
          </a:p>
          <a:p>
            <a:r>
              <a:t>【可能被問】「1/280 是寫程式的成本嗎？」→ 不是，是同等能力的 AI 模型使用成本（Stanford AI Index 2025）；寫程式整體成本降多少，要看流程，所以我們用試點實測。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【用途】附錄依提問使用，不主動講。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【用途】對方想看一個完整流程的例子時使用。說明每個階段導入前後的差別，以及由誰決定。這是改編自公開範例的示意，不是客戶案例。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【用途】被問「之後能延伸到哪裡」時使用：同一客戶的其他系統、新制專案、AI 治理、其他保險公司、其他金融業，各有沿用的資產與前提。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【用途】被問到競爭對手時使用。這些都是業者公開資訊，規模與期程數字為業者自述。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【用途】法遵追問條文時使用。說明每條規範在開發流程的哪一步落實。這是導入規劃工具，不是法律意見，草稿待法遵確認。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【用途】示範之後，法遵或稽核想看證據時使用。從任一條業務規則，都能找到對應的使用案例、測試案例與開發任務。也可以強調：缺口一眼看得出來，例如有兩條規則還沒有對應的測試。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【用途】被問「會出什麼問題」時使用。五個風險各有提早發現的訊號、事前降低的做法、發生時的應變與負責人。正式清單於診斷時與貴公司共同確認。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【用途】被問數字出處時使用。−1.5%、−7.2% 是 AI 採用率每增加 25% 的模型估計；JPMorgan 數字為公司自述。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mckinsey.com/capabilities/quantumblack/our-insights/the-state-of-ai" TargetMode="External"/><Relationship Id="rId3" Type="http://schemas.openxmlformats.org/officeDocument/2006/relationships/hyperlink" Target="https://www.ctee.com.tw/news/20261016700947-430301" TargetMode="External"/><Relationship Id="rId4" Type="http://schemas.openxmlformats.org/officeDocument/2006/relationships/hyperlink" Target="https://udn.com/news/story/7239/9817114" TargetMode="External"/><Relationship Id="rId5" Type="http://schemas.openxmlformats.org/officeDocument/2006/relationships/hyperlink" Target="https://www.veracode.com/press-release/ai-generated-code-poses-major-security-risks-in-nearly-half-of-all-development-tasks-veracode-research-reveals/" TargetMode="Externa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careers.blackrock.com/job/singapore/forward-deployed-business-analyst-associate-vice-president-bto/45831/102156865664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stackoverflow.co/company/press/archive/stack-overflow-2025-developer-survey/" TargetMode="External"/><Relationship Id="rId3" Type="http://schemas.openxmlformats.org/officeDocument/2006/relationships/hyperlink" Target="https://finance.yahoo.com/news/jpmorgan-engineers-efficiency-jumps-much-190410471.html" TargetMode="External"/><Relationship Id="rId4" Type="http://schemas.openxmlformats.org/officeDocument/2006/relationships/hyperlink" Target="https://www.deloitte.com/global/en/insights/industry/financial-services/financial-services-industry-predictions/2025/ai-and-bank-software-development.html" TargetMode="External"/><Relationship Id="rId5" Type="http://schemas.openxmlformats.org/officeDocument/2006/relationships/hyperlink" Target="https://www.pwc.com/us/en/industries/financial-services/library/reinventing-insurance.html" TargetMode="External"/><Relationship Id="rId6" Type="http://schemas.openxmlformats.org/officeDocument/2006/relationships/hyperlink" Target="https://cloud.google.com/blog/products/ai-machine-learning/announcing-the-2025-dora-report" TargetMode="External"/><Relationship Id="rId7" Type="http://schemas.openxmlformats.org/officeDocument/2006/relationships/hyperlink" Target="https://softwareengineeringproductivity.stanford.edu" TargetMode="External"/><Relationship Id="rId8" Type="http://schemas.openxmlformats.org/officeDocument/2006/relationships/hyperlink" Target="https://www.pwc.com/gx/en/ceo-survey/2026/pwc-ceo-survey-2026.pdf" TargetMode="Externa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economics.mit.edu/sites/default/files/publications/the%20skill%20content%202003.pdf" TargetMode="External"/><Relationship Id="rId3" Type="http://schemas.openxmlformats.org/officeDocument/2006/relationships/hyperlink" Target="https://www.hbs.edu/faculty/Pages/item.aspx?num=64700" TargetMode="Externa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0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11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hai.stanford.edu/ai-index/2025-ai-index-report" TargetMode="External"/><Relationship Id="rId3" Type="http://schemas.openxmlformats.org/officeDocument/2006/relationships/hyperlink" Target="https://www.leeandli.com/TW/Newsletters/7525.htm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deloitte.com/global/en/what-we-do/capabilities/agentic-ai-blueprint-for-insurance.html" TargetMode="External"/><Relationship Id="rId3" Type="http://schemas.openxmlformats.org/officeDocument/2006/relationships/hyperlink" Target="https://sas.com/nl_nl/news/press-releases/2022/may/deloitte-partners-with-sas-to-power-ifrs-17-accelerator-solution.html" TargetMode="External"/><Relationship Id="rId4" Type="http://schemas.openxmlformats.org/officeDocument/2006/relationships/hyperlink" Target="https://sas.com/en_ca/news/press-releases/2022/september/pvi-insurance-deploys-kpmg-ifrs-17-express.html" TargetMode="External"/><Relationship Id="rId5" Type="http://schemas.openxmlformats.org/officeDocument/2006/relationships/hyperlink" Target="https://www.capgemini.com/wp-content/uploads/2026/10/GW-datasheet_Final-version.pdf" TargetMode="External"/><Relationship Id="rId6" Type="http://schemas.openxmlformats.org/officeDocument/2006/relationships/hyperlink" Target="https://www.wtwco.com/en-gh/news/2025/10/wtw-launch-of-radar-5-with-gen-ai-capability-marks-a-major-milestone-in-insurance-pricing" TargetMode="External"/><Relationship Id="rId7" Type="http://schemas.openxmlformats.org/officeDocument/2006/relationships/hyperlink" Target="https://www.mckinsey.com/industries/financial-services/our-insights/can-agentic-ai-finally-modernize-core-technologies-in-insurance" TargetMode="External"/><Relationship Id="rId8" Type="http://schemas.openxmlformats.org/officeDocument/2006/relationships/hyperlink" Target="https://www.bcg.com/assets/2026/executive-perspectives-ai-first-companies-win-the-future-property-casualty-insurance.pdf" TargetMode="External"/><Relationship Id="rId9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stackoverflow.co/company/press/archive/stack-overflow-2025-developer-survey/" TargetMode="External"/><Relationship Id="rId3" Type="http://schemas.openxmlformats.org/officeDocument/2006/relationships/hyperlink" Target="https://cloud.google.com/blog/products/devops-sre/announcing-the-2024-dora-report" TargetMode="External"/><Relationship Id="rId4" Type="http://schemas.openxmlformats.org/officeDocument/2006/relationships/hyperlink" Target="https://cloud.google.com/blog/products/ai-machine-learning/announcing-the-2025-dora-report" TargetMode="External"/><Relationship Id="rId5" Type="http://schemas.openxmlformats.org/officeDocument/2006/relationships/hyperlink" Target="https://services.google.com/fh/files/misc/dora-roi-of-ai-assisted-software-development-2026.pdf" TargetMode="External"/><Relationship Id="rId6" Type="http://schemas.openxmlformats.org/officeDocument/2006/relationships/hyperlink" Target="https://www.mckinsey.com/capabilities/quantumblack/our-insights/the-state-of-ai" TargetMode="External"/><Relationship Id="rId7" Type="http://schemas.openxmlformats.org/officeDocument/2006/relationships/hyperlink" Target="https://finance.yahoo.com/news/jpmorgan-engineers-efficiency-jumps-much-190410471.html" TargetMode="External"/><Relationship Id="rId8" Type="http://schemas.openxmlformats.org/officeDocument/2006/relationships/hyperlink" Target="https://www.deloitte.com/global/en/insights/industry/financial-services/financial-services-industry-predictions/2025/ai-and-bank-software-development.html" TargetMode="External"/><Relationship Id="rId9" Type="http://schemas.openxmlformats.org/officeDocument/2006/relationships/hyperlink" Target="https://www.pwc.com/us/en/industries/financial-services/library/reinventing-insurance.html" TargetMode="External"/><Relationship Id="rId10" Type="http://schemas.openxmlformats.org/officeDocument/2006/relationships/hyperlink" Target="https://www.ctee.com.tw/news/20261016700947-430301" TargetMode="External"/><Relationship Id="rId11" Type="http://schemas.openxmlformats.org/officeDocument/2006/relationships/hyperlink" Target="https://www.veracode.com/press-release/ai-generated-code-poses-major-security-risks-in-nearly-half-of-all-development-tasks-veracode-research-reveals/" TargetMode="External"/><Relationship Id="rId12" Type="http://schemas.openxmlformats.org/officeDocument/2006/relationships/hyperlink" Target="https://www.pwc.com/gx/en/ceo-survey/2026/pwc-ceo-survey-2026.pdf" TargetMode="External"/><Relationship Id="rId13" Type="http://schemas.openxmlformats.org/officeDocument/2006/relationships/hyperlink" Target="https://hai.stanford.edu/ai-index/2025-ai-index-report" TargetMode="External"/><Relationship Id="rId14" Type="http://schemas.openxmlformats.org/officeDocument/2006/relationships/hyperlink" Target="https://www.mckinsey.com/capabilities/tech-and-ai/our-insights/the-top-trends-in-tech" TargetMode="External"/><Relationship Id="rId15" Type="http://schemas.openxmlformats.org/officeDocument/2006/relationships/hyperlink" Target="https://www.hbs.edu/faculty/Pages/item.aspx?num=64700" TargetMode="External"/><Relationship Id="rId16" Type="http://schemas.openxmlformats.org/officeDocument/2006/relationships/hyperlink" Target="https://www.leeandli.com/TW/Newsletters/7525.htm" TargetMode="External"/><Relationship Id="rId17" Type="http://schemas.openxmlformats.org/officeDocument/2006/relationships/hyperlink" Target="https://law.lia-roc.org.tw/Law/GetFile/0000394231" TargetMode="External"/><Relationship Id="rId18" Type="http://schemas.openxmlformats.org/officeDocument/2006/relationships/hyperlink" Target="https://www.fsc.gov.tw/websitedowndoc?file=chfsc/202408231741530.pdf" TargetMode="External"/><Relationship Id="rId19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原生開發：</a:t>
            </a:r>
          </a:p>
          <a:p>
            <a:r>
              <a:rPr sz="2800">
                <a:latin typeface="Georgia"/>
                <a:ea typeface="微軟正黑體"/>
              </a:rPr>
              <a:t>做得快，也管得住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Georgia"/>
                <a:ea typeface="微軟正黑體"/>
              </a:rPr>
              <a:t>從框架到實務：可重複的流程、內建治理、關鍵決定由人做</a:t>
            </a:r>
          </a:p>
          <a:p>
            <a:r>
              <a:rPr sz="1200">
                <a:latin typeface="Georgia"/>
                <a:ea typeface="微軟正黑體"/>
              </a:rPr>
              <a:t>PwC FSC1｜給保險業的提案｜2026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一頁看懂：做得快也管得住，從一個場景開始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提案摘要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先做 4–6 週診斷與 6–8 週單一場景試點；達標後，範本、規則與關卡沿用到下一個系統。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1　為什麼是現在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委外新辦法與 AI 自律規範已上路，AI 產出的最終責任在保險公司；開發流程要拿得出「誰要求、AI 做了什麼、誰核准」的紀錄。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5、14 頁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233672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2　為什麼只買工具不夠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33672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國際研究：AI 讓交付變快，但也更不穩；PwC 調查也顯示，多數 CEO 還沒看到 AI 的財務效益。差別在流程與治理。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233672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8 頁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8055863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3　為什麼找我們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055863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FSC1 自己已經用這套流程開發；懂保險業務與法規的 BA 和實作的 IT 同一組人，從貴公司的一個真實需求開始。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055863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11、15 頁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4489704"/>
            <a:ext cx="91440" cy="12294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502920" y="4489704"/>
            <a:ext cx="5577840" cy="12294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請貴公司決定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安排一場現場示範，指定 IT 與業務窗口，選出 1–2 個候選場景，啟動準備度診斷。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217920" y="4489704"/>
            <a:ext cx="5577840" cy="12294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Georgia"/>
                <a:ea typeface="微軟正黑體"/>
              </a:rPr>
              <a:t>如果先不做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AI 工具照樣在開發團隊擴散，但流程與紀錄沒跟上；等到金檢或內稽時再補紀錄，成本更高、風險更大。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466344"/>
            <a:ext cx="7315200" cy="758952"/>
          </a:xfrm>
        </p:spPr>
        <p:txBody>
          <a:bodyPr/>
          <a:lstStyle/>
          <a:p>
            <a:r>
              <a:rPr b="1">
                <a:latin typeface="Georgia"/>
                <a:ea typeface="微軟正黑體"/>
              </a:rPr>
              <a:t>Agenda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議程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8912" y="1243584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為什麼現在要做、怎麼落地、帶來什麼價值，以及怎麼做成可沿用的做法。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597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" y="231060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25880" y="173403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面向誰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73403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保險公司為什麼現在要做、優先服務誰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73403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4–6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63147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" y="3116108"/>
            <a:ext cx="0" cy="339160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25880" y="253953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解決什麼問題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3953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全球趨勢與只買工具為什麼不夠、我們的解法、AI 分工、現場示範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253953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7–12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4369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" y="3921612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5880" y="3345041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帶來什麼價值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345041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價值與治理、買到什麼、為什麼選我們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3345041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13–15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24248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" y="472711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25880" y="415054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下一步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15054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逐步擴大、如何開始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415054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16–19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4798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495604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95604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示範情境、延伸方式、同業參考、法規清單、示範追溯、試點風險、資料來源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495604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20–27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右側數字為頁碼。頁面右上方標示「建議」「示意」「假設」「待確認」者為建議或示意內容；未標示者為有來源的事實或既有設計。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面向誰</a:t>
            </a:r>
          </a:p>
          <a:p>
            <a:r>
              <a:rPr sz="3000">
                <a:latin typeface="Georgia"/>
                <a:ea typeface="微軟正黑體"/>
              </a:rPr>
              <a:t>Who we serve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01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面向誰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保險公司現在就要把 AI 治理設計進開發流程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保險業過半已在用 AI，生成式 AI 快速擴散；但 AI 寫程式時近半選了不安全的寫法，而責任在保險公司。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全球企業已在用 AI</a:t>
            </a:r>
          </a:p>
        </p:txBody>
      </p:sp>
      <p:sp>
        <p:nvSpPr>
          <p:cNvPr id="323" name="計數 323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24" name="計數 324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20%</a:t>
            </a:r>
          </a:p>
        </p:txBody>
      </p:sp>
      <p:sp>
        <p:nvSpPr>
          <p:cNvPr id="325" name="計數 325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37%</a:t>
            </a:r>
          </a:p>
        </p:txBody>
      </p:sp>
      <p:sp>
        <p:nvSpPr>
          <p:cNvPr id="326" name="計數 326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51%</a:t>
            </a:r>
          </a:p>
        </p:txBody>
      </p:sp>
      <p:sp>
        <p:nvSpPr>
          <p:cNvPr id="327" name="計數 327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62%</a:t>
            </a:r>
          </a:p>
        </p:txBody>
      </p:sp>
      <p:sp>
        <p:nvSpPr>
          <p:cNvPr id="328" name="計數 328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71%</a:t>
            </a:r>
          </a:p>
        </p:txBody>
      </p:sp>
      <p:sp>
        <p:nvSpPr>
          <p:cNvPr id="329" name="計數 329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77%</a:t>
            </a:r>
          </a:p>
        </p:txBody>
      </p:sp>
      <p:sp>
        <p:nvSpPr>
          <p:cNvPr id="330" name="計數 330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82%</a:t>
            </a:r>
          </a:p>
        </p:txBody>
      </p:sp>
      <p:sp>
        <p:nvSpPr>
          <p:cNvPr id="331" name="計數 331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85%</a:t>
            </a:r>
          </a:p>
        </p:txBody>
      </p:sp>
      <p:sp>
        <p:nvSpPr>
          <p:cNvPr id="332" name="計數 332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87%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88%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至少一個部門經常使用 AI；一年前是 78%。多數仍停在試點階段。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McKinsey 全球調查 2025（1,993 人）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287268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保險業已在用 AI</a:t>
            </a:r>
          </a:p>
        </p:txBody>
      </p:sp>
      <p:sp>
        <p:nvSpPr>
          <p:cNvPr id="333" name="計數 333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34" name="計數 334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12%</a:t>
            </a:r>
          </a:p>
        </p:txBody>
      </p:sp>
      <p:sp>
        <p:nvSpPr>
          <p:cNvPr id="335" name="計數 335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22%</a:t>
            </a:r>
          </a:p>
        </p:txBody>
      </p:sp>
      <p:sp>
        <p:nvSpPr>
          <p:cNvPr id="336" name="計數 336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31%</a:t>
            </a:r>
          </a:p>
        </p:txBody>
      </p:sp>
      <p:sp>
        <p:nvSpPr>
          <p:cNvPr id="337" name="計數 337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37%</a:t>
            </a:r>
          </a:p>
        </p:txBody>
      </p:sp>
      <p:sp>
        <p:nvSpPr>
          <p:cNvPr id="338" name="計數 338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42%</a:t>
            </a:r>
          </a:p>
        </p:txBody>
      </p:sp>
      <p:sp>
        <p:nvSpPr>
          <p:cNvPr id="339" name="計數 339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46%</a:t>
            </a:r>
          </a:p>
        </p:txBody>
      </p:sp>
      <p:sp>
        <p:nvSpPr>
          <p:cNvPr id="340" name="計數 340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49%</a:t>
            </a:r>
          </a:p>
        </p:txBody>
      </p:sp>
      <p:sp>
        <p:nvSpPr>
          <p:cNvPr id="341" name="計數 341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51%</a:t>
            </a:r>
          </a:p>
        </p:txBody>
      </p:sp>
      <p:sp>
        <p:nvSpPr>
          <p:cNvPr id="342" name="計數 342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52%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53%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3287268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2024 年是 43%；壽險公司更高達 65%。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3287268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金管會 2026-10 調查（工商時報）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63055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生成式 AI 擴散</a:t>
            </a:r>
          </a:p>
        </p:txBody>
      </p:sp>
      <p:sp>
        <p:nvSpPr>
          <p:cNvPr id="343" name="計數 343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44" name="計數 344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17%</a:t>
            </a:r>
          </a:p>
        </p:txBody>
      </p:sp>
      <p:sp>
        <p:nvSpPr>
          <p:cNvPr id="345" name="計數 345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32%</a:t>
            </a:r>
          </a:p>
        </p:txBody>
      </p:sp>
      <p:sp>
        <p:nvSpPr>
          <p:cNvPr id="346" name="計數 346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44%</a:t>
            </a:r>
          </a:p>
        </p:txBody>
      </p:sp>
      <p:sp>
        <p:nvSpPr>
          <p:cNvPr id="347" name="計數 347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53%</a:t>
            </a:r>
          </a:p>
        </p:txBody>
      </p:sp>
      <p:sp>
        <p:nvSpPr>
          <p:cNvPr id="348" name="計數 348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61%</a:t>
            </a:r>
          </a:p>
        </p:txBody>
      </p:sp>
      <p:sp>
        <p:nvSpPr>
          <p:cNvPr id="349" name="計數 349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66%</a:t>
            </a:r>
          </a:p>
        </p:txBody>
      </p:sp>
      <p:sp>
        <p:nvSpPr>
          <p:cNvPr id="350" name="計數 350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71%</a:t>
            </a:r>
          </a:p>
        </p:txBody>
      </p:sp>
      <p:sp>
        <p:nvSpPr>
          <p:cNvPr id="351" name="計數 351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73%</a:t>
            </a:r>
          </a:p>
        </p:txBody>
      </p:sp>
      <p:sp>
        <p:nvSpPr>
          <p:cNvPr id="352" name="計數 352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75%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76%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163055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有用 AI 的金融業者中，已導入生成式 AI 的比例；一年前是 48%。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163055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4"/>
              </a:rPr>
              <a:t>金管會 2026-10 調查（聯合報）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038843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寫程式的資安</a:t>
            </a:r>
          </a:p>
        </p:txBody>
      </p:sp>
      <p:sp>
        <p:nvSpPr>
          <p:cNvPr id="353" name="計數 353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54" name="計數 354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10%</a:t>
            </a:r>
          </a:p>
        </p:txBody>
      </p:sp>
      <p:sp>
        <p:nvSpPr>
          <p:cNvPr id="355" name="計數 355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19%</a:t>
            </a:r>
          </a:p>
        </p:txBody>
      </p:sp>
      <p:sp>
        <p:nvSpPr>
          <p:cNvPr id="356" name="計數 356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26%</a:t>
            </a:r>
          </a:p>
        </p:txBody>
      </p:sp>
      <p:sp>
        <p:nvSpPr>
          <p:cNvPr id="357" name="計數 357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32%</a:t>
            </a:r>
          </a:p>
        </p:txBody>
      </p:sp>
      <p:sp>
        <p:nvSpPr>
          <p:cNvPr id="358" name="計數 358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36%</a:t>
            </a:r>
          </a:p>
        </p:txBody>
      </p:sp>
      <p:sp>
        <p:nvSpPr>
          <p:cNvPr id="359" name="計數 359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39%</a:t>
            </a:r>
          </a:p>
        </p:txBody>
      </p:sp>
      <p:sp>
        <p:nvSpPr>
          <p:cNvPr id="360" name="計數 360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42%</a:t>
            </a:r>
          </a:p>
        </p:txBody>
      </p:sp>
      <p:sp>
        <p:nvSpPr>
          <p:cNvPr id="361" name="計數 361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43%</a:t>
            </a:r>
          </a:p>
        </p:txBody>
      </p:sp>
      <p:sp>
        <p:nvSpPr>
          <p:cNvPr id="362" name="計數 362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44%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45%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9038843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的寫程式任務，AI 選了不安全的寫法。測了 100 多個模型、80 個任務。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038843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5"/>
              </a:rPr>
              <a:t>Veracode，2025-07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168022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502920" y="5168022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責任在誰：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委外新辦法（2025 年底施行）和 AI 自律規範都寫明，AI 產出的最終責任在保險公司。紀錄要設計進流程，不能事後補。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" grpId="0" animBg="1"/>
      <p:bldP spid="323" grpId="1" animBg="1"/>
      <p:bldP spid="324" grpId="0" animBg="1"/>
      <p:bldP spid="324" grpId="1" animBg="1"/>
      <p:bldP spid="325" grpId="0" animBg="1"/>
      <p:bldP spid="325" grpId="1" animBg="1"/>
      <p:bldP spid="326" grpId="0" animBg="1"/>
      <p:bldP spid="326" grpId="1" animBg="1"/>
      <p:bldP spid="327" grpId="0" animBg="1"/>
      <p:bldP spid="327" grpId="1" animBg="1"/>
      <p:bldP spid="328" grpId="0" animBg="1"/>
      <p:bldP spid="328" grpId="1" animBg="1"/>
      <p:bldP spid="329" grpId="0" animBg="1"/>
      <p:bldP spid="329" grpId="1" animBg="1"/>
      <p:bldP spid="330" grpId="0" animBg="1"/>
      <p:bldP spid="330" grpId="1" animBg="1"/>
      <p:bldP spid="331" grpId="0" animBg="1"/>
      <p:bldP spid="331" grpId="1" animBg="1"/>
      <p:bldP spid="332" grpId="0" animBg="1"/>
      <p:bldP spid="332" grpId="1" animBg="1"/>
      <p:bldP spid="306" grpId="0" animBg="1"/>
      <p:bldP spid="333" grpId="0" animBg="1"/>
      <p:bldP spid="333" grpId="1" animBg="1"/>
      <p:bldP spid="334" grpId="0" animBg="1"/>
      <p:bldP spid="334" grpId="1" animBg="1"/>
      <p:bldP spid="335" grpId="0" animBg="1"/>
      <p:bldP spid="335" grpId="1" animBg="1"/>
      <p:bldP spid="336" grpId="0" animBg="1"/>
      <p:bldP spid="336" grpId="1" animBg="1"/>
      <p:bldP spid="337" grpId="0" animBg="1"/>
      <p:bldP spid="337" grpId="1" animBg="1"/>
      <p:bldP spid="338" grpId="0" animBg="1"/>
      <p:bldP spid="338" grpId="1" animBg="1"/>
      <p:bldP spid="339" grpId="0" animBg="1"/>
      <p:bldP spid="339" grpId="1" animBg="1"/>
      <p:bldP spid="340" grpId="0" animBg="1"/>
      <p:bldP spid="340" grpId="1" animBg="1"/>
      <p:bldP spid="341" grpId="0" animBg="1"/>
      <p:bldP spid="341" grpId="1" animBg="1"/>
      <p:bldP spid="342" grpId="0" animBg="1"/>
      <p:bldP spid="342" grpId="1" animBg="1"/>
      <p:bldP spid="310" grpId="0" animBg="1"/>
      <p:bldP spid="343" grpId="0" animBg="1"/>
      <p:bldP spid="343" grpId="1" animBg="1"/>
      <p:bldP spid="344" grpId="0" animBg="1"/>
      <p:bldP spid="344" grpId="1" animBg="1"/>
      <p:bldP spid="345" grpId="0" animBg="1"/>
      <p:bldP spid="345" grpId="1" animBg="1"/>
      <p:bldP spid="346" grpId="0" animBg="1"/>
      <p:bldP spid="346" grpId="1" animBg="1"/>
      <p:bldP spid="347" grpId="0" animBg="1"/>
      <p:bldP spid="347" grpId="1" animBg="1"/>
      <p:bldP spid="348" grpId="0" animBg="1"/>
      <p:bldP spid="348" grpId="1" animBg="1"/>
      <p:bldP spid="349" grpId="0" animBg="1"/>
      <p:bldP spid="349" grpId="1" animBg="1"/>
      <p:bldP spid="350" grpId="0" animBg="1"/>
      <p:bldP spid="350" grpId="1" animBg="1"/>
      <p:bldP spid="351" grpId="0" animBg="1"/>
      <p:bldP spid="351" grpId="1" animBg="1"/>
      <p:bldP spid="352" grpId="0" animBg="1"/>
      <p:bldP spid="352" grpId="1" animBg="1"/>
      <p:bldP spid="314" grpId="0" animBg="1"/>
      <p:bldP spid="353" grpId="0" animBg="1"/>
      <p:bldP spid="353" grpId="1" animBg="1"/>
      <p:bldP spid="354" grpId="0" animBg="1"/>
      <p:bldP spid="354" grpId="1" animBg="1"/>
      <p:bldP spid="355" grpId="0" animBg="1"/>
      <p:bldP spid="355" grpId="1" animBg="1"/>
      <p:bldP spid="356" grpId="0" animBg="1"/>
      <p:bldP spid="356" grpId="1" animBg="1"/>
      <p:bldP spid="357" grpId="0" animBg="1"/>
      <p:bldP spid="357" grpId="1" animBg="1"/>
      <p:bldP spid="358" grpId="0" animBg="1"/>
      <p:bldP spid="358" grpId="1" animBg="1"/>
      <p:bldP spid="359" grpId="0" animBg="1"/>
      <p:bldP spid="359" grpId="1" animBg="1"/>
      <p:bldP spid="360" grpId="0" animBg="1"/>
      <p:bldP spid="360" grpId="1" animBg="1"/>
      <p:bldP spid="361" grpId="0" animBg="1"/>
      <p:bldP spid="361" grpId="1" animBg="1"/>
      <p:bldP spid="362" grpId="0" animBg="1"/>
      <p:bldP spid="362" grpId="1" animBg="1"/>
      <p:bldP spid="31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優先客群：有自建開發團隊的壽險與產險公司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假設：IT 主管決策與付費，法遵、風控與資安握有否決權；決策鏈需在診斷訪談中確認。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IT／數位主管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決策與付費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交付跟不上，AI 用了卻沒變快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一個看得到數字的試點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589520" y="1691640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業務單位主管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提需求、共同贊助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需求來回很多輪，上線時間說不準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BA 用 AI 當場做出原型，一起確認需求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3641805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法遵、風控、資安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握有否決權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委外、個資、AI 出事誰負責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法規清單、人工關卡、完整紀錄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589520" y="3641805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管理層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核准預算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AI 花了錢要看到回報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小範圍起步，成功標準先講好</a:t>
            </a:r>
          </a:p>
        </p:txBody>
      </p:sp>
      <p:sp>
        <p:nvSpPr>
          <p:cNvPr id="309" name="Oval 308"/>
          <p:cNvSpPr/>
          <p:nvPr/>
        </p:nvSpPr>
        <p:spPr>
          <a:xfrm>
            <a:off x="5230368" y="1713253"/>
            <a:ext cx="1737360" cy="173736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5230368" y="2200378"/>
            <a:ext cx="1737360" cy="7631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保險公司的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AI 開發試點</a:t>
            </a:r>
          </a:p>
        </p:txBody>
      </p:sp>
      <p:cxnSp>
        <p:nvCxnSpPr>
          <p:cNvPr id="311" name="Connector 310"/>
          <p:cNvCxnSpPr/>
          <p:nvPr/>
        </p:nvCxnSpPr>
        <p:spPr>
          <a:xfrm>
            <a:off x="4617720" y="2412353"/>
            <a:ext cx="640080" cy="127185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6949440" y="2412353"/>
            <a:ext cx="640080" cy="127185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4617720" y="3217856"/>
            <a:ext cx="822960" cy="508739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H="1" flipV="1">
            <a:off x="6766560" y="3217856"/>
            <a:ext cx="822960" cy="508739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Rectangle 314"/>
          <p:cNvSpPr/>
          <p:nvPr/>
        </p:nvSpPr>
        <p:spPr>
          <a:xfrm>
            <a:off x="4709160" y="3811385"/>
            <a:ext cx="2788920" cy="1441426"/>
          </a:xfrm>
          <a:prstGeom prst="rect">
            <a:avLst/>
          </a:prstGeom>
          <a:solidFill>
            <a:srgbClr val="FFE8D4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市場訊號：前線部署的 BA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BlackRock 2026 年 10 月在新加坡、香港招募</a:t>
            </a:r>
            <a:r>
              <a:rPr sz="105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「Forward Deployed Business Analyst」</a:t>
            </a: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FSC1 BA 未來展望：駐點客戶現場，用 AI 當場做出原型。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5337602"/>
            <a:ext cx="1138428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優先客群：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有自己或駐點的開發團隊；已有版本控制與 CI；近期有新制或核心系統周邊的開發需求。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解決什麼問題</a:t>
            </a:r>
          </a:p>
          <a:p>
            <a:r>
              <a:rPr sz="3000">
                <a:latin typeface="Georgia"/>
                <a:ea typeface="微軟正黑體"/>
              </a:rPr>
              <a:t>Problems we 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02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已普及，但交付沒有跟著變好：AI 放大原有的流程與治理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已經普及，但多數企業還沒看到財務效益；差別在流程與治理，不在工具。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開發者</a:t>
            </a:r>
          </a:p>
        </p:txBody>
      </p:sp>
      <p:sp>
        <p:nvSpPr>
          <p:cNvPr id="328" name="計數 328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29" name="計數 329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0" name="計數 330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35%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1" name="計數 331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2" name="計數 332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3" name="計數 333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67%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4" name="計數 334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74%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5" name="計數 335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78%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6" name="計數 336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81%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7" name="計數 337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Stack Overflow 2025 開發者調查，4.9 萬人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28041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JPMorgan</a:t>
            </a:r>
          </a:p>
        </p:txBody>
      </p:sp>
      <p:sp>
        <p:nvSpPr>
          <p:cNvPr id="338" name="計數 338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0–0%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39" name="計數 339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2–5%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0" name="計數 340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4–8%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1" name="計數 341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6–12%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2" name="計數 342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7–14%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3" name="計數 343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8–16%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4" name="計數 344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9–18%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5" name="計數 345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9–19%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6" name="計數 346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10–19%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10–20%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041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Yahoo Finance，2025-03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14934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Citi</a:t>
            </a:r>
          </a:p>
        </p:txBody>
      </p:sp>
      <p:sp>
        <p:nvSpPr>
          <p:cNvPr id="347" name="計數 347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0.0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48" name="計數 348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0.7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49" name="計數 349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1.3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0" name="計數 350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1.7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1" name="計數 351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2.1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2" name="計數 352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2.4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3" name="計數 353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2.6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4" name="計數 354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2.8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5" name="計數 355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2.9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6" name="計數 356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3.0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4934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4"/>
              </a:rPr>
              <a:t>Deloitte Insights，2025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018269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保險業高階主管</a:t>
            </a:r>
          </a:p>
        </p:txBody>
      </p:sp>
      <p:sp>
        <p:nvSpPr>
          <p:cNvPr id="357" name="計數 357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58" name="計數 358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59" name="計數 359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0" name="計數 360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1" name="計數 361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2" name="計數 362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46%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3" name="計數 363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4" name="計數 364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5" name="計數 365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55%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6" name="計數 366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56%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57%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18269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5"/>
              </a:rPr>
              <a:t>PwC〈Reinventing insurance〉，2025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交付：快了，但更不穩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↑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交付速度變快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↓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交付穩定度下降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233672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舊系統的效益比較小</a:t>
            </a:r>
          </a:p>
        </p:txBody>
      </p:sp>
      <p:sp>
        <p:nvSpPr>
          <p:cNvPr id="367" name="計數 367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0–0%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68" name="計數 368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8–9%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69" name="計數 369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15–17%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0" name="計數 370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20–23%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1" name="計數 371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25–28%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2" name="計數 372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28–32%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3" name="計數 373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31–35%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4" name="計數 374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32–37%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5" name="計數 375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34–39%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35–40%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6" name="計數 376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77" name="計數 377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78" name="計數 378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4%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79" name="計數 379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6%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80" name="計數 380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7%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81" name="計數 381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8%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82" name="計數 382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10%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055863" y="3217856"/>
            <a:ext cx="370332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CEO 怎麼說（PwC 調查）</a:t>
            </a:r>
          </a:p>
        </p:txBody>
      </p:sp>
      <p:sp>
        <p:nvSpPr>
          <p:cNvPr id="383" name="計數 383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4" name="計數 384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13%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5" name="計數 385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24%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6" name="計數 386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32%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7" name="計數 387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39%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8" name="計數 388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45%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9" name="計數 389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49%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90" name="計數 390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91" name="計數 391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54%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92" name="計數 392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55%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56%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5057795"/>
            <a:ext cx="9144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6" name="Rectangle 325"/>
          <p:cNvSpPr/>
          <p:nvPr/>
        </p:nvSpPr>
        <p:spPr>
          <a:xfrm>
            <a:off x="502920" y="5057795"/>
            <a:ext cx="1129284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所以：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效益取決於流程與治理，不取決於買了哪個工具。導入 AI 時，需求、審查、上線與控制方式要一起改，這正是我們協助的部分。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411480" y="588873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下排來源：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6"/>
              </a:rPr>
              <a:t>交付速度與穩定度：Google DORA 2025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7"/>
              </a:rPr>
              <a:t>既有系統效益：Stanford 軟體工程生產力研究（經 DORA 2026 引用）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8"/>
              </a:rPr>
              <a:t>CEO：PwC 第 29 屆全球 CEO 調查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fill="hold" grpId="1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1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grpId="1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fill="hold" grpId="1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199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199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1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fill="hold" grpId="1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" grpId="0" animBg="1"/>
      <p:bldP spid="328" grpId="1" animBg="1"/>
      <p:bldP spid="329" grpId="0" animBg="1"/>
      <p:bldP spid="329" grpId="1" animBg="1"/>
      <p:bldP spid="330" grpId="0" animBg="1"/>
      <p:bldP spid="330" grpId="1" animBg="1"/>
      <p:bldP spid="331" grpId="0" animBg="1"/>
      <p:bldP spid="331" grpId="1" animBg="1"/>
      <p:bldP spid="332" grpId="0" animBg="1"/>
      <p:bldP spid="332" grpId="1" animBg="1"/>
      <p:bldP spid="333" grpId="0" animBg="1"/>
      <p:bldP spid="333" grpId="1" animBg="1"/>
      <p:bldP spid="334" grpId="0" animBg="1"/>
      <p:bldP spid="334" grpId="1" animBg="1"/>
      <p:bldP spid="335" grpId="0" animBg="1"/>
      <p:bldP spid="335" grpId="1" animBg="1"/>
      <p:bldP spid="336" grpId="0" animBg="1"/>
      <p:bldP spid="336" grpId="1" animBg="1"/>
      <p:bldP spid="337" grpId="0" animBg="1"/>
      <p:bldP spid="337" grpId="1" animBg="1"/>
      <p:bldP spid="306" grpId="0" animBg="1"/>
      <p:bldP spid="338" grpId="0" animBg="1"/>
      <p:bldP spid="338" grpId="1" animBg="1"/>
      <p:bldP spid="339" grpId="0" animBg="1"/>
      <p:bldP spid="339" grpId="1" animBg="1"/>
      <p:bldP spid="340" grpId="0" animBg="1"/>
      <p:bldP spid="340" grpId="1" animBg="1"/>
      <p:bldP spid="341" grpId="0" animBg="1"/>
      <p:bldP spid="341" grpId="1" animBg="1"/>
      <p:bldP spid="342" grpId="0" animBg="1"/>
      <p:bldP spid="342" grpId="1" animBg="1"/>
      <p:bldP spid="343" grpId="0" animBg="1"/>
      <p:bldP spid="343" grpId="1" animBg="1"/>
      <p:bldP spid="344" grpId="0" animBg="1"/>
      <p:bldP spid="344" grpId="1" animBg="1"/>
      <p:bldP spid="345" grpId="0" animBg="1"/>
      <p:bldP spid="345" grpId="1" animBg="1"/>
      <p:bldP spid="346" grpId="0" animBg="1"/>
      <p:bldP spid="346" grpId="1" animBg="1"/>
      <p:bldP spid="309" grpId="0" animBg="1"/>
      <p:bldP spid="347" grpId="0" animBg="1"/>
      <p:bldP spid="347" grpId="1" animBg="1"/>
      <p:bldP spid="348" grpId="0" animBg="1"/>
      <p:bldP spid="348" grpId="1" animBg="1"/>
      <p:bldP spid="349" grpId="0" animBg="1"/>
      <p:bldP spid="349" grpId="1" animBg="1"/>
      <p:bldP spid="350" grpId="0" animBg="1"/>
      <p:bldP spid="350" grpId="1" animBg="1"/>
      <p:bldP spid="351" grpId="0" animBg="1"/>
      <p:bldP spid="351" grpId="1" animBg="1"/>
      <p:bldP spid="352" grpId="0" animBg="1"/>
      <p:bldP spid="352" grpId="1" animBg="1"/>
      <p:bldP spid="353" grpId="0" animBg="1"/>
      <p:bldP spid="353" grpId="1" animBg="1"/>
      <p:bldP spid="354" grpId="0" animBg="1"/>
      <p:bldP spid="354" grpId="1" animBg="1"/>
      <p:bldP spid="355" grpId="0" animBg="1"/>
      <p:bldP spid="355" grpId="1" animBg="1"/>
      <p:bldP spid="356" grpId="0" animBg="1"/>
      <p:bldP spid="356" grpId="1" animBg="1"/>
      <p:bldP spid="312" grpId="0" animBg="1"/>
      <p:bldP spid="357" grpId="0" animBg="1"/>
      <p:bldP spid="357" grpId="1" animBg="1"/>
      <p:bldP spid="358" grpId="0" animBg="1"/>
      <p:bldP spid="358" grpId="1" animBg="1"/>
      <p:bldP spid="359" grpId="0" animBg="1"/>
      <p:bldP spid="359" grpId="1" animBg="1"/>
      <p:bldP spid="360" grpId="0" animBg="1"/>
      <p:bldP spid="360" grpId="1" animBg="1"/>
      <p:bldP spid="361" grpId="0" animBg="1"/>
      <p:bldP spid="361" grpId="1" animBg="1"/>
      <p:bldP spid="362" grpId="0" animBg="1"/>
      <p:bldP spid="362" grpId="1" animBg="1"/>
      <p:bldP spid="363" grpId="0" animBg="1"/>
      <p:bldP spid="363" grpId="1" animBg="1"/>
      <p:bldP spid="364" grpId="0" animBg="1"/>
      <p:bldP spid="364" grpId="1" animBg="1"/>
      <p:bldP spid="365" grpId="0" animBg="1"/>
      <p:bldP spid="365" grpId="1" animBg="1"/>
      <p:bldP spid="366" grpId="0" animBg="1"/>
      <p:bldP spid="366" grpId="1" animBg="1"/>
      <p:bldP spid="315" grpId="0" animBg="1"/>
      <p:bldP spid="367" grpId="0" animBg="1"/>
      <p:bldP spid="367" grpId="1" animBg="1"/>
      <p:bldP spid="368" grpId="0" animBg="1"/>
      <p:bldP spid="368" grpId="1" animBg="1"/>
      <p:bldP spid="369" grpId="0" animBg="1"/>
      <p:bldP spid="369" grpId="1" animBg="1"/>
      <p:bldP spid="370" grpId="0" animBg="1"/>
      <p:bldP spid="370" grpId="1" animBg="1"/>
      <p:bldP spid="371" grpId="0" animBg="1"/>
      <p:bldP spid="371" grpId="1" animBg="1"/>
      <p:bldP spid="372" grpId="0" animBg="1"/>
      <p:bldP spid="372" grpId="1" animBg="1"/>
      <p:bldP spid="373" grpId="0" animBg="1"/>
      <p:bldP spid="373" grpId="1" animBg="1"/>
      <p:bldP spid="374" grpId="0" animBg="1"/>
      <p:bldP spid="374" grpId="1" animBg="1"/>
      <p:bldP spid="375" grpId="0" animBg="1"/>
      <p:bldP spid="375" grpId="1" animBg="1"/>
      <p:bldP spid="321" grpId="0" animBg="1"/>
      <p:bldP spid="376" grpId="0" animBg="1"/>
      <p:bldP spid="376" grpId="1" animBg="1"/>
      <p:bldP spid="377" grpId="0" animBg="1"/>
      <p:bldP spid="377" grpId="1" animBg="1"/>
      <p:bldP spid="378" grpId="0" animBg="1"/>
      <p:bldP spid="378" grpId="1" animBg="1"/>
      <p:bldP spid="379" grpId="0" animBg="1"/>
      <p:bldP spid="379" grpId="1" animBg="1"/>
      <p:bldP spid="380" grpId="0" animBg="1"/>
      <p:bldP spid="380" grpId="1" animBg="1"/>
      <p:bldP spid="381" grpId="0" animBg="1"/>
      <p:bldP spid="381" grpId="1" animBg="1"/>
      <p:bldP spid="382" grpId="0" animBg="1"/>
      <p:bldP spid="382" grpId="1" animBg="1"/>
      <p:bldP spid="322" grpId="0" animBg="1"/>
      <p:bldP spid="383" grpId="0" animBg="1"/>
      <p:bldP spid="383" grpId="1" animBg="1"/>
      <p:bldP spid="384" grpId="0" animBg="1"/>
      <p:bldP spid="384" grpId="1" animBg="1"/>
      <p:bldP spid="385" grpId="0" animBg="1"/>
      <p:bldP spid="385" grpId="1" animBg="1"/>
      <p:bldP spid="386" grpId="0" animBg="1"/>
      <p:bldP spid="386" grpId="1" animBg="1"/>
      <p:bldP spid="387" grpId="0" animBg="1"/>
      <p:bldP spid="387" grpId="1" animBg="1"/>
      <p:bldP spid="388" grpId="0" animBg="1"/>
      <p:bldP spid="388" grpId="1" animBg="1"/>
      <p:bldP spid="389" grpId="0" animBg="1"/>
      <p:bldP spid="389" grpId="1" animBg="1"/>
      <p:bldP spid="390" grpId="0" animBg="1"/>
      <p:bldP spid="390" grpId="1" animBg="1"/>
      <p:bldP spid="391" grpId="0" animBg="1"/>
      <p:bldP spid="391" grpId="1" animBg="1"/>
      <p:bldP spid="392" grpId="0" animBg="1"/>
      <p:bldP spid="392" grpId="1" animBg="1"/>
      <p:bldP spid="32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我們的解法：把開發流程串成循環，用三個機制守住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參與每一步；接受需求、核准合併、授權上線等五個關鍵決定，由貴公司指定的人做。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2514600" y="2115589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702440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2514600" y="4023360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 flipV="1">
            <a:off x="1326759" y="4023360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326759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326759" y="2115589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1828800" y="2701636"/>
            <a:ext cx="1371600" cy="13716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828800" y="3048277"/>
            <a:ext cx="137160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協作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參與每一步</a:t>
            </a:r>
          </a:p>
        </p:txBody>
      </p:sp>
      <p:sp>
        <p:nvSpPr>
          <p:cNvPr id="313" name="Oval 312"/>
          <p:cNvSpPr/>
          <p:nvPr/>
        </p:nvSpPr>
        <p:spPr>
          <a:xfrm>
            <a:off x="2080260" y="1681249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4" name="Rectangle 313"/>
          <p:cNvSpPr/>
          <p:nvPr/>
        </p:nvSpPr>
        <p:spPr>
          <a:xfrm>
            <a:off x="2080260" y="1903614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5" name="Oval 314"/>
          <p:cNvSpPr/>
          <p:nvPr/>
        </p:nvSpPr>
        <p:spPr>
          <a:xfrm>
            <a:off x="3268100" y="2317172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6" name="Rectangle 315"/>
          <p:cNvSpPr/>
          <p:nvPr/>
        </p:nvSpPr>
        <p:spPr>
          <a:xfrm>
            <a:off x="3268100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7" name="Oval 316"/>
          <p:cNvSpPr/>
          <p:nvPr/>
        </p:nvSpPr>
        <p:spPr>
          <a:xfrm>
            <a:off x="3268100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Rectangle 317"/>
          <p:cNvSpPr/>
          <p:nvPr/>
        </p:nvSpPr>
        <p:spPr>
          <a:xfrm>
            <a:off x="3268100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Oval 318"/>
          <p:cNvSpPr/>
          <p:nvPr/>
        </p:nvSpPr>
        <p:spPr>
          <a:xfrm>
            <a:off x="2080260" y="4224943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0" name="Rectangle 319"/>
          <p:cNvSpPr/>
          <p:nvPr/>
        </p:nvSpPr>
        <p:spPr>
          <a:xfrm>
            <a:off x="2080260" y="4447309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1" name="Oval 320"/>
          <p:cNvSpPr/>
          <p:nvPr/>
        </p:nvSpPr>
        <p:spPr>
          <a:xfrm>
            <a:off x="892419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892419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3" name="Oval 322"/>
          <p:cNvSpPr/>
          <p:nvPr/>
        </p:nvSpPr>
        <p:spPr>
          <a:xfrm>
            <a:off x="892419" y="2317172"/>
            <a:ext cx="868680" cy="868680"/>
          </a:xfrm>
          <a:prstGeom prst="ellipse">
            <a:avLst/>
          </a:prstGeom>
          <a:solidFill>
            <a:srgbClr val="FFE8D4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892419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75488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機制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355080" y="1691640"/>
            <a:ext cx="3529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怎麼運作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解決的問題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54880" y="2064715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交接靠檔案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355080" y="2064715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需求說明 → 規格 → 實作計畫 → 測試結果 → 核准紀錄，下一步直接接手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2064715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需求反覆、交接失真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754880" y="3014361"/>
            <a:ext cx="15636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規則自動執行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355080" y="3014361"/>
            <a:ext cx="352958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資安、個資、委外規範寫成 AI 自動套用的規則；必守的事由自動關卡擋下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21240" y="3014361"/>
            <a:ext cx="1837943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合規與品質靠個人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754880" y="3964007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關卡有人簽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355080" y="3964007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接受需求、確認規格、核准計畫、核准合併、授權上線，五個決定由指定的人做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921240" y="3964007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怕失控、稽核查不到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295207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295207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可以一路做到正式環境、把上線準備好，但不能自己按下上線。本方法不綁特定 AI 工具，依貴公司政策與合約選定。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流程整合自 FSC1〈AI 協作開發流程與產出範本〉v3。國際研究也建議用不可略過的檢查點、提交前自動檢查、小批次與版本控制，承接 AI 帶來的審查負擔（附錄 G）。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分工：重複、判斷少的先交給 AI；關鍵決定永遠由人做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依任務「多常發生 × 需要判斷」分四類；第一個試點場景，優先挑左上角工作多的需求。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51560" y="1734034"/>
            <a:ext cx="3291840" cy="1822981"/>
          </a:xfrm>
          <a:prstGeom prst="rect">
            <a:avLst/>
          </a:prstGeom>
          <a:solidFill>
            <a:srgbClr val="FFE8D4"/>
          </a:solidFill>
          <a:ln w="3810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161288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先做，人確認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61288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欄位清單、Test Case、Test Data、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Unit Test、註解與文件、Release Note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398264" y="1734034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4507992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起草，人逐項審查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507992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程式碼、API 規格、ERD、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Code Review 風險檢查、測試失敗原因分析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51560" y="3607889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161288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做成範本，重複使用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161288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Deploy Guide、User Guide、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Migration Script、部署腳本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398264" y="3607889"/>
            <a:ext cx="3291840" cy="182298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4507992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人決定，AI 只提供資料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507992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接受需求、架構選型、核准合併、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授權上線、事件處置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108960" y="1818824"/>
            <a:ext cx="1143000" cy="288285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★ 從這裡開始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1734034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3607889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5464786"/>
            <a:ext cx="6638544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001000" y="1734034"/>
            <a:ext cx="3794760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第一階段：從左上角開始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001000" y="2157984"/>
            <a:ext cx="3794760" cy="3688357"/>
          </a:xfrm>
          <a:prstGeom prst="rect">
            <a:avLst/>
          </a:prstGeom>
          <a:solidFill>
            <a:srgbClr val="FFE8D4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① 先挑左上角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第一個試點，挑這類工作多的需求：AI 先做、人確認，最快看到效果。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② 右下角永遠由人決定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接受需求、核准合併、授權上線，就是五個人工關卡（第 9 頁）。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③ 依實際專案調整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分類在診斷時，依貴公司的專案與規範確認（第 15 頁）。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97352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方法來源：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Autor, Levy &amp; Murnane，Quarterly Journal of Economics，2003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Dell’Acqua 等，Harvard Business School Working Paper 24-013，2023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示範：再保險系統開發模組，從業務需求到上線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 FSC1 IT 團隊的開發再保系統為例：規則、規格、任務與測試一路相連，每一步都留下文件。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1　需求說明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08" name="Picture 307" descr="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5" y="2098631"/>
            <a:ext cx="1977213" cy="2874374"/>
          </a:xfrm>
          <a:prstGeom prst="rect">
            <a:avLst/>
          </a:prstGeom>
        </p:spPr>
      </p:pic>
      <p:sp>
        <p:nvSpPr>
          <p:cNvPr id="309" name="Rectangle 308"/>
          <p:cNvSpPr/>
          <p:nvPr/>
        </p:nvSpPr>
        <p:spPr>
          <a:xfrm>
            <a:off x="411480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7 條業務規則，含制裁主管覆核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706624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2　規格與規範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706624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2" name="Picture 311" descr="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869" y="2098631"/>
            <a:ext cx="1977213" cy="2874374"/>
          </a:xfrm>
          <a:prstGeom prst="rect">
            <a:avLst/>
          </a:prstGeom>
        </p:spPr>
      </p:pic>
      <p:sp>
        <p:nvSpPr>
          <p:cNvPr id="313" name="Rectangle 312"/>
          <p:cNvSpPr/>
          <p:nvPr/>
        </p:nvSpPr>
        <p:spPr>
          <a:xfrm>
            <a:off x="2706624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6 份規格，各有審閱週期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001768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3　實作計畫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001768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6" name="Picture 315" descr="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013" y="2098631"/>
            <a:ext cx="1977213" cy="2874374"/>
          </a:xfrm>
          <a:prstGeom prst="rect">
            <a:avLst/>
          </a:prstGeom>
        </p:spPr>
      </p:pic>
      <p:sp>
        <p:nvSpPr>
          <p:cNvPr id="317" name="Rectangle 316"/>
          <p:cNvSpPr/>
          <p:nvPr/>
        </p:nvSpPr>
        <p:spPr>
          <a:xfrm>
            <a:off x="5001768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列清楚驗收場景，最多改 5 個檔案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296912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4　程式與測試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296912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0" name="Picture 319" descr="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157" y="2098631"/>
            <a:ext cx="1977213" cy="2874374"/>
          </a:xfrm>
          <a:prstGeom prst="rect">
            <a:avLst/>
          </a:prstGeom>
        </p:spPr>
      </p:pic>
      <p:sp>
        <p:nvSpPr>
          <p:cNvPr id="321" name="Rectangle 320"/>
          <p:cNvSpPr/>
          <p:nvPr/>
        </p:nvSpPr>
        <p:spPr>
          <a:xfrm>
            <a:off x="7296912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10 個測試案例；閘門要求覆蓋率 &gt; 90%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9592056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5　追溯與紀錄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592056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4" name="Picture 323" descr="step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301" y="2098631"/>
            <a:ext cx="1977213" cy="2874374"/>
          </a:xfrm>
          <a:prstGeom prst="rect">
            <a:avLst/>
          </a:prstGeom>
        </p:spPr>
      </p:pic>
      <p:sp>
        <p:nvSpPr>
          <p:cNvPr id="325" name="Rectangle 324"/>
          <p:cNvSpPr/>
          <p:nvPr/>
        </p:nvSpPr>
        <p:spPr>
          <a:xfrm>
            <a:off x="9592056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任務回溯規則代碼，寫入 audit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TASK-000013「金融機構主檔」任務包原文節錄；測試錄影見下一頁，追溯表見附錄 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示範：測試從人工逐項點，變成系統自動跑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以前測試靠人照清單一格一格點、一格一格記；現在同樣的檢查由系統自動跑完，過程錄影留存。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3931920" cy="38155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以前：人工照清單逐項測（示意）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115589"/>
            <a:ext cx="292607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#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31520" y="2115589"/>
            <a:ext cx="2304288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測試步驟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063239" y="2115589"/>
            <a:ext cx="521207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結果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611879" y="2115589"/>
            <a:ext cx="704088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測試人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471706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31520" y="2471706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開啟國家選單，輸入代碼查詢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3063239" y="2471706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611879" y="2471706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2827823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31520" y="2827823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新增一筆，故意漏填必填欄位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063239" y="2827823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611879" y="2827823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3183940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31520" y="3183940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確認出現欄位錯誤提示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3063239" y="3183940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611879" y="3183940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3540058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31520" y="3540058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新增區域，確認提醒訊息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3063239" y="3540058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611879" y="3540058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411480" y="3896175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5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31520" y="3896175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查詢結算幣別，核對結果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3063239" y="3896175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3611879" y="3896175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252292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6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31520" y="4252292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截圖貼進測試報告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3063239" y="4252292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611879" y="4252292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11480" y="4659283"/>
            <a:ext cx="3931920" cy="61048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每次改版都要重來一次：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人工點、人工記、人工截圖；改得越多，測得越少。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526280" y="1691640"/>
            <a:ext cx="7269480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現在：系統自動跑畫面測試（點擊播放）</a:t>
            </a:r>
          </a:p>
        </p:txBody>
      </p:sp>
      <p:pic>
        <p:nvPicPr>
          <p:cNvPr id="337" name="video_countri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6280" y="2115589"/>
            <a:ext cx="4572000" cy="2571750"/>
          </a:xfrm>
          <a:prstGeom prst="rect">
            <a:avLst/>
          </a:prstGeom>
        </p:spPr>
      </p:pic>
      <p:sp>
        <p:nvSpPr>
          <p:cNvPr id="338" name="Rectangle 337"/>
          <p:cNvSpPr/>
          <p:nvPr/>
        </p:nvSpPr>
        <p:spPr>
          <a:xfrm>
            <a:off x="4526280" y="4712776"/>
            <a:ext cx="4572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▶ 國家選單：查詢、新增、欄位檢核</a:t>
            </a:r>
          </a:p>
        </p:txBody>
      </p:sp>
      <p:pic>
        <p:nvPicPr>
          <p:cNvPr id="339" name="video_regions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235440" y="2115589"/>
            <a:ext cx="2286000" cy="1285875"/>
          </a:xfrm>
          <a:prstGeom prst="rect">
            <a:avLst/>
          </a:prstGeom>
        </p:spPr>
      </p:pic>
      <p:sp>
        <p:nvSpPr>
          <p:cNvPr id="340" name="Rectangle 339"/>
          <p:cNvSpPr/>
          <p:nvPr/>
        </p:nvSpPr>
        <p:spPr>
          <a:xfrm>
            <a:off x="9235440" y="3426901"/>
            <a:ext cx="2286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▶ 區域選單：新增與提醒</a:t>
            </a:r>
          </a:p>
        </p:txBody>
      </p:sp>
      <p:pic>
        <p:nvPicPr>
          <p:cNvPr id="341" name="video_currencies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235440" y="3701158"/>
            <a:ext cx="2286000" cy="1285875"/>
          </a:xfrm>
          <a:prstGeom prst="rect">
            <a:avLst/>
          </a:prstGeom>
        </p:spPr>
      </p:pic>
      <p:sp>
        <p:nvSpPr>
          <p:cNvPr id="342" name="Rectangle 341"/>
          <p:cNvSpPr/>
          <p:nvPr/>
        </p:nvSpPr>
        <p:spPr>
          <a:xfrm>
            <a:off x="9235440" y="5012470"/>
            <a:ext cx="2286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▶ 結算幣別選單：查詢結果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11480" y="5337602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4" name="Rectangle 343"/>
          <p:cNvSpPr/>
          <p:nvPr/>
        </p:nvSpPr>
        <p:spPr>
          <a:xfrm>
            <a:off x="502920" y="5337602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差別：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同樣的檢查，系統每次改版都自動重跑一遍，結果與錄影自動留存；人只看沒通過的項目。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411480" y="590569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左側為人工測試清單的示意，待 IT 提供實際的人工測試紀錄；右側為同一系統自動執行畫面測試的錄影（測試資料）。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3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3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34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帶來什麼價值</a:t>
            </a:r>
          </a:p>
          <a:p>
            <a:r>
              <a:rPr sz="3000">
                <a:latin typeface="Georgia"/>
                <a:ea typeface="微軟正黑體"/>
              </a:rPr>
              <a:t>Value we deliver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價值與治理：做得快的地方量得到，管得住的地方查得到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左邊四項讓交付變快、各用一個指標驗收；右邊五題是監理機關會問的，各有做法、也留得下紀錄。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557784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做得快：痛點 → 做法 → 驗收指標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090152"/>
            <a:ext cx="1472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痛點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920240" y="2090152"/>
            <a:ext cx="252374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做法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480560" y="2090152"/>
            <a:ext cx="1472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指標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429311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需求來回很多輪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920240" y="2429311"/>
            <a:ext cx="252374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快速做出原型，業務當場確認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480560" y="2429311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需求定稿時間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3107629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審查排隊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920240" y="3107629"/>
            <a:ext cx="252374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先審，人只判斷風險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480560" y="3107629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審查等待、返工次數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785948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上線出錯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920240" y="3785948"/>
            <a:ext cx="252374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每次改動都自動測試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480560" y="3785948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變更失敗率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4464267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交付難預期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920240" y="4464267"/>
            <a:ext cx="252374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每階段交出檔案，進度看得到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480560" y="4464267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交付時間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6172200" y="1691640"/>
            <a:ext cx="562356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管得住：監理機關會問 → 做法 → 留下的紀錄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172200" y="2090152"/>
            <a:ext cx="165506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監理機關會問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863840" y="2090152"/>
            <a:ext cx="2615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做法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515600" y="2090152"/>
            <a:ext cx="12435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留下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172200" y="2429311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AI 工具有納管嗎？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7863840" y="2429311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診斷時判斷是否屬委外，登錄 AI 清冊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515600" y="2429311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 清冊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172200" y="2971966"/>
            <a:ext cx="165506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個資會進到 AI 嗎？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863840" y="2971966"/>
            <a:ext cx="26151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資料分級，機密檔 AI 讀不到；試點用假資料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0515600" y="2971966"/>
            <a:ext cx="12435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設定與存取紀錄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172200" y="3514621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上線是誰核准的？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863840" y="3514621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指定的人核准；AI 不能核准自己寫的程式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0515600" y="3514621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核准紀錄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172200" y="4057275"/>
            <a:ext cx="165506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出事能退回嗎？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863840" y="4057275"/>
            <a:ext cx="26151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退版先演練；AI 建議，人決定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0515600" y="4057275"/>
            <a:ext cx="12435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演練紀錄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6172200" y="4599930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事後查得到嗎？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7863840" y="4599930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需求、規格、計畫、測試結果都存版本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0515600" y="4599930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完整文件軌跡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11480" y="5295207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2" name="Rectangle 341"/>
          <p:cNvSpPr/>
          <p:nvPr/>
        </p:nvSpPr>
        <p:spPr>
          <a:xfrm>
            <a:off x="502920" y="5295207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的使用，從難以稽核的個人行為，變成有指標、有紀錄的流程。效益不先承諾數字，試點前先量基準、訂合格線。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法規條文見附錄 D，實例見附錄 E；回收期參考：需要大量治理的大型企業導入，12–18 個月屬可接受（DORA 2026）。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買到什麼、為什麼選我們：先診斷，再做一個場景的試點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95646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固定範圍、固定價格，成功標準在試點前講好、達標才擴大；同一組 BA 與 IT 從診斷做到試點。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05840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1691640"/>
            <a:ext cx="3794760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準備度診斷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4–6 週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157984"/>
            <a:ext cx="379476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・盤點現況與卡點、法規檢查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・挑出第一個場景、訂成功標準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921092"/>
            <a:ext cx="379476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瓶頸地圖、法規檢查結果、場景建議、導入藍圖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343400" y="1691640"/>
            <a:ext cx="3794760" cy="423949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一個場景的試點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6–8 週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343400" y="2157984"/>
            <a:ext cx="379476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・用一個真實需求走完循環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・建立範本、規則與關卡，同步教會各角色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343400" y="2921092"/>
            <a:ext cx="379476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完成的試點、範本與規則、教材、成效報告</a:t>
            </a:r>
          </a:p>
        </p:txBody>
      </p:sp>
      <p:sp>
        <p:nvSpPr>
          <p:cNvPr id="313" name="Right Arrow 312"/>
          <p:cNvSpPr/>
          <p:nvPr/>
        </p:nvSpPr>
        <p:spPr>
          <a:xfrm>
            <a:off x="4224528" y="1776429"/>
            <a:ext cx="100584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275320" y="1691640"/>
            <a:ext cx="3520440" cy="42394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成功標準（試點前講好）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275320" y="2157984"/>
            <a:ext cx="3520440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・需求定稿時間、第一次審查等待時間、返工次數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・核准紀錄完整（必要條件）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・合格線依診斷期基準約定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達標擴大；未達標檢討後再試或停止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684200"/>
            <a:ext cx="1138428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為什麼選我們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已經在用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FSC1 自己的開發流程已經這樣運作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證據：再保系統示範（第 11 頁）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28041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在地法規內建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委外、雲端、AI 自律規範對應到開發的每一步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證據：法規清單（附錄 D）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14934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懂保險業務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BA 懂保險業務與法規；場景直接選理賠、核保、再保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證據：FSC1 開發的再保系統（第 11 頁）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018269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可稽核的人工關卡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誰核准都查得到；寫程式的 AI 不能核准自己的程式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證據：關卡設計（第 9 頁）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312165"/>
            <a:ext cx="9144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502920" y="5312165"/>
            <a:ext cx="11292840" cy="46634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貴公司需配合：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IT 與業務窗口、一個真實需求與團隊、測試環境、AI 工具的合約或內部核准。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90569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國際方案多以預建代理與藍圖為主（同業產品見附錄 C）。擴大階段、工具包授權與駐點支援可依需求討論；試點風險見附錄 F。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下一步</a:t>
            </a:r>
          </a:p>
          <a:p>
            <a:r>
              <a:rPr sz="3000">
                <a:latin typeface="Georgia"/>
                <a:ea typeface="微軟正黑體"/>
              </a:rP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04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從一個場景開始，驗證價值後再逐步擴大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每一步只承諾下一步；每個檢查點都可以擴大、調整或停止，不必一開始就承諾全面轉型。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37744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1　一個場景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試點一個範圍小、可量測的需求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承諾：診斷＋一個試點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3641805"/>
            <a:ext cx="59436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1" name="Oval 310"/>
          <p:cNvSpPr/>
          <p:nvPr/>
        </p:nvSpPr>
        <p:spPr>
          <a:xfrm>
            <a:off x="2871216" y="2268543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檢查</a:t>
            </a:r>
          </a:p>
        </p:txBody>
      </p:sp>
      <p:sp>
        <p:nvSpPr>
          <p:cNvPr id="312" name="Right Arrow 311"/>
          <p:cNvSpPr/>
          <p:nvPr/>
        </p:nvSpPr>
        <p:spPr>
          <a:xfrm>
            <a:off x="2843784" y="2963487"/>
            <a:ext cx="512064" cy="203495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410712" y="1691640"/>
            <a:ext cx="237744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2　驗證價值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410712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對照試點前講好的成功標準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決定：擴大、調整或停止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3410712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3410712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7" name="Rectangle 316"/>
          <p:cNvSpPr/>
          <p:nvPr/>
        </p:nvSpPr>
        <p:spPr>
          <a:xfrm>
            <a:off x="3410712" y="3641805"/>
            <a:ext cx="118872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Oval 317"/>
          <p:cNvSpPr/>
          <p:nvPr/>
        </p:nvSpPr>
        <p:spPr>
          <a:xfrm>
            <a:off x="5870448" y="2268543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檢查</a:t>
            </a:r>
          </a:p>
        </p:txBody>
      </p:sp>
      <p:sp>
        <p:nvSpPr>
          <p:cNvPr id="319" name="Right Arrow 318"/>
          <p:cNvSpPr/>
          <p:nvPr/>
        </p:nvSpPr>
        <p:spPr>
          <a:xfrm>
            <a:off x="5843016" y="2963487"/>
            <a:ext cx="512064" cy="203495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409944" y="1691640"/>
            <a:ext cx="2377440" cy="466344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3　相鄰場景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6409944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沿用範本、規則與關卡，只補該系統的規範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承諾：下一個場景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6409944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409944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6409944" y="3641805"/>
            <a:ext cx="178308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5" name="Oval 324"/>
          <p:cNvSpPr/>
          <p:nvPr/>
        </p:nvSpPr>
        <p:spPr>
          <a:xfrm>
            <a:off x="8869680" y="2268543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檢查</a:t>
            </a:r>
          </a:p>
        </p:txBody>
      </p:sp>
      <p:sp>
        <p:nvSpPr>
          <p:cNvPr id="326" name="Right Arrow 325"/>
          <p:cNvSpPr/>
          <p:nvPr/>
        </p:nvSpPr>
        <p:spPr>
          <a:xfrm>
            <a:off x="8842248" y="2963487"/>
            <a:ext cx="512064" cy="203495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9409176" y="1691640"/>
            <a:ext cx="2377440" cy="46634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4　全公司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9409176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集中管理設定，統一關卡與紀錄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承諾：依前面成果決定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409176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409176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1" name="Rectangle 330"/>
          <p:cNvSpPr/>
          <p:nvPr/>
        </p:nvSpPr>
        <p:spPr>
          <a:xfrm>
            <a:off x="9409176" y="3641805"/>
            <a:ext cx="237744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2" name="Rectangle 331"/>
          <p:cNvSpPr/>
          <p:nvPr/>
        </p:nvSpPr>
        <p:spPr>
          <a:xfrm>
            <a:off x="411480" y="3980965"/>
            <a:ext cx="2514600" cy="84789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每個檢查點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都有三條路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3017520" y="3980965"/>
            <a:ext cx="777240" cy="84789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擴大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794759" y="3980965"/>
            <a:ext cx="2075688" cy="84789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達到合格線：進下一步，沿用範本與規則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961888" y="3980965"/>
            <a:ext cx="777240" cy="84789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調整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6739127" y="3980965"/>
            <a:ext cx="2075688" cy="84789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部分達標：縮小範圍或換場景再試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8906256" y="3980965"/>
            <a:ext cx="777240" cy="84789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停止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683496" y="3980965"/>
            <a:ext cx="2075688" cy="84789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不值得做：損失只限於這一步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5040837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0" name="Rectangle 339"/>
          <p:cNvSpPr/>
          <p:nvPr/>
        </p:nvSpPr>
        <p:spPr>
          <a:xfrm>
            <a:off x="502920" y="5040837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先講好 J 曲線：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導入初期會先變慢一陣子，最常見的失敗是在低谷時喊停；成功標準和觀察期間要在試點前講好。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各場景可沿用與需客製的內容、延伸到其他系統與產業的方式，見附錄 B。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如何開始：先看現場示範，再挑一個開發場景或業務痛點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三個步驟開始；請貴公司先指定窗口，並給我們一份想做的需求清單。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0　準備度診斷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4–6 週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選定場景與成功標準</a:t>
            </a:r>
          </a:p>
        </p:txBody>
      </p:sp>
      <p:sp>
        <p:nvSpPr>
          <p:cNvPr id="308" name="Right Arrow 307"/>
          <p:cNvSpPr/>
          <p:nvPr/>
        </p:nvSpPr>
        <p:spPr>
          <a:xfrm>
            <a:off x="3154680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282696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1　場景試點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6–8 週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2696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指標達到合格線</a:t>
            </a:r>
          </a:p>
        </p:txBody>
      </p:sp>
      <p:sp>
        <p:nvSpPr>
          <p:cNvPr id="311" name="Right Arrow 310"/>
          <p:cNvSpPr/>
          <p:nvPr/>
        </p:nvSpPr>
        <p:spPr>
          <a:xfrm>
            <a:off x="6025896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153912" y="1691640"/>
            <a:ext cx="2743200" cy="59352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2　相鄰場景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依範圍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53912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管理層核准擴大</a:t>
            </a:r>
          </a:p>
        </p:txBody>
      </p:sp>
      <p:sp>
        <p:nvSpPr>
          <p:cNvPr id="314" name="Right Arrow 313"/>
          <p:cNvSpPr/>
          <p:nvPr/>
        </p:nvSpPr>
        <p:spPr>
          <a:xfrm>
            <a:off x="8897112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025128" y="1691640"/>
            <a:ext cx="2743200" cy="59352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3　全公司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持續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25128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7" name="Oval 316"/>
          <p:cNvSpPr/>
          <p:nvPr/>
        </p:nvSpPr>
        <p:spPr>
          <a:xfrm>
            <a:off x="411480" y="3055426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051560" y="2963487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現場示範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拿貴公司的一個真實需求，當場跑一次：從寫需求到上線前的核准。</a:t>
            </a:r>
          </a:p>
        </p:txBody>
      </p:sp>
      <p:sp>
        <p:nvSpPr>
          <p:cNvPr id="319" name="Oval 318"/>
          <p:cNvSpPr/>
          <p:nvPr/>
        </p:nvSpPr>
        <p:spPr>
          <a:xfrm>
            <a:off x="411480" y="3835492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3743553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一起挑題目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開一次會，挑出 1–2 個最適合先做的需求，順便確認資料、系統和法規上有哪些限制。</a:t>
            </a:r>
          </a:p>
        </p:txBody>
      </p:sp>
      <p:sp>
        <p:nvSpPr>
          <p:cNvPr id="321" name="Oval 320"/>
          <p:cNvSpPr/>
          <p:nvPr/>
        </p:nvSpPr>
        <p:spPr>
          <a:xfrm>
            <a:off x="411480" y="4615558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051560" y="4523619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開始診斷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定好範圍和雙方窗口，開始盤點現在的開發流程和法規要求。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315200" y="2963487"/>
            <a:ext cx="4480560" cy="2255409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請貴公司提供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・IT 主管與業務單位窗口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・現有開發流程與工具（Jira、CI、變更管理）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・候選需求清單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・資安、個資與法遵規範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11480" y="5422392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502920" y="5422392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幫你把每一步做得更快，每一步都留下紀錄；要不要做、能不能上線，永遠由你的人決定。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寫程式很快就是常態；決勝關鍵在治理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速度大家都買得到；讓每一步查得到、每個關鍵決定由人做，才是保險公司能放心擴大的條件。</a:t>
            </a:r>
          </a:p>
        </p:txBody>
      </p:sp>
      <p:sp>
        <p:nvSpPr>
          <p:cNvPr id="310" name="計數 310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1" name="計數 311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1/64；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2" name="計數 312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1/118；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3" name="計數 313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1/162；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4" name="計數 314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1/197；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5" name="計數 315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1/224；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6" name="計數 316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1/245；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7" name="計數 317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1/260；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8" name="計數 318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1/270；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9" name="計數 319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1/276；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20" name="計數 320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1/279；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1/280；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4404914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微軟正黑體"/>
                <a:ea typeface="微軟正黑體"/>
                <a:hlinkClick r:id="rId2"/>
              </a:rPr>
              <a:t>1/280：Stanford AI Index 2025（同等能力的 AI，2022-11 → 2024-10）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責任：保險業作業委外辦法、AI 自律規範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4828863"/>
            <a:ext cx="1138428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敢上線的前提：每一步查得到、每個關鍵決定由人做。這就是我們幫保險公司建好的東西。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5210417"/>
            <a:ext cx="91440" cy="89029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502920" y="5210417"/>
            <a:ext cx="11292840" cy="89029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Georgia"/>
                <a:ea typeface="微軟正黑體"/>
              </a:rPr>
              <a:t>下一步：</a:t>
            </a:r>
            <a:r>
              <a:rPr sz="1500" b="1">
                <a:solidFill>
                  <a:srgbClr val="000000"/>
                </a:solidFill>
                <a:latin typeface="Georgia"/>
                <a:ea typeface="微軟正黑體"/>
              </a:rPr>
              <a:t>約一場現場示範，用貴公司的一個真實需求，當場從需求跑到上線前的核准。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兩週內就能安排；只需要一位 IT 窗口、一位業務窗口和一份需求。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0" animBg="1"/>
      <p:bldP spid="310" grpId="1" animBg="1"/>
      <p:bldP spid="311" grpId="0" animBg="1"/>
      <p:bldP spid="311" grpId="1" animBg="1"/>
      <p:bldP spid="312" grpId="0" animBg="1"/>
      <p:bldP spid="312" grpId="1" animBg="1"/>
      <p:bldP spid="313" grpId="0" animBg="1"/>
      <p:bldP spid="313" grpId="1" animBg="1"/>
      <p:bldP spid="314" grpId="0" animBg="1"/>
      <p:bldP spid="314" grpId="1" animBg="1"/>
      <p:bldP spid="315" grpId="0" animBg="1"/>
      <p:bldP spid="315" grpId="1" animBg="1"/>
      <p:bldP spid="316" grpId="0" animBg="1"/>
      <p:bldP spid="316" grpId="1" animBg="1"/>
      <p:bldP spid="317" grpId="0" animBg="1"/>
      <p:bldP spid="317" grpId="1" animBg="1"/>
      <p:bldP spid="318" grpId="0" animBg="1"/>
      <p:bldP spid="318" grpId="1" animBg="1"/>
      <p:bldP spid="319" grpId="0" animBg="1"/>
      <p:bldP spid="319" grpId="1" animBg="1"/>
      <p:bldP spid="320" grpId="0" animBg="1"/>
      <p:bldP spid="320" grpId="1" animBg="1"/>
      <p:bldP spid="305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A｜示範情境：「理賠進度自助查詢」導入前後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以一個常見的保險需求，說明每個階段 AI 做什麼、由誰決定。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1335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階段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7830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導入前（常見做法）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709160" y="1691640"/>
            <a:ext cx="5221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導入後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966960" y="1691640"/>
            <a:ext cx="1792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誰決定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783080" y="2064715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多次會議，再由專人寫成文件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709160" y="2064715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理賠同仁和 AI 一起整理需求說明，AI 追問範圍與限制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9966960" y="2064715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產品負責人接受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675201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783080" y="2675201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分析與設計分開做，規範靠人記得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709160" y="2675201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起草規格，自動套用「入口網站不新增個資」等規範，衝突處標出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966960" y="2675201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產品負責人確認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285688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783080" y="3285688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讀完設計就寫，做法只在個人腦中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709160" y="3285688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先寫實作計畫（含核心系統流量限制與快取），核准後才動手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9966960" y="3285688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工程師核准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3896175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783080" y="3896175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階段末才測，問題晚發現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709160" y="3896175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每次改動自己跑測試，各種理賠狀態都正確才交人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66960" y="3896175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自行驗證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506661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783080" y="4506661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逐行人工審查，排隊等待核准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09160" y="4506661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先審並排嚴重度，人判斷風險；沒有授權不能上線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966960" y="4506661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程式負責人、發布經理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117148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83080" y="5117148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事件常被擱置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4709160" y="5117148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錯誤率異常時 AI 先診斷並建議退版；服務負責人核准後執行，問題寫成新需求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66960" y="5117148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服務負責人核准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情境改編自 Anthropic《The AI-Native SDLC Playbook》 的公開範例，非客戶案例；「導入前」為常見做法的示意。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B｜延伸方式：同一套資產延伸到其他系統、客戶與產業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流程、範本與關卡可以沿用；不同延伸方向要補的內容與前提不同。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延伸方向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例子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120640" y="1691640"/>
            <a:ext cx="22494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沿用什麼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0664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要新增什麼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60120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前提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同一客戶的其他系統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微軟正黑體"/>
                <a:ea typeface="微軟正黑體"/>
              </a:rPr>
              <a:t>理賠 → 核保規則、保單服務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5120640" y="2064715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流程、範本、關卡、規範規則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0664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該系統的規範與核准人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60120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前一個場景達標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00638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新制相關專案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00638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17／TW-ICS 報表與資料調整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120640" y="2700638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流程、關卡、法規清單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0664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財會與精算規範、資料品質檢查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60120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財會、精算參與；高風險加審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336562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AI 治理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336562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 清冊與模型驗證流程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120640" y="3336562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紀錄與關卡、自律規範對應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0664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模型驗證規則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60120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屬治理服務，另行界定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3972486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其他保險公司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3972486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另一家壽險或產險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120640" y="3972486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全部標準模組與資產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0664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該公司規範與系統串接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60120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審計客戶需先確認獨立性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608409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其他金融業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608409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銀行、證券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5120640" y="4608409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流程、關卡、指標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0664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該產業法規規則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60120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以金管會 AI 指引為共同基礎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295207"/>
            <a:ext cx="1138428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需客製的部分：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貴公司的資安與命名規範、系統與工具串接、資料分級與核准人、場景題目與基準、委外安排。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C｜同業產品化參考：具體產品與來源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國際顧問與軟體業者已推出保險業 AI 相關方案；以下整理自業者公開資訊。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公司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828800" y="1691640"/>
            <a:ext cx="3621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產品／方案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548640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型態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086600" y="1691640"/>
            <a:ext cx="4672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來源（可點擊）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73194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828800" y="2073194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Agentic AI Blueprint for Insurance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5486400" y="2073194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加速器＋導入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086600" y="2073194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www.deloitte.com 原文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548017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828800" y="2548017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Regulatory Assist（與 SAS 合作）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486400" y="2548017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086600" y="2548017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sas.com 原文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022840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KPMG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828800" y="3022840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Express, powered by SAS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486400" y="3022840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086600" y="3022840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sas.com 原文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497663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Capgemini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828800" y="3497663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Guidewire 生成式 AI／代理工具組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486400" y="3497663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核心系統＋AI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086600" y="3497663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www.capgemini.com 原文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3972486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WTW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828800" y="3972486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Radar 5（保險定價與核保軟體）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5486400" y="3972486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軟體產品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086600" y="3972486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www.wtwco.com 原文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447309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McKinsey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828800" y="4447309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代理型 AI 核心現代化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5486400" y="4447309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086600" y="4447309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www.mckinsey.com 原文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4922132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BCG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828800" y="4922132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AI-First 產險公司藍圖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486400" y="4922132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086600" y="4922132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www.bcg.com 原文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50718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規模與期程數字為業者自述。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D｜保險業 AI 開發法規檢查清單（草稿）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把台灣保險業的委外、雲端、AI 與個資規範，對應到開發流程中的檢查點。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檢查項目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33756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依據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85800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開發流程中怎麼落實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37844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在哪一步檢查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64715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是否屬作業委外、是否需依規定辦理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33756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保險業作業委託他人處理內部作業制度及程序辦法（2025-12-31 施行）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85800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導入前判斷並留下紀錄；AI 工具納入委外管理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10378440" y="2064715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624328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雲端資料存放、雲端業者管理與查核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33756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保險業作業委外使用雲端服務自律規範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85800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使用公司核准的雲端合約；保留查核所需紀錄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0378440" y="2624328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183940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工具登錄 AI 清冊並做風險評估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33756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保險業運用人工智慧系統自律規範（2025-04-10 備查）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85800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每個 AI 工具與用途登錄；高風險用途加審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378440" y="3183940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743553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關鍵決定由人做，保險公司負最終責任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33756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同上；金管會 AI 指引「治理及問責」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85800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五個人工關卡，各有指定核准人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0378440" y="3743553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①–⑤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4303166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個資與客戶資料不進入 AI 可讀範圍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33756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個人資料保護法；金管會 AI 指引「隱私及客戶權益」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85800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資料分級；集中設定禁止讀取機密檔與金鑰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378440" y="4303166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規格、開發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862779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程式經資安審查，出事可退回上一版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333756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指引「系統穩健性與安全性」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85800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資安初審＋人工審查；退版流程事先演練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378440" y="4862779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合併、⑤ 上線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5422392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誰要求、AI 產出什麼、誰核准，查得到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33756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指引「透明性與可解釋性」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85800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需求說明、規格、計畫與核准紀錄版本化保存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0378440" y="5422392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全程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601592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導入規劃工具，非法律意見；條文以主管機關公告為準；草稿待法遵確認。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E｜示範案例：每條業務規則都追溯到測試與任務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以再保險系統「金融機構主檔」為例；稽核時從任一條規則，都找得到對應的使用案例、測試與程式範圍。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621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業務規則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06908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使用案例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44652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測試案例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8823960" y="1691640"/>
            <a:ext cx="2935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開發任務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64715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BR-FI-01　代碼唯一性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069080" y="2064715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446520" y="2064715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TC-FI-03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823960" y="2064715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3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539538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BR-FI-02　引用後鎖定唯讀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069080" y="2539538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UC-FI-04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446520" y="2539538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823960" y="2539538"/>
            <a:ext cx="29352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TASK-000013-005 場景 2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014361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BR-FI-03　引用防刪與軟作廢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069080" y="3014361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UC-FI-04、UC-FI-06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446520" y="3014361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TC-FI-07、TC-FI-08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823960" y="3014361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TASK-000013-005 場景 2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489184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BR-FI-04　SWIFT/BIC 格式檢核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069080" y="3489184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446520" y="3489184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8823960" y="3489184"/>
            <a:ext cx="29352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4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3964007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BR-FI-05　作廢資料隔離與追溯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069080" y="3964007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UC-FI-06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446520" y="3964007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8823960" y="3964007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任務包未附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438830"/>
            <a:ext cx="362102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BR-FI-06　制裁連動與主管覆核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069080" y="4438830"/>
            <a:ext cx="234086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UC-FI-03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446520" y="4438830"/>
            <a:ext cx="234086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TC-FI-05、TC-FI-06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8823960" y="4438830"/>
            <a:ext cx="293522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任務包未附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4913653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BR-FI-07　順序自動計算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069080" y="4913653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446520" y="4913653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TC-FI-02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8823960" y="4913653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2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422392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422392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追溯表的用處：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缺口一眼看得出來：BR-FI-02、BR-FI-05 目前沒有對應的測試案例；任務包只附 001 與 005 兩個任務。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605831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整理自 TASK-000013 任務包（SA、使用案例、QA 規格與任務文件）；任務與規則的對應依任務內容判讀，待 IT 團隊確認。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F｜試點風險與因應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試點前就講好可能出問題的地方、怎麼提早發現，以及誰負責處理。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風險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提早發現的訊號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89204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事前降低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98079" y="1691640"/>
            <a:ext cx="2386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發生時的應變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負責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場景效益偏低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場景落在複雜的既有系統，重複性工作少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892040" y="2064715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診斷時優先挑「常發生、判斷少」工作多的需求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98079" y="2064715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調整範圍或換場景，不硬撐到底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921240" y="2064715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PwC（BA、IT）＋貴公司 IT 主管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85428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初期下滑被誤判（J 曲線）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85428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前幾週需求定稿與審查時間變長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892040" y="2785428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試點前講好預期的下滑與觀察期間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98079" y="2785428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依約定期間判斷，不在低谷時中止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921240" y="2785428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貴公司管理層＋PwC 帶隊人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506142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個資或機密進入 AI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506142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設定或存取紀錄出現例外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892040" y="3506142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資料分級；試點用假資料；集中設定禁止讀取機密檔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98079" y="3506142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立即停用該工具、通報並檢討設定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21240" y="3506142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貴公司資安＋PwC IT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226855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工具未獲內部核准，時程延誤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4226855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 2 週仍未完成委外判斷與清冊登錄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892040" y="4226855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診斷第一週就啟動委外判斷與清冊登錄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98079" y="4226855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先用已核准的工具試點，或調整時程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4226855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貴公司法遵、IT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947569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駐點團隊配合度低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947569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試點任務排不進工作、出席率低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892040" y="4947569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試點前與 IT 主管談好駐點團隊的角色與工時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98079" y="4947569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改由貴公司自有人員或 PwC 補位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921240" y="4947569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 IT 主管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84634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依 DORA 2026（J 曲線、既有系統效益）與試點規劃整理；正式清單於診斷時與貴公司共同確認。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G｜資料來源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本提案引用的外部研究、法規與內部研究。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Stack Overflow，2025 Developer Survey 新聞稿（84%）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929051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2.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Google Cloud，Announcing the 2024 DORA report（−1.5%、−7.2%）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166462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3.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Google Cloud，Announcing the 2025 DORA report（約 90%、速度與穩定度）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403874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4.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DORA，The ROI of AI-assisted Software Development，v.2026.1（放大器、J 曲線、既有系統效益、回收期）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641285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5.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McKinsey，The state of AI in 2025（88%；1,993 人、105 國）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878697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6.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Yahoo Finance，JPMorgan 工程師使用寫程式助手效率提升至多 20%，2025-03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3116108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7.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Deloitte Insights，AI and bank software development，2025（Citi 3 萬名開發者）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11480" y="3353520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8.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9"/>
              </a:rPr>
              <a:t>PwC，Reinventing insurance: An industry beyond the tipping point，2025（57%；2025 年 7 月調查，保險業高階主管 136 人）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3590931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9.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0"/>
              </a:rPr>
              <a:t>金管會 AI 使用調查，2026-10（工商時報報導：保險業 53%、生成式 AI 76%）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3828343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10.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1"/>
              </a:rPr>
              <a:t>Veracode，2025 GenAI Code Security Report 新聞稿（45%）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4065754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11.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2"/>
              </a:rPr>
              <a:t>PwC，第 29 屆全球 CEO 調查，2026（56%）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4303166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12.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3"/>
              </a:rPr>
              <a:t>Stanford HAI，AI Index 2025（模型使用成本）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540577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13.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4"/>
              </a:rPr>
              <a:t>McKinsey，Technology Trends Outlook 2026（代理式軟體開發列為新趨勢）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4777989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14.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5"/>
              </a:rPr>
              <a:t>Dell’Acqua 等，Navigating the Jagged Technological Frontier，HBS Working Paper 24-013（758 位 BCG 顧問）；Autor, Levy &amp; Murnane，QJE 2003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5015400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15.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6"/>
              </a:rPr>
              <a:t>理律法律事務所，保險業作業委外新辦法（2025-12-31 施行）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5252812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16.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7"/>
              </a:rPr>
              <a:t>壽險／產險公會，保險業運用人工智慧系統自律規範（2025-04-10 備查）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490223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17.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8"/>
              </a:rPr>
              <a:t>金管會，金融業運用人工智慧（AI）指引，2024-06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5727635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18. </a:t>
            </a:r>
            <a:r>
              <a:rPr sz="950" b="0">
                <a:solidFill>
                  <a:srgbClr val="000000"/>
                </a:solidFill>
                <a:latin typeface="Georgia"/>
                <a:ea typeface="微軟正黑體"/>
              </a:rPr>
              <a:t>研究一：FSC1〈AI 協作開發流程與產出範本〉v3；研究二：AI 原生 SDLC 說明，整理自 Anthropic《The AI-Native SDLC Playbook》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607527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「−1.5%」「−7.2%」為 AI 採用率每增加 25% 的模型估計；JPMorgan 數字為公司自述；金管會數字依媒體報導，以金管會公布為準。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