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週、一個場景的試點；達到事先講好的標準才擴大，而且範本、規則與關卡會沿用到下一個系統。理由有三個。第一，為什麼是現在：委外辦法和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做了什麼、誰核准的紀錄。第二，為什麼只買工具不夠：AI 讓交付變快，但也更不穩，PwC 調查也顯示多數 CEO 還沒看到 AI 的財務效益。第三，為什麼找我們：我們自己已經這樣在做，懂保險業務與法規的 BA 和實作的 IT 是同一組人。」最後指向下方：今天想請貴公司決定的，是安排一場現場示範並選出 1–2 個候選場景；如果先不做，工具照樣擴散，但紀錄要等到金檢時再補。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【這頁的重點】我們找的不是「有開發團隊」的保險公司，而是「想用 AI 開發，卻還不知道怎麼治理與追蹤」的保險公司；採購時有四種人，各自在意的事不同。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當場做出原型。最下面是我們優先找的客戶條件：第一條最重要，有意願、但還沒有治理和追蹤的方法；其次是有自己或駐點的開發團隊，近期有新制或核心系統周邊的開發需求。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的保險業高階主管把生成式與代理式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自動套用的規則，必守的事由自動關卡擋下；第三，關卡有人簽，接受需求、確認規格、核准計畫、核准合併、授權上線，五個決定由貴公司指定的人做。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先審、人只判斷風險，量等待時間和返工次數；上線出錯，每次改動都自動測試，量變更失敗率；交付難預期，每階段交出檔案，量交付時間。右邊五題是監理機關會問的：AI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【講法】第一，現場示範：拿貴公司一個真實需求，當場跑一次，從寫需求到上線前的核准。第二，一起挑題目：開一次會，挑出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個最適合先做的開發場景或業務痛點，順便確認資料、系統和法規上的限制。第三，開始診斷：定好範圍和窗口，開始盤點現在的開發流程和法規要求。右邊是需要貴公司提供的資料。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【這頁的重點】收尾只講一句話，讓大家帶走：AI 讓寫程式變便宜，但責任沒有變少；敢讓 AI 的程式上線，靠的是治理。</a:t>
            </a:r>
          </a:p>
          <a:p>
            <a:r>
              <a:t>【講法】慢慢唸橘色那兩行：「AI 的使用成本，兩年降到 280 分之一；出了事，責任一分都沒有變少。」停兩秒。「所以未來的差距，不在誰寫得快，而在誰敢讓 AI 寫的程式上線。敢上線的前提，是每一步查得到、每個關鍵決定由人做，這就是我們幫保險公司建好的東西。」接著講下一步：「我們想請貴公司做的只有一件事：約一場現場示範，用你們自己的一個需求。」</a:t>
            </a:r>
          </a:p>
          <a:p>
            <a:r>
              <a:t>【收尾】講完下一步就停，不要再補充；把時間留給對方回應。</a:t>
            </a:r>
          </a:p>
          <a:p>
            <a:r>
              <a:t>【可能被問】「1/280 是寫程式的成本嗎？」→ 不是，是同等能力的 AI 模型使用成本（Stanford AI Index 2025）；寫程式整體成本降多少，要看流程，所以我們用試點實測。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www.pwc.com/us/en/industries/financial-services/library/reinventing-insurance.html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Agenda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24" name="計數 24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25" name="計數 2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20%</a:t>
            </a:r>
          </a:p>
        </p:txBody>
      </p:sp>
      <p:sp>
        <p:nvSpPr>
          <p:cNvPr id="26" name="計數 2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27" name="計數 27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28" name="計數 28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62%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77%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82%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85%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87%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4" name="計數 34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5" name="計數 35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12%</a:t>
            </a:r>
          </a:p>
        </p:txBody>
      </p:sp>
      <p:sp>
        <p:nvSpPr>
          <p:cNvPr id="36" name="計數 36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22%</a:t>
            </a:r>
          </a:p>
        </p:txBody>
      </p:sp>
      <p:sp>
        <p:nvSpPr>
          <p:cNvPr id="37" name="計數 37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31%</a:t>
            </a:r>
          </a:p>
        </p:txBody>
      </p:sp>
      <p:sp>
        <p:nvSpPr>
          <p:cNvPr id="38" name="計數 38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9" name="計數 3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40" name="計數 4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</p:txBody>
      </p:sp>
      <p:sp>
        <p:nvSpPr>
          <p:cNvPr id="41" name="計數 41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</p:txBody>
      </p:sp>
      <p:sp>
        <p:nvSpPr>
          <p:cNvPr id="42" name="計數 42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43" name="計數 43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44" name="計數 4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45" name="計數 45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17%</a:t>
            </a:r>
          </a:p>
        </p:txBody>
      </p:sp>
      <p:sp>
        <p:nvSpPr>
          <p:cNvPr id="46" name="計數 46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47" name="計數 47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48" name="計數 48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49" name="計數 49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61%</a:t>
            </a:r>
          </a:p>
        </p:txBody>
      </p:sp>
      <p:sp>
        <p:nvSpPr>
          <p:cNvPr id="50" name="計數 50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66%</a:t>
            </a:r>
          </a:p>
        </p:txBody>
      </p:sp>
      <p:sp>
        <p:nvSpPr>
          <p:cNvPr id="51" name="計數 51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52" name="計數 52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73%</a:t>
            </a:r>
          </a:p>
        </p:txBody>
      </p:sp>
      <p:sp>
        <p:nvSpPr>
          <p:cNvPr id="53" name="計數 5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54" name="計數 54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55" name="計數 55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10%</a:t>
            </a:r>
          </a:p>
        </p:txBody>
      </p:sp>
      <p:sp>
        <p:nvSpPr>
          <p:cNvPr id="56" name="計數 56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</p:txBody>
      </p:sp>
      <p:sp>
        <p:nvSpPr>
          <p:cNvPr id="57" name="計數 5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26%</a:t>
            </a:r>
          </a:p>
        </p:txBody>
      </p:sp>
      <p:sp>
        <p:nvSpPr>
          <p:cNvPr id="58" name="計數 5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59" name="計數 59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36%</a:t>
            </a:r>
          </a:p>
        </p:txBody>
      </p:sp>
      <p:sp>
        <p:nvSpPr>
          <p:cNvPr id="60" name="計數 60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39%</a:t>
            </a:r>
          </a:p>
        </p:txBody>
      </p:sp>
      <p:sp>
        <p:nvSpPr>
          <p:cNvPr id="61" name="計數 61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62" name="計數 62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43%</a:t>
            </a:r>
          </a:p>
        </p:txBody>
      </p:sp>
      <p:sp>
        <p:nvSpPr>
          <p:cNvPr id="63" name="計數 63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7" grpId="0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11" grpId="0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15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優先客群：想用 AI 開發，卻還不知道怎麼治理與追蹤的保險公司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10" name="Oval 9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已經想用或開始用 AI 開發，但還沒有治理與追蹤的方法；有自己或駐點的開發團隊；近期有新制或核心系統周邊的開發需求。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4" name="計數 34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5" name="計數 3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6" name="計數 3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7" name="計數 37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81%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8" name="計數 38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9" name="計數 3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0–0%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0" name="計數 40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2–5%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1" name="計數 41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4–8%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2" name="計數 42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6–12%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3" name="計數 43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7–14%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4" name="計數 44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8–16%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5" name="計數 45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6" name="計數 46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7" name="計數 47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48" name="計數 48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49" name="計數 49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0" name="計數 50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1" name="計數 5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2" name="計數 5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2.1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3" name="計數 53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2.4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4" name="計數 54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2.6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5" name="計數 55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2.8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6" name="計數 56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2.9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7" name="計數 57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58" name="計數 58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59" name="計數 59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0" name="計數 60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1" name="計數 61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2" name="計數 62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3" name="計數 63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4" name="計數 6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5" name="計數 6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6" name="計數 66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7" name="計數 67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68" name="計數 6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0–0%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69" name="計數 69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8–9%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0" name="計數 7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15–17%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1" name="計數 7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20–23%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2" name="計數 72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25–28%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3" name="計數 73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28–32%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4" name="計數 74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31–35%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5" name="計數 75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32–37%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6" name="計數 7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34–39%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7" name="計數 7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8" name="計數 78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9" name="計數 7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0" name="計數 80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1" name="計數 8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2" name="計數 8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3" name="計數 83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84" name="計數 8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5" name="計數 85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13%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6" name="計數 86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24%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7" name="計數 87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8" name="計數 88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9" name="計數 8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0" name="計數 90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1" name="計數 9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2" name="計數 92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3" name="計數 9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1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7" grpId="0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10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13" grpId="0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16" grpId="0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22" grpId="0" animBg="1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23" grpId="0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0" grpId="1" animBg="1"/>
      <p:bldP spid="91" grpId="0" animBg="1"/>
      <p:bldP spid="91" grpId="1" animBg="1"/>
      <p:bldP spid="92" grpId="0" animBg="1"/>
      <p:bldP spid="92" grpId="1" animBg="1"/>
      <p:bldP spid="93" grpId="0" animBg="1"/>
      <p:bldP spid="93" grpId="1" animBg="1"/>
      <p:bldP spid="2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14" name="Oval 13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6" name="Oval 15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8" name="Oval 17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2" name="Oval 21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4" name="Oval 23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15 頁）。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9" name="Picture 8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3" name="Picture 12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7" name="Picture 16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1" name="Picture 20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5" name="Picture 24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8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40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42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11" name="計數 1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2" name="計數 12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1/64；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3" name="計數 13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1/118；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4" name="計數 1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1/162；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5" name="計數 1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1/197；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6" name="計數 16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1/224；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7" name="計數 17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1/245；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8" name="計數 18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1/260；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9" name="計數 19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0" name="計數 2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1/276；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1" name="計數 2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1/279；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6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PwC，Reinventing insurance: An industry beyond the tipping point，2025（57%；2025 年 7 月調查，保險業高階主管 136 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