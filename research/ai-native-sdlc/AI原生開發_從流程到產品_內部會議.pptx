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hyperlink" Target="https://www.deloitte.com/global/en/what-we-do/capabilities/agentic-ai-blueprint-for-insurance.html" TargetMode="External"/><Relationship Id="rId3" Type="http://schemas.openxmlformats.org/officeDocument/2006/relationships/hyperlink" Target="https://sas.com/nl_nl/news/press-releases/2022/may/deloitte-partners-with-sas-to-power-ifrs-17-accelerator-solution.html" TargetMode="External"/><Relationship Id="rId4" Type="http://schemas.openxmlformats.org/officeDocument/2006/relationships/hyperlink" Target="https://sas.com/en_ca/news/press-releases/2022/september/pvi-insurance-deploys-kpmg-ifrs-17-express.html" TargetMode="External"/><Relationship Id="rId5" Type="http://schemas.openxmlformats.org/officeDocument/2006/relationships/hyperlink" Target="https://www.capgemini.com/wp-content/uploads/2026/10/GW-datasheet_Final-version.pdf" TargetMode="External"/><Relationship Id="rId6" Type="http://schemas.openxmlformats.org/officeDocument/2006/relationships/hyperlink" Target="https://www.wtwco.com/en-gh/news/2025/10/wtw-launch-of-radar-5-with-gen-ai-capability-marks-a-major-milestone-in-insurance-pricing" TargetMode="External"/><Relationship Id="rId7" Type="http://schemas.openxmlformats.org/officeDocument/2006/relationships/hyperlink" Target="https://www.mckinsey.com/industries/financial-services/how-we-help-clients/insurance/global-insurance-pools" TargetMode="External"/><Relationship Id="rId8" Type="http://schemas.openxmlformats.org/officeDocument/2006/relationships/hyperlink" Target="https://www.mckinsey.com/industries/financial-services/our-insights/can-agentic-ai-finally-modernize-core-technologies-in-insurance" TargetMode="External"/><Relationship Id="rId9" Type="http://schemas.openxmlformats.org/officeDocument/2006/relationships/hyperlink" Target="https://www.bcg.com/assets/2026/executive-perspectives-ai-first-companies-win-the-future-property-casualty-insurance.pdf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原生開發：</a:t>
            </a:r>
          </a:p>
          <a:p>
            <a:r>
              <a:rPr sz="2800">
                <a:latin typeface="Georgia"/>
                <a:ea typeface="微軟正黑體"/>
              </a:rPr>
              <a:t>從流程到產品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Arial"/>
                <a:ea typeface="微軟正黑體"/>
              </a:rPr>
              <a:t>FSC1 內部會議｜2026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一頁看懂：補強現行流程、先產品化「常發生、判斷少」的工作，對外先推診斷＋試點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88720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情境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325880"/>
            <a:ext cx="4572000" cy="9144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讓寫程式變快，但需求、審查、上線還是人工速度；同業已經把類似能力做成產品在賣。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50008"/>
            <a:ext cx="1188720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問題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350008"/>
            <a:ext cx="4572000" cy="9144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我們已有一套 AI 協作開發流程，要怎麼把它變成可以重複銷售、重複交付的服務？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74136"/>
            <a:ext cx="1188720" cy="9144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建議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3374136"/>
            <a:ext cx="4572000" cy="9144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補強流程的三個缺口，從四象限挑出最適合產品化的工作，以在地法規與可稽核關卡切入市場，先推「診斷＋陪你做試點」。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325880"/>
            <a:ext cx="5349240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三個支持理由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764792"/>
            <a:ext cx="5349240" cy="8046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差距分析　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現行流程已涵蓋主要工作；補強關卡核准人、規則自動執行、上線後回饋</a:t>
            </a:r>
            <a:r>
              <a:rPr sz="950" b="0">
                <a:solidFill>
                  <a:srgbClr val="595959"/>
                </a:solidFill>
                <a:latin typeface="Arial"/>
                <a:ea typeface="微軟正黑體"/>
              </a:rPr>
              <a:t>　第 3–5 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633472"/>
            <a:ext cx="5349240" cy="8046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優先順序　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「常發生、判斷少」的工作最適合先交給 AI、先做成工具包</a:t>
            </a:r>
            <a:r>
              <a:rPr sz="950" b="0">
                <a:solidFill>
                  <a:srgbClr val="595959"/>
                </a:solidFill>
                <a:latin typeface="Arial"/>
                <a:ea typeface="微軟正黑體"/>
              </a:rPr>
              <a:t>　第 6–7 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502152"/>
            <a:ext cx="5349240" cy="80467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市場驗證　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同業主流是「預建資產＋顧問導入」；在地法規與可稽核關卡是我們的切入點</a:t>
            </a:r>
            <a:r>
              <a:rPr sz="950" b="0">
                <a:solidFill>
                  <a:srgbClr val="595959"/>
                </a:solidFill>
                <a:latin typeface="Arial"/>
                <a:ea typeface="微軟正黑體"/>
              </a:rPr>
              <a:t>　第 8–9 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72000"/>
            <a:ext cx="91440" cy="6400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1129284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今天要決定：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四象限分類、試點案例、對外先推的方案、價格區間與人力、法規檢查清單的審閱（第 13 頁）。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3492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本簡報不涉及任何客戶資料；AI 協助產出的內容對外前一律人工確認。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方向：開發流程要從「直線交棒」變成「循環」，AI 參與每一步，人在關卡上做決定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差距分析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9202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95959"/>
                </a:solidFill>
                <a:latin typeface="Arial"/>
                <a:ea typeface="微軟正黑體"/>
              </a:rPr>
              <a:t>以前：一條直線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40864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44368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547872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151376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754880"/>
            <a:ext cx="192024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394960"/>
            <a:ext cx="192024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Arial"/>
                <a:ea typeface="微軟正黑體"/>
              </a:rPr>
              <a:t>做完一段才交棒，退回一次就要重來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325880"/>
            <a:ext cx="4114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現在：一個循環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1920240"/>
            <a:ext cx="1385813" cy="800100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77853" y="2720340"/>
            <a:ext cx="0" cy="1600200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892040" y="4320540"/>
            <a:ext cx="1385813" cy="800100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506226" y="4320540"/>
            <a:ext cx="1385814" cy="800100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506226" y="2720339"/>
            <a:ext cx="0" cy="1600201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506226" y="1920240"/>
            <a:ext cx="1385814" cy="800099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206240" y="2834640"/>
            <a:ext cx="1371600" cy="13716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154680"/>
            <a:ext cx="1371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AI 協作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參與每一步</a:t>
            </a:r>
          </a:p>
        </p:txBody>
      </p:sp>
      <p:sp>
        <p:nvSpPr>
          <p:cNvPr id="25" name="Oval 24"/>
          <p:cNvSpPr/>
          <p:nvPr/>
        </p:nvSpPr>
        <p:spPr>
          <a:xfrm>
            <a:off x="4411979" y="1440180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1979" y="1691640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27" name="Oval 26"/>
          <p:cNvSpPr/>
          <p:nvPr/>
        </p:nvSpPr>
        <p:spPr>
          <a:xfrm>
            <a:off x="5797793" y="2240280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97793" y="2491740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29" name="Oval 28"/>
          <p:cNvSpPr/>
          <p:nvPr/>
        </p:nvSpPr>
        <p:spPr>
          <a:xfrm>
            <a:off x="5797793" y="3840479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97793" y="4091939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31" name="Oval 30"/>
          <p:cNvSpPr/>
          <p:nvPr/>
        </p:nvSpPr>
        <p:spPr>
          <a:xfrm>
            <a:off x="4411979" y="4640579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11979" y="4892040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33" name="Oval 32"/>
          <p:cNvSpPr/>
          <p:nvPr/>
        </p:nvSpPr>
        <p:spPr>
          <a:xfrm>
            <a:off x="3026166" y="3840479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26166" y="4091939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35" name="Oval 34"/>
          <p:cNvSpPr/>
          <p:nvPr/>
        </p:nvSpPr>
        <p:spPr>
          <a:xfrm>
            <a:off x="3026166" y="2240279"/>
            <a:ext cx="960120" cy="960120"/>
          </a:xfrm>
          <a:prstGeom prst="ellipse">
            <a:avLst/>
          </a:prstGeom>
          <a:solidFill>
            <a:srgbClr val="FFE8D4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26166" y="2491739"/>
            <a:ext cx="9601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1325880"/>
            <a:ext cx="4480560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瓶頸移位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寫程式變快後，需求、審查、上線這些人工步驟成了瓶頸。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651760"/>
            <a:ext cx="4480560" cy="11887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交接靠檔案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每一步交出一份檔案，下一步直接接手，不必開會交接。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977639"/>
            <a:ext cx="4480560" cy="11887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人在關卡上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起草、檢查、執行；接受需求、核准上線由指定的人做。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7607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概念依 Anthropic《The AI-Native SDLC Playbook》，第 3–9 頁；圖為自繪，不綁特定 AI 工具。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差距：現行流程已涵蓋主要工作，這次補強三件事：關卡有人簽、規則自動執行、上線後回饋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差距分析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階段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20" y="1325880"/>
            <a:ext cx="47183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現行流程已有（保留）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325880"/>
            <a:ext cx="51297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這次補強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14264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20" y="1728216"/>
            <a:ext cx="47183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產出 Prototype、欄位清單、流程圖，IT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1728216"/>
            <a:ext cx="512978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需求說明由 BA 主導對焦；「接受需求」指定核准人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95144"/>
            <a:ext cx="14264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20" y="2295144"/>
            <a:ext cx="47183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AI 產出 Use Case、ERD、API 規格、Test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2295144"/>
            <a:ext cx="512978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資安、法遵規範寫成 AI 自動套用的規則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62072"/>
            <a:ext cx="14264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20" y="2862072"/>
            <a:ext cx="47183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先 plan 再 code、限制修改範圍、Code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862072"/>
            <a:ext cx="512978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計畫核准留紀錄；團隊慣例寫成 AI 每次都讀的說明檔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29000"/>
            <a:ext cx="14264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20" y="3429000"/>
            <a:ext cx="47183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正向、反向、邊界案例；案例綁需求編號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3429000"/>
            <a:ext cx="512978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自動測試通過才能進入審查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95928"/>
            <a:ext cx="14264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20" y="3995928"/>
            <a:ext cx="47183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Release Note、Deploy Guide、rollback 計畫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995928"/>
            <a:ext cx="512978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合併與上線由自動關卡把關，沒有核准做不到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562856"/>
            <a:ext cx="142646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維運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20" y="4562856"/>
            <a:ext cx="471830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—（流程到上版為止）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4562856"/>
            <a:ext cx="5129784" cy="5303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上線後異常由 AI 先診斷，寫成新需求回到第一步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257800"/>
            <a:ext cx="91440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257800"/>
            <a:ext cx="11292840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不是重做，而是在現行流程上加三樣東西，讓它從「團隊的做法」變成「可以交給客戶的方法」。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87044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對照基準：現行開發流程 v3與 Anthropic《The AI-Native SDLC Playbook》。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補強一：現行五個 Review Gate 全部保留，每一關補上「誰核准」和「怎麼確保一定經過」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差距分析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4323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現行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325880"/>
            <a:ext cx="17922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對應關卡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325880"/>
            <a:ext cx="3255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誰核准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325880"/>
            <a:ext cx="37581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怎麼確保一定經過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28216"/>
            <a:ext cx="243230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需求文件確認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728216"/>
            <a:ext cx="179222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① 接受需求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728216"/>
            <a:ext cx="325526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產品負責人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728216"/>
            <a:ext cx="375818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接受或退回都留紀錄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350008"/>
            <a:ext cx="243230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SA／SD 文件確認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350008"/>
            <a:ext cx="179222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② 確認規格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350008"/>
            <a:ext cx="325526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產品負責人（高風險加技術主管）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350008"/>
            <a:ext cx="375818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規格與需求說明一起存檔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971800"/>
            <a:ext cx="243230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程式與相關文件完成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2971800"/>
            <a:ext cx="179222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③ 核准計畫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971800"/>
            <a:ext cx="325526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工程師（高風險找架構師）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2971800"/>
            <a:ext cx="375818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計畫核准前 AI 不能修改程式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593592"/>
            <a:ext cx="243230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完整測試報告與紀錄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3593592"/>
            <a:ext cx="179222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④ 核准合併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3593592"/>
            <a:ext cx="325526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程式負責人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3593592"/>
            <a:ext cx="375818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沒有核准不能合併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215384"/>
            <a:ext cx="243230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4215384"/>
            <a:ext cx="179222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⑤ 授權上線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215384"/>
            <a:ext cx="325526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發布經理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4215384"/>
            <a:ext cx="3758184" cy="58521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沒有授權，上線指令會被擋下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937760"/>
            <a:ext cx="1138428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Review Checklist 同步補四項：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法遵（個資、資料範圍）、職責分離（寫程式的 AI 不能自己核准）、測試證據、紀錄完整（誰核准、何時、套用哪版規範）。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85216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關卡設計依 Anthropic《The AI-Native SDLC Playbook》，第 13、17、20、39、46 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優先順序：用「多常發生 × 需要判斷」把現行流程的 AI 任務分成四類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優先順序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371600"/>
            <a:ext cx="3291840" cy="1965960"/>
          </a:xfrm>
          <a:prstGeom prst="rect">
            <a:avLst/>
          </a:prstGeom>
          <a:solidFill>
            <a:srgbClr val="FFE8D4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1444752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AI 先做，IT 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" y="2066543"/>
            <a:ext cx="3072384" cy="11978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欄位清單、Test Case、Test Data、Unit Test、註解與文件、Release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1371600"/>
            <a:ext cx="3291840" cy="196596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1444752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AI 起草，IT 逐項審查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7992" y="2066543"/>
            <a:ext cx="3072384" cy="11978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程式碼、API 規格、ERD、Code Review 風險檢查、測試失敗原因分析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392424"/>
            <a:ext cx="3291840" cy="196596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3465576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做成範本，重複使用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61288" y="4087368"/>
            <a:ext cx="3072384" cy="11978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Deploy Guide、User Guide、Migration Script、部署腳本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3392424"/>
            <a:ext cx="3291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3465576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人決定，AI 只提供資料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7992" y="4087368"/>
            <a:ext cx="3072384" cy="11978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接受需求、架構選型、核准合併、授權上線、事件處置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371600"/>
            <a:ext cx="594360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92424"/>
            <a:ext cx="594360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394959"/>
            <a:ext cx="663854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需要判斷：少 ─────────────→ 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371600"/>
            <a:ext cx="3794760" cy="40233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怎麼分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多常發生：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每個專案、每次改動都會做嗎？越常發生，AI 越能學會、省下的工越多。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需要判斷：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要多少專業判斷？做錯的代價多大？判斷越多，越要留給人。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請 IT 團隊現場確認：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分類是依現行流程各階段「AI 可以做什麼」整理的初步判斷，有不同意見今天就調整。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89788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方法依 MIT Sloan Management Review〈How to Turn Professional Services Into Products〉，2024：把服務拆成活動，依頻率與認知複雜度評估產品化潛力。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每個象限的做法不同，也決定了哪些能做成產品：左上角最先、右下角永遠留給人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優先順序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340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象限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27066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怎麼做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1325880"/>
            <a:ext cx="26609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產品化潛力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25880"/>
            <a:ext cx="35295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對應的產品元件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28216"/>
            <a:ext cx="234086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常發生 × 判斷少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728216"/>
            <a:ext cx="270662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先做，IT 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728216"/>
            <a:ext cx="266090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高：最先做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28216"/>
            <a:ext cx="352958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工具包：範本＋規範規則，自動產出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478024"/>
            <a:ext cx="234086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常發生 × 判斷多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478024"/>
            <a:ext cx="270662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起草，IT 逐項審查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478024"/>
            <a:ext cx="266090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中：方法可產品化，判斷不行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478024"/>
            <a:ext cx="352958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陪你做：我們帶客戶建立審查規則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27832"/>
            <a:ext cx="234086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少發生 × 判斷少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3227832"/>
            <a:ext cx="270662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做成範本，重複使用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3227832"/>
            <a:ext cx="266090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中：做成標準文件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27832"/>
            <a:ext cx="352958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交付手冊與文件範本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77639"/>
            <a:ext cx="234086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少發生 × 判斷多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977639"/>
            <a:ext cx="270662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人決定，AI 只提供資料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3977639"/>
            <a:ext cx="266090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低：不產品化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977639"/>
            <a:ext cx="352958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人工關卡與顧問判斷（我們的專業）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572000"/>
            <a:ext cx="9144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72000"/>
            <a:ext cx="1129284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意涵：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工具包從左上角開始做，最快看到效果、最容易重複賣；右下角是客戶最在意的控制點，也是顧問價值所在，兩者一起賣才完整。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市場驗證：同業已經把保險顧問服務做成產品，主流是「預建資產＋顧問導入」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市場驗證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06654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產品化型態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25880"/>
            <a:ext cx="416966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代表做法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325880"/>
            <a:ext cx="2569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對我們的意思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1325880"/>
            <a:ext cx="24323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我們怎麼做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28216"/>
            <a:ext cx="2066543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加速器＋顧問導入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728216"/>
            <a:ext cx="4169663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國際會計師事務所的保險業代理型 AI 藍圖與預建代理；IFRS 17 加速器（業者宣稱 90 天內產出）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728216"/>
            <a:ext cx="2569464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最接近我們的模式；客戶會拿來比較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728216"/>
            <a:ext cx="2432304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採用：預建資產＋固定範圍與期程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51176"/>
            <a:ext cx="2066543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核心系統＋AI 工具組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2551176"/>
            <a:ext cx="4169663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系統整合商的核心系統 AI 工具組（業者宣稱 300 個以上保險加速器）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551176"/>
            <a:ext cx="2569464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和核心系統轉型主題直接重疊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551176"/>
            <a:ext cx="2432304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聚焦台灣在地核心系統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74136"/>
            <a:ext cx="2066543" cy="78638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軟體／數據產品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3374136"/>
            <a:ext cx="4169663" cy="78638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國際保險顧問的定價與核保軟體；策略顧問的保險市場資料庫訂閱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3374136"/>
            <a:ext cx="2569464" cy="78638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產品化程度最高，但維護成本高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374136"/>
            <a:ext cx="2432304" cy="78638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長期方向，先不做軟體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97096"/>
            <a:ext cx="2066543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方法論與藍圖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4197096"/>
            <a:ext cx="4169663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策略顧問的 AI-First 藍圖、代理型 AI 核心現代化方法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4197096"/>
            <a:ext cx="2569464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還不是可單獨購買的產品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4197096"/>
            <a:ext cx="2432304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我們直接落地到試點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1206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具體公司、產品與來源見附錄 A。資料為業者公開資訊，未經獨立驗證；「宣稱」數字為業者自述。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我們的切入點：在地法規、在地核心系統、可稽核的關卡綁在一起，國際方案最難直接套用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市場驗證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7160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31089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台灣保險法規內建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65960"/>
            <a:ext cx="3703320" cy="1463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委外辦法、公會 AI 與雲端自律規範、金管會 AI 指引，整理成開發流程的檢查清單。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74720"/>
            <a:ext cx="370332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證據：法規檢查清單草稿已完成（附錄 B）</a:t>
            </a:r>
          </a:p>
        </p:txBody>
      </p:sp>
      <p:sp>
        <p:nvSpPr>
          <p:cNvPr id="12" name="Oval 11"/>
          <p:cNvSpPr/>
          <p:nvPr/>
        </p:nvSpPr>
        <p:spPr>
          <a:xfrm>
            <a:off x="4233672" y="137160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8032" y="1371600"/>
            <a:ext cx="31089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懂保險業務與在地系統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965960"/>
            <a:ext cx="3703320" cy="1463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理賠、核保、核心系統、IFRS 17 的業務與系統經驗，試點直接用客戶真正在痛的流程。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2" y="3474720"/>
            <a:ext cx="370332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證據：現行流程與 IT 實作成果（待補）</a:t>
            </a:r>
          </a:p>
        </p:txBody>
      </p:sp>
      <p:sp>
        <p:nvSpPr>
          <p:cNvPr id="16" name="Oval 15"/>
          <p:cNvSpPr/>
          <p:nvPr/>
        </p:nvSpPr>
        <p:spPr>
          <a:xfrm>
            <a:off x="8055863" y="1371600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50224" y="1371600"/>
            <a:ext cx="31089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可稽核的人工關卡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3" y="1965960"/>
            <a:ext cx="3703320" cy="14630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五個關卡誰核准、何時核准都查得到；寫程式的 AI 不能核准自己的程式。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3" y="3474720"/>
            <a:ext cx="370332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證據：關卡設計（第 5 頁）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389120"/>
            <a:ext cx="91440" cy="6858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89120"/>
            <a:ext cx="11292840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為什麼國際方案難直接套用（推論）：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預建代理與藍圖以國際市場為主，套到台灣客製化的舊核心、繁中條款與在地法規時，仍需大量調整。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16636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「難直接套用」為依公開資料的推論，僅供內部討論。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微軟正黑體"/>
                <a:ea typeface="微軟正黑體"/>
              </a:rPr>
              <a:t>建議：一個入門診斷加三種合作方式，對外先推「診斷 → 陪你做試點」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建議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340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33467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交付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206654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收費模式（建議）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325880"/>
            <a:ext cx="1380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對外策略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325880"/>
            <a:ext cx="2066543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原因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28216"/>
            <a:ext cx="234086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準備度診斷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728216"/>
            <a:ext cx="334670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瓶頸地圖、法規檢查、試點建議、導入藍圖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728216"/>
            <a:ext cx="2066543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固定價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728216"/>
            <a:ext cx="138074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對外主推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728216"/>
            <a:ext cx="2066543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低門檻，客戶容易說好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478024"/>
            <a:ext cx="234086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陪你做｜試點陪跑＋教學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478024"/>
            <a:ext cx="334670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完成的試點、成效報告、範本與審查規則、教材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478024"/>
            <a:ext cx="2066543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每個試點固定價，可加里程碑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478024"/>
            <a:ext cx="1380744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對外主推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478024"/>
            <a:ext cx="2066543" cy="713231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看得到成效，最能證明價值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227832"/>
            <a:ext cx="234086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你自己做｜工具包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3227832"/>
            <a:ext cx="334670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範本、規範規則、關卡設定、交付手冊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227832"/>
            <a:ext cx="2066543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授權或年費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227832"/>
            <a:ext cx="1380744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客戶問了再談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3227832"/>
            <a:ext cx="2066543" cy="71323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要先從試點累積成熟的資產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977639"/>
            <a:ext cx="234086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幫你做｜駐點開發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977639"/>
            <a:ext cx="334670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程式、文件與完整紀錄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977639"/>
            <a:ext cx="2066543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人月或按交付項目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977639"/>
            <a:ext cx="1380744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客戶問了再談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3977639"/>
            <a:ext cx="2066543" cy="7132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偏人力派遣；審計客戶有獨立性限制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846320"/>
            <a:ext cx="91440" cy="6400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846320"/>
            <a:ext cx="1129284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計價原則：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按「每次診斷」「每個試點」等任務或成果計價，不按工時，讓收入不再只靠人力增加。金額與期程今天決定。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5778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三種合作方式的概念出自 MIT Sloan Management Review〈How to Turn Professional Services Into Products〉，2024（Do it yourself／with me／for me）。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價值怎麼證明：試點前雙方講好三個指標和合格線，達標才擴大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523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指標（可依痛點替換）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325880"/>
            <a:ext cx="32552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怎麼量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基準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325880"/>
            <a:ext cx="1426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合格線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252374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需求定稿時間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728216"/>
            <a:ext cx="32552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從第一次討論到需求說明定稿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282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7282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14016"/>
            <a:ext cx="252374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第一次審查等待時間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414016"/>
            <a:ext cx="32552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從提交程式到收到第一次審查意見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414016"/>
            <a:ext cx="14264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2414016"/>
            <a:ext cx="1426464" cy="649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099816"/>
            <a:ext cx="252374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有完整核准紀錄的改動比例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3099816"/>
            <a:ext cx="32552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比對版本紀錄與核准紀錄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0998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試點前量測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3099816"/>
            <a:ext cx="1426464" cy="6492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雙方約定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1325880"/>
            <a:ext cx="2423160" cy="24688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結果怎麼用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達標：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擴大到下一個團隊。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未達標：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一起檢討原因，調整後再試或停止，不擴大。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69080"/>
            <a:ext cx="11384280" cy="109728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為什麼這樣做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效益不先寫數字，而是試點開始前一起訂好指標和合格線；數據大多已在版本紀錄與 CI 系統中，不需要另外填表。試點結束，用同一套指標比較前後。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914400"/>
            <a:ext cx="2286000" cy="27432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Arial"/>
                <a:ea typeface="微軟正黑體"/>
              </a:rPr>
              <a:t>建議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34924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對外不先承諾效益數字；指標可依客戶痛點替換，以三個為限。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對每個人的意義：這個方案讓每個團隊都得到想要的東西，投入也講清楚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15798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團隊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325880"/>
            <a:ext cx="50840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得到什麼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40325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需要投入什麼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28216"/>
            <a:ext cx="215798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管理層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728216"/>
            <a:ext cx="508406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一項新的可銷售服務；按任務或成果計價，不只靠人力成長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728216"/>
            <a:ext cx="403250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核定價格區間與人力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68296"/>
            <a:ext cx="215798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IT 團隊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368296"/>
            <a:ext cx="508406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現行流程成為產品核心；實作成果成為對外實績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2368296"/>
            <a:ext cx="403250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提供實作成果或現場示範；確認四象限分類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08376"/>
            <a:ext cx="215798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業務與 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3008376"/>
            <a:ext cx="508406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主導需求分析這一步；需求整理有固定方法與範本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3008376"/>
            <a:ext cx="403250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起草範本與法規檢查清單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48456"/>
            <a:ext cx="215798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風險與品質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648456"/>
            <a:ext cx="508406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關卡、紀錄與法規檢查清單讓 AI 使用可控、可稽核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3648456"/>
            <a:ext cx="4032504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審閱法規檢查清單；確認獨立性原則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88536"/>
            <a:ext cx="215798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對外溝通（短影片）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4288536"/>
            <a:ext cx="508406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影片直接用這套流程與示範畫面，內容有實證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4288536"/>
            <a:ext cx="4032504" cy="603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提供示範錄影素材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74920"/>
            <a:ext cx="91440" cy="6400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74920"/>
            <a:ext cx="1129284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共同點：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同一個試點，同時產出工具包第一版、對外實績、影片示範與成效數據，一次投入、多處使用。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今天要拍板的五件事，以及接下來三步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4498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要決定的事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325880"/>
            <a:ext cx="2340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負責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325880"/>
            <a:ext cx="11521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期限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28216"/>
            <a:ext cx="54498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四象限分類是否同意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728216"/>
            <a:ext cx="2340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IT 團隊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728216"/>
            <a:ext cx="11521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今天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95144"/>
            <a:ext cx="544982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試點案例：內部真實專案，或理賠進度查詢示範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2295144"/>
            <a:ext cx="2340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IT 團隊、BA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2295144"/>
            <a:ext cx="11521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今天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62072"/>
            <a:ext cx="54498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對外先推「診斷 → 陪你做試點」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2862072"/>
            <a:ext cx="2340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管理層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862072"/>
            <a:ext cx="11521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今天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29000"/>
            <a:ext cx="544982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價格區間、負責人與人力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3429000"/>
            <a:ext cx="2340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管理層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3429000"/>
            <a:ext cx="11521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今天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95928"/>
            <a:ext cx="544982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法規檢查清單交付審閱；是否承諾「未達標不擴大」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3995928"/>
            <a:ext cx="2340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風險與品質、管理層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3995928"/>
            <a:ext cx="11521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今天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1325880"/>
            <a:ext cx="2148840" cy="9144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1　補證據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實作成果或示範；法規清單審閱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2350008"/>
            <a:ext cx="2148840" cy="91440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2　定案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客戶版簡報與價格定稿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3374136"/>
            <a:ext cx="2148840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3　第一場工作坊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Arial"/>
                <a:ea typeface="微軟正黑體"/>
              </a:rPr>
              <a:t>對齊目標、挑候選試點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709160"/>
            <a:ext cx="91440" cy="6400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709160"/>
            <a:ext cx="1129284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原則：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客戶資料不放進外部 AI 工具；AI 協助產出的內容對外前一定人工確認；審計客戶推案前先確認獨立性。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附錄 A｜同業具體產品與來源（業者公開資訊）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380744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公司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325880"/>
            <a:ext cx="3621024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產品／方案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25880"/>
            <a:ext cx="1563624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型態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325880"/>
            <a:ext cx="4672584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來源（可點擊）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91640"/>
            <a:ext cx="138074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Deloitte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91640"/>
            <a:ext cx="362102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Agentic AI Blueprint for Insurance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691640"/>
            <a:ext cx="156362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加速器＋導入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691640"/>
            <a:ext cx="46725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 u="sng">
                <a:solidFill>
                  <a:srgbClr val="000000"/>
                </a:solidFill>
                <a:latin typeface="Arial"/>
                <a:ea typeface="微軟正黑體"/>
                <a:hlinkClick r:id="rId2"/>
              </a:rPr>
              <a:t>www.deloitte.com 原文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48840"/>
            <a:ext cx="138074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Deloitte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148840"/>
            <a:ext cx="36210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IFRS 17 Regulatory Assist（與 SAS 合作）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148840"/>
            <a:ext cx="15636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加速器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148840"/>
            <a:ext cx="467258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 u="sng">
                <a:solidFill>
                  <a:srgbClr val="000000"/>
                </a:solidFill>
                <a:latin typeface="Arial"/>
                <a:ea typeface="微軟正黑體"/>
                <a:hlinkClick r:id="rId3"/>
              </a:rPr>
              <a:t>sas.com 原文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606040"/>
            <a:ext cx="138074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KPMG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606040"/>
            <a:ext cx="362102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IFRS 17 Express, powered by SAS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606040"/>
            <a:ext cx="156362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加速器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2606040"/>
            <a:ext cx="46725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 u="sng">
                <a:solidFill>
                  <a:srgbClr val="000000"/>
                </a:solidFill>
                <a:latin typeface="Arial"/>
                <a:ea typeface="微軟正黑體"/>
                <a:hlinkClick r:id="rId4"/>
              </a:rPr>
              <a:t>sas.com 原文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063240"/>
            <a:ext cx="138074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Capgemini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063240"/>
            <a:ext cx="36210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Guidewire 生成式 AI／代理工具組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063240"/>
            <a:ext cx="15636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核心系統＋AI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3063240"/>
            <a:ext cx="467258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 u="sng">
                <a:solidFill>
                  <a:srgbClr val="000000"/>
                </a:solidFill>
                <a:latin typeface="Arial"/>
                <a:ea typeface="微軟正黑體"/>
                <a:hlinkClick r:id="rId5"/>
              </a:rPr>
              <a:t>www.capgemini.com 原文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20440"/>
            <a:ext cx="138074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WTW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3520440"/>
            <a:ext cx="362102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Radar 5（保險定價與核保軟體）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520440"/>
            <a:ext cx="156362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軟體產品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3520440"/>
            <a:ext cx="46725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 u="sng">
                <a:solidFill>
                  <a:srgbClr val="000000"/>
                </a:solidFill>
                <a:latin typeface="Arial"/>
                <a:ea typeface="微軟正黑體"/>
                <a:hlinkClick r:id="rId6"/>
              </a:rPr>
              <a:t>www.wtwco.com 原文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77639"/>
            <a:ext cx="138074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McKinsey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977639"/>
            <a:ext cx="36210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Global Insurance Pools（訂閱資料庫）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3977639"/>
            <a:ext cx="15636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數據產品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3977639"/>
            <a:ext cx="467258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 u="sng">
                <a:solidFill>
                  <a:srgbClr val="000000"/>
                </a:solidFill>
                <a:latin typeface="Arial"/>
                <a:ea typeface="微軟正黑體"/>
                <a:hlinkClick r:id="rId7"/>
              </a:rPr>
              <a:t>www.mckinsey.com 原文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434840"/>
            <a:ext cx="138074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McKinsey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4434840"/>
            <a:ext cx="362102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代理型 AI 核心現代化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4434840"/>
            <a:ext cx="156362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方法論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4434840"/>
            <a:ext cx="4672584" cy="42062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 u="sng">
                <a:solidFill>
                  <a:srgbClr val="000000"/>
                </a:solidFill>
                <a:latin typeface="Arial"/>
                <a:ea typeface="微軟正黑體"/>
                <a:hlinkClick r:id="rId8"/>
              </a:rPr>
              <a:t>www.mckinsey.com 原文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892040"/>
            <a:ext cx="138074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BCG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4892040"/>
            <a:ext cx="36210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AI-First 產險公司藍圖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4892040"/>
            <a:ext cx="15636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方法論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4892040"/>
            <a:ext cx="467258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 u="sng">
                <a:solidFill>
                  <a:srgbClr val="000000"/>
                </a:solidFill>
                <a:latin typeface="Arial"/>
                <a:ea typeface="微軟正黑體"/>
                <a:hlinkClick r:id="rId9"/>
              </a:rPr>
              <a:t>www.bcg.com 原文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48640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完整盤點見 research/productization/保險顧問產品化服務盤點.md。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附錄 B｜保險業 AI 開發法規檢查清單（草稿）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內部會議｜AI 原生開發：從流程到產品｜AI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88950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檢查項目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25880"/>
            <a:ext cx="3483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依據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25880"/>
            <a:ext cx="3483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開發流程中怎麼落實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78440" y="1325880"/>
            <a:ext cx="138074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在哪一步檢查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28216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是否屬作業委外、是否需依規定辦理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728216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保險業作業委託他人處理內部作業制度及程序辦法（2025-12-31 施行）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728216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導入前判斷並留下紀錄；AI 工具納入委外管理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78440" y="1728216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95144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雲端資料存放、雲端業者管理與查核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295144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保險業作業委外使用雲端服務自律規範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295144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使用公司核准的雲端合約；保留查核所需紀錄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2295144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62072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AI 工具登錄 AI 清冊並做風險評估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2862072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保險業運用人工智慧系統自律規範（2025-04-10 備查）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862072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每個 AI 工具與用途登錄；高風險用途加審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78440" y="2862072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診斷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29000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關鍵決定由人做，保險公司負最終責任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429000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同上；金管會 AI 指引「治理及問責」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429000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五個人工關卡，各有指定核准人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78440" y="3429000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①–⑤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95928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個資與客戶資料不進入 AI 可讀範圍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995928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個人資料保護法；金管會 AI 指引「隱私及客戶權益」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995928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資料分級；集中設定禁止讀取機密檔與金鑰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3995928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規格、開發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562856"/>
            <a:ext cx="288950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程式經資安審查，出事可退回上一版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4562856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金管會 AI 指引「系統穩健性與安全性」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562856"/>
            <a:ext cx="348386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資安初審＋人工審查；退版流程事先演練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8440" y="4562856"/>
            <a:ext cx="1380744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合併、⑤ 上線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29783"/>
            <a:ext cx="288950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誰要求、AI 產出什麼、誰核准，查得到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5129783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金管會 AI 指引「透明性與可解釋性」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129783"/>
            <a:ext cx="348386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需求說明、規格、計畫與核准紀錄版本化保存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78440" y="5129783"/>
            <a:ext cx="1380744" cy="53035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全程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870448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草稿，待風險與品質及法遵審閱；條文以主管機關公告為準，非法律意見。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