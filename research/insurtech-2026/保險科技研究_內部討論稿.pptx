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全球與亞太保險科技新應用</a:t>
            </a:r>
          </a:p>
          <a:p>
            <a:r>
              <a:rPr sz="3000">
                <a:latin typeface="Microsoft JhengHei"/>
              </a:rPr>
              <a:t>暨顧問服務機會研究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FSC1 保險組｜內部討論稿｜2026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議程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417320"/>
            <a:ext cx="566928" cy="56692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1380744"/>
            <a:ext cx="457200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E1E1E"/>
                </a:solidFill>
                <a:latin typeface="Microsoft JhengHei"/>
              </a:rPr>
              <a:t>五大轉折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801368"/>
            <a:ext cx="7315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過去 18 個月保險科技發生了什麼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2203704"/>
            <a:ext cx="950976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14400" y="2331720"/>
            <a:ext cx="566928" cy="56692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2295144"/>
            <a:ext cx="457200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E1E1E"/>
                </a:solidFill>
                <a:latin typeface="Microsoft JhengHei"/>
              </a:rPr>
              <a:t>九大趨勢與服務機會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715768"/>
            <a:ext cx="7315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每項趨勢對應的台灣痛點與服務包裝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3118103"/>
            <a:ext cx="950976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14400" y="3246120"/>
            <a:ext cx="566928" cy="56692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3209544"/>
            <a:ext cx="457200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E1E1E"/>
                </a:solidFill>
                <a:latin typeface="Microsoft JhengHei"/>
              </a:rPr>
              <a:t>前五大優先服務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3630168"/>
            <a:ext cx="7315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評估方法、切入案與延伸路徑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4032504"/>
            <a:ext cx="950976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4160520"/>
            <a:ext cx="566928" cy="56692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4123944"/>
            <a:ext cx="457200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E1E1E"/>
                </a:solidFill>
                <a:latin typeface="Microsoft JhengHei"/>
              </a:rPr>
              <a:t>競爭者與差異化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4544568"/>
            <a:ext cx="7315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國際顧問公司在做什麼、我們怎麼贏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37360" y="4946904"/>
            <a:ext cx="950976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14400" y="5074920"/>
            <a:ext cx="566928" cy="56692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5038344"/>
            <a:ext cx="4572000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E1E1E"/>
                </a:solidFill>
                <a:latin typeface="Microsoft JhengHei"/>
              </a:rPr>
              <a:t>下一步與待驗證事項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5458968"/>
            <a:ext cx="7315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請團隊決定的事、資料可信度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37360" y="5861304"/>
            <a:ext cx="9509760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重點摘要：保險 AI 已從「試點」走到「規模化與回報」，我們的機會在落地與確信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9728" cy="9144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4630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D5108"/>
                </a:solidFill>
                <a:latin typeface="Microsoft JhengHei"/>
              </a:rPr>
              <a:t>市場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325880"/>
            <a:ext cx="49377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資金與預算全面轉向 AI。2026 Q1 全球保險科技募資有 95.2% 流向 AI 相關企業；57% 保險高階主管把生成式與代理型 AI 列為 2026 首要科技投資。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404872"/>
            <a:ext cx="109728" cy="9144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04872"/>
            <a:ext cx="14630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D5108"/>
                </a:solidFill>
                <a:latin typeface="Microsoft JhengHei"/>
              </a:rPr>
              <a:t>痛點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404872"/>
            <a:ext cx="49377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多數企業 AI 投資還看不到財務回報（Bain 引述 MIT：95%），卡點在流程沒重塑、核心系統過度客製化、數據語意不一致。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483863"/>
            <a:ext cx="109728" cy="9144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83863"/>
            <a:ext cx="14630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D5108"/>
                </a:solidFill>
                <a:latin typeface="Microsoft JhengHei"/>
              </a:rPr>
              <a:t>台灣時機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3483863"/>
            <a:ext cx="49377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2026-01-01 正式接軌 IFRS 17 與 TW-ICS，金管會《金融業運用 AI 指引》與公會自律規範上路，雲端委外規範放寬：合規與轉型需求同時出現。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562856"/>
            <a:ext cx="109728" cy="9144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62856"/>
            <a:ext cx="14630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D5108"/>
                </a:solidFill>
                <a:latin typeface="Microsoft JhengHei"/>
              </a:rPr>
              <a:t>我們的機會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4562856"/>
            <a:ext cx="49377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四條服務線（AI 治理、數據應用、核心系統、人力委外）正好對應落地所需。差異化在「技術落地＋可稽核確信＋長期駐點人力」。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325880"/>
            <a:ext cx="4389120" cy="4114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建議優先推動的五項服務</a:t>
            </a:r>
          </a:p>
        </p:txBody>
      </p:sp>
      <p:sp>
        <p:nvSpPr>
          <p:cNvPr id="16" name="Oval 15"/>
          <p:cNvSpPr/>
          <p:nvPr/>
        </p:nvSpPr>
        <p:spPr>
          <a:xfrm>
            <a:off x="7498079" y="1901952"/>
            <a:ext cx="384048" cy="38404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3749039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IFRS 17／TW-ICS 開帳後財務轉型、CSM 與動態 ALM</a:t>
            </a:r>
          </a:p>
        </p:txBody>
      </p:sp>
      <p:sp>
        <p:nvSpPr>
          <p:cNvPr id="18" name="Oval 17"/>
          <p:cNvSpPr/>
          <p:nvPr/>
        </p:nvSpPr>
        <p:spPr>
          <a:xfrm>
            <a:off x="7498079" y="2542032"/>
            <a:ext cx="384048" cy="38404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468880"/>
            <a:ext cx="3749039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AI 系統清冊、模型驗證與執行期護欄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3182112"/>
            <a:ext cx="384048" cy="384048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108960"/>
            <a:ext cx="3749039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代理型 AI 核保與理賠流程重塑</a:t>
            </a:r>
          </a:p>
        </p:txBody>
      </p:sp>
      <p:sp>
        <p:nvSpPr>
          <p:cNvPr id="22" name="Oval 21"/>
          <p:cNvSpPr/>
          <p:nvPr/>
        </p:nvSpPr>
        <p:spPr>
          <a:xfrm>
            <a:off x="7498079" y="3822191"/>
            <a:ext cx="384048" cy="384048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749039"/>
            <a:ext cx="3749039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AI 加速核心系統現代化與雲端聯合查核</a:t>
            </a:r>
          </a:p>
        </p:txBody>
      </p:sp>
      <p:sp>
        <p:nvSpPr>
          <p:cNvPr id="24" name="Oval 23"/>
          <p:cNvSpPr/>
          <p:nvPr/>
        </p:nvSpPr>
        <p:spPr>
          <a:xfrm>
            <a:off x="7498079" y="4462272"/>
            <a:ext cx="384048" cy="384048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4389120"/>
            <a:ext cx="3749039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深偽理賠詐欺偵測與調查工作流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5120640"/>
            <a:ext cx="4389120" cy="8686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今天要決定：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挑 2 項先做成可銷售的服務包。建議 #1、#2：需求確定、離現有服務最近、首案週期短。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五大轉折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Microsoft Jheng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108192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過去 18 個月（2025 年初至 2026 年 10 月）全球與亞太保險科技的關鍵變化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關鍵數字：資金、採用率與風險同時升溫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3611880" cy="22860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63039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95.2%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33172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2026 Q1 全球保險科技募資流向 AI 相關企業的比例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20040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來源：Gallagher Re, 2026-05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325880"/>
            <a:ext cx="3611880" cy="2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63039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D5108"/>
                </a:solidFill>
                <a:latin typeface="Microsoft JhengHei"/>
              </a:rPr>
              <a:t>63%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33172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2025 年底已把 AI 投入實際營運的企業（2024 年為 45%）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20040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來源：Gallagher Re, 2026-05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325880"/>
            <a:ext cx="3611880" cy="2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463039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D5108"/>
                </a:solidFill>
                <a:latin typeface="Microsoft JhengHei"/>
              </a:rPr>
              <a:t>57%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233172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保險高階主管把生成式與代理型 AI 列為 2026 首要科技投資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320040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來源：PwC 調查／Insurance Journal, 2025-11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40480"/>
            <a:ext cx="3611880" cy="22860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97764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84632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投資 AI 但尚未看到可衡量財務回報的企業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71500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來源：Bain 引述 MIT, 2026-01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840480"/>
            <a:ext cx="3611880" cy="2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97764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D5108"/>
                </a:solidFill>
                <a:latin typeface="Microsoft JhengHei"/>
              </a:rPr>
              <a:t>25–50%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484632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用代理型 AI 做核心系統現代化的生產力提升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571500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來源：McKinsey, 2026-04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840480"/>
            <a:ext cx="3611880" cy="2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397764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D5108"/>
                </a:solidFill>
                <a:latin typeface="Microsoft JhengHei"/>
              </a:rPr>
              <a:t>92%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484632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曾因深偽相關事件遭受財務損失的企業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571500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來源：Swiss Re SONAR 2025, 2025-06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五大轉折與對台灣保險業的意涵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113842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029200"/>
                <a:gridCol w="3977639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轉折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已發生的事實（摘要）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對台灣保險業的意涵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① 代理型 AI 重構核保與理賠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Manulife、AmTrust 以 AI 核保理賠獲 Celent 獎；22% 保險公司計畫部署代理型 AI（Celent，單一來源）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從單點智能助理升級為端到端流程，必須同時處理系統串接與人機分工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② AI 改寫核心現代化經濟學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代理型 AI 用於舊程式解析、資料映射、測試生成，生產力 +25–50%（McKinsey）；金管會 2024-08 修正委外規範、2025-10 預告提升法令位階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「潔淨核心上雲＋外部 AI 代理層」的重構窗口打開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③ AI 治理進入實地查核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NAIC 2026 年 12 州試點 AI 系統評估工具；MAS 2025-11 發布涵蓋 AI 代理的風險管理指引；金管會 AI 指引＋公會自律規範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從紙本政策走向可查核的 AI 清冊、模型驗證與緊急關閉機制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④ IFRS 17／TW-ICS 正式上路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2026-01-01 正式適用；IFRS 4 覆蓋法退場；英國經驗顯示第二年結帳仍高度人工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需求由「合規開帳」轉向結帳自動化、動態 ALM 與 CSM 經營管理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⑤ 深偽詐欺與 AI 風險保險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92% 企業曾因深偽受損（Swiss Re）；Armilla、aiSure 推出 AI 表現保證保險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理賠反詐欺升級；AI 責任與表現保險成為新商品議題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九大趨勢與服務機會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Microsoft Jheng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108192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每項趨勢都對應到台灣痛點、監理要求、我們的服務線與第一個切入案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九大趨勢總覽：與我們四條服務線的對應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11384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572000"/>
                <a:gridCol w="1280160"/>
                <a:gridCol w="1024128"/>
                <a:gridCol w="1024128"/>
                <a:gridCol w="1024128"/>
                <a:gridCol w="1024128"/>
                <a:gridCol w="102412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趨勢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成熟度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AI 治理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數據應用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核心系統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人力委外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新服務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代理型 AI 核保與理賠作業系統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早期採用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AI 加速核心系統現代化與雲端合規轉移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早期採用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營運化 AI 治理、即時護欄與第三方查核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早期採用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IFRS 17／TW-ICS 後財務轉型、動態 ALM、CSM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普及／早期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深偽理賠詐欺偵測與調查工作流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早期採用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6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AI 精算定價自動化與現代數據平台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早期採用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7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API 優先的嵌入式保險生態系平台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普及／早期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參數型氣候與巨災保險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早期採用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9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AI 表現保證保險與資料中心累積風險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概念／早期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5989320"/>
            <a:ext cx="113385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● 表示對應的服務線。成熟度依研究報告判斷：概念階段 → 早期採用 → 已普及。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趨勢深入（1／3）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12344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是什麼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69748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國際案例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56616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台灣痛點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43484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服務包裝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530352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第一步切入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1｜代理型 AI 核保與理賠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82880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多代理協作自主完成收件解析、外部數據查核、風險分流與理賠審核，人只處理複雜案件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69748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Manulife MAUDE 核保系統、AmTrust 生成式 AI 理賠（Celent 2025／2026 獎）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356616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已有核保、理賠智能助理，但停在單點知識檢索，無法跨核心系統自動觸發照會或給付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443484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核保／理賠三車道分流藍圖、工具目錄與 API 架構、AI 代理權限與護欄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530352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6–8 週單一險種「價值量化與工作流重塑」工作坊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2｜AI 加速核心現代化與雲端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182880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AI 自動解析舊程式、資料映射與測試生成；客製化移出核心，改放雲端中台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269748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John Hancock、MSIG USA 雲原生核心與數據平台（Celent 獎）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56616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核心替換動輒 5–8 年且超支；舊語言維護人力不足；舊核心無法支援 API 與 AI 串接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443484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AI 加速核心翻新評估、中台解耦架構、遷移測試人力、雲端業者聯合查核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2352" y="530352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雲端委外合規落差評估，或周邊系統 AI 重寫 PoC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67344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3｜營運化 AI 治理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67344" y="182880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把原則轉成可查核的 AI 清冊、偏見測試與執行期護欄（權限、防注入、自動回滾、緊急關閉）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67344" y="269748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NAIC 12 州試點評估工具；MAS AI 風險指引；香港保監局 AI Cohort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7344" y="356616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多由法遵寫紙本政策，缺少跨精算、核保、IT 的模型驗證，也看不到部門自用的外部 AI 工具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7344" y="443484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AI 清冊盤點與風險分級、模型驗證機制、第三方 AI 盡職調查範本、LLM 紅隊演練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67344" y="530352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4–6 週 AI 清冊盤點＋金管會指引合規健檢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趨勢深入（2／3）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12344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是什麼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69748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國際案例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56616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台灣痛點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43484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服務包裝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530352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第一步切入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4｜IFRS 17 後財務轉型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82880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開帳後轉向結帳與內控自動化、以 KRD 為核心的動態 ALM、新契約 CSM 納入通路 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69748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Manulife、Zurich 將 CSM 納入核心 KPI；韓國接軌 K-ICS 後調整商品結構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356616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結帳仰賴人工與外包；覆蓋法退場使損益劇烈波動；通路仍以初年度保費考核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443484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結帳自動化、ALM 分析平台、CSM 通路 KPI 設計、精算財會人力委外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530352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首年結帳瓶頸診斷，或 CSM 管理儀表板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5｜深偽理賠反詐欺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182880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影像鑑識、文件中繼資料檢查、敘事矛盾比對，嵌入理賠調查工作流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269748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Swiss Re SONAR 2025；FRISS、Verisk 多模態偽造偵測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56616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行動理賠普及，修圖車損、偽造醫療收據門檻變低，規則引擎辨識不了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443484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多模態偵測模型、跨保單與院所關聯圖譜、調查派案流程重塑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2352" y="530352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歷史車損照片／醫療單據 AI 偽造偵測 PoC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67344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6｜AI 精算定價與數據平台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67344" y="182880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Lakehouse 數據平台＋AI 費率開發，自動化費率模擬、規則生成與版本控管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67344" y="269748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Roamly Actuarial Rater、AIA、Income Insurance（Celent 獎）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7344" y="356616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費率配置進核心仰賴人工轉檔與核對，上市慢且有配置錯誤裁罰風險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7344" y="443484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三層數據架構（中繼資料、血緣、資料契約）、定價到上線自動化、數據工程人力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67344" y="530352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新商品費率上線流程診斷與自動比對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趨勢深入（3／3）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12344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是什麼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69748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國際案例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56616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台灣痛點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43484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服務包裝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5303520"/>
            <a:ext cx="12344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第一步切入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7｜嵌入式保險 API 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82880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標準 Open API 把場景化保單嵌入銀行、車廠、電信、旅遊平台，即時定價出單理賠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69748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bolttech、Chubb Studio、Qover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356616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每接一家異業就要數月客製開發；缺少商品工廠與 API 閘道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443484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API 中台架構、異業分潤與資料共享合規架構、內嵌式理賠流程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530352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高頻場景 API 商品工廠與快速串接藍圖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8｜參數型氣候巨災保險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182880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以風速、震度、淹水面積等參數觸發理賠，30 天內撥款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269748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Swiss Re STORM／QUAKE／HAIL；紐約市參數型洪水險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56616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颱風、地震高風險；科技廠與綠能資產需求大；缺少地理空間建模與基差風險量化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443484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氣候實體風險數據整合、參數型商品設計、自動觸發數據管道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2352" y="530352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企業巨災自負額填補可行性評估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67344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9｜AI 表現保證保險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67344" y="182880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模型表現不如預期或 AI 侵權時的保證與責任保險，以技術盡職調查為前提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67344" y="269748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Armilla AI（Lloyd's）、Munich Re aiSure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7344" y="356616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企業採購 AI 擔心求償無門；產險承保 AI 資料中心面臨價值累積風險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7344" y="4434840"/>
            <a:ext cx="3246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第三方 AI 模型技術盡職調查、AI 責任險批單與資料中心核保顧問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67344" y="5303520"/>
            <a:ext cx="3246120" cy="804672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第三方 AI 供應商風險認證與合約保證條款設計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前五大優先服務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Microsoft Jheng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108192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評估維度：台灣市場需求迫切度 × 與既有服務的距離 × 法規與市場時機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優先順序評估：五項服務的三個維度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1138428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566160"/>
                <a:gridCol w="2377440"/>
                <a:gridCol w="2377440"/>
                <a:gridCol w="2423160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優先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服務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需求迫切度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與既有服務距離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法規與市場時機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D5108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IFRS 17／TW-ICS 開帳後財務轉型、CSM 與動態 ALM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極高：2026 首年正式出表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零距離：延伸既有駐點團隊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2026-01 接軌、覆蓋法退場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D5108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AI 系統清冊、模型驗證與執行期護欄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高：公會自律規範與金檢壓力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極近：AI 治理服務升級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金管會 AI 指引上路；可對標 NAIC 2026 查核工具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D5108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代理型 AI 核保與理賠流程重塑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高：要突破單點助理的回報瓶頸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近：流程數位化＋數據平台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2026 全球轉向規模化落地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D5108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AI 加速核心現代化與雲端聯合查核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中高：核心老舊、雲端法規鬆綁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近：核心系統導入＋IT 委外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委外規範放寬並提升法令位階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D5108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深偽理賠詐欺偵測與調查工作流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中高：醫療險與車險損率壓力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中：需整合技術夥伴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E1E1E"/>
                          </a:solidFill>
                          <a:latin typeface="Microsoft JhengHei"/>
                        </a:rPr>
                        <a:t>行動理賠普及，偽造單據增加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切入與延伸路徑：先用小案取得信任，再擴大為長期合作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234440"/>
            <a:ext cx="3931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切入（Land）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234440"/>
            <a:ext cx="4480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延伸（Expand）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755648"/>
            <a:ext cx="548640" cy="5486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155448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IFRS 17 後財務轉型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45920"/>
            <a:ext cx="393192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首年結帳瓶頸診斷＋CSM 管理儀表板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766560" y="1892808"/>
            <a:ext cx="4114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45920"/>
            <a:ext cx="4480560" cy="777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KRD 動態 ALM、通路 CSM KPI、常態精算財會人力委外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651760"/>
            <a:ext cx="548640" cy="5486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42032"/>
            <a:ext cx="155448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AI 治理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542032"/>
            <a:ext cx="393192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4–6 週 AI 清冊盤點與合規落差健檢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66560" y="2788920"/>
            <a:ext cx="4114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2542032"/>
            <a:ext cx="4480560" cy="777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治理平台、代理變數偏見測試、緊急關閉機制、第三方 AI 認證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3547872"/>
            <a:ext cx="548640" cy="548640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38144"/>
            <a:ext cx="155448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代理型 AI 核保理賠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438144"/>
            <a:ext cx="393192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6–8 週單一險種代理型工作流藍圖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766560" y="3685031"/>
            <a:ext cx="4114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3438144"/>
            <a:ext cx="4480560" cy="777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AI 代理編排層、核心系統 API 串接、人機協作作業導入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443984"/>
            <a:ext cx="548640" cy="548640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334256"/>
            <a:ext cx="155448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核心現代化與雲端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4334256"/>
            <a:ext cx="393192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雲端委外合規評估，或舊系統 AI 重寫 PoC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766560" y="4581144"/>
            <a:ext cx="4114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4334256"/>
            <a:ext cx="4480560" cy="777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核心中台解耦、同業聯合查核、遷移與測試人力委外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340096"/>
            <a:ext cx="548640" cy="548640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5230368"/>
            <a:ext cx="155448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深偽反詐欺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5230368"/>
            <a:ext cx="393192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車損照片／醫療單據偽造偵測 PoC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766560" y="5477256"/>
            <a:ext cx="4114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5230368"/>
            <a:ext cx="4480560" cy="777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即時反詐欺評分、關聯圖譜分析、調查派案整合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跨趨勢洞察：三條因果鏈決定機會大小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1325880"/>
            <a:ext cx="548640" cy="5486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98448"/>
            <a:ext cx="292608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E1E1E"/>
                </a:solidFill>
                <a:latin typeface="Microsoft JhengHei"/>
              </a:rPr>
              <a:t>潔淨核心＋數據中台</a:t>
            </a:r>
          </a:p>
        </p:txBody>
      </p:sp>
      <p:sp>
        <p:nvSpPr>
          <p:cNvPr id="5" name="Down Arrow 4"/>
          <p:cNvSpPr/>
          <p:nvPr/>
        </p:nvSpPr>
        <p:spPr>
          <a:xfrm>
            <a:off x="2011680" y="2011680"/>
            <a:ext cx="365760" cy="411480"/>
          </a:xfrm>
          <a:prstGeom prst="downArrow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514600"/>
            <a:ext cx="3611880" cy="7315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代理型 AI 能否跨過「95% 無回報」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383280"/>
            <a:ext cx="3611880" cy="1828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代理型 AI 要跨系統讀寫即時資料；核心過度客製化與語意不一致，會讓多步驟工作流產生複合錯誤。前端 AI 案會帶出第二波核心去客製化與數據平台需求。</a:t>
            </a:r>
          </a:p>
        </p:txBody>
      </p:sp>
      <p:sp>
        <p:nvSpPr>
          <p:cNvPr id="8" name="Oval 7"/>
          <p:cNvSpPr/>
          <p:nvPr/>
        </p:nvSpPr>
        <p:spPr>
          <a:xfrm>
            <a:off x="4251960" y="1325880"/>
            <a:ext cx="548640" cy="5486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98448"/>
            <a:ext cx="292608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E1E1E"/>
                </a:solidFill>
                <a:latin typeface="Microsoft JhengHei"/>
              </a:rPr>
              <a:t>IFRS 17 細顆粒度資料庫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52160" y="2011680"/>
            <a:ext cx="365760" cy="411480"/>
          </a:xfrm>
          <a:prstGeom prst="downArrow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2514600"/>
            <a:ext cx="3611880" cy="7315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成為 AI 與動態經營的數據底座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3383280"/>
            <a:ext cx="3611880" cy="1828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為合規建置的保單現金流、假設與 CSM 資料，可向上串投資部門 ALM、串定價引擎、串通路 KPI，把合規成本轉成經營工具。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1325880"/>
            <a:ext cx="548640" cy="5486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298448"/>
            <a:ext cx="2926080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E1E1E"/>
                </a:solidFill>
                <a:latin typeface="Microsoft JhengHei"/>
              </a:rPr>
              <a:t>AI 攻防＋監理趨同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692640" y="2011680"/>
            <a:ext cx="365760" cy="411480"/>
          </a:xfrm>
          <a:prstGeom prst="downArrow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514600"/>
            <a:ext cx="3611880" cy="7315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治理即服務＋風險移轉的閉環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383280"/>
            <a:ext cx="3611880" cy="1828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快速理賠帶來 AI 偽造攻擊，需要反詐欺 AI；各國監理要求對第三方 AI 負責；通過獨立查核的模型才能被承保。確信能力成為切入點。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競爭者與差異化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Microsoft Jheng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108192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國際顧問公司過去 18 個月的公開服務與方法論，以及我們的切入空間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競爭者觀察：大家都在做代理型 AI，差別在能不能落地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113842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383280"/>
                <a:gridCol w="3063240"/>
                <a:gridCol w="32004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機構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公開推出的服務或研究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方法論重點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可能的交付侷限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Deloitte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Agentic AI Blueprint for Insurance；亞太壽險規模化代理型 AI 論文（2026-05）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四個模組化工具：能力評估、影響力分析、工作流設計、預置代理庫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預置代理庫直接套到台灣客製化舊核心與繁中條款時，資料對接與在地合規需調適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EY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EY Nexus for Insurance；AI 風險治理調查與代理型 AI ROI 研究（2026-09）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平台＋生態系；強調 AI 治理與確信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偏向新業務快速上線，大型壽險既有核心遷移與 IFRS 17 深度整合較難只靠外掛平台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McKinsey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核保作業系統 UWOS（2026-06）；代理型 AI 核心現代化（2026-04）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三車道核保分流；原子化代理能力庫；選擇性重寫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缺少在地法規確信團隊與長期駐點人力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Bain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12 週 Future-back 方法論；三層代理型 AI 架構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流程重塑結合工程標準（MCP、執行期政策、緊急關閉）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在台交付規模較小，法規文書與大型核心導入人力有限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所內相關團隊（可協作）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IFRS 17 提前審計、ALM／CSM 顧問；GenAI ROI 研究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財會、風險與高階營運指標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可直接協作；代理型 AI 工程實作可由我們補強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我們的四個差異化策略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5532120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25880"/>
            <a:ext cx="109728" cy="22402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554480"/>
            <a:ext cx="4389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1E1E"/>
                </a:solidFill>
                <a:latin typeface="Microsoft JhengHei"/>
              </a:rPr>
              <a:t>Assurance-by-Design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設計每個 AI 工作流與核心 API 時，同步內建可稽核軌跡、權限控管與護欄。讓資訊長與風控、法遵長在同一個案子裡買到創新與金檢安心。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532120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109728" cy="22402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6492240" y="155448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54480"/>
            <a:ext cx="4389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1E1E"/>
                </a:solidFill>
                <a:latin typeface="Microsoft JhengHei"/>
              </a:rPr>
              <a:t>顧問藍圖＋人力委外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194560"/>
            <a:ext cx="50292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前端用小規模高價值的健檢或藍圖切入，確立架構後無縫接上數據工程、核心系統與 IFRS 17 委外人力，形成 1–3 年經常性營收。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749039"/>
            <a:ext cx="5532120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49039"/>
            <a:ext cx="109728" cy="22402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77639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977639"/>
            <a:ext cx="4389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1E1E"/>
                </a:solidFill>
                <a:latin typeface="Microsoft JhengHei"/>
              </a:rPr>
              <a:t>以 IFRS 17 資料庫為樞紐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17720"/>
            <a:ext cx="50292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從既有財會與精算專案出發，把合規資料延伸到 ALM、定價與通路 KPI。沒有 IFRS 17 實作經驗的科技廠商很難跨過。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5532120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749039"/>
            <a:ext cx="109728" cy="22402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977639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977639"/>
            <a:ext cx="4389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E1E1E"/>
                </a:solidFill>
                <a:latin typeface="Microsoft JhengHei"/>
              </a:rPr>
              <a:t>雲端與第三方 AI 聯合查核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617720"/>
            <a:ext cx="50292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依委外規範放寬的方向，召集多家保險公司共同委託查核同一雲端或 AI 業者，分攤成本並掌握市場動態。⚠ 需先確認獨立性。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下一步與待驗證事項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Microsoft Jheng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108192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請團隊決定的事，以及這份研究的資料可信度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下一步：請團隊討論與決定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5577840" cy="4114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要決定的事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965960"/>
            <a:ext cx="411480" cy="41148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828800"/>
            <a:ext cx="49377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選 2 項服務先做成服務包（建議 #1 IFRS 17 後財務轉型、#2 AI 治理健檢）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834640"/>
            <a:ext cx="411480" cy="41148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697480"/>
            <a:ext cx="49377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每項指派負責人，4 週內產出：服務一頁紙、首案範圍與報價區間、案例素材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3703320"/>
            <a:ext cx="411480" cy="41148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566160"/>
            <a:ext cx="49377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選 1 項做成拜訪客戶或研討會用的 AI 短片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4572000"/>
            <a:ext cx="411480" cy="41148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434840"/>
            <a:ext cx="49377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1E1E"/>
                </a:solidFill>
                <a:latin typeface="Microsoft JhengHei"/>
              </a:rPr>
              <a:t>確認與所內 IFRS 17、風險團隊的協作方式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532120" cy="411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使用這份研究前要注意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532120" cy="93268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資料來源</a:t>
            </a:r>
            <a:r>
              <a:rPr sz="1200" b="0">
                <a:solidFill>
                  <a:srgbClr val="1E1E1E"/>
                </a:solidFill>
                <a:latin typeface="Microsoft JhengHei"/>
              </a:rPr>
              <a:t>：由 Gemini Deep Research 彙整公開資料，所有數字與日期放進提案前都要回原文核對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52928"/>
            <a:ext cx="5532120" cy="93268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單一來源待驗證</a:t>
            </a:r>
            <a:r>
              <a:rPr sz="1200" b="0">
                <a:solidFill>
                  <a:srgbClr val="1E1E1E"/>
                </a:solidFill>
                <a:latin typeface="Microsoft JhengHei"/>
              </a:rPr>
              <a:t>：Celent 22% 計畫部署代理型 AI、亞太深偽網路險理賠 +233%、嵌入式保險市場規模、AI 精算定價 +30% 效率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877056"/>
            <a:ext cx="5532120" cy="93268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點名台灣同業</a:t>
            </a:r>
            <a:r>
              <a:rPr sz="1200" b="0">
                <a:solidFill>
                  <a:srgbClr val="1E1E1E"/>
                </a:solidFill>
                <a:latin typeface="Microsoft JhengHei"/>
              </a:rPr>
              <a:t>：報告引用的國內保險公司資訊來自公開新聞，僅供內部討論，對外不點名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901184"/>
            <a:ext cx="5532120" cy="93268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獨立性</a:t>
            </a:r>
            <a:r>
              <a:rPr sz="1200" b="0">
                <a:solidFill>
                  <a:srgbClr val="1E1E1E"/>
                </a:solidFill>
                <a:latin typeface="Microsoft JhengHei"/>
              </a:rPr>
              <a:t>：聯合查核、第三方 AI 認證涉及確信角色，推動前先與 Risk &amp; Quality 確認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附錄：主要來源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11384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7383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來源（發布日期）</a:t>
                      </a:r>
                    </a:p>
                  </a:txBody>
                  <a:tcPr marL="54864" marR="54864" marT="32004" marB="32004">
                    <a:solidFill>
                      <a:srgbClr val="FD510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監理機關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金管會《金融業運用 AI 指引》（2024-08）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金管會《保險業作業委託他人處理應注意事項》修正（2024-08）；內部作業制度及程序辦法草案（2025-10 預告）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產壽險公會《保險業使用雲端服務自律規範》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NAIC AI Model Bulletin 實施追蹤（2026-04）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MAS AI 風險管理指引（2025-11）；香港保監局 AI Cohort（2025-08）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產業研究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Gallagher Re《Global InsurTech Report Q1 2026》（2026-05）、Q2 2026（2026-08）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Swiss Re SONAR 2025（2025-06）；參數型洪水保險（2026-03）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Celent Model Insurer 2025／2026；Shedding Light on Agentic AI（2025-05）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Armilla AI；Munich Re《Insuring Generative AI》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顧問與事務所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McKinsey：Agentic AI 核心現代化（2026-04）、UWOS（2026-06）、SaaS in the age of agentic AI（2026-10）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Bain：Reimagining Insurance for the AI Era（2026）、How to Architect for Agentic AI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Deloitte：Agentic AI Blueprint for Insurance；亞太壽險論文（2026-05）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EY：EY Nexus for Insurance；AI Risk and Governance Survey（2026-09）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PwC Taiwan：IFRS 17 關鍵議題（2025-11）、首份 IFRS 17 財報導讀（2026）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媒體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Insurance Journal（2025-11）；工商時報（2024-06、2024-08、2025-09、2026-01、2026-02、2026-05）；Insurance Innovation Reporter（2026-06）</a:t>
                      </a:r>
                    </a:p>
                  </a:txBody>
                  <a:tcPr marL="54864" marR="54864" marT="32004" marB="32004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6035040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完整連結見研究報告原文。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