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ajg.com/gallagherre/news-and-insights/global-insurtech-report-q1-2026/" TargetMode="External"/><Relationship Id="rId3" Type="http://schemas.openxmlformats.org/officeDocument/2006/relationships/hyperlink" Target="https://amp.claimsjournal.com/news/national/2025/11/17/334094.htm" TargetMode="External"/><Relationship Id="rId4" Type="http://schemas.openxmlformats.org/officeDocument/2006/relationships/hyperlink" Target="https://www.bain.com/ko/results/reimagining-insurance-for-the-ai-era" TargetMode="External"/><Relationship Id="rId5" Type="http://schemas.openxmlformats.org/officeDocument/2006/relationships/hyperlink" Target="https://www.insurancebusinessmag.com/reinsurance/news/breaking-news/ai-startups-capture-record-95-2-of-insurtech-funding--gallagher-re-574376.aspx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fsc.gov.tw/websitedowndoc?file=chfsc/202408231741530.pdf" TargetMode="External"/><Relationship Id="rId3" Type="http://schemas.openxmlformats.org/officeDocument/2006/relationships/hyperlink" Target="https://www.fsc.gov.tw/ch/home.jsp?id=96&amp;parentpath=0,2&amp;mcustomize=news_view.jsp&amp;dataserno=202408200001" TargetMode="External"/><Relationship Id="rId4" Type="http://schemas.openxmlformats.org/officeDocument/2006/relationships/hyperlink" Target="https://www.leeandli.com/TW/Newsletters/7525.htm" TargetMode="External"/><Relationship Id="rId5" Type="http://schemas.openxmlformats.org/officeDocument/2006/relationships/hyperlink" Target="https://www.pwc.tw/zh/topics/trends/ifrs-17-key-issues.html" TargetMode="External"/><Relationship Id="rId6" Type="http://schemas.openxmlformats.org/officeDocument/2006/relationships/hyperlink" Target="https://www.fenwick.com/insights/publications/naic-expands-ai-systems-evaluation-tool-pilot-program-to-12-states-key-updates-for-insurers-and-ai-vendors-supporting-insurers" TargetMode="External"/><Relationship Id="rId7" Type="http://schemas.openxmlformats.org/officeDocument/2006/relationships/hyperlink" Target="https://www.mas.gov.sg/regulation/guidelines/guidelines-on-artificial-intelligence-risk-management-for-financial-institutions" TargetMode="External"/><Relationship Id="rId8" Type="http://schemas.openxmlformats.org/officeDocument/2006/relationships/hyperlink" Target="https://www.leeandli.com/TW/Newsletters/7287.htm" TargetMode="External"/><Relationship Id="rId9" Type="http://schemas.openxmlformats.org/officeDocument/2006/relationships/hyperlink" Target="https://law.lia-roc.org.tw/Law/GetFile/0000419987" TargetMode="External"/><Relationship Id="rId10" Type="http://schemas.openxmlformats.org/officeDocument/2006/relationships/hyperlink" Target="https://content.naic.org/cmte_h_bdaiwg.ht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hyperlink" Target="https://www.mckinsey.com/industries/financial-services/our-insights/insurance-blog/the-future-underwriting-operating-system-from-inbox-to-ai-nerve-center" TargetMode="External"/><Relationship Id="rId3" Type="http://schemas.openxmlformats.org/officeDocument/2006/relationships/hyperlink" Target="https://www.mckinsey.com/industries/financial-services/our-insights/can-agentic-ai-finally-modernize-core-technologies-in-insurance" TargetMode="External"/><Relationship Id="rId4" Type="http://schemas.openxmlformats.org/officeDocument/2006/relationships/hyperlink" Target="https://www.bcg.com/assets/2026/white-paper-competitive-advantage-in-the-agentic-ai-era-ap-insurers.pdf" TargetMode="External"/><Relationship Id="rId5" Type="http://schemas.openxmlformats.org/officeDocument/2006/relationships/hyperlink" Target="https://www.bcg.com/assets/2026/executive-perspectives-ai-first-companies-win-the-future-property-casualty-insurance.pdf" TargetMode="External"/><Relationship Id="rId6" Type="http://schemas.openxmlformats.org/officeDocument/2006/relationships/hyperlink" Target="https://www.bain.com/ko/results/reimagining-insurance-for-the-ai-era" TargetMode="External"/><Relationship Id="rId7" Type="http://schemas.openxmlformats.org/officeDocument/2006/relationships/hyperlink" Target="https://www.bain.com/it/about-bain/media-center/press-releases/2024/$50-billion-opportunity-emerges-for-insurers-worldwide-from-generative-ais-potential-to-boost-revenues-and-take-out-costs/" TargetMode="External"/><Relationship Id="rId8" Type="http://schemas.openxmlformats.org/officeDocument/2006/relationships/hyperlink" Target="https://www.deloitte.com/global/en/what-we-do/capabilities/agentic-ai-blueprint-for-insurance.html" TargetMode="External"/><Relationship Id="rId9" Type="http://schemas.openxmlformats.org/officeDocument/2006/relationships/hyperlink" Target="https://www.deloitte.com/ap/en/perspectives/agentic-ai-scale-for-life-insurers-in-apac.html" TargetMode="External"/><Relationship Id="rId10" Type="http://schemas.openxmlformats.org/officeDocument/2006/relationships/hyperlink" Target="https://www.ey.com/en_us/insurance/nexus" TargetMode="External"/><Relationship Id="rId11" Type="http://schemas.openxmlformats.org/officeDocument/2006/relationships/hyperlink" Target="https://kpmg.com/au/en/insights/artificial-intelligence-ai/intelligent-insurance.html" TargetMode="External"/><Relationship Id="rId12" Type="http://schemas.openxmlformats.org/officeDocument/2006/relationships/hyperlink" Target="https://kpmg.com/ca/en/insights/2024/11/you-can-build-trust-with-ai.html" TargetMode="External"/><Relationship Id="rId13" Type="http://schemas.openxmlformats.org/officeDocument/2006/relationships/hyperlink" Target="https://www.pwc.nl/en/services/artificial-intelligence/agent-os.html" TargetMode="External"/><Relationship Id="rId14" Type="http://schemas.openxmlformats.org/officeDocument/2006/relationships/hyperlink" Target="https://www.pwc.tw/zh/topics/trends/ifrs-17-key-issues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重點摘要：保險 AI 已進入規模化，建議第一波先推 IFRS 17 與 AI 治理兩項服務包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3566160" cy="14447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35024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Microsoft JhengHei"/>
              </a:rPr>
              <a:t>95.2%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2026 Q1 全球保險科技募資流向 AI 企業的比例（歷史新高）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14015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Gallagher Re, 2026-05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52928"/>
            <a:ext cx="3566160" cy="144475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07792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D5108"/>
                </a:solidFill>
                <a:latin typeface="Microsoft JhengHei"/>
              </a:rPr>
              <a:t>57%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11296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保險高階主管把生成式與代理型 AI 列為 2026 首要科技投資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86784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PwC 調查, 2025-11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4425696"/>
            <a:ext cx="3566160" cy="1444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480559"/>
            <a:ext cx="3291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</a:rPr>
              <a:t>95%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84064"/>
            <a:ext cx="32918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Microsoft JhengHei"/>
              </a:rPr>
              <a:t>投資 AI 但尚未看到可衡量回報的企業（跨產業）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559552"/>
            <a:ext cx="32918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 u="sng">
                <a:solidFill>
                  <a:srgbClr val="FFFFFF"/>
                </a:solidFill>
                <a:latin typeface="Microsoft JhengHei"/>
                <a:hlinkClick r:id="rId4"/>
              </a:rPr>
              <a:t>Bain 引述 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1280160"/>
            <a:ext cx="758952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情境　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資金與預算全面轉向 AI，保險業已從試點走向規模化。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衝突　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多數投資還看不到回報；台灣同時面對 IFRS 17／TW-ICS 首年出表與 AI 治理要求。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395728"/>
            <a:ext cx="758952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建議　</a:t>
            </a:r>
            <a:r>
              <a:rPr sz="1350" b="1">
                <a:solidFill>
                  <a:srgbClr val="FFFFFF"/>
                </a:solidFill>
                <a:latin typeface="Microsoft JhengHei"/>
              </a:rPr>
              <a:t>第一波先推 ① IFRS 17／TW-ICS 後財務轉型　② AI 清冊、模型驗證與護欄；代理型 AI 核保理賠、核心現代化、深偽反詐欺列為第二波。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需求有時限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IFRS 17／TW-ICS 2026-01-01 接軌；委外新辦法 2025-12-31 施行；AI 指引進入落地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59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離既有服務最近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66559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延伸既有駐點團隊與 AI 治理服務，不需新技術夥伴；AI 治理健檢 4–6 週可交付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3337560"/>
            <a:ext cx="2450592" cy="43891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能帶出第二波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0" y="3822191"/>
            <a:ext cx="2450592" cy="12801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財務資料與 AI 治理是代理型 AI、核心現代化的前置條件，可延伸為 1–3 年人力委外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5230368"/>
            <a:ext cx="7589520" cy="68580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Microsoft JhengHei"/>
              </a:rPr>
              <a:t>今天請決定：</a:t>
            </a:r>
            <a:r>
              <a:rPr sz="1200" b="0">
                <a:solidFill>
                  <a:srgbClr val="1E1E1E"/>
                </a:solidFill>
                <a:latin typeface="Microsoft JhengHei"/>
              </a:rPr>
              <a:t>同意第一波兩項服務，並各指派 1 位負責人。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Gallagher Re Global InsurTech Report Q1 2026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Insurance Business 報導（95.2%）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PwC 保險高階主管調查（Claims Journal）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Bain：Reimagining Insurance for the AI 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為什麼是這兩項：台灣監理時程已經確定，而且兩項服務離我們的既有能力最近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1920240"/>
            <a:ext cx="11109960" cy="0"/>
          </a:xfrm>
          <a:prstGeom prst="line">
            <a:avLst/>
          </a:prstGeom>
          <a:ln w="317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/>
          <p:cNvSpPr/>
          <p:nvPr/>
        </p:nvSpPr>
        <p:spPr>
          <a:xfrm>
            <a:off x="1225295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2024-06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金管會《金融業運用 AI 指引》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原文</a:t>
            </a:r>
          </a:p>
        </p:txBody>
      </p:sp>
      <p:sp>
        <p:nvSpPr>
          <p:cNvPr id="7" name="Oval 6"/>
          <p:cNvSpPr/>
          <p:nvPr/>
        </p:nvSpPr>
        <p:spPr>
          <a:xfrm>
            <a:off x="3118103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2350008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2024-08</a:t>
            </a:r>
          </a:p>
        </p:txBody>
      </p:sp>
      <p:sp>
        <p:nvSpPr>
          <p:cNvPr id="9" name="Rectangle 8"/>
          <p:cNvSpPr/>
          <p:nvPr/>
        </p:nvSpPr>
        <p:spPr>
          <a:xfrm>
            <a:off x="2350008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委外注意事項修正：放寬雲端聯合查核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原文</a:t>
            </a:r>
          </a:p>
        </p:txBody>
      </p:sp>
      <p:sp>
        <p:nvSpPr>
          <p:cNvPr id="10" name="Oval 9"/>
          <p:cNvSpPr/>
          <p:nvPr/>
        </p:nvSpPr>
        <p:spPr>
          <a:xfrm>
            <a:off x="5010912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242816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2025-12-31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2816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委外新辦法施行，提升為法規命令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原文</a:t>
            </a:r>
          </a:p>
        </p:txBody>
      </p:sp>
      <p:sp>
        <p:nvSpPr>
          <p:cNvPr id="13" name="Oval 12"/>
          <p:cNvSpPr/>
          <p:nvPr/>
        </p:nvSpPr>
        <p:spPr>
          <a:xfrm>
            <a:off x="6903719" y="1792224"/>
            <a:ext cx="256032" cy="25603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135623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Microsoft JhengHei"/>
              </a:rPr>
              <a:t>2026-01-01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35623" y="2176272"/>
            <a:ext cx="1792224" cy="8686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IFRS 17／TW-ICS 正式接軌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原文</a:t>
            </a:r>
          </a:p>
        </p:txBody>
      </p:sp>
      <p:sp>
        <p:nvSpPr>
          <p:cNvPr id="16" name="Oval 15"/>
          <p:cNvSpPr/>
          <p:nvPr/>
        </p:nvSpPr>
        <p:spPr>
          <a:xfrm>
            <a:off x="8796528" y="1792224"/>
            <a:ext cx="256032" cy="256032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1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6B6B6B"/>
                </a:solidFill>
                <a:latin typeface="Microsoft JhengHei"/>
              </a:rPr>
              <a:t>2026-03～09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8431" y="2176272"/>
            <a:ext cx="1792224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NAIC 12 州 AI 評估工具試點（美國）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6"/>
              </a:rPr>
              <a:t>原文</a:t>
            </a:r>
          </a:p>
        </p:txBody>
      </p:sp>
      <p:sp>
        <p:nvSpPr>
          <p:cNvPr id="19" name="Oval 18"/>
          <p:cNvSpPr/>
          <p:nvPr/>
        </p:nvSpPr>
        <p:spPr>
          <a:xfrm>
            <a:off x="10689336" y="1792224"/>
            <a:ext cx="256032" cy="256032"/>
          </a:xfrm>
          <a:prstGeom prst="ellipse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icrosoft JhengHei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9921240" y="1261872"/>
            <a:ext cx="1792224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250" b="1">
                <a:solidFill>
                  <a:srgbClr val="6B6B6B"/>
                </a:solidFill>
                <a:latin typeface="Microsoft JhengHei"/>
              </a:rPr>
              <a:t>2026-10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21240" y="2176272"/>
            <a:ext cx="1792224" cy="86868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4008" rIns="64008" tIns="64008" bIns="64008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1E1E1E"/>
                </a:solidFill>
                <a:latin typeface="Microsoft JhengHei"/>
              </a:rPr>
              <a:t>MAS AI 風險管理指引定稿（新加坡）</a:t>
            </a:r>
          </a:p>
          <a:p>
            <a:pPr algn="ctr">
              <a:spcAft>
                <a:spcPts val="200"/>
              </a:spcAft>
            </a:pPr>
            <a:r>
              <a:rPr sz="900" b="0" u="sng">
                <a:solidFill>
                  <a:srgbClr val="1F5FBF"/>
                </a:solidFill>
                <a:latin typeface="Microsoft JhengHei"/>
                <a:hlinkClick r:id="rId7"/>
              </a:rPr>
              <a:t>原文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2724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時間軸：橘色為台灣監理事件，灰色為國際標竿。　評等：● 有利　◐ 中等　○ 不利，為團隊依研究報告判斷，請會議校準。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56432"/>
            <a:ext cx="3072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服務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2044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需求迫切度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離既有服務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3456432"/>
            <a:ext cx="1197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首案週期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23760" y="3456432"/>
            <a:ext cx="3483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切入案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44200" y="3456432"/>
            <a:ext cx="969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建議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858768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IFRS 17／TW-ICS 後財務轉型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2044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89320" y="3858768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858768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首年結帳瓶頸診斷＋CSM 儀表板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44200" y="3858768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288536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AI 清冊、模型驗證與護欄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2044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4288536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23760" y="4288536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4–6 週 AI 清冊盤點與合規健檢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744200" y="4288536"/>
            <a:ext cx="969264" cy="39319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第一波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718304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代理型 AI 核保與理賠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2044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●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75488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4718304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23760" y="4718304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6–8 週單一險種工作流藍圖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4200" y="4718304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148072"/>
            <a:ext cx="307238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AI 加速核心現代化與雲端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2044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75488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89320" y="5148072"/>
            <a:ext cx="1197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3760" y="5148072"/>
            <a:ext cx="3483864" cy="3931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雲端委外合規評估或 AI 重寫 PoC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744200" y="5148072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577840"/>
            <a:ext cx="307238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E1E1E"/>
                </a:solidFill>
                <a:latin typeface="Microsoft JhengHei"/>
              </a:rPr>
              <a:t>深偽理賠反詐欺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75488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○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577840"/>
            <a:ext cx="1197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FD5108"/>
                </a:solidFill>
                <a:latin typeface="Microsoft JhengHei"/>
              </a:rPr>
              <a:t>◐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23760" y="5577840"/>
            <a:ext cx="3483864" cy="393192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1E1E1E"/>
                </a:solidFill>
                <a:latin typeface="Microsoft JhengHei"/>
              </a:rPr>
              <a:t>車損照片／醫療單據偽造偵測 PoC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44200" y="5577840"/>
            <a:ext cx="969264" cy="393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Microsoft JhengHei"/>
              </a:rPr>
              <a:t>第二波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6053328"/>
            <a:ext cx="113842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6B6B6B"/>
                </a:solidFill>
                <a:latin typeface="Microsoft JhengHei"/>
              </a:rPr>
              <a:t>來源：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2"/>
              </a:rPr>
              <a:t>金管會 AI 指引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8"/>
              </a:rPr>
              <a:t>理律：AI 指引解析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3"/>
              </a:rPr>
              <a:t>金管會委外修正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4"/>
              </a:rPr>
              <a:t>理律：委外新辦法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9"/>
              </a:rPr>
              <a:t>公會雲端自律規範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5"/>
              </a:rPr>
              <a:t>資誠 IFRS 17 關鍵議題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10"/>
              </a:rPr>
              <a:t>NAIC 工作小組</a:t>
            </a:r>
            <a:r>
              <a:rPr sz="900" b="0">
                <a:solidFill>
                  <a:srgbClr val="6B6B6B"/>
                </a:solidFill>
                <a:latin typeface="Microsoft JhengHei"/>
              </a:rPr>
              <a:t>　</a:t>
            </a:r>
            <a:r>
              <a:rPr sz="900" b="0" u="sng">
                <a:solidFill>
                  <a:srgbClr val="1F5FBF"/>
                </a:solidFill>
                <a:latin typeface="Microsoft JhengHei"/>
                <a:hlinkClick r:id="rId7"/>
              </a:rPr>
              <a:t>MAS AI 指引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Microsoft JhengHei"/>
              </a:rPr>
              <a:t>MBB 與四大都在推代理型 AI 藍圖或平台；我們的空間在在地確信、IFRS 17 資料與駐點人力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280160"/>
            <a:ext cx="128930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機構</a:t>
            </a:r>
          </a:p>
        </p:txBody>
      </p:sp>
      <p:sp>
        <p:nvSpPr>
          <p:cNvPr id="4" name="Rectangle 3"/>
          <p:cNvSpPr/>
          <p:nvPr/>
        </p:nvSpPr>
        <p:spPr>
          <a:xfrm>
            <a:off x="1737360" y="1280160"/>
            <a:ext cx="416966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保險 AI 主力產品／方法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0" y="1280160"/>
            <a:ext cx="1837943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主攻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280160"/>
            <a:ext cx="247802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可能侷限（推論）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10332720" y="1280160"/>
            <a:ext cx="142646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官網／原文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64207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McKinsey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664207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核保作業系統 UWOS：45 項能力、6 大領域；代理型 AI 核心現代化（原子化代理能力庫）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64207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商業與專業險核保、核心重寫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18120" y="1664207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在台缺在地法規確信與長期駐點人力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332720" y="1664207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2"/>
              </a:rPr>
              <a:t>UWOS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3"/>
              </a:rPr>
              <a:t>核心現代化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67712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BCG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267712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「AI-First 產險公司」三階段藍圖；亞太保險代理型 AI 白皮書（資源 70% 放在人與變革）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0" y="2267712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策略藍圖、組織變革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18120" y="2267712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偏策略與變革設計，系統落地多需另找夥伴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267712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4"/>
              </a:rPr>
              <a:t>亞太白皮書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5"/>
              </a:rPr>
              <a:t>產險藍圖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871215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Bain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MBB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2871215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亞太保險公司以 AI 重塑理賠與客服案例；保險通路 GenAI 年效益逾 500 億美元（2024）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871215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理賠、客服、通路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18120" y="2871215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在台交付規模較小，大型核心導入人力有限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332720" y="2871215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6"/>
              </a:rPr>
              <a:t>案例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7"/>
              </a:rPr>
              <a:t>通路研究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11480" y="3456432"/>
            <a:ext cx="11384280" cy="0"/>
          </a:xfrm>
          <a:prstGeom prst="line">
            <a:avLst/>
          </a:prstGeom>
          <a:ln w="19050">
            <a:solidFill>
              <a:srgbClr val="FD510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11480" y="3474720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Deloitte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737360" y="3474720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Agentic AI Blueprint for Insurance：產險／壽險分類，評估→設計→試點→規模化，預建＋客製代理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474720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全價值鏈代理型 AI 轉型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474720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預建代理套到台灣客製化舊核心與繁中條款需調適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32720" y="3474720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8"/>
              </a:rPr>
              <a:t>Blueprint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9"/>
              </a:rPr>
              <a:t>亞太壽險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078224"/>
            <a:ext cx="128930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EY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737360" y="4078224"/>
            <a:ext cx="416966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EY Nexus for Insurance：雲原生平台，快速推出新商品與品牌，串接 650+ 保險科技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0" y="4078224"/>
            <a:ext cx="1837943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新商品、嵌入式通路、核心延伸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18120" y="4078224"/>
            <a:ext cx="247802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偏新業務上線，舊核心遷移與 IFRS 17 整合難只靠平台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332720" y="4078224"/>
            <a:ext cx="1426464" cy="566928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0"/>
              </a:rPr>
              <a:t>Nexus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681728"/>
            <a:ext cx="12893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E1E1E"/>
                </a:solidFill>
                <a:latin typeface="Microsoft JhengHei"/>
              </a:rPr>
              <a:t>KPMG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37360" y="4681728"/>
            <a:ext cx="416966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Intelligent Insurance：AI 價值三階段導入；Trusted AI 十大支柱治理框架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4681728"/>
            <a:ext cx="1837943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AI 導入路徑與治理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4681728"/>
            <a:ext cx="2478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公開資料未見保險專屬代理型產品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32720" y="4681728"/>
            <a:ext cx="142646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1"/>
              </a:rPr>
              <a:t>Intelligent Insurance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2"/>
              </a:rPr>
              <a:t>Trusted 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85231"/>
            <a:ext cx="128930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Microsoft JhengHei"/>
              </a:rPr>
              <a:t>PwC（所內）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四大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737360" y="5285231"/>
            <a:ext cx="416966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Agent OS 代理編排平台（跨廠商串接、權限控管、監督儀表板）；IFRS 17／TW-ICS 與 AI 治理服務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5285231"/>
            <a:ext cx="1837943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治理＋財務資料＋落地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18120" y="5285231"/>
            <a:ext cx="247802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1E1E1E"/>
                </a:solidFill>
                <a:latin typeface="Microsoft JhengHei"/>
              </a:rPr>
              <a:t>可協作：把 Agent OS 與確信能力帶進第一波服務包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332720" y="5285231"/>
            <a:ext cx="1426464" cy="56692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3"/>
              </a:rPr>
              <a:t>Agent OS</a:t>
            </a:r>
          </a:p>
          <a:p>
            <a:pPr algn="l">
              <a:spcAft>
                <a:spcPts val="200"/>
              </a:spcAft>
            </a:pPr>
            <a:r>
              <a:rPr sz="950" b="0" u="sng">
                <a:solidFill>
                  <a:srgbClr val="1F5FBF"/>
                </a:solidFill>
                <a:latin typeface="Microsoft JhengHei"/>
                <a:hlinkClick r:id="rId14"/>
              </a:rPr>
              <a:t>IFRS 17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5925312"/>
            <a:ext cx="1138428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「可能侷限」為依公開資料的推論，僅供內部討論，對外勿點名競爭者。點選右欄可開啟各機構官網或原文。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