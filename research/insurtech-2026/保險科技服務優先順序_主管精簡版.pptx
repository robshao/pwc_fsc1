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ajg.com/gallagherre/news-and-insights/global-insurtech-report-q1-2026/" TargetMode="External"/><Relationship Id="rId3" Type="http://schemas.openxmlformats.org/officeDocument/2006/relationships/hyperlink" Target="https://amp.claimsjournal.com/news/national/2025/11/17/334094.htm" TargetMode="External"/><Relationship Id="rId4" Type="http://schemas.openxmlformats.org/officeDocument/2006/relationships/hyperlink" Target="https://www.bain.com/ko/results/reimagining-insurance-for-the-ai-era" TargetMode="External"/><Relationship Id="rId5" Type="http://schemas.openxmlformats.org/officeDocument/2006/relationships/hyperlink" Target="https://www.insurancebusinessmag.com/reinsurance/news/breaking-news/ai-startups-capture-record-95-2-of-insurtech-funding--gallagher-re-574376.asp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fsc.gov.tw/websitedowndoc?file=chfsc/202408231741530.pdf" TargetMode="External"/><Relationship Id="rId3" Type="http://schemas.openxmlformats.org/officeDocument/2006/relationships/hyperlink" Target="https://www.fsc.gov.tw/ch/home.jsp?id=96&amp;parentpath=0,2&amp;mcustomize=news_view.jsp&amp;dataserno=202408200001" TargetMode="External"/><Relationship Id="rId4" Type="http://schemas.openxmlformats.org/officeDocument/2006/relationships/hyperlink" Target="https://www.leeandli.com/TW/Newsletters/7525.htm" TargetMode="External"/><Relationship Id="rId5" Type="http://schemas.openxmlformats.org/officeDocument/2006/relationships/hyperlink" Target="https://www.pwc.tw/zh/topics/trends/ifrs-17-key-issues.html" TargetMode="External"/><Relationship Id="rId6" Type="http://schemas.openxmlformats.org/officeDocument/2006/relationships/hyperlink" Target="https://www.fenwick.com/insights/publications/naic-expands-ai-systems-evaluation-tool-pilot-program-to-12-states-key-updates-for-insurers-and-ai-vendors-supporting-insurers" TargetMode="External"/><Relationship Id="rId7" Type="http://schemas.openxmlformats.org/officeDocument/2006/relationships/hyperlink" Target="https://www.mas.gov.sg/regulation/guidelines/guidelines-on-artificial-intelligence-risk-management-for-financial-institutions" TargetMode="External"/><Relationship Id="rId8" Type="http://schemas.openxmlformats.org/officeDocument/2006/relationships/hyperlink" Target="https://www.leeandli.com/TW/Newsletters/7287.htm" TargetMode="External"/><Relationship Id="rId9" Type="http://schemas.openxmlformats.org/officeDocument/2006/relationships/hyperlink" Target="https://law.lia-roc.org.tw/Law/GetFile/0000419987" TargetMode="External"/><Relationship Id="rId10" Type="http://schemas.openxmlformats.org/officeDocument/2006/relationships/hyperlink" Target="https://content.naic.org/cmte_h_bdaiwg.ht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mckinsey.com/industries/financial-services/our-insights/can-agentic-ai-finally-modernize-core-technologies-in-insurance" TargetMode="External"/><Relationship Id="rId3" Type="http://schemas.openxmlformats.org/officeDocument/2006/relationships/hyperlink" Target="https://www.deloitte.com/ap/en/about/press-room/deloitte-launches-new-paper-on-scaling-agentic-ai-in-life-insurance.html" TargetMode="External"/><Relationship Id="rId4" Type="http://schemas.openxmlformats.org/officeDocument/2006/relationships/hyperlink" Target="https://www.pwc.tw/zh/topics/trends/ifrs-17-key-issues.html" TargetMode="External"/><Relationship Id="rId5" Type="http://schemas.openxmlformats.org/officeDocument/2006/relationships/hyperlink" Target="https://www.mas.gov.sg/regulation/guidelines/guidelines-on-artificial-intelligence-risk-management-for-financial-institution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重點摘要：保險 AI 已進入規模化，建議第一波先推 IFRS 17 與 AI 治理兩項服務包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3566160" cy="14447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35024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Microsoft JhengHei"/>
              </a:rPr>
              <a:t>95.2%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38528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2026 Q1 全球保險科技募資流向 AI 企業的比例（歷史新高）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14015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 u="sng">
                <a:solidFill>
                  <a:srgbClr val="1F5FBF"/>
                </a:solidFill>
                <a:latin typeface="Microsoft JhengHei"/>
                <a:hlinkClick r:id="rId2"/>
              </a:rPr>
              <a:t>Gallagher Re, 2026-05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852928"/>
            <a:ext cx="3566160" cy="14447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07792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Microsoft JhengHei"/>
              </a:rPr>
              <a:t>57%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11296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保險高階主管把生成式與代理型 AI 列為 2026 首要科技投資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86784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 u="sng">
                <a:solidFill>
                  <a:srgbClr val="1F5FBF"/>
                </a:solidFill>
                <a:latin typeface="Microsoft JhengHei"/>
                <a:hlinkClick r:id="rId3"/>
              </a:rPr>
              <a:t>PwC 調查, 2025-11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425696"/>
            <a:ext cx="3566160" cy="14447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0559"/>
            <a:ext cx="329184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95%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84064"/>
            <a:ext cx="32918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Microsoft JhengHei"/>
              </a:rPr>
              <a:t>投資 AI 但尚未看到可衡量回報的企業（跨產業）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59552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 u="sng">
                <a:solidFill>
                  <a:srgbClr val="FFFFFF"/>
                </a:solidFill>
                <a:latin typeface="Microsoft JhengHei"/>
                <a:hlinkClick r:id="rId4"/>
              </a:rPr>
              <a:t>Bain 引述 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758952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情境　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資金與預算全面轉向 AI，保險業已從試點走向規模化。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衝突　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多數投資還看不到回報；台灣同時面對 IFRS 17／TW-ICS 首年出表與 AI 治理要求。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395728"/>
            <a:ext cx="7589520" cy="8229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建議　</a:t>
            </a:r>
            <a:r>
              <a:rPr sz="1350" b="1">
                <a:solidFill>
                  <a:srgbClr val="FFFFFF"/>
                </a:solidFill>
                <a:latin typeface="Microsoft JhengHei"/>
              </a:rPr>
              <a:t>第一波先推 ① IFRS 17／TW-ICS 後財務轉型　② AI 清冊、模型驗證與護欄；代理型 AI 核保理賠、核心現代化、深偽反詐欺列為第二波。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337560"/>
            <a:ext cx="2450592" cy="43891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需求有時限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822191"/>
            <a:ext cx="2450592" cy="1280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IFRS 17／TW-ICS 2026-01-01 接軌；委外新辦法 2025-12-31 施行；AI 指引進入落地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59" y="3337560"/>
            <a:ext cx="2450592" cy="43891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離既有服務最近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59" y="3822191"/>
            <a:ext cx="2450592" cy="1280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延伸既有駐點團隊與 AI 治理服務，不需新技術夥伴；AI 治理健檢 4–6 週可交付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3337560"/>
            <a:ext cx="2450592" cy="43891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能帶出第二波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822191"/>
            <a:ext cx="2450592" cy="1280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財務資料與 AI 治理是代理型 AI、核心現代化的前置條件，可延伸為 1–3 年人力委外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5230368"/>
            <a:ext cx="7589520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今天請決定：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同意第一波兩項服務、各指派 1 位負責人、核定 90 天計畫（第 4／8／12 週檢查）。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053328"/>
            <a:ext cx="1138428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6B6B"/>
                </a:solidFill>
                <a:latin typeface="Microsoft JhengHei"/>
              </a:rPr>
              <a:t>來源：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2"/>
              </a:rPr>
              <a:t>Gallagher Re Global InsurTech Report Q1 2026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5"/>
              </a:rPr>
              <a:t>Insurance Business 報導（95.2%）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3"/>
              </a:rPr>
              <a:t>PwC 保險高階主管調查（Claims Journal）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4"/>
              </a:rPr>
              <a:t>Bain：Reimagining Insurance for the AI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為什麼是這兩項：台灣監理時程已經確定，而且兩項服務離我們的既有能力最近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920240"/>
            <a:ext cx="11109960" cy="0"/>
          </a:xfrm>
          <a:prstGeom prst="line">
            <a:avLst/>
          </a:prstGeom>
          <a:ln w="317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25295" y="1792224"/>
            <a:ext cx="256032" cy="25603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7922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2024-06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76272"/>
            <a:ext cx="1792224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金管會《金融業運用 AI 指引》</a:t>
            </a:r>
          </a:p>
          <a:p>
            <a:pPr algn="ctr">
              <a:spcAft>
                <a:spcPts val="200"/>
              </a:spcAft>
            </a:pPr>
            <a:r>
              <a:rPr sz="900" b="0" u="sng">
                <a:solidFill>
                  <a:srgbClr val="1F5FBF"/>
                </a:solidFill>
                <a:latin typeface="Microsoft JhengHei"/>
                <a:hlinkClick r:id="rId2"/>
              </a:rPr>
              <a:t>原文</a:t>
            </a:r>
          </a:p>
        </p:txBody>
      </p:sp>
      <p:sp>
        <p:nvSpPr>
          <p:cNvPr id="7" name="Oval 6"/>
          <p:cNvSpPr/>
          <p:nvPr/>
        </p:nvSpPr>
        <p:spPr>
          <a:xfrm>
            <a:off x="3118103" y="1792224"/>
            <a:ext cx="256032" cy="25603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350008" y="1261872"/>
            <a:ext cx="17922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2024-08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0008" y="2176272"/>
            <a:ext cx="1792224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委外注意事項修正：放寬雲端聯合查核</a:t>
            </a:r>
          </a:p>
          <a:p>
            <a:pPr algn="ctr">
              <a:spcAft>
                <a:spcPts val="200"/>
              </a:spcAft>
            </a:pPr>
            <a:r>
              <a:rPr sz="900" b="0" u="sng">
                <a:solidFill>
                  <a:srgbClr val="1F5FBF"/>
                </a:solidFill>
                <a:latin typeface="Microsoft JhengHei"/>
                <a:hlinkClick r:id="rId3"/>
              </a:rPr>
              <a:t>原文</a:t>
            </a:r>
          </a:p>
        </p:txBody>
      </p:sp>
      <p:sp>
        <p:nvSpPr>
          <p:cNvPr id="10" name="Oval 9"/>
          <p:cNvSpPr/>
          <p:nvPr/>
        </p:nvSpPr>
        <p:spPr>
          <a:xfrm>
            <a:off x="5010912" y="1792224"/>
            <a:ext cx="256032" cy="25603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261872"/>
            <a:ext cx="17922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2025-12-31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2176272"/>
            <a:ext cx="1792224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委外新辦法施行，提升為法規命令</a:t>
            </a:r>
          </a:p>
          <a:p>
            <a:pPr algn="ctr">
              <a:spcAft>
                <a:spcPts val="200"/>
              </a:spcAft>
            </a:pPr>
            <a:r>
              <a:rPr sz="900" b="0" u="sng">
                <a:solidFill>
                  <a:srgbClr val="1F5FBF"/>
                </a:solidFill>
                <a:latin typeface="Microsoft JhengHei"/>
                <a:hlinkClick r:id="rId4"/>
              </a:rPr>
              <a:t>原文</a:t>
            </a:r>
          </a:p>
        </p:txBody>
      </p:sp>
      <p:sp>
        <p:nvSpPr>
          <p:cNvPr id="13" name="Oval 12"/>
          <p:cNvSpPr/>
          <p:nvPr/>
        </p:nvSpPr>
        <p:spPr>
          <a:xfrm>
            <a:off x="6903719" y="1792224"/>
            <a:ext cx="256032" cy="25603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3" y="1261872"/>
            <a:ext cx="17922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2026-01-01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3" y="2176272"/>
            <a:ext cx="1792224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IFRS 17／TW-ICS 正式接軌</a:t>
            </a:r>
          </a:p>
          <a:p>
            <a:pPr algn="ctr">
              <a:spcAft>
                <a:spcPts val="200"/>
              </a:spcAft>
            </a:pPr>
            <a:r>
              <a:rPr sz="900" b="0" u="sng">
                <a:solidFill>
                  <a:srgbClr val="1F5FBF"/>
                </a:solidFill>
                <a:latin typeface="Microsoft JhengHei"/>
                <a:hlinkClick r:id="rId5"/>
              </a:rPr>
              <a:t>原文</a:t>
            </a:r>
          </a:p>
        </p:txBody>
      </p:sp>
      <p:sp>
        <p:nvSpPr>
          <p:cNvPr id="16" name="Oval 15"/>
          <p:cNvSpPr/>
          <p:nvPr/>
        </p:nvSpPr>
        <p:spPr>
          <a:xfrm>
            <a:off x="8796528" y="1792224"/>
            <a:ext cx="256032" cy="256032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1" y="1261872"/>
            <a:ext cx="17922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6B6B6B"/>
                </a:solidFill>
                <a:latin typeface="Microsoft JhengHei"/>
              </a:rPr>
              <a:t>2026-03～09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1" y="2176272"/>
            <a:ext cx="1792224" cy="868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NAIC 12 州 AI 評估工具試點（美國）</a:t>
            </a:r>
          </a:p>
          <a:p>
            <a:pPr algn="ctr">
              <a:spcAft>
                <a:spcPts val="200"/>
              </a:spcAft>
            </a:pPr>
            <a:r>
              <a:rPr sz="900" b="0" u="sng">
                <a:solidFill>
                  <a:srgbClr val="1F5FBF"/>
                </a:solidFill>
                <a:latin typeface="Microsoft JhengHei"/>
                <a:hlinkClick r:id="rId6"/>
              </a:rPr>
              <a:t>原文</a:t>
            </a:r>
          </a:p>
        </p:txBody>
      </p:sp>
      <p:sp>
        <p:nvSpPr>
          <p:cNvPr id="19" name="Oval 18"/>
          <p:cNvSpPr/>
          <p:nvPr/>
        </p:nvSpPr>
        <p:spPr>
          <a:xfrm>
            <a:off x="10689336" y="1792224"/>
            <a:ext cx="256032" cy="256032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261872"/>
            <a:ext cx="17922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6B6B6B"/>
                </a:solidFill>
                <a:latin typeface="Microsoft JhengHei"/>
              </a:rPr>
              <a:t>2026-10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2176272"/>
            <a:ext cx="1792224" cy="868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MAS AI 風險管理指引定稿（新加坡）</a:t>
            </a:r>
          </a:p>
          <a:p>
            <a:pPr algn="ctr">
              <a:spcAft>
                <a:spcPts val="200"/>
              </a:spcAft>
            </a:pPr>
            <a:r>
              <a:rPr sz="900" b="0" u="sng">
                <a:solidFill>
                  <a:srgbClr val="1F5FBF"/>
                </a:solidFill>
                <a:latin typeface="Microsoft JhengHei"/>
                <a:hlinkClick r:id="rId7"/>
              </a:rPr>
              <a:t>原文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127248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時間軸：橘色為台灣監理事件，灰色為國際標竿。　評等：● 有利　◐ 中等　○ 不利，為團隊依研究報告判斷，請會議校準。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56432"/>
            <a:ext cx="30723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服務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456432"/>
            <a:ext cx="1197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需求迫切度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456432"/>
            <a:ext cx="1197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離既有服務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456432"/>
            <a:ext cx="1197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首案週期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456432"/>
            <a:ext cx="3483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切入案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44200" y="3456432"/>
            <a:ext cx="969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建議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858768"/>
            <a:ext cx="307238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1E1E"/>
                </a:solidFill>
                <a:latin typeface="Microsoft JhengHei"/>
              </a:rPr>
              <a:t>IFRS 17／TW-ICS 後財務轉型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3858768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858768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3858768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858768"/>
            <a:ext cx="3483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首年結帳瓶頸診斷＋CSM 儀表板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4200" y="3858768"/>
            <a:ext cx="969264" cy="39319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第一波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288536"/>
            <a:ext cx="307238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1E1E"/>
                </a:solidFill>
                <a:latin typeface="Microsoft JhengHei"/>
              </a:rPr>
              <a:t>AI 清冊、模型驗證與護欄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4288536"/>
            <a:ext cx="119786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4288536"/>
            <a:ext cx="119786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288536"/>
            <a:ext cx="119786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288536"/>
            <a:ext cx="348386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4–6 週 AI 清冊盤點與合規健檢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4200" y="4288536"/>
            <a:ext cx="969264" cy="39319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第一波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718304"/>
            <a:ext cx="307238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1E1E"/>
                </a:solidFill>
                <a:latin typeface="Microsoft JhengHei"/>
              </a:rPr>
              <a:t>代理型 AI 核保與理賠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4718304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4718304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718304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4718304"/>
            <a:ext cx="3483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6–8 週單一險種工作流藍圖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44200" y="4718304"/>
            <a:ext cx="969264" cy="3931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第二波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148072"/>
            <a:ext cx="307238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1E1E"/>
                </a:solidFill>
                <a:latin typeface="Microsoft JhengHei"/>
              </a:rPr>
              <a:t>AI 加速核心現代化與雲端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5148072"/>
            <a:ext cx="119786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5148072"/>
            <a:ext cx="119786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5148072"/>
            <a:ext cx="119786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5148072"/>
            <a:ext cx="3483864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雲端委外合規評估或 AI 重寫 PoC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44200" y="5148072"/>
            <a:ext cx="969264" cy="3931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第二波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577840"/>
            <a:ext cx="307238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E1E1E"/>
                </a:solidFill>
                <a:latin typeface="Microsoft JhengHei"/>
              </a:rPr>
              <a:t>深偽理賠反詐欺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20440" y="5577840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5577840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5577840"/>
            <a:ext cx="1197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FD5108"/>
                </a:solidFill>
                <a:latin typeface="Microsoft JhengHei"/>
              </a:rPr>
              <a:t>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23760" y="5577840"/>
            <a:ext cx="3483864" cy="39319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車損照片／醫療單據偽造偵測 PoC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44200" y="5577840"/>
            <a:ext cx="969264" cy="39319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第二波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6053328"/>
            <a:ext cx="1138428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6B6B"/>
                </a:solidFill>
                <a:latin typeface="Microsoft JhengHei"/>
              </a:rPr>
              <a:t>來源：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2"/>
              </a:rPr>
              <a:t>金管會 AI 指引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8"/>
              </a:rPr>
              <a:t>理律：AI 指引解析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3"/>
              </a:rPr>
              <a:t>金管會委外修正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4"/>
              </a:rPr>
              <a:t>理律：委外新辦法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9"/>
              </a:rPr>
              <a:t>公會雲端自律規範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5"/>
              </a:rPr>
              <a:t>資誠 IFRS 17 關鍵議題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10"/>
              </a:rPr>
              <a:t>NAIC 工作小組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7"/>
              </a:rPr>
              <a:t>MAS AI 指引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90 天內把兩項服務包做成可銷售的提案，今天請決定四件事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0200" y="1280160"/>
            <a:ext cx="3343656" cy="384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 1–4 週｜打包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4998720" y="1280160"/>
            <a:ext cx="3343656" cy="384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 5–8 週｜驗證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7240" y="1280160"/>
            <a:ext cx="3343656" cy="384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 9–12 週｜開賣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1133856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① IFRS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737360"/>
            <a:ext cx="3343656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服務一頁紙、首案範圍與報價區間</a:t>
            </a:r>
          </a:p>
        </p:txBody>
      </p:sp>
      <p:sp>
        <p:nvSpPr>
          <p:cNvPr id="8" name="Rectangle 7"/>
          <p:cNvSpPr/>
          <p:nvPr/>
        </p:nvSpPr>
        <p:spPr>
          <a:xfrm>
            <a:off x="4998720" y="1737360"/>
            <a:ext cx="3343656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與所內 IFRS 17 團隊確認分工、選目標客戶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397240" y="1737360"/>
            <a:ext cx="3343656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客戶對談、首案建議書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59152"/>
            <a:ext cx="1133856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② AI 治理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2359152"/>
            <a:ext cx="3343656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健檢方法與 AI 清冊範本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8720" y="2359152"/>
            <a:ext cx="3343656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R&amp;Q 獨立性確認、內部試做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7240" y="2359152"/>
            <a:ext cx="3343656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客戶對談、首案建議書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08960"/>
            <a:ext cx="7498079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今天請決定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566160"/>
            <a:ext cx="214884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第一波推哪兩項服務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3566160"/>
            <a:ext cx="3886200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IFRS 17／TW-ICS 後財務轉型、AI 清冊與模型驗證健檢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3566160"/>
            <a:ext cx="82296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今天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261103"/>
            <a:ext cx="384048" cy="38404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169663"/>
            <a:ext cx="214884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每項服務包的負責人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4169663"/>
            <a:ext cx="3886200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各 1 位負責人＋1 位支援；第 1 週找 R&amp;Q 確認獨立性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4169663"/>
            <a:ext cx="82296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今天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864607"/>
            <a:ext cx="384048" cy="38404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773168"/>
            <a:ext cx="214884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90 天計畫與檢查點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4773168"/>
            <a:ext cx="3886200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第 4、8、12 週各一次，每次 30 分鐘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4773168"/>
            <a:ext cx="82296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 1 週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468112"/>
            <a:ext cx="384048" cy="38404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5376672"/>
            <a:ext cx="214884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研討會 AI 短片主題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5376672"/>
            <a:ext cx="3886200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以第一波服務為主題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5376672"/>
            <a:ext cx="82296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 2 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108960"/>
            <a:ext cx="3657600" cy="38404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使用前注意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566160"/>
            <a:ext cx="365760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E1E1E"/>
                </a:solidFill>
                <a:latin typeface="Microsoft JhengHei"/>
              </a:rPr>
              <a:t>數字核對　</a:t>
            </a:r>
            <a:r>
              <a:rPr sz="1050" b="0">
                <a:solidFill>
                  <a:srgbClr val="1E1E1E"/>
                </a:solidFill>
                <a:latin typeface="Microsoft JhengHei"/>
              </a:rPr>
              <a:t>對外引用前回原文確認；95% 為跨產業數字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169663"/>
            <a:ext cx="365760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E1E1E"/>
                </a:solidFill>
                <a:latin typeface="Microsoft JhengHei"/>
              </a:rPr>
              <a:t>獨立性　</a:t>
            </a:r>
            <a:r>
              <a:rPr sz="1050" b="0">
                <a:solidFill>
                  <a:srgbClr val="1E1E1E"/>
                </a:solidFill>
                <a:latin typeface="Microsoft JhengHei"/>
              </a:rPr>
              <a:t>AI 治理健檢與 IFRS 17 顧問碰到審計客戶時，先與 R&amp;Q 確認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773168"/>
            <a:ext cx="365760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E1E1E"/>
                </a:solidFill>
                <a:latin typeface="Microsoft JhengHei"/>
              </a:rPr>
              <a:t>對外不點名　</a:t>
            </a:r>
            <a:r>
              <a:rPr sz="1050" b="0">
                <a:solidFill>
                  <a:srgbClr val="1E1E1E"/>
                </a:solidFill>
                <a:latin typeface="Microsoft JhengHei"/>
              </a:rPr>
              <a:t>研究中的同業與競爭者僅供內部討論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5376672"/>
            <a:ext cx="3657600" cy="53035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E1E1E"/>
                </a:solidFill>
                <a:latin typeface="Microsoft JhengHei"/>
              </a:rPr>
              <a:t>完整版　</a:t>
            </a:r>
            <a:r>
              <a:rPr sz="1050" b="0">
                <a:solidFill>
                  <a:srgbClr val="1E1E1E"/>
                </a:solidFill>
                <a:latin typeface="Microsoft JhengHei"/>
              </a:rPr>
              <a:t>24 頁會議簡報含問題樹、矩陣與風險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053328"/>
            <a:ext cx="1138428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6B6B"/>
                </a:solidFill>
                <a:latin typeface="Microsoft JhengHei"/>
              </a:rPr>
              <a:t>來源：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2"/>
              </a:rPr>
              <a:t>McKinsey：代理型 AI 核心現代化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3"/>
              </a:rPr>
              <a:t>Deloitte：亞太壽險規模化代理型 AI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4"/>
              </a:rPr>
              <a:t>資誠 IFRS 17 關鍵議題</a:t>
            </a:r>
            <a:r>
              <a:rPr sz="900" b="0">
                <a:solidFill>
                  <a:srgbClr val="6B6B6B"/>
                </a:solidFill>
                <a:latin typeface="Microsoft JhengHei"/>
              </a:rPr>
              <a:t>　</a:t>
            </a:r>
            <a:r>
              <a:rPr sz="900" b="0" u="sng">
                <a:solidFill>
                  <a:srgbClr val="1F5FBF"/>
                </a:solidFill>
                <a:latin typeface="Microsoft JhengHei"/>
                <a:hlinkClick r:id="rId5"/>
              </a:rPr>
              <a:t>MAS AI 風險管理指引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