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ajg.com/gallagherre/news-and-insights/global-insurtech-report-q1-2026/" TargetMode="External"/><Relationship Id="rId3" Type="http://schemas.openxmlformats.org/officeDocument/2006/relationships/hyperlink" Target="https://amp.claimsjournal.com/news/national/2025/11/17/334094.htm" TargetMode="External"/><Relationship Id="rId4" Type="http://schemas.openxmlformats.org/officeDocument/2006/relationships/hyperlink" Target="https://www.bain.com/ko/results/reimagining-insurance-for-the-ai-era" TargetMode="External"/><Relationship Id="rId5" Type="http://schemas.openxmlformats.org/officeDocument/2006/relationships/hyperlink" Target="https://www.insurancebusinessmag.com/reinsurance/news/breaking-news/ai-startups-capture-record-95-2-of-insurtech-funding--gallagher-re-574376.asp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ib.gov.tw/" TargetMode="External"/><Relationship Id="rId3" Type="http://schemas.openxmlformats.org/officeDocument/2006/relationships/hyperlink" Target="https://uanalyze.com.tw/articles/4909935653" TargetMode="External"/><Relationship Id="rId4" Type="http://schemas.openxmlformats.org/officeDocument/2006/relationships/hyperlink" Target="https://n.yam.com/Article/20251007545281" TargetMode="External"/><Relationship Id="rId5" Type="http://schemas.openxmlformats.org/officeDocument/2006/relationships/hyperlink" Target="https://www.pwc.tw/zh/topics/trends/ifrs-17-key-issues.html" TargetMode="External"/><Relationship Id="rId6" Type="http://schemas.openxmlformats.org/officeDocument/2006/relationships/hyperlink" Target="https://www.fsc.gov.tw/websitedowndoc?file=chfsc/202408231741530.pdf" TargetMode="External"/><Relationship Id="rId7" Type="http://schemas.openxmlformats.org/officeDocument/2006/relationships/hyperlink" Target="https://www.leeandli.com/TW/Newsletters/7287.htm" TargetMode="External"/><Relationship Id="rId8" Type="http://schemas.openxmlformats.org/officeDocument/2006/relationships/hyperlink" Target="https://law.lia-roc.org.tw/Law/GetFile/0000394231" TargetMode="External"/><Relationship Id="rId9" Type="http://schemas.openxmlformats.org/officeDocument/2006/relationships/hyperlink" Target="https://www.fenwick.com/insights/publications/naic-expands-ai-systems-evaluation-tool-pilot-program-to-12-states-key-updates-for-insurers-and-ai-vendors-supporting-insurers" TargetMode="External"/><Relationship Id="rId10" Type="http://schemas.openxmlformats.org/officeDocument/2006/relationships/hyperlink" Target="https://www.mas.gov.sg/regulation/guidelines/guidelines-on-artificial-intelligence-risk-management-for-financial-institutions" TargetMode="External"/><Relationship Id="rId11" Type="http://schemas.openxmlformats.org/officeDocument/2006/relationships/hyperlink" Target="https://www.celent.com/en/insights/shedding-light-on-agentic-ai-in-insurance" TargetMode="External"/><Relationship Id="rId12" Type="http://schemas.openxmlformats.org/officeDocument/2006/relationships/hyperlink" Target="https://www.manulife.com/ph/about-us/news/manulife-earns-celent-model-insurer-recognition-for-ai-leadership-in-underwriting" TargetMode="External"/><Relationship Id="rId13" Type="http://schemas.openxmlformats.org/officeDocument/2006/relationships/hyperlink" Target="https://www.mckinsey.com/industries/financial-services/our-insights/insurance-blog/the-future-underwriting-operating-system-from-inbox-to-ai-nerve-center" TargetMode="External"/><Relationship Id="rId14" Type="http://schemas.openxmlformats.org/officeDocument/2006/relationships/hyperlink" Target="https://www.mckinsey.com/industries/financial-services/our-insights/can-agentic-ai-finally-modernize-core-technologies-in-insurance" TargetMode="External"/><Relationship Id="rId15" Type="http://schemas.openxmlformats.org/officeDocument/2006/relationships/hyperlink" Target="https://www.leeandli.com/TW/Newsletters/7525.htm" TargetMode="External"/><Relationship Id="rId16" Type="http://schemas.openxmlformats.org/officeDocument/2006/relationships/hyperlink" Target="https://law.lia-roc.org.tw/Law/GetFile/0000419987" TargetMode="External"/><Relationship Id="rId17" Type="http://schemas.openxmlformats.org/officeDocument/2006/relationships/hyperlink" Target="https://www.swissre.com/institute/research/sonar/sonar2025/how-deepfakes-disinformation-ai-amplify-insurance-fraud.html" TargetMode="External"/><Relationship Id="rId18" Type="http://schemas.openxmlformats.org/officeDocument/2006/relationships/hyperlink" Target="https://digital.casact.org/issue/may-june-2026/deepfakes-put-insurers-in-deep-water/" TargetMode="External"/><Relationship Id="rId19" Type="http://schemas.openxmlformats.org/officeDocument/2006/relationships/hyperlink" Target="https://www.verisk.com/resources/campaigns/deepfakes-a-growing-threat-to-digital-media-integrity-for-insurers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mckinsey.com/industries/financial-services/our-insights/insurance-blog/the-future-underwriting-operating-system-from-inbox-to-ai-nerve-center" TargetMode="External"/><Relationship Id="rId3" Type="http://schemas.openxmlformats.org/officeDocument/2006/relationships/hyperlink" Target="https://www.mckinsey.com/industries/financial-services/our-insights/can-agentic-ai-finally-modernize-core-technologies-in-insurance" TargetMode="External"/><Relationship Id="rId4" Type="http://schemas.openxmlformats.org/officeDocument/2006/relationships/hyperlink" Target="https://www.bcg.com/assets/2026/white-paper-competitive-advantage-in-the-agentic-ai-era-ap-insurers.pdf" TargetMode="External"/><Relationship Id="rId5" Type="http://schemas.openxmlformats.org/officeDocument/2006/relationships/hyperlink" Target="https://www.bcg.com/assets/2026/executive-perspectives-ai-first-companies-win-the-future-property-casualty-insurance.pdf" TargetMode="External"/><Relationship Id="rId6" Type="http://schemas.openxmlformats.org/officeDocument/2006/relationships/hyperlink" Target="https://www.bain.com/ko/results/reimagining-insurance-for-the-ai-era" TargetMode="External"/><Relationship Id="rId7" Type="http://schemas.openxmlformats.org/officeDocument/2006/relationships/hyperlink" Target="https://www.bain.com/it/about-bain/media-center/press-releases/2024/$50-billion-opportunity-emerges-for-insurers-worldwide-from-generative-ais-potential-to-boost-revenues-and-take-out-costs/" TargetMode="External"/><Relationship Id="rId8" Type="http://schemas.openxmlformats.org/officeDocument/2006/relationships/hyperlink" Target="https://www.deloitte.com/global/en/what-we-do/capabilities/agentic-ai-blueprint-for-insurance.html" TargetMode="External"/><Relationship Id="rId9" Type="http://schemas.openxmlformats.org/officeDocument/2006/relationships/hyperlink" Target="https://www.deloitte.com/ap/en/perspectives/agentic-ai-scale-for-life-insurers-in-apac.html" TargetMode="External"/><Relationship Id="rId10" Type="http://schemas.openxmlformats.org/officeDocument/2006/relationships/hyperlink" Target="https://www.ey.com/en_us/insurance/nexus" TargetMode="External"/><Relationship Id="rId11" Type="http://schemas.openxmlformats.org/officeDocument/2006/relationships/hyperlink" Target="https://kpmg.com/au/en/insights/artificial-intelligence-ai/intelligent-insurance.html" TargetMode="External"/><Relationship Id="rId12" Type="http://schemas.openxmlformats.org/officeDocument/2006/relationships/hyperlink" Target="https://kpmg.com/ca/en/insights/2024/11/you-can-build-trust-with-ai.html" TargetMode="External"/><Relationship Id="rId13" Type="http://schemas.openxmlformats.org/officeDocument/2006/relationships/hyperlink" Target="https://www.pwc.nl/en/services/artificial-intelligence/agent-os.html" TargetMode="External"/><Relationship Id="rId14" Type="http://schemas.openxmlformats.org/officeDocument/2006/relationships/hyperlink" Target="https://www.pwc.tw/zh/topics/trends/ifrs-17-key-issues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www.ajg.com/gallagherre/news-and-insights/global-insurtech-report-q1-2026/" TargetMode="External"/><Relationship Id="rId3" Type="http://schemas.openxmlformats.org/officeDocument/2006/relationships/hyperlink" Target="https://www.insurancebusinessmag.com/reinsurance/news/breaking-news/ai-startups-capture-record-95-2-of-insurtech-funding--gallagher-re-574376.aspx" TargetMode="External"/><Relationship Id="rId4" Type="http://schemas.openxmlformats.org/officeDocument/2006/relationships/hyperlink" Target="https://amp.claimsjournal.com/news/national/2025/11/17/334094.htm" TargetMode="External"/><Relationship Id="rId5" Type="http://schemas.openxmlformats.org/officeDocument/2006/relationships/hyperlink" Target="https://www.bain.com/ko/results/reimagining-insurance-for-the-ai-era" TargetMode="External"/><Relationship Id="rId6" Type="http://schemas.openxmlformats.org/officeDocument/2006/relationships/hyperlink" Target="https://www.ib.gov.tw/" TargetMode="External"/><Relationship Id="rId7" Type="http://schemas.openxmlformats.org/officeDocument/2006/relationships/hyperlink" Target="https://uanalyze.com.tw/articles/4909935653" TargetMode="External"/><Relationship Id="rId8" Type="http://schemas.openxmlformats.org/officeDocument/2006/relationships/hyperlink" Target="https://n.yam.com/Article/20251007545281" TargetMode="External"/><Relationship Id="rId9" Type="http://schemas.openxmlformats.org/officeDocument/2006/relationships/hyperlink" Target="https://www.pwc.tw/zh/topics/trends/ifrs-17-key-issues.html" TargetMode="External"/><Relationship Id="rId10" Type="http://schemas.openxmlformats.org/officeDocument/2006/relationships/hyperlink" Target="https://www.fsc.gov.tw/websitedowndoc?file=chfsc/202408231741530.pdf" TargetMode="External"/><Relationship Id="rId11" Type="http://schemas.openxmlformats.org/officeDocument/2006/relationships/hyperlink" Target="https://www.leeandli.com/TW/Newsletters/7287.htm" TargetMode="External"/><Relationship Id="rId12" Type="http://schemas.openxmlformats.org/officeDocument/2006/relationships/hyperlink" Target="https://law.lia-roc.org.tw/Law/GetFile/0000394231" TargetMode="External"/><Relationship Id="rId13" Type="http://schemas.openxmlformats.org/officeDocument/2006/relationships/hyperlink" Target="https://www.fenwick.com/insights/publications/naic-expands-ai-systems-evaluation-tool-pilot-program-to-12-states-key-updates-for-insurers-and-ai-vendors-supporting-insurers" TargetMode="External"/><Relationship Id="rId14" Type="http://schemas.openxmlformats.org/officeDocument/2006/relationships/hyperlink" Target="https://www.mas.gov.sg/regulation/guidelines/guidelines-on-artificial-intelligence-risk-management-for-financial-institutions" TargetMode="External"/><Relationship Id="rId15" Type="http://schemas.openxmlformats.org/officeDocument/2006/relationships/hyperlink" Target="https://www.celent.com/en/insights/shedding-light-on-agentic-ai-in-insurance" TargetMode="External"/><Relationship Id="rId16" Type="http://schemas.openxmlformats.org/officeDocument/2006/relationships/hyperlink" Target="https://www.manulife.com/ph/about-us/news/manulife-earns-celent-model-insurer-recognition-for-ai-leadership-in-underwriting" TargetMode="External"/><Relationship Id="rId17" Type="http://schemas.openxmlformats.org/officeDocument/2006/relationships/hyperlink" Target="https://www.mckinsey.com/industries/financial-services/our-insights/insurance-blog/the-future-underwriting-operating-system-from-inbox-to-ai-nerve-center" TargetMode="External"/><Relationship Id="rId18" Type="http://schemas.openxmlformats.org/officeDocument/2006/relationships/hyperlink" Target="https://www.mckinsey.com/industries/financial-services/our-insights/can-agentic-ai-finally-modernize-core-technologies-in-insurance" TargetMode="External"/><Relationship Id="rId19" Type="http://schemas.openxmlformats.org/officeDocument/2006/relationships/hyperlink" Target="https://www.leeandli.com/TW/Newsletters/7525.htm" TargetMode="External"/><Relationship Id="rId20" Type="http://schemas.openxmlformats.org/officeDocument/2006/relationships/hyperlink" Target="https://law.lia-roc.org.tw/Law/GetFile/0000419987" TargetMode="External"/><Relationship Id="rId21" Type="http://schemas.openxmlformats.org/officeDocument/2006/relationships/hyperlink" Target="https://www.swissre.com/institute/research/sonar/sonar2025/how-deepfakes-disinformation-ai-amplify-insurance-fraud.html" TargetMode="External"/><Relationship Id="rId22" Type="http://schemas.openxmlformats.org/officeDocument/2006/relationships/hyperlink" Target="https://digital.casact.org/issue/may-june-2026/deepfakes-put-insurers-in-deep-water/" TargetMode="External"/><Relationship Id="rId23" Type="http://schemas.openxmlformats.org/officeDocument/2006/relationships/hyperlink" Target="https://www.verisk.com/resources/campaigns/deepfakes-a-growing-threat-to-digital-media-integrity-for-insurers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重點摘要：保險 AI 已進入規模化，建議第一波先推 IFRS 17 與 AI 治理兩項服務包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保險組內部使用｜資料來源為公開研究，點選來源可開啟原文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66160" cy="1444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335024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FD5108"/>
                </a:solidFill>
                <a:latin typeface="Arial"/>
                <a:ea typeface="微軟正黑體"/>
              </a:rPr>
              <a:t>95.2%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38528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2026 Q1 全球保險科技募資流向 AI 企業的比例（歷史新高）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14015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Gallagher Re, 2026-05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852928"/>
            <a:ext cx="3566160" cy="1444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07792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FD5108"/>
                </a:solidFill>
                <a:latin typeface="Arial"/>
                <a:ea typeface="微軟正黑體"/>
              </a:rPr>
              <a:t>57%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511296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保險高階主管把生成式與代理型 AI 列為 2026 首要科技投資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986784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PwC 調查, 2025-11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25696"/>
            <a:ext cx="3566160" cy="1444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80559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200" b="0">
                <a:solidFill>
                  <a:srgbClr val="FFFFFF"/>
                </a:solidFill>
                <a:latin typeface="Arial"/>
                <a:ea typeface="微軟正黑體"/>
              </a:rPr>
              <a:t>95%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084064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rial"/>
                <a:ea typeface="微軟正黑體"/>
              </a:rPr>
              <a:t>投資 AI 但尚未看到可衡量回報的企業（跨產業）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5595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FFFFFF"/>
                </a:solidFill>
                <a:latin typeface="Arial"/>
                <a:ea typeface="微軟正黑體"/>
                <a:hlinkClick r:id="rId4"/>
              </a:rPr>
              <a:t>Bain 引述 MIT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1280160"/>
            <a:ext cx="7589520" cy="10058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情境　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資金與預算全面轉向 AI，保險業已從試點走向規模化。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衝突　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多數投資還看不到回報；台灣同時面對 IFRS 17／TW-ICS 首年出表與 AI 治理要求。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2395728"/>
            <a:ext cx="758952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建議　</a:t>
            </a:r>
            <a:r>
              <a:rPr sz="1350" b="1">
                <a:solidFill>
                  <a:srgbClr val="FFFFFF"/>
                </a:solidFill>
                <a:latin typeface="微軟正黑體"/>
                <a:ea typeface="微軟正黑體"/>
              </a:rPr>
              <a:t>第一波先推 ① IFRS 17／TW-ICS 後財務轉型　② AI 清冊、模型驗證與護欄；代理型 AI 核保理賠、核心現代化、深偽反詐欺列為第二波。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需求有時限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3822191"/>
            <a:ext cx="2450592" cy="12801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IFRS 17／TW-ICS 2026-01-01 接軌；委外新辦法 2025-12-31 施行；AI 指引進入落地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59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離既有服務最近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66559" y="3822191"/>
            <a:ext cx="2450592" cy="12801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延伸既有駐點團隊與 AI 治理服務，不需新技術夥伴；AI 治理健檢 4–6 週可交付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能帶出第二波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3822191"/>
            <a:ext cx="2450592" cy="12801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財務資料與 AI 治理是代理型 AI、核心現代化的前置條件，可延伸為 1–3 年人力委外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5230368"/>
            <a:ext cx="758952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今天請決定：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同意第一波兩項服務，並各指派 1 位負責人。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595959"/>
                </a:solidFill>
                <a:latin typeface="Arial"/>
                <a:ea typeface="微軟正黑體"/>
              </a:rPr>
              <a:t>來源：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2"/>
              </a:rPr>
              <a:t>Gallagher Re Global InsurTech Report Q1 2026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5"/>
              </a:rPr>
              <a:t>Insurance Business 報導（95.2%）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3"/>
              </a:rPr>
              <a:t>PwC 保險高階主管調查（Claims Journal）</a:t>
            </a: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　</a:t>
            </a:r>
            <a:r>
              <a:rPr sz="900" b="0" u="sng">
                <a:solidFill>
                  <a:srgbClr val="595959"/>
                </a:solidFill>
                <a:latin typeface="Arial"/>
                <a:ea typeface="微軟正黑體"/>
                <a:hlinkClick r:id="rId4"/>
              </a:rPr>
              <a:t>Bain：Reimagining Insurance for the AI 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五項優先服務的依據：第一波兩項同時具備監理時限、既有能力與 4–8 週切入案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保險組內部使用｜資料來源為公開研究，點選來源可開啟原文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655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服務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280160"/>
            <a:ext cx="29352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為什麼是現在（監理與痛點）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1280160"/>
            <a:ext cx="2340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國際標竿與證據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280160"/>
            <a:ext cx="1746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首案切入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280160"/>
            <a:ext cx="101498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評等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87000" y="1280160"/>
            <a:ext cx="60350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建議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27080" y="1280160"/>
            <a:ext cx="83210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文獻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682495"/>
            <a:ext cx="165506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IFRS 17／TW-ICS 後財務轉型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1682495"/>
            <a:ext cx="29352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2026-01-01 與 TW-ICS 同步上路，15 年過渡期逐年趨緊；台灣業者對新制的準備度低於全球（3.06 對 3.27）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82495"/>
            <a:ext cx="234086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新制以現時價值衡量負債，業者經營指標轉向 CSM 與資產負債管理（ALM）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1682495"/>
            <a:ext cx="1746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  <a:ea typeface="微軟正黑體"/>
              </a:rPr>
              <a:t>首年結帳瓶頸診斷＋CSM 管理儀表板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1682495"/>
            <a:ext cx="1014983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FD5108"/>
                </a:solidFill>
                <a:latin typeface="微軟正黑體"/>
                <a:ea typeface="微軟正黑體"/>
              </a:rPr>
              <a:t>●  ●  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87000" y="1682495"/>
            <a:ext cx="603503" cy="8229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第一波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27080" y="1682495"/>
            <a:ext cx="832103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[5]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[6]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[7]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[8]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542032"/>
            <a:ext cx="165506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AI 清冊、模型驗證與護欄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03120" y="2542032"/>
            <a:ext cx="29352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金管會 AI 指引（2024-06）；公會 AI 自律規範 2025-04-10 備查，保險公司對 AI 結果負最終責任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74920" y="2542032"/>
            <a:ext cx="234086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NAIC 12 州 AI 評估工具試點（2026-03～09）；MAS AI 風險管理指引 2026-10 定稿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52360" y="2542032"/>
            <a:ext cx="1746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00000"/>
                </a:solidFill>
                <a:latin typeface="Arial"/>
                <a:ea typeface="微軟正黑體"/>
              </a:rPr>
              <a:t>4–6 週 AI 清冊盤點＋自律規範合規健檢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2542032"/>
            <a:ext cx="1014983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FD5108"/>
                </a:solidFill>
                <a:latin typeface="微軟正黑體"/>
                <a:ea typeface="微軟正黑體"/>
              </a:rPr>
              <a:t>●  ●  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87000" y="2542032"/>
            <a:ext cx="603503" cy="822959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第一波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27080" y="2542032"/>
            <a:ext cx="832103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[9]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[10]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[11]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[12]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[13]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3401568"/>
            <a:ext cx="165506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代理型 AI 核保與理賠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03120" y="3401568"/>
            <a:ext cx="29352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多數停在單點智能助理；Celent：22% 保險公司計畫 2026 年底前上線代理型 AI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74920" y="3401568"/>
            <a:ext cx="234086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Manulife MAUDE 自動核准逾 58% 合格壽險案件、約 2 分鐘通知；McKinsey 核保作業系統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52360" y="3401568"/>
            <a:ext cx="1746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6–8 週單一險種工作流藍圖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3401568"/>
            <a:ext cx="1014983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FD5108"/>
                </a:solidFill>
                <a:latin typeface="微軟正黑體"/>
                <a:ea typeface="微軟正黑體"/>
              </a:rPr>
              <a:t>●  ◐  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287000" y="3401568"/>
            <a:ext cx="603503" cy="82295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第二波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27080" y="3401568"/>
            <a:ext cx="832103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[14]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[15]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[16]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261104"/>
            <a:ext cx="165506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AI 加速核心現代化與雲端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03120" y="4261104"/>
            <a:ext cx="29352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委外新辦法 2025-12-31 施行、雲端自律規範 2026-06 修正；舊核心難以支援 API 與 AI 串接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74920" y="4261104"/>
            <a:ext cx="234086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McKinsey：代理型 AI 可壓縮舊程式解析、測試與對帳的重工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52360" y="4261104"/>
            <a:ext cx="1746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雲端委外合規評估，或周邊系統 AI 重寫 PoC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235440" y="4261104"/>
            <a:ext cx="1014983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FD5108"/>
                </a:solidFill>
                <a:latin typeface="微軟正黑體"/>
                <a:ea typeface="微軟正黑體"/>
              </a:rPr>
              <a:t>◐  ◐  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287000" y="4261104"/>
            <a:ext cx="603503" cy="82295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第二波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927080" y="4261104"/>
            <a:ext cx="832103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4"/>
              </a:rPr>
              <a:t>[17]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5"/>
              </a:rPr>
              <a:t>[18]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6"/>
              </a:rPr>
              <a:t>[19]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120640"/>
            <a:ext cx="165506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深偽理賠反詐欺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03120" y="5120640"/>
            <a:ext cx="29352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修圖車損、偽造醫療單據門檻降低，規則引擎難以辨識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74920" y="5120640"/>
            <a:ext cx="234086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Swiss Re SONAR 2025 將「深偽助長保險詐欺」列為高影響新興風險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452360" y="5120640"/>
            <a:ext cx="1746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車損照片／醫療單據偽造偵測 PoC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35440" y="5120640"/>
            <a:ext cx="1014983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FD5108"/>
                </a:solidFill>
                <a:latin typeface="微軟正黑體"/>
                <a:ea typeface="微軟正黑體"/>
              </a:rPr>
              <a:t>◐  ○  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87000" y="5120640"/>
            <a:ext cx="603503" cy="822959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第二波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27080" y="5120640"/>
            <a:ext cx="832103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7"/>
              </a:rPr>
              <a:t>[20]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8"/>
              </a:rPr>
              <a:t>[21]</a:t>
            </a: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9"/>
              </a:rPr>
              <a:t>[22]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5998463"/>
            <a:ext cx="11384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微軟正黑體"/>
                <a:ea typeface="微軟正黑體"/>
              </a:rPr>
              <a:t>評等依序為需求迫切度、與既有服務距離、首案週期：● 有利　◐ 中等　○ 不利（團隊判斷，請會議校準）。文獻編號可點擊，完整清單見附錄 A。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MBB 與四大都在推代理型 AI 藍圖；我們以在地確信、IFRS 17 資料與駐點人力區隔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保險組內部使用｜資料來源為公開研究，點選來源可開啟原文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28930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機構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80160"/>
            <a:ext cx="416966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保險 AI 主力產品／方法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280160"/>
            <a:ext cx="183794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主攻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280160"/>
            <a:ext cx="247802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可能侷限（推論）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720" y="1280160"/>
            <a:ext cx="142646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官網／原文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64207"/>
            <a:ext cx="12893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McKinsey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MBB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37360" y="1664207"/>
            <a:ext cx="416966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核保作業系統 UWOS：45 項能力、6 大領域；代理型 AI 核心現代化（原子化代理能力庫）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664207"/>
            <a:ext cx="183794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商業與專業險核保、核心重寫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1664207"/>
            <a:ext cx="2478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在台缺在地法規確信與長期駐點人力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332720" y="1664207"/>
            <a:ext cx="142646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UWOS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核心現代化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67712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BCG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MBB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37360" y="2267712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「AI-First 產險公司」三階段藍圖；亞太保險代理型 AI 白皮書（資源 70% 放在人與變革）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0" y="2267712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策略藍圖、組織變革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18120" y="2267712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偏策略與變革設計，系統落地多需另找夥伴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32720" y="2267712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亞太白皮書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產險藍圖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2871215"/>
            <a:ext cx="12893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Bain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MBB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2871215"/>
            <a:ext cx="416966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亞太保險公司以 AI 重塑理賠與客服案例；保險通路 GenAI 年效益逾 500 億美元（2024）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2871215"/>
            <a:ext cx="183794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理賠、客服、通路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2871215"/>
            <a:ext cx="2478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在台交付規模較小，大型核心導入人力有限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32720" y="2871215"/>
            <a:ext cx="142646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案例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通路研究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1480" y="3456432"/>
            <a:ext cx="1138428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411480" y="3474720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Deloitte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四大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737360" y="3474720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微軟正黑體"/>
                <a:ea typeface="微軟正黑體"/>
              </a:rPr>
              <a:t>Agentic AI Blueprint for Insurance：產險／壽險分類，評估→設計→試點→規模化，預建＋客製代理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3474720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全價值鏈代理型 AI 轉型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3474720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預建代理套到台灣客製化舊核心與繁中條款需調適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32720" y="3474720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Blueprint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亞太壽險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078224"/>
            <a:ext cx="12893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四大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7360" y="4078224"/>
            <a:ext cx="416966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EY Nexus for Insurance：雲原生平台，快速推出新商品與品牌，串接 650+ 保險科技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4078224"/>
            <a:ext cx="1837943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新商品、嵌入式通路、核心延伸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18120" y="4078224"/>
            <a:ext cx="2478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偏新業務上線，舊核心遷移與 IFRS 17 整合難只靠平台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32720" y="4078224"/>
            <a:ext cx="142646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Nexus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4681728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KPMG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四大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37360" y="4681728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Intelligent Insurance：AI 價值三階段導入；Trusted AI 十大支柱治理框架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4681728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AI 導入路徑與治理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18120" y="4681728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公開資料未見保險專屬代理型產品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32720" y="4681728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Intelligent Insurance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Trusted AI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5285231"/>
            <a:ext cx="128930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PwC（所內）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四大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737360" y="5285231"/>
            <a:ext cx="416966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Agent OS 代理編排平台（跨廠商串接、權限控管、監督儀表板）；IFRS 17／TW-ICS 與 AI 治理服務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5285231"/>
            <a:ext cx="183794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治理＋財務資料＋落地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18120" y="5285231"/>
            <a:ext cx="247802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可協作：把 Agent OS 與確信能力帶進第一波服務包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32720" y="5285231"/>
            <a:ext cx="142646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Agent 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000000"/>
                </a:solidFill>
                <a:latin typeface="Arial"/>
                <a:ea typeface="微軟正黑體"/>
                <a:hlinkClick r:id="rId14"/>
              </a:rPr>
              <a:t>IFRS 17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5925312"/>
            <a:ext cx="11384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「可能侷限」為依公開資料的推論，僅供內部討論，對外勿點名競爭者。點選右欄可開啟各機構官網或原文。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附錄 A｜文獻清單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內部討論稿｜僅供 FSC1 保險組內部使用｜資料來源為公開研究，點選來源可開啟原文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[1]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234440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Global InsurTech Report Q1 2026　※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市場數據｜Gallagher Re，2026-05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8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[2]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664208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AI start-ups capture record 95.2% of insurtech funding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市場數據｜Insurance Business，2026-05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93976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[3]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093976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PwC：保險高階主管視代理型 AI 為轉型主力（57%）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市場數據｜Claims Journal，2025-11-17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523744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[4]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23744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Reimagining Insurance for the AI Era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市場數據｜Bain（引述 MIT 2025）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953512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[5]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953512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保險局全球資訊網（IFRS 17／TW-ICS 專區）　※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IFRS 17／TW-ICS｜金管會保險局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79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[6]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383279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保險業資本新時代：壽險公會談 15 年過渡措施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IFRS 17／TW-ICS｜優分析，2025-10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813048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[7]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813048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Insurance Banana Skins 2025：台灣焦慮高於全球、準備度低於全球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IFRS 17／TW-ICS｜PwC／CSFI（中央社轉載），2025-10-07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242816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[8]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242816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IFRS 17 即將上路：建議臺灣保險業者的關鍵議題　※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IFRS 17／TW-ICS｜資誠，2025-11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672583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[9]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672583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《金融業運用 AI 指引》　※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AI 治理｜金管會，2024-06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102352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[10]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102352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金融業運用 AI 指引解析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AI 治理｜理律法律事務所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532119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5532119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《保險業運用人工智慧系統自律規範》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AI 治理｜壽險／產險公會，2025-04-10 備查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1234440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[12]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1234440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NAIC expands AI Systems Evaluation Tool pilot to 12 states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AI 治理｜Fenwick，2026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1664208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[13]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1664208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4"/>
              </a:rPr>
              <a:t>Guidelines on AI Risk Management for Financial Institutions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AI 治理｜MAS，2026-10 定稿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2093976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[14]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2093976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5"/>
              </a:rPr>
              <a:t>Shedding Light on Agentic AI in Insurance（22% 計畫 2026 年底前上線）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代理型 AI｜Celent，2025-05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2523744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[15]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2523744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6"/>
              </a:rPr>
              <a:t>Manulife MAUDE 獲 Celent 2026 Model Insurer（核保 AI）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代理型 AI｜Manulife，2026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2953512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[16]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0" y="2953512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7"/>
              </a:rPr>
              <a:t>The future underwriting operating system（UWOS）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代理型 AI｜McKinsey，2026-06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72200" y="3383279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[17]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0" y="3383279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8"/>
              </a:rPr>
              <a:t>Can agentic AI (finally) modernize core technologies in insurance?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核心與雲端｜McKinsey，2026-04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72200" y="3813048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[18]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0" y="3813048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19"/>
              </a:rPr>
              <a:t>保險業作業委外新辦法（2025-12-31 施行）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核心與雲端｜理律法律事務所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4242816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[19]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83680" y="4242816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20"/>
              </a:rPr>
              <a:t>《保險業作業委外使用雲端服務自律規範》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核心與雲端｜壽險／產險公會，2026-06 修正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4672583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[20]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0" y="4672583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21"/>
              </a:rPr>
              <a:t>SONAR 2025：How deepfakes, disinformation and AI amplify insurance fraud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深偽反詐欺｜Swiss Re Institute，2025-06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72200" y="5102352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[21]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0" y="5102352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22"/>
              </a:rPr>
              <a:t>Deepfakes put insurers in deep water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深偽反詐欺｜CAS Actuarial Review，2026-05／06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5532119"/>
            <a:ext cx="411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[22]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0" y="5532119"/>
            <a:ext cx="52578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1000" b="0" u="sng">
                <a:solidFill>
                  <a:srgbClr val="000000"/>
                </a:solidFill>
                <a:latin typeface="Arial"/>
                <a:ea typeface="微軟正黑體"/>
                <a:hlinkClick r:id="rId23"/>
              </a:rPr>
              <a:t>Deepfakes: A growing threat to digital media integrity for insurers</a:t>
            </a:r>
          </a:p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深偽反詐欺｜Verisk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6053328"/>
            <a:ext cx="1138428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※ 取自原研究連結庫，網路搜尋未能確認確切網址，引用前請點開確認。競爭者官網連結見第 3 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