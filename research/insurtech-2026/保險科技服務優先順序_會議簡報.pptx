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74" r:id="rId5"/>
    <p:sldMasterId id="2147483677" r:id="rId6"/>
    <p:sldMasterId id="2147483752" r:id="rId7"/>
    <p:sldMasterId id="2147483828" r:id="rId8"/>
    <p:sldMasterId id="2147483916" r:id="rId9"/>
  </p:sldMasterIdLst>
  <p:notesMasterIdLst>
    <p:notesMasterId r:id="rId124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85F48-5DE5-14CF-FD55-8C71A0CF0FD8}" v="3" dt="2026-08-28T03:28:32.066"/>
    <p1510:client id="{15D06E23-814D-4FB8-96A8-0FFE2568AE7B}" v="63" dt="2026-08-28T08:56:32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124" Type="http://schemas.openxmlformats.org/officeDocument/2006/relationships/notesMaster" Target="notesMasters/notesMaster1.xml"/><Relationship Id="rId125" Type="http://schemas.openxmlformats.org/officeDocument/2006/relationships/presProps" Target="presProps.xml"/><Relationship Id="rId126" Type="http://schemas.openxmlformats.org/officeDocument/2006/relationships/viewProps" Target="viewProps.xml"/><Relationship Id="rId127" Type="http://schemas.openxmlformats.org/officeDocument/2006/relationships/theme" Target="theme/theme1.xml"/><Relationship Id="rId128" Type="http://schemas.openxmlformats.org/officeDocument/2006/relationships/tableStyles" Target="tableStyles.xml"/><Relationship Id="rId129" Type="http://schemas.microsoft.com/office/2016/11/relationships/changesInfo" Target="changesInfos/changesInfo1.xml"/><Relationship Id="rId1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TJ Wang (TW)" userId="18033001-5856-41bf-97cd-f021b2ea7695" providerId="ADAL" clId="{86509E4E-F890-43B6-97AB-BA7419744C2D}"/>
    <pc:docChg chg="undo custSel addSld delSld modSld sldOrd delMainMaster modMainMaster addSection delSection modSection">
      <pc:chgData name="Tony TJ Wang (TW)" userId="18033001-5856-41bf-97cd-f021b2ea7695" providerId="ADAL" clId="{86509E4E-F890-43B6-97AB-BA7419744C2D}" dt="2026-08-28T08:56:32.543" v="594"/>
      <pc:docMkLst>
        <pc:docMk/>
      </pc:docMkLst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1607610444" sldId="256"/>
        </pc:sldMkLst>
      </pc:sldChg>
      <pc:sldChg chg="addSp new mod">
        <pc:chgData name="Tony TJ Wang (TW)" userId="18033001-5856-41bf-97cd-f021b2ea7695" providerId="ADAL" clId="{86509E4E-F890-43B6-97AB-BA7419744C2D}" dt="2026-08-13T08:26:10.078" v="26" actId="22"/>
        <pc:sldMkLst>
          <pc:docMk/>
          <pc:sldMk cId="4171859083" sldId="257"/>
        </pc:sldMkLst>
        <pc:picChg chg="add">
          <ac:chgData name="Tony TJ Wang (TW)" userId="18033001-5856-41bf-97cd-f021b2ea7695" providerId="ADAL" clId="{86509E4E-F890-43B6-97AB-BA7419744C2D}" dt="2026-08-13T08:26:10.078" v="26" actId="22"/>
          <ac:picMkLst>
            <pc:docMk/>
            <pc:sldMk cId="4171859083" sldId="257"/>
            <ac:picMk id="3" creationId="{EC1DED65-A97B-2E45-E83A-4778C0D9ADC1}"/>
          </ac:picMkLst>
        </pc:picChg>
      </pc:sldChg>
      <pc:sldChg chg="addSp delSp modSp mod">
        <pc:chgData name="Tony TJ Wang (TW)" userId="18033001-5856-41bf-97cd-f021b2ea7695" providerId="ADAL" clId="{86509E4E-F890-43B6-97AB-BA7419744C2D}" dt="2026-08-28T08:56:31.825" v="591" actId="1076"/>
        <pc:sldMkLst>
          <pc:docMk/>
          <pc:sldMk cId="2420393673" sldId="272"/>
        </pc:sldMkLst>
        <pc:picChg chg="add mod">
          <ac:chgData name="Tony TJ Wang (TW)" userId="18033001-5856-41bf-97cd-f021b2ea7695" providerId="ADAL" clId="{86509E4E-F890-43B6-97AB-BA7419744C2D}" dt="2026-08-28T08:56:31.825" v="591" actId="1076"/>
          <ac:picMkLst>
            <pc:docMk/>
            <pc:sldMk cId="2420393673" sldId="272"/>
            <ac:picMk id="5" creationId="{23EC51DD-9D24-701E-2C38-1BABBB089B81}"/>
          </ac:picMkLst>
        </pc:picChg>
      </pc:sldChg>
      <pc:sldChg chg="ord">
        <pc:chgData name="Tony TJ Wang (TW)" userId="18033001-5856-41bf-97cd-f021b2ea7695" providerId="ADAL" clId="{86509E4E-F890-43B6-97AB-BA7419744C2D}" dt="2026-08-26T07:18:53.925" v="287"/>
        <pc:sldMkLst>
          <pc:docMk/>
          <pc:sldMk cId="4069544170" sldId="289"/>
        </pc:sldMkLst>
      </pc:sldChg>
      <pc:sldChg chg="addSp delSp modSp new mod ord">
        <pc:chgData name="Tony TJ Wang (TW)" userId="18033001-5856-41bf-97cd-f021b2ea7695" providerId="ADAL" clId="{86509E4E-F890-43B6-97AB-BA7419744C2D}" dt="2026-08-26T08:40:20.622" v="556" actId="255"/>
        <pc:sldMkLst>
          <pc:docMk/>
          <pc:sldMk cId="2599464912" sldId="296"/>
        </pc:sldMkLst>
        <pc:spChg chg="add mod">
          <ac:chgData name="Tony TJ Wang (TW)" userId="18033001-5856-41bf-97cd-f021b2ea7695" providerId="ADAL" clId="{86509E4E-F890-43B6-97AB-BA7419744C2D}" dt="2026-08-26T08:40:12.736" v="552" actId="1076"/>
          <ac:spMkLst>
            <pc:docMk/>
            <pc:sldMk cId="2599464912" sldId="296"/>
            <ac:spMk id="3" creationId="{699D2354-99A8-0B65-8271-5F3C9B2AE63C}"/>
          </ac:spMkLst>
        </pc:spChg>
        <pc:spChg chg="add mod">
          <ac:chgData name="Tony TJ Wang (TW)" userId="18033001-5856-41bf-97cd-f021b2ea7695" providerId="ADAL" clId="{86509E4E-F890-43B6-97AB-BA7419744C2D}" dt="2026-08-26T08:40:14.745" v="553" actId="1076"/>
          <ac:spMkLst>
            <pc:docMk/>
            <pc:sldMk cId="2599464912" sldId="296"/>
            <ac:spMk id="5" creationId="{82CAD90D-E01E-8658-C010-750747A1866D}"/>
          </ac:spMkLst>
        </pc:spChg>
        <pc:spChg chg="add mod">
          <ac:chgData name="Tony TJ Wang (TW)" userId="18033001-5856-41bf-97cd-f021b2ea7695" providerId="ADAL" clId="{86509E4E-F890-43B6-97AB-BA7419744C2D}" dt="2026-08-26T08:40:20.622" v="556" actId="255"/>
          <ac:spMkLst>
            <pc:docMk/>
            <pc:sldMk cId="2599464912" sldId="296"/>
            <ac:spMk id="8" creationId="{B181DE30-50A2-082B-CEF4-18CD5B21EDD5}"/>
          </ac:spMkLst>
        </pc:spChg>
        <pc:picChg chg="add mod">
          <ac:chgData name="Tony TJ Wang (TW)" userId="18033001-5856-41bf-97cd-f021b2ea7695" providerId="ADAL" clId="{86509E4E-F890-43B6-97AB-BA7419744C2D}" dt="2026-08-26T08:39:40.237" v="539" actId="1076"/>
          <ac:picMkLst>
            <pc:docMk/>
            <pc:sldMk cId="2599464912" sldId="296"/>
            <ac:picMk id="7" creationId="{C1178097-20D2-CF88-6BF5-A0D7A81F423D}"/>
          </ac:picMkLst>
        </pc:picChg>
      </pc:sldChg>
      <pc:sldChg chg="addSp delSp modSp add mod ord">
        <pc:chgData name="Tony TJ Wang (TW)" userId="18033001-5856-41bf-97cd-f021b2ea7695" providerId="ADAL" clId="{86509E4E-F890-43B6-97AB-BA7419744C2D}" dt="2026-08-26T08:40:50.577" v="566" actId="1076"/>
        <pc:sldMkLst>
          <pc:docMk/>
          <pc:sldMk cId="106630151" sldId="297"/>
        </pc:sldMkLst>
        <pc:spChg chg="add mod">
          <ac:chgData name="Tony TJ Wang (TW)" userId="18033001-5856-41bf-97cd-f021b2ea7695" providerId="ADAL" clId="{86509E4E-F890-43B6-97AB-BA7419744C2D}" dt="2026-08-26T08:40:50.577" v="566" actId="1076"/>
          <ac:spMkLst>
            <pc:docMk/>
            <pc:sldMk cId="106630151" sldId="297"/>
            <ac:spMk id="5" creationId="{FA068CB2-23AF-6FCE-7A50-CFDF4DCD3FE4}"/>
          </ac:spMkLst>
        </pc:spChg>
        <pc:picChg chg="add mod">
          <ac:chgData name="Tony TJ Wang (TW)" userId="18033001-5856-41bf-97cd-f021b2ea7695" providerId="ADAL" clId="{86509E4E-F890-43B6-97AB-BA7419744C2D}" dt="2026-08-26T08:40:37.943" v="560" actId="1076"/>
          <ac:picMkLst>
            <pc:docMk/>
            <pc:sldMk cId="106630151" sldId="297"/>
            <ac:picMk id="3" creationId="{77441DA9-BD51-D469-063C-F2B197A6FACF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26T08:40:43.914" v="562" actId="1076"/>
        <pc:sldMkLst>
          <pc:docMk/>
          <pc:sldMk cId="2554360611" sldId="299"/>
        </pc:sldMkLst>
        <pc:spChg chg="add mod">
          <ac:chgData name="Tony TJ Wang (TW)" userId="18033001-5856-41bf-97cd-f021b2ea7695" providerId="ADAL" clId="{86509E4E-F890-43B6-97AB-BA7419744C2D}" dt="2026-08-26T08:40:41.294" v="561" actId="1076"/>
          <ac:spMkLst>
            <pc:docMk/>
            <pc:sldMk cId="2554360611" sldId="299"/>
            <ac:spMk id="9" creationId="{E6E1ADB4-38E1-10F2-0F7C-DB46EEAA8488}"/>
          </ac:spMkLst>
        </pc:spChg>
        <pc:spChg chg="add mod">
          <ac:chgData name="Tony TJ Wang (TW)" userId="18033001-5856-41bf-97cd-f021b2ea7695" providerId="ADAL" clId="{86509E4E-F890-43B6-97AB-BA7419744C2D}" dt="2026-08-26T08:40:43.914" v="562" actId="1076"/>
          <ac:spMkLst>
            <pc:docMk/>
            <pc:sldMk cId="2554360611" sldId="299"/>
            <ac:spMk id="11" creationId="{975761DE-5B44-1383-F92A-065EDC92E756}"/>
          </ac:spMkLst>
        </pc:spChg>
        <pc:picChg chg="add mod">
          <ac:chgData name="Tony TJ Wang (TW)" userId="18033001-5856-41bf-97cd-f021b2ea7695" providerId="ADAL" clId="{86509E4E-F890-43B6-97AB-BA7419744C2D}" dt="2026-08-26T08:33:04.428" v="503" actId="1076"/>
          <ac:picMkLst>
            <pc:docMk/>
            <pc:sldMk cId="2554360611" sldId="299"/>
            <ac:picMk id="5" creationId="{293E2457-47C0-6017-1FA6-55408733CB32}"/>
          </ac:picMkLst>
        </pc:picChg>
        <pc:picChg chg="add mod">
          <ac:chgData name="Tony TJ Wang (TW)" userId="18033001-5856-41bf-97cd-f021b2ea7695" providerId="ADAL" clId="{86509E4E-F890-43B6-97AB-BA7419744C2D}" dt="2026-08-26T08:33:00.695" v="501" actId="1076"/>
          <ac:picMkLst>
            <pc:docMk/>
            <pc:sldMk cId="2554360611" sldId="299"/>
            <ac:picMk id="8" creationId="{C7EBA735-B78C-2D41-2D87-F29DEB7BEB39}"/>
          </ac:picMkLst>
        </pc:pic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21359538" sldId="30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44019484" sldId="301"/>
        </pc:sldMkLst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514704115" sldId="302"/>
        </pc:sldMkLst>
        <pc:picChg chg="add mod">
          <ac:chgData name="Tony TJ Wang (TW)" userId="18033001-5856-41bf-97cd-f021b2ea7695" providerId="ADAL" clId="{86509E4E-F890-43B6-97AB-BA7419744C2D}" dt="2026-08-26T07:41:00.343" v="395" actId="1076"/>
          <ac:picMkLst>
            <pc:docMk/>
            <pc:sldMk cId="2514704115" sldId="302"/>
            <ac:picMk id="8" creationId="{D55881AE-99AA-9CF5-6ACB-22F1023CE548}"/>
          </ac:picMkLst>
        </pc:picChg>
        <pc:picChg chg="add mod">
          <ac:chgData name="Tony TJ Wang (TW)" userId="18033001-5856-41bf-97cd-f021b2ea7695" providerId="ADAL" clId="{86509E4E-F890-43B6-97AB-BA7419744C2D}" dt="2026-08-26T07:41:04.905" v="397" actId="1076"/>
          <ac:picMkLst>
            <pc:docMk/>
            <pc:sldMk cId="2514704115" sldId="302"/>
            <ac:picMk id="10" creationId="{E06E8876-7662-E0DB-9807-C866C62E715D}"/>
          </ac:picMkLst>
        </pc:picChg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60654132" sldId="303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2" creationId="{FFC61194-AA99-E57E-DA3E-2C31C77FA50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3" creationId="{37DD5E59-9F8C-3409-2221-C1C12AA72571}"/>
          </ac:spMkLst>
        </pc:spChg>
        <pc:picChg chg="add mod">
          <ac:chgData name="Tony TJ Wang (TW)" userId="18033001-5856-41bf-97cd-f021b2ea7695" providerId="ADAL" clId="{86509E4E-F890-43B6-97AB-BA7419744C2D}" dt="2026-08-26T07:41:16.282" v="402" actId="1076"/>
          <ac:picMkLst>
            <pc:docMk/>
            <pc:sldMk cId="360654132" sldId="303"/>
            <ac:picMk id="6" creationId="{B639B532-BDF9-36FD-8483-EECA3E104FF1}"/>
          </ac:picMkLst>
        </pc:picChg>
      </pc:sldChg>
      <pc:sldChg chg="addSp delSp modSp add mod">
        <pc:chgData name="Tony TJ Wang (TW)" userId="18033001-5856-41bf-97cd-f021b2ea7695" providerId="ADAL" clId="{86509E4E-F890-43B6-97AB-BA7419744C2D}" dt="2026-08-26T09:01:17.332" v="590" actId="1076"/>
        <pc:sldMkLst>
          <pc:docMk/>
          <pc:sldMk cId="741598415" sldId="304"/>
        </pc:sldMkLst>
        <pc:spChg chg="mod">
          <ac:chgData name="Tony TJ Wang (TW)" userId="18033001-5856-41bf-97cd-f021b2ea7695" providerId="ADAL" clId="{86509E4E-F890-43B6-97AB-BA7419744C2D}" dt="2026-08-26T09:01:16.082" v="589" actId="1076"/>
          <ac:spMkLst>
            <pc:docMk/>
            <pc:sldMk cId="741598415" sldId="304"/>
            <ac:spMk id="7" creationId="{5C1C04AE-6023-888A-7864-8A3DD60FC73E}"/>
          </ac:spMkLst>
        </pc:spChg>
        <pc:spChg chg="add mod">
          <ac:chgData name="Tony TJ Wang (TW)" userId="18033001-5856-41bf-97cd-f021b2ea7695" providerId="ADAL" clId="{86509E4E-F890-43B6-97AB-BA7419744C2D}" dt="2026-08-26T08:39:22.172" v="535" actId="14100"/>
          <ac:spMkLst>
            <pc:docMk/>
            <pc:sldMk cId="741598415" sldId="304"/>
            <ac:spMk id="8" creationId="{EE2A7D4C-2416-2A1F-AFC4-788F5196D71B}"/>
          </ac:spMkLst>
        </pc:spChg>
        <pc:picChg chg="add mod modCrop">
          <ac:chgData name="Tony TJ Wang (TW)" userId="18033001-5856-41bf-97cd-f021b2ea7695" providerId="ADAL" clId="{86509E4E-F890-43B6-97AB-BA7419744C2D}" dt="2026-08-26T09:01:14.187" v="588" actId="1076"/>
          <ac:picMkLst>
            <pc:docMk/>
            <pc:sldMk cId="741598415" sldId="304"/>
            <ac:picMk id="11" creationId="{799B8E4A-159A-36C8-121D-86218BD82181}"/>
          </ac:picMkLst>
        </pc:picChg>
        <pc:picChg chg="add mod modCrop">
          <ac:chgData name="Tony TJ Wang (TW)" userId="18033001-5856-41bf-97cd-f021b2ea7695" providerId="ADAL" clId="{86509E4E-F890-43B6-97AB-BA7419744C2D}" dt="2026-08-26T09:01:17.332" v="590" actId="1076"/>
          <ac:picMkLst>
            <pc:docMk/>
            <pc:sldMk cId="741598415" sldId="304"/>
            <ac:picMk id="13" creationId="{23AC456D-1263-5706-8781-9C497F98A738}"/>
          </ac:picMkLst>
        </pc:picChg>
      </pc:sldChg>
      <pc:sldChg chg="addSp new mod">
        <pc:chgData name="Tony TJ Wang (TW)" userId="18033001-5856-41bf-97cd-f021b2ea7695" providerId="ADAL" clId="{86509E4E-F890-43B6-97AB-BA7419744C2D}" dt="2026-08-13T08:01:47.483" v="3" actId="22"/>
        <pc:sldMkLst>
          <pc:docMk/>
          <pc:sldMk cId="678161449" sldId="4119"/>
        </pc:sldMkLst>
        <pc:picChg chg="add">
          <ac:chgData name="Tony TJ Wang (TW)" userId="18033001-5856-41bf-97cd-f021b2ea7695" providerId="ADAL" clId="{86509E4E-F890-43B6-97AB-BA7419744C2D}" dt="2026-08-13T08:01:47.483" v="3" actId="22"/>
          <ac:picMkLst>
            <pc:docMk/>
            <pc:sldMk cId="678161449" sldId="4119"/>
            <ac:picMk id="3" creationId="{CC6B2FF3-1D5E-89E5-5953-142FA194390B}"/>
          </ac:picMkLst>
        </pc:picChg>
      </pc:sldChg>
      <pc:sldChg chg="addSp modSp new mod">
        <pc:chgData name="Tony TJ Wang (TW)" userId="18033001-5856-41bf-97cd-f021b2ea7695" providerId="ADAL" clId="{86509E4E-F890-43B6-97AB-BA7419744C2D}" dt="2026-08-13T08:05:56.981" v="8" actId="1076"/>
        <pc:sldMkLst>
          <pc:docMk/>
          <pc:sldMk cId="3708291182" sldId="4121"/>
        </pc:sldMkLst>
        <pc:picChg chg="add mod">
          <ac:chgData name="Tony TJ Wang (TW)" userId="18033001-5856-41bf-97cd-f021b2ea7695" providerId="ADAL" clId="{86509E4E-F890-43B6-97AB-BA7419744C2D}" dt="2026-08-13T08:05:56.981" v="8" actId="1076"/>
          <ac:picMkLst>
            <pc:docMk/>
            <pc:sldMk cId="3708291182" sldId="4121"/>
            <ac:picMk id="3" creationId="{7629E256-9BA1-CC61-6CF6-F32EE6FE4842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13T08:14:18.955" v="20" actId="22"/>
        <pc:sldMkLst>
          <pc:docMk/>
          <pc:sldMk cId="2246093613" sldId="4122"/>
        </pc:sldMkLst>
        <pc:picChg chg="add mod">
          <ac:chgData name="Tony TJ Wang (TW)" userId="18033001-5856-41bf-97cd-f021b2ea7695" providerId="ADAL" clId="{86509E4E-F890-43B6-97AB-BA7419744C2D}" dt="2026-08-13T08:12:37.928" v="14" actId="1076"/>
          <ac:picMkLst>
            <pc:docMk/>
            <pc:sldMk cId="2246093613" sldId="4122"/>
            <ac:picMk id="3" creationId="{76B8456D-67EC-335A-05C8-91D0ACFD1628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338497899" sldId="214747161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385829111" sldId="2147471611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4266216018" sldId="2147471612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1984436587" sldId="2147471618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77337181" sldId="2147471622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089504799" sldId="214747162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1521235129" sldId="2147471626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806025323" sldId="214747162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4250702178" sldId="2147471632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237972989" sldId="2147471633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91331744" sldId="2147471634"/>
        </pc:sldMkLst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119080904" sldId="2147471635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2" creationId="{AAAB61BE-CAA7-BC81-B2A4-1E350EAF62FA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3" creationId="{17D14F5D-29BE-1BDE-AE7C-30F43A7B797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4" creationId="{48E04D8A-0D68-C063-D5ED-17DAC77F4BCA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467171543" sldId="2147471636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2" creationId="{C961C7A9-8040-8A66-E380-CDB63F8EC85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3" creationId="{ED1FD4D1-E983-FC7D-989F-B3CD09A45412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4" creationId="{5B0659AF-30A6-74C6-3B06-D0F40A8E5A51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574416562" sldId="2147471637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2" creationId="{EA30E22E-10B1-AE8F-677F-A3BC8AD36FA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3" creationId="{0AC8CD98-B1E4-94FC-E3DE-5F967851D07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4" creationId="{43F0CE76-E751-EDB4-F8D9-45DD6B20AD53}"/>
          </ac:spMkLst>
        </pc:spChg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132854497" sldId="2147471638"/>
        </pc:sldMkLst>
      </pc:sldChg>
      <pc:sldChg chg="addSp delSp 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055900988" sldId="2147471642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3" creationId="{3CFAF4F7-DD04-E73B-31AC-AA786DD2A3E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4" creationId="{1F8AC684-621F-56AE-B411-537B5B509B2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13" creationId="{7E0A3E8B-36B3-3088-6BF4-F751E1A28501}"/>
          </ac:spMkLst>
        </pc:sp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597535416" sldId="2147471647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785920302" sldId="2147471648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120340878" sldId="2147471649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982551857" sldId="214747165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2948209876" sldId="2147471651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74290052" sldId="2147471652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9908558" sldId="2147471653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799494147" sldId="2147471654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884221787" sldId="2147471655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2935639352" sldId="2147471656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447439805" sldId="2147471657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4008478433" sldId="2147471664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149247235" sldId="2147471665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885898768" sldId="2147471666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3086659854" sldId="2147471667"/>
        </pc:sldMkLst>
      </pc:sldChg>
      <pc:sldChg chg="add ord">
        <pc:chgData name="Tony TJ Wang (TW)" userId="18033001-5856-41bf-97cd-f021b2ea7695" providerId="ADAL" clId="{86509E4E-F890-43B6-97AB-BA7419744C2D}" dt="2026-08-26T07:25:11.809" v="313"/>
        <pc:sldMkLst>
          <pc:docMk/>
          <pc:sldMk cId="3071817210" sldId="2147471671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2330717037" sldId="2147471672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800678970" sldId="214747167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4004244919" sldId="2147471689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520692316" sldId="2147471690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250428090" sldId="2147471694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429173059" sldId="2147471695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556327753" sldId="214747169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2966213305" sldId="2147471698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3311238796" sldId="2147471703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18129924" sldId="2147471704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24167629" sldId="2147471705"/>
        </pc:sldMkLst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554073569" sldId="2147471722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554073569" sldId="2147471722"/>
            <ac:spMk id="14" creationId="{3BD44A5F-D0AA-BF1E-6829-92E7E607B553}"/>
          </ac:spMkLst>
        </pc:spChg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3929345242" sldId="2147471723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7" creationId="{A63A297D-2F35-7812-303A-16AD896A5B3A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1" creationId="{00C68E4D-21AB-08CD-419F-8429E0F0DB56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2" creationId="{E9BB387C-D24E-5C83-0468-18A25461E280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3" creationId="{C772BD97-777E-8670-8416-8547A807F60F}"/>
          </ac:spMkLst>
        </pc:spChg>
      </pc:sldChg>
      <pc:sldChg chg="add">
        <pc:chgData name="Tony TJ Wang (TW)" userId="18033001-5856-41bf-97cd-f021b2ea7695" providerId="ADAL" clId="{86509E4E-F890-43B6-97AB-BA7419744C2D}" dt="2026-08-26T07:28:41.008" v="324"/>
        <pc:sldMkLst>
          <pc:docMk/>
          <pc:sldMk cId="17382343" sldId="2147471724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1821783111" sldId="2147471725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32533317" sldId="2147471726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2676554576" sldId="2147471727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3986693228" sldId="2147471728"/>
        </pc:sldMkLst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42471186" sldId="2147471729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2" creationId="{581566A1-460A-B6C8-7897-25EBDE7DA34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3" creationId="{AE48430D-5555-2028-9FEB-4564DF5DCC4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6" creationId="{F7F50117-E101-A398-85D0-5678B16A31D8}"/>
          </ac:spMkLst>
        </pc:spChg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16800107" sldId="2147471730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3" creationId="{094D05D2-F793-ECE9-3DE3-ECAC4E0FB80E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6" creationId="{816C4870-D1A1-9A10-A8ED-313BEFC96E1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7" creationId="{C45343BF-FFF9-675A-6730-32F05149995A}"/>
          </ac:spMkLst>
        </pc:spChg>
      </pc:sldChg>
      <pc:sldChg chg="addSp delSp modSp add del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812243640" sldId="2147471758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2" creationId="{3E6E3BE0-C2C0-A042-24DF-086F26D33FB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3" creationId="{09EF78B3-D5DB-E432-D9FF-6795C54E704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4" creationId="{9D55DBD4-9962-EEBB-075E-1B36BC34A2AE}"/>
          </ac:spMkLst>
        </pc:spChg>
        <pc:picChg chg="add mod">
          <ac:chgData name="Tony TJ Wang (TW)" userId="18033001-5856-41bf-97cd-f021b2ea7695" providerId="ADAL" clId="{86509E4E-F890-43B6-97AB-BA7419744C2D}" dt="2026-08-26T07:40:21.548" v="384" actId="1076"/>
          <ac:picMkLst>
            <pc:docMk/>
            <pc:sldMk cId="1812243640" sldId="2147471758"/>
            <ac:picMk id="9" creationId="{0EABAE12-ABF6-8964-8620-D2FFB418A2D6}"/>
          </ac:picMkLst>
        </pc:picChg>
        <pc:picChg chg="add mod">
          <ac:chgData name="Tony TJ Wang (TW)" userId="18033001-5856-41bf-97cd-f021b2ea7695" providerId="ADAL" clId="{86509E4E-F890-43B6-97AB-BA7419744C2D}" dt="2026-08-26T07:40:26.519" v="387" actId="1076"/>
          <ac:picMkLst>
            <pc:docMk/>
            <pc:sldMk cId="1812243640" sldId="2147471758"/>
            <ac:picMk id="11" creationId="{A2D57C02-2453-5D13-1ACE-C5C0E1D082D1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842812038" sldId="2147471765"/>
        </pc:sldMkLst>
      </pc:sldChg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215186150" sldId="2147471831"/>
        </pc:sldMkLst>
      </pc:sldChg>
      <pc:sldChg chg="delSp mod ord modNotesTx">
        <pc:chgData name="Tony TJ Wang (TW)" userId="18033001-5856-41bf-97cd-f021b2ea7695" providerId="ADAL" clId="{86509E4E-F890-43B6-97AB-BA7419744C2D}" dt="2026-08-26T07:16:10.085" v="280" actId="20577"/>
        <pc:sldMkLst>
          <pc:docMk/>
          <pc:sldMk cId="3693095151" sldId="2147483644"/>
        </pc:sldMkLst>
      </pc:sldChg>
      <pc:sldChg chg="ord">
        <pc:chgData name="Tony TJ Wang (TW)" userId="18033001-5856-41bf-97cd-f021b2ea7695" providerId="ADAL" clId="{86509E4E-F890-43B6-97AB-BA7419744C2D}" dt="2026-08-26T07:33:40.478" v="341"/>
        <pc:sldMkLst>
          <pc:docMk/>
          <pc:sldMk cId="1652456660" sldId="2147483645"/>
        </pc:sldMkLst>
      </pc:sldChg>
      <pc:sldChg chg="ord">
        <pc:chgData name="Tony TJ Wang (TW)" userId="18033001-5856-41bf-97cd-f021b2ea7695" providerId="ADAL" clId="{86509E4E-F890-43B6-97AB-BA7419744C2D}" dt="2026-08-26T07:33:16.815" v="337"/>
        <pc:sldMkLst>
          <pc:docMk/>
          <pc:sldMk cId="2351879941" sldId="2147483647"/>
        </pc:sldMkLst>
      </pc:sldChg>
      <pc:sldMasterChg chg="delSldLayout">
        <pc:chgData name="Tony TJ Wang (TW)" userId="18033001-5856-41bf-97cd-f021b2ea7695" providerId="ADAL" clId="{86509E4E-F890-43B6-97AB-BA7419744C2D}" dt="2026-08-26T07:24:47.954" v="307" actId="47"/>
        <pc:sldMasterMkLst>
          <pc:docMk/>
          <pc:sldMasterMk cId="358941851" sldId="2147483752"/>
        </pc:sldMasterMkLst>
      </pc:sldMasterChg>
      <pc:sldMasterChg chg="delSldLayout modSldLayout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3950966955" sldId="2147483916"/>
        </pc:sldMasterMkLst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47413589" sldId="214748398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5" creationId="{98AB6ED3-C5F6-877C-DAED-BEF7F30459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89345167" sldId="214748398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3" creationId="{DFD90212-F74C-9DC9-0056-4F5DDF0194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5" creationId="{98AB6ED3-C5F6-877C-DAED-BEF7F30459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6" creationId="{5E0745CB-2FF7-A852-6865-A8F426EE120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63929705" sldId="214748398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3" creationId="{75979435-2CA0-F566-8195-3E80CC2D618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7" creationId="{3A2C4AA3-8599-3431-5E25-2E68E7DB9FC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11330401" sldId="214748398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51454211" sldId="214748398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73329092" sldId="214748398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32537693" sldId="214748398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6" creationId="{8A3789D3-8936-6361-B279-04482E5DA0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7" creationId="{D2CF944E-CA0D-78C4-2738-7FF65A3C61D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6376902" sldId="214748398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5" creationId="{14843C2F-D12F-B2E4-1020-42BB1F404EE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6" creationId="{78D8C702-FC4B-D3F7-8D51-D2B3DFBA1C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8" creationId="{2074E594-75BC-BB21-5CB5-2ECACC5760F1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2331590" sldId="214748398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4" creationId="{50A2C7B7-9D29-E058-E1D5-11CACA1525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7" creationId="{F14AAF1B-63A7-87FB-CF3E-274298F4B36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8" creationId="{06EDDF0F-F4F8-2669-FD63-410B84DD24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0" creationId="{8BF9F556-4510-F7DD-B333-C401D75BD7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6" creationId="{AFBC73D5-BBD4-6DEA-ABD4-C7C99DE36B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87811106" sldId="214748398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220726195" sldId="214748399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76535555" sldId="214748399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25261477" sldId="214748399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604783140" sldId="214748399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6" creationId="{E38019E0-279D-A4EC-36F3-E0B1A717FCF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7" creationId="{B8872EE6-00EE-7E3B-FF0A-4031AD0A1F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92594306" sldId="214748399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3" creationId="{65C0038A-3A68-0DB9-64FC-6F889D75D3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6" creationId="{97BC8435-1364-314D-C920-74E9DEDB1E4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7" creationId="{D73A66C0-F670-A68E-E8AB-864BA888682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0198183" sldId="214748399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4" creationId="{EE189DEE-6989-9A74-BDE8-CA73B91086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7" creationId="{6DE5500C-FE6E-579B-63C3-09F6ADCF90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8" creationId="{DD78BEAF-F2F8-DC26-B864-8F818213806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079323" sldId="214748399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3" creationId="{8D3D9662-5F2D-57D9-7407-78275144A6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6" creationId="{CE0852A2-F289-0299-38DA-54988A9CF4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7" creationId="{D73A66C0-F670-A68E-E8AB-864BA88868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8" creationId="{417BEBC1-805D-DD3E-7FB7-E733D35B8E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8924780" sldId="214748399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3" creationId="{0EEDD237-2AD5-3154-E113-01E98DC0986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8" creationId="{C3079065-EEA7-BD3F-374F-2BD4FA17413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3" creationId="{D9EB10B1-191A-630B-CAE5-F7CB250CA41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6" creationId="{FB735FB7-5411-F2F1-D974-F773B1B8360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1254178586" sldId="214748399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8" creationId="{09A13E53-F775-A736-E17E-0D3BA9C73A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10" creationId="{8379B048-01BA-296A-05B7-D40EDFD3726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26260199" sldId="214748399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5" creationId="{51C9977E-07C7-6A42-E691-FD4699CEC98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7" creationId="{090265C7-5AAC-0489-DEB2-CECC63DAC2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041626689" sldId="214748400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4" creationId="{A5CBFC34-8CB2-CC41-3972-5FC87B9BDC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7" creationId="{9F37A09F-4048-050A-FDB3-83EC9C3725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8" creationId="{E24C1953-6774-4962-D21C-79F931E8AF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519284577" sldId="214748400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4" creationId="{81241698-5CD8-C604-8076-E2C7174471A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6" creationId="{09364D4B-08FC-0F72-14EE-FFE49CBE3E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8" creationId="{37630663-0430-1D7C-EBF0-D28C79961CF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10666384" sldId="214748400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3" creationId="{DF56AB70-B001-F407-DDA0-8274B08150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5" creationId="{BFFD3C8C-DE95-11CF-E112-F1CDEBBBAF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7" creationId="{BB0E27A5-BC84-EBC4-82C5-E8CF838E43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76174915" sldId="214748400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3" creationId="{60C2534F-0DED-9179-1BA0-BA7BBA63E4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5" creationId="{C21211E5-4A9D-2EA5-349A-BFEBB51D88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1" creationId="{0161467A-7063-86D7-24E8-072DC8FE58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2" creationId="{F42546D2-619E-D256-A62A-62019DAA477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68187545" sldId="214748400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2" creationId="{E62847D5-ADA8-3259-2549-281D1A6D552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3" creationId="{91E3B5C0-2252-2AC3-B6AC-A233A36FBD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5" creationId="{3634351F-B70F-FAD9-F7BB-519E4552F5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9" creationId="{BF7E05F9-3B71-A92F-C27D-3EA7295545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0" creationId="{5436620D-30A8-EA32-EBA9-0FB0D98A3A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3" creationId="{FCDEC8E4-3556-9DFF-F8E0-3E599203F3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4" creationId="{08EEADAB-1623-2FF8-2487-6AA4F7EC358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64438517" sldId="214748400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5" creationId="{A03E9A5D-D94B-2C14-C57F-8CEEA73EB9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9" creationId="{489906B8-D3A9-4BCE-6015-ACFE378C72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0" creationId="{FE0E6B83-F5A0-569B-4BAB-B7F61D7D08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1" creationId="{46DFEB0B-173F-2B4F-16A8-263FCC6CEC2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85248937" sldId="214748400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4" creationId="{B015D90A-43B1-2686-2FB5-24977CABC7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5" creationId="{1C2027B2-3AF9-ACB0-EFBF-E307D2CA34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7" creationId="{305BD07F-9015-08E7-A1B9-CEE3998C38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8" creationId="{96E79EC7-3C5A-2B86-5F55-4E1518901C1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17" creationId="{281D6954-23FD-DBC4-8238-AE64FBE579A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75404505" sldId="214748400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3" creationId="{BE946374-FA30-CA90-8DA8-4D3D9C8D95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4" creationId="{E9C1A15D-9D72-ADF5-F762-A0FCDB4299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5" creationId="{F894016E-E9A2-621D-7E7E-4C60EA7D14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7" creationId="{B7BD091D-1A71-D98C-9FBE-055914E89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8" creationId="{6B0989A2-BAE8-DBCB-9B68-2A6A9EEEC5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9" creationId="{6B661239-E68D-0808-F96A-FE85956F113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80867760" sldId="214748400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4" creationId="{943EE09F-88BE-B892-E588-CE1A64CF45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7" creationId="{89862BAD-5A88-900F-A59B-68B96AB4149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8" creationId="{0DA847B6-5ED7-CD22-AC77-BE2F874194B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33767521" sldId="214748400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3" creationId="{6955500F-3808-9CA2-1F44-A6416457143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5" creationId="{97546331-F0CB-B769-2ED0-10C215328D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6" creationId="{E6F2E23D-BB9F-B34F-EC85-66F73AA73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9" creationId="{7809C51E-8610-C513-8EEC-D5CB091B65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0" creationId="{DFE232A4-E7EE-98E3-AD8F-428E48A336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1" creationId="{A39229A9-9F4B-8863-1C67-62C2859D9BE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40457667" sldId="214748401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3" creationId="{3279AEC2-3D38-AA3C-D9ED-F56066F0252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4" creationId="{2B415381-8D1E-8A6F-693B-DB90EB881D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6" creationId="{1F2E443D-FB19-EC91-F034-92383A4D9EA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0" creationId="{8E8D28FD-FF5F-398A-38AD-0E9B9DE0EC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2" creationId="{E2C8463D-8B6E-9FF2-1B5C-72452E9273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3" creationId="{39DE996C-A166-458A-310E-FEBC9C52A7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4" creationId="{134591D3-6AC4-CADD-BA45-1311233200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6" creationId="{33601CD4-0BCA-521B-0F56-3E84B8C91F7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23573422" sldId="214748401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3" creationId="{E67D3849-C8CD-8658-1466-0AC905A329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5" creationId="{C3E8CA74-2A20-C79E-AB93-415F841BF9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7" creationId="{45FB2FC1-37EA-E80B-8E2C-5BB79F82C54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1" creationId="{F4A2F6DA-84DB-C19E-4C0E-907410D65A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2" creationId="{91E96ECE-0D5F-0C73-B9DA-305E820717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3" creationId="{3FB0C79D-C35F-8072-C668-9D9D7A93739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6360593" sldId="214748401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5" creationId="{90658801-9D03-6822-31B7-920A8C4C5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1" creationId="{E8465518-586C-3585-5D66-F8C5F7841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2" creationId="{32A0F579-2C59-6C73-6CB2-7D28A65E2E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3" creationId="{6C860A8A-DDDD-D41D-7D92-718D7B4F0FA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13042700" sldId="214748401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3" creationId="{4BD5BA45-6FFD-0692-0F0F-E110F28E68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4" creationId="{14B2DDC5-30CC-4253-DAE0-02B6367366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5" creationId="{6A0EF6EA-3F57-5496-E0F3-4864ED1104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7" creationId="{BC4F89F3-153E-1F6B-8CFE-E1D4D68749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12" creationId="{32898A4C-932E-23E9-DC30-A54F1747D7D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26993151" sldId="214748401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7" creationId="{AB18F79E-2EEB-FEB6-9FD2-CF00E69E39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0" creationId="{B50CDAE4-0C34-CA3B-8150-C653F96325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1" creationId="{32934F70-692D-5369-94C8-0030A3CD43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2" creationId="{75F0D866-D99D-B922-92B9-43D8C80FC3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4" creationId="{28C2AC20-FA64-9BFB-4B6C-CC4DC765CF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75771468" sldId="214748401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4" creationId="{35EB01E0-E6A4-D360-2FD4-9B71B2DE0DC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7" creationId="{5AAE7EEF-B347-4D56-A6AE-448368A5BED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0" creationId="{4626FCF7-D9DB-AA92-E09A-63795E0A9BF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1" creationId="{3EAED7B3-1E01-DB3C-A9C0-C02BF6D0CA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2" creationId="{1DF4DD5F-AF74-EA4E-244D-3B8BF6C634D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3" creationId="{663492E0-8524-F0F0-654F-078445BB721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1893358" sldId="214748401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3" creationId="{FDAB432F-854F-42B3-F530-13E74D7AAA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5" creationId="{357B41B5-877C-16C0-86C3-0049A6AEFD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6" creationId="{3B9F6906-FD55-4ECF-BC68-21EDA9D4716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7" creationId="{AF5BE851-36FB-AE1C-238B-97C05E05B1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8" creationId="{C3EBFD86-34DE-5EF4-510C-8C6F417E64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9" creationId="{87ADAD20-05B4-05C7-E934-6F9C1436EB7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56306695" sldId="214748401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3" creationId="{15B11690-3DC6-7B4C-5196-E388A51146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7" creationId="{DF7CA4CE-E47A-514D-5828-6AA4EAEAA5D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9" creationId="{408A6C4D-3F5E-1CC8-64FD-F01177BD1E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0" creationId="{BE81782A-2131-81EC-B274-273228A022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1" creationId="{1C7B2FA3-BB01-C042-C3E2-CE1E30B4DC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2" creationId="{5817751D-AEF1-E60E-A99F-8E78DF21FF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4" creationId="{AC495E7E-4FB5-532A-2A69-899751FD4B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69354394" sldId="214748401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5" creationId="{7A4C48D2-B18D-75C7-0C7E-1D9DB13960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6" creationId="{D9EBCD51-8DA2-A863-38B9-4D39E92CBCD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7" creationId="{EDE25965-5FF0-06E1-006B-1D9AEC33DC6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1" creationId="{F248317B-0C78-D1D7-C7AA-97B940FCDF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3" creationId="{9E1EEBC7-B3D2-0C33-A1E4-86D938D57B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4" creationId="{DE61D85C-E065-C899-A314-61A9747899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6" creationId="{2AC1B240-8DE4-93F4-7F67-7A0D12BFCB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7" creationId="{26AF7A0A-28F9-E71C-DA0E-449F854A8D7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36100002" sldId="214748401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3" creationId="{9C3E4A20-48E1-6B96-207C-2A01DD8E9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9" creationId="{404392E8-8FC9-D8AC-538E-69F5A15C16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0" creationId="{E1769020-22C9-8DED-D532-40F11F2D33C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1" creationId="{5F5E5E69-4FFF-DFC2-659C-7E55787A02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2" creationId="{FEE2C3B1-D32B-2DC8-8154-D81D14148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3" creationId="{E4143737-9FAE-4BEB-0906-D059D53A4E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4" creationId="{5FAA5E52-06C6-50C6-842F-09B2897EBA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5" creationId="{BE4E3AAB-764D-686D-74DE-DD6CA156031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8" creationId="{E50EC622-9E3E-7826-5B6E-3F05131728C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9" creationId="{87CC549C-7C7A-4C05-D6A7-8187C41504D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93728460" sldId="214748402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3" creationId="{15361E65-8489-022E-9A46-0B36035A11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5" creationId="{6F60ED92-61BC-58F9-6255-C99E6BFB73B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6" creationId="{4903BE73-FFB9-9122-4626-1B97EB913F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1" creationId="{42EA7D05-D7C0-FDE4-0EBC-5FC872946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4" creationId="{73B30585-2E0B-0145-792D-87F4CBF909B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7" creationId="{CF1ADCBF-761E-4BC8-95AF-5ED8A304B9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8" creationId="{FD1333CB-59A1-E4BE-4739-1CA1A660FB0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24589199" sldId="214748402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0" creationId="{B1E147C2-A10D-59C4-CC48-6D69F1DA61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1" creationId="{A86AE55E-C7BC-EC71-C728-F72A80B86C8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2" creationId="{F55CDC6F-9090-45B3-C7DF-1D1A5E390D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3" creationId="{CB40FF7B-D30A-160F-9C8B-1003AE57EE9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4" creationId="{97083C73-43EE-6C29-DF37-8BDBD14592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5" creationId="{FAAF6896-CE8D-11B6-CDB6-B5581B467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9" creationId="{EE952CC9-7B70-01FB-582B-30F68D4C37F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21476042" sldId="214748402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2" creationId="{F7150835-224A-C855-A540-11B95474A7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4" creationId="{1C018B1A-B52B-AC9A-63B1-F00217B38E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0" creationId="{83A6C828-337E-DF3F-E796-CD513517E4D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1" creationId="{5039018F-04C9-76F6-FBBC-358D2F0A10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2" creationId="{F0641CF8-17DD-D58B-57D0-9302944604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3" creationId="{F8C87661-3C9C-724E-425D-6BFB684FAA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4" creationId="{C1CA5D93-F653-F2C0-8751-8A90F765D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5" creationId="{59DA2641-90BA-C589-4AC5-93DB0472E74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47986740" sldId="214748402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3" creationId="{7953C0A1-993D-3C98-C331-16749B76A8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5" creationId="{15441E1C-321B-0C48-3C86-6A2676A09A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7" creationId="{1BE33546-5281-3759-9C24-7C92D3AB81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8" creationId="{CD8F01FB-26C3-D412-CD60-13931D0A16A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0" creationId="{52D6BCE3-5DC0-F54B-0BF2-1E8CB838F9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2" creationId="{3544A30F-D4EB-D59A-37AC-6229A950B4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3" creationId="{CC17F671-8B9C-F9FE-AEDA-9A8FBDDADA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4" creationId="{ECE30FE5-2A66-1ECD-730E-80C2B769357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5" creationId="{067701D3-6751-E230-8414-4D83FACD19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7" creationId="{9919F7E4-902E-17BD-9A23-BEC353B5408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55202269" sldId="214748402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5" creationId="{CA070464-B6E7-0612-AE11-56A546D97B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7" creationId="{D2B9EA5E-E423-D219-6037-CCB61AE3B50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8" creationId="{C901CE32-26BB-268E-2590-66DB5ADDFD9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44750512" sldId="214748402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4" creationId="{D4716BEF-8A35-16AB-2612-D5ADC74B28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7" creationId="{AE32291E-24B4-2FB8-4B35-A439686DB9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8" creationId="{61A378F0-4CD0-C4E0-D2F7-5959B577E1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9" creationId="{60655EE7-5FC0-8DDF-88F0-21ECCBD7D31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92330433" sldId="214748402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3" creationId="{0617E1E3-DEC2-78E7-9998-E4FF637CE3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7" creationId="{7DFE5ED4-420E-CADB-A68A-A7D42128079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8" creationId="{961284F9-299F-5762-4D10-4246CB963F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9" creationId="{F7339CEB-91F9-B7FD-86D6-A4C114DA30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3" creationId="{743AD5A7-567D-9EC7-BECB-71D2480F24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7" creationId="{0D1BEFAC-D99F-7020-6110-CD8460311A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92095817" sldId="214748402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3" creationId="{420F89DA-180E-8B5A-DBF0-E46D4BE19FF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5" creationId="{94CDF16A-3F0F-40AD-25BD-32F2F4A17D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7" creationId="{E1340CD9-3B8A-B030-B8FC-EAD510678C8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5228471" sldId="214748402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3" creationId="{746CDA39-33E4-3C95-FE9D-6263CE3649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5" creationId="{A3CBD27D-46ED-F893-79F1-23481FEA9E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7" creationId="{8206B60F-A556-76A5-2FBC-4C736F4B16C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35470971" sldId="214748402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3" creationId="{B31972B4-0D39-C3FB-E17F-DC8EC7D118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5" creationId="{51A77249-98B8-FACA-4ACE-60FB5325B0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7" creationId="{3427FF8A-B4F7-3F6B-6AC3-2F7EC1DCAA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78859763" sldId="214748403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3" creationId="{F2C136D6-EB53-8EAB-067D-F21D72B54E2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4" creationId="{748F1255-B234-8F3E-2E95-66C55731FF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8" creationId="{694593D8-AEB6-3CA5-7E3B-6BA6D552DB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9" creationId="{C1E67C1D-7D69-01C7-F212-8FD6EC41D5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40448089" sldId="214748403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3" creationId="{CAF96854-0B82-0332-CB0D-B653A0471D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4" creationId="{629E8A37-B7AE-34F5-AC2C-2C3307E453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5" creationId="{83E901E5-0C0F-02C2-6E8B-66E81BE06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10" creationId="{BD055151-7117-866F-6824-F774A7F56F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6205060" sldId="214748403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3" creationId="{20FA2383-F769-2E5D-64C9-71C8F2AC63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4" creationId="{4619E784-11F4-A104-BB77-5E8F8D397A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5" creationId="{BF37CFFA-3D80-3409-C50E-D2A382F261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7" creationId="{01119A16-4429-1C3B-93F5-9356F9F7EC6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8" creationId="{AEA67855-93A6-BD43-750C-42D579FD028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4615349" sldId="214748403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3" creationId="{460FE9E2-DC3E-0EAB-DFB7-B3E4A12323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4" creationId="{665F8295-3C5A-A1AE-F43F-1FA6D8B2F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5" creationId="{30A1C61F-1977-8EC5-355B-66B6908EB5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8" creationId="{AEA67855-93A6-BD43-750C-42D579FD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10" creationId="{C8FF515D-AF08-494F-FFD1-C5F2FEFB42C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9990551" sldId="214748403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4" creationId="{DBB20E5E-A5D8-1921-9B3B-F7258AF1BE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7" creationId="{9B293083-8587-219C-C524-D809D6A866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9" creationId="{5AC9A00F-F989-8AFC-7652-904E0B2E41F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0662361" sldId="214748403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4" creationId="{BE8A4846-D27E-80FC-9B7E-3CE63CD42E9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7" creationId="{D88750FF-80B0-EEE6-F89F-A76248A4F83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9" creationId="{5E9F5B4A-B723-2879-D7EE-D016027E28B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89000832" sldId="214748403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3" creationId="{77299292-477B-B167-FA09-34ABA37250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4" creationId="{33096CD5-F472-2FF7-8821-A2FC9AB7EE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5" creationId="{6D1E7B3D-67E9-63CB-5191-3A7FBCE6F8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7" creationId="{0A56C71D-1695-AE64-7C05-4DD0750A3D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8" creationId="{3EB5F658-B8CE-7FB5-990E-79F690D1E1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9" creationId="{1EABDFC4-9BD0-55BC-2846-2FA45EAB535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13" creationId="{099A4469-274E-EB1F-F85D-D95E959AA14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0" creationId="{750FAC0A-93E6-9A08-7990-0346002AB7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1" creationId="{C66DD72C-97BB-14F2-361C-2441F75A43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2" creationId="{D806524E-A06F-7FE8-9CD5-2244991C1E3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55840572" sldId="214748403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3" creationId="{56F6B0ED-8AF6-B2AA-E6DF-421FC9028A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4" creationId="{505126B4-5061-ACE1-29DB-F4E4B930507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6" creationId="{A318CA9E-32E8-938F-0187-CE5990310D1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69211990" sldId="214748403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3" creationId="{F83831A1-36E4-05EF-6AB7-93A548B9DE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4" creationId="{E2A3DA15-4C69-255A-358A-480458D2DFE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6" creationId="{B39A73BF-92D5-1C5F-A374-82FF2405936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7" creationId="{F61931EA-4F62-CD08-4165-33E08640450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31930664" sldId="214748403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0" creationId="{BCA5BD2F-F935-E22A-B6DD-EB0D8C3A47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8" creationId="{2F01FD17-7652-99C0-4EF4-C1ABF553BD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4" creationId="{C5905E4E-9C03-893D-2D65-9DF29B1CD2B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6862171" sldId="214748404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3" creationId="{2DEADD9F-C4DB-21BA-6151-16846D00A1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3" creationId="{DEBB524E-5A84-8775-0998-D7CE79E36D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4" creationId="{0FB583A4-A0D5-B473-CEAF-7EDB869751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5" creationId="{FF63D470-D7BD-0CB6-AB02-AD298B18C3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78240619" sldId="214748404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3" creationId="{B7CEDE5A-24B5-302A-F9C9-38D8A4ED15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9" creationId="{850DA203-9211-4FDA-05C5-46A210422A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1" creationId="{11C89EB2-461C-D9DB-DBF2-EA17EA40A6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3" creationId="{B4612D97-4010-1226-69CD-B037A384C2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6" creationId="{44F1DDBE-5AF8-4AE5-035D-1455CB1194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7" creationId="{0506503A-B70F-E2C2-7E96-19228D38F7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8" creationId="{099901CA-C5DD-EA1C-B029-123F8C58061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64832958" sldId="214748404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4" creationId="{B3172550-E933-8167-0222-DD1326B01A6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8" creationId="{40478187-E2B9-385E-A350-C3EAF7AF28E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36006913" sldId="214748404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2" creationId="{51A35449-0894-A02C-8F55-DCFAB1AE42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8" creationId="{EAA4954E-F516-8DC7-20A3-B649BF25576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9" creationId="{B8FE92CD-7709-9DB8-6AAE-AA80F06744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0" creationId="{A2951703-E32B-EAF8-80B8-BAFE647F1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59824360" sldId="214748404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2" creationId="{DA84C67F-7F12-B485-C133-367619428FB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3" creationId="{C4995FEB-FD4F-B089-F6E6-2920F4574A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7" creationId="{EB8C9608-59D0-BF46-B719-9598B6A02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8" creationId="{83B437C6-3E7C-2B00-379C-58EBBE522843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3209243924" sldId="214748404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2" creationId="{9049CDF5-8A8F-79F6-E93E-E0A712397C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6" creationId="{D15FEAD4-DFB9-ED08-EBEE-A4E5DE31E31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12562369" sldId="214748404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4" creationId="{F688FCD4-650D-9754-A431-CE452572FB6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5" creationId="{E49962D1-3866-8382-AE37-FC366FF574B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5645843" sldId="214748404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2709834" sldId="214748404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37703116" sldId="214748404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87924719" sldId="214748405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5" creationId="{0978934B-5525-9236-62EF-C2B06F0BCC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64835213" sldId="214748405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4" creationId="{04760CE5-544A-F30C-8082-D31FCC54B7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7" creationId="{B125B3EF-B02C-F8B5-CF3D-C9F9193AA5B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02775034" sldId="214748405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6" creationId="{FD227041-E9DC-98BB-04D1-2512170C5B3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7" creationId="{B46EC276-3627-6ED3-ACC7-6D690C9922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9" creationId="{0FCB0834-B748-0F65-C02A-23EC83C03DC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0" creationId="{E54573B6-45C7-9732-9BBF-56F180D537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2" creationId="{EE5F59E5-3BCA-20EA-D3B3-B0654D078B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3" creationId="{DCC591AE-859C-530C-6837-BFB4DC8D4B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01593926" sldId="214748405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4" creationId="{3A411CC0-34B1-721C-48C1-951AB61EFA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5" creationId="{EA9401E2-0EFA-96DF-8425-7291F355E2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8" creationId="{76A09CFC-44F1-8A22-B3B7-445685852BA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9" creationId="{2CACCC0E-C26E-1C78-409B-A8BCA62C74C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0" creationId="{BAEBEC96-AF62-8CE5-7B36-0F816681A92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1" creationId="{B65C518D-AE96-1571-E3A5-E43E3AFB314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01841326" sldId="214748405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0" creationId="{97537C81-8D77-5257-7438-91D290209EF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48469268" sldId="214748405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9" creationId="{B9101461-B876-7D7A-B834-0387E08CC0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26013445" sldId="214748405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2" creationId="{D69F3CA5-5DA4-19BC-80CC-97F8603339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8" creationId="{567C69A2-1E84-3664-3630-A99E3EFC57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9" creationId="{68638270-30F0-9936-C8A6-BAB685488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0" creationId="{D3DF84AC-B16C-674A-06A0-5BECA0C9A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3" creationId="{3F004F4B-1B56-27E3-B963-18B1CAE0CC0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68180181" sldId="214748405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3" creationId="{19FAEB4F-DBB7-31DF-438C-7C91DAD4D9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0" creationId="{ED98C7A9-0033-A08C-5C2C-6910B5E66D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1" creationId="{CCD0D2FD-01B8-FE51-DDAB-0CD8DD4EC5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2" creationId="{09220BB3-7853-D956-8C4C-B3FD3887561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3" creationId="{53D0DB1F-A6EA-AECF-A117-E753C44395E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4" creationId="{24AE2FE3-6FA3-4900-16ED-D0812C6C0D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460688216" sldId="214748405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9" creationId="{FB0240B5-53DE-E0D1-1D5B-AFBA09737C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5" creationId="{9183E717-A409-A034-5344-1947E3F983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6" creationId="{25C242D0-2328-C358-F50B-AFCBA02790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7" creationId="{491F5A2B-72AD-5B1E-1630-FEB88892F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9" creationId="{72F79ED0-1F83-0104-4637-7DB4EA70741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39735079" sldId="214748405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2" creationId="{5307EEEF-16DC-51E8-05EA-1F6E66B8AB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6" creationId="{65A86A6E-D0EF-949C-8C67-0573A2ABD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7" creationId="{B030D65C-F831-C537-C0CD-5D2246DC4DB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8" creationId="{37E69513-40FB-5D75-6BE6-82A63FAB8F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99584600" sldId="214748406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44" creationId="{3B81DD67-9485-2892-F206-E91C7ED5040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0" creationId="{709A4940-D1BB-7013-F2FE-DACDC2AAE6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1" creationId="{D9A72C90-D9E8-D491-3497-24DB531EE6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0" creationId="{718DD6F0-5DCD-0835-B530-18A8F025BE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3" creationId="{DD510472-5924-8787-2C9E-08AC89F6299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4" creationId="{93B5743B-317B-CC4D-E4AF-4C26D1392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0" creationId="{8D5DB854-0C4A-401B-87E8-5CAEA904F3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3" creationId="{DE2714AF-4313-7AA1-D7CD-E39C0A1F07D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7" creationId="{92567D26-CC94-BD45-CF55-A29A4E477F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9" creationId="{9D4D08CE-4663-A5B8-3FEA-01A045F65D3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63764346" sldId="214748406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8" creationId="{B20CC769-A58F-89B1-9B4D-4242345AA6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1" creationId="{3EC6947C-841E-3FA9-114B-E3D478A0F9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4" creationId="{C5905E4E-9C03-893D-2D65-9DF29B1CD2B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4226902619" sldId="214748406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2" creationId="{B2A87585-ED95-8AF2-4595-9E941DC9E8A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83506434" sldId="214748406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5" creationId="{09F1385C-E183-4949-1E52-945BDAAEC8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2708900" sldId="214748406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0" creationId="{12157443-656C-E355-D086-838984BEEC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476880310" sldId="214748406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2" creationId="{22E4AAB0-21A6-A5E6-8408-219CAA2653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3" creationId="{2CE54221-5DBA-0D99-431D-6AD1DF6DC08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4" creationId="{D7CBDAE4-87B4-6E80-BB22-1E1B55D468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5" creationId="{D63D7C9D-0E4E-53F0-D6B2-88D08609625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39574710" sldId="214748406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9736171" sldId="214748406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0" creationId="{3278752C-0CAC-0916-7122-97587E9A4F7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1" creationId="{D02DDEC1-56EC-AEEF-00A6-506612D9AEAE}"/>
            </ac:spMkLst>
          </pc:spChg>
        </pc:sldLayoutChg>
      </pc:sldMasterChg>
      <pc:sldMasterChg chg="del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4279153857" sldId="2147483979"/>
        </pc:sldMasterMkLst>
      </pc:sldMasterChg>
    </pc:docChg>
  </pc:docChgLst>
  <pc:docChgLst>
    <pc:chgData name="Charlene Tsai (TW)" userId="68b0f2d0-7915-4c79-b8c7-c12efc493c51" providerId="ADAL" clId="{0A7DE034-796F-4C2D-AE47-9095C649598E}"/>
    <pc:docChg chg="undo custSel addSld delSld modSld sldOrd addSection delSection modSection">
      <pc:chgData name="Charlene Tsai (TW)" userId="68b0f2d0-7915-4c79-b8c7-c12efc493c51" providerId="ADAL" clId="{0A7DE034-796F-4C2D-AE47-9095C649598E}" dt="2026-08-13T08:42:14.023" v="81" actId="207"/>
      <pc:docMkLst>
        <pc:docMk/>
      </pc:docMkLst>
      <pc:sldChg chg="add">
        <pc:chgData name="Charlene Tsai (TW)" userId="68b0f2d0-7915-4c79-b8c7-c12efc493c51" providerId="ADAL" clId="{0A7DE034-796F-4C2D-AE47-9095C649598E}" dt="2026-08-13T08:20:30.789" v="49"/>
        <pc:sldMkLst>
          <pc:docMk/>
          <pc:sldMk cId="1607610444" sldId="25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71000337" sldId="25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236025896" sldId="25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448374888" sldId="26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977424334" sldId="26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625510049" sldId="26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680653814" sldId="263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13310017" sldId="26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57538159" sldId="265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662060182" sldId="26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552041981" sldId="267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283832621" sldId="26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399921275" sldId="26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00775308" sldId="270"/>
        </pc:sldMkLst>
      </pc:sldChg>
      <pc:sldChg chg="modSp add mod">
        <pc:chgData name="Charlene Tsai (TW)" userId="68b0f2d0-7915-4c79-b8c7-c12efc493c51" providerId="ADAL" clId="{0A7DE034-796F-4C2D-AE47-9095C649598E}" dt="2026-08-13T08:42:02.561" v="80" actId="207"/>
        <pc:sldMkLst>
          <pc:docMk/>
          <pc:sldMk cId="272960212" sldId="271"/>
        </pc:sldMkLst>
        <pc:spChg chg="mod">
          <ac:chgData name="Charlene Tsai (TW)" userId="68b0f2d0-7915-4c79-b8c7-c12efc493c51" providerId="ADAL" clId="{0A7DE034-796F-4C2D-AE47-9095C649598E}" dt="2026-08-13T08:42:02.561" v="80" actId="207"/>
          <ac:spMkLst>
            <pc:docMk/>
            <pc:sldMk cId="272960212" sldId="271"/>
            <ac:spMk id="3" creationId="{541DBE09-1AFC-C842-B6EC-B78EC10A12EB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420393673" sldId="272"/>
        </pc:sldMkLst>
      </pc:sldChg>
      <pc:sldChg chg="modSp add">
        <pc:chgData name="Charlene Tsai (TW)" userId="68b0f2d0-7915-4c79-b8c7-c12efc493c51" providerId="ADAL" clId="{0A7DE034-796F-4C2D-AE47-9095C649598E}" dt="2026-08-13T08:42:14.023" v="81" actId="207"/>
        <pc:sldMkLst>
          <pc:docMk/>
          <pc:sldMk cId="1015997899" sldId="273"/>
        </pc:sldMkLst>
        <pc:spChg chg="mod">
          <ac:chgData name="Charlene Tsai (TW)" userId="68b0f2d0-7915-4c79-b8c7-c12efc493c51" providerId="ADAL" clId="{0A7DE034-796F-4C2D-AE47-9095C649598E}" dt="2026-08-13T08:42:14.023" v="81" actId="207"/>
          <ac:spMkLst>
            <pc:docMk/>
            <pc:sldMk cId="1015997899" sldId="273"/>
            <ac:spMk id="9217" creationId="{104A2E4A-87E2-024E-8666-D1692700680D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756676771" sldId="27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86133829" sldId="27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627087772" sldId="276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991716889" sldId="277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461893677" sldId="278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26896675" sldId="27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44310491" sldId="28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021729379" sldId="28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822418120" sldId="28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768249001" sldId="283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94294223" sldId="28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702774237" sldId="28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429845718" sldId="286"/>
        </pc:sldMkLst>
      </pc:sldChg>
      <pc:sldChg chg="add del">
        <pc:chgData name="Charlene Tsai (TW)" userId="68b0f2d0-7915-4c79-b8c7-c12efc493c51" providerId="ADAL" clId="{0A7DE034-796F-4C2D-AE47-9095C649598E}" dt="2026-08-13T08:38:45.628" v="67"/>
        <pc:sldMkLst>
          <pc:docMk/>
          <pc:sldMk cId="1508368365" sldId="287"/>
        </pc:sldMkLst>
      </pc:sldChg>
      <pc:sldChg chg="add">
        <pc:chgData name="Charlene Tsai (TW)" userId="68b0f2d0-7915-4c79-b8c7-c12efc493c51" providerId="ADAL" clId="{0A7DE034-796F-4C2D-AE47-9095C649598E}" dt="2026-08-13T08:40:08.748" v="73"/>
        <pc:sldMkLst>
          <pc:docMk/>
          <pc:sldMk cId="977793746" sldId="288"/>
        </pc:sldMkLst>
      </pc:sldChg>
      <pc:sldChg chg="add ord">
        <pc:chgData name="Charlene Tsai (TW)" userId="68b0f2d0-7915-4c79-b8c7-c12efc493c51" providerId="ADAL" clId="{0A7DE034-796F-4C2D-AE47-9095C649598E}" dt="2026-08-13T08:40:21.830" v="76"/>
        <pc:sldMkLst>
          <pc:docMk/>
          <pc:sldMk cId="4069544170" sldId="289"/>
        </pc:sldMkLst>
      </pc:sldChg>
      <pc:sldChg chg="add ord">
        <pc:chgData name="Charlene Tsai (TW)" userId="68b0f2d0-7915-4c79-b8c7-c12efc493c51" providerId="ADAL" clId="{0A7DE034-796F-4C2D-AE47-9095C649598E}" dt="2026-08-13T08:39:38.404" v="70"/>
        <pc:sldMkLst>
          <pc:docMk/>
          <pc:sldMk cId="2290726905" sldId="290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1474795709" sldId="291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0" sldId="292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79893034" sldId="293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23802687" sldId="294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866047460" sldId="295"/>
        </pc:sldMkLst>
      </pc:sldChg>
      <pc:sldChg chg="ord">
        <pc:chgData name="Charlene Tsai (TW)" userId="68b0f2d0-7915-4c79-b8c7-c12efc493c51" providerId="ADAL" clId="{0A7DE034-796F-4C2D-AE47-9095C649598E}" dt="2026-08-13T08:17:43.831" v="32"/>
        <pc:sldMkLst>
          <pc:docMk/>
          <pc:sldMk cId="3708291182" sldId="4121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375783746" sldId="214747171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70756490" sldId="2147471720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992608161" sldId="2147471721"/>
        </pc:sldMkLst>
      </pc:sldChg>
      <pc:sldChg chg="add">
        <pc:chgData name="Charlene Tsai (TW)" userId="68b0f2d0-7915-4c79-b8c7-c12efc493c51" providerId="ADAL" clId="{0A7DE034-796F-4C2D-AE47-9095C649598E}" dt="2026-08-13T08:19:26.254" v="44"/>
        <pc:sldMkLst>
          <pc:docMk/>
          <pc:sldMk cId="215186150" sldId="2147471831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1160389668" sldId="2147483632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4193839879" sldId="2147483633"/>
        </pc:sldMkLst>
      </pc:sldChg>
      <pc:sldChg chg="add ord">
        <pc:chgData name="Charlene Tsai (TW)" userId="68b0f2d0-7915-4c79-b8c7-c12efc493c51" providerId="ADAL" clId="{0A7DE034-796F-4C2D-AE47-9095C649598E}" dt="2026-08-13T08:17:55.357" v="36"/>
        <pc:sldMkLst>
          <pc:docMk/>
          <pc:sldMk cId="3693095151" sldId="2147483644"/>
        </pc:sldMkLst>
      </pc:sldChg>
      <pc:sldChg chg="add">
        <pc:chgData name="Charlene Tsai (TW)" userId="68b0f2d0-7915-4c79-b8c7-c12efc493c51" providerId="ADAL" clId="{0A7DE034-796F-4C2D-AE47-9095C649598E}" dt="2026-08-13T08:19:33.136" v="45"/>
        <pc:sldMkLst>
          <pc:docMk/>
          <pc:sldMk cId="1652456660" sldId="2147483645"/>
        </pc:sldMkLst>
      </pc:sldChg>
      <pc:sldChg chg="add del">
        <pc:chgData name="Charlene Tsai (TW)" userId="68b0f2d0-7915-4c79-b8c7-c12efc493c51" providerId="ADAL" clId="{0A7DE034-796F-4C2D-AE47-9095C649598E}" dt="2026-08-13T08:19:11.646" v="43"/>
        <pc:sldMkLst>
          <pc:docMk/>
          <pc:sldMk cId="2351879941" sldId="2147483647"/>
        </pc:sldMkLst>
      </pc:sldChg>
      <pc:sldMasterChg chg="delSldLayout">
        <pc:chgData name="Charlene Tsai (TW)" userId="68b0f2d0-7915-4c79-b8c7-c12efc493c51" providerId="ADAL" clId="{0A7DE034-796F-4C2D-AE47-9095C649598E}" dt="2026-08-13T08:17:22.071" v="24" actId="47"/>
        <pc:sldMasterMkLst>
          <pc:docMk/>
          <pc:sldMasterMk cId="627376471" sldId="2147483672"/>
        </pc:sldMasterMkLst>
      </pc:sldMasterChg>
    </pc:docChg>
  </pc:docChgLst>
  <pc:docChgLst>
    <pc:chgData name="Tony TJ Wang (TW)" userId="S::tony.tj.wang@pwc.com::18033001-5856-41bf-97cd-f021b2ea7695" providerId="AD" clId="Web-{01385F48-5DE5-14CF-FD55-8C71A0CF0FD8}"/>
    <pc:docChg chg="modSld">
      <pc:chgData name="Tony TJ Wang (TW)" userId="S::tony.tj.wang@pwc.com::18033001-5856-41bf-97cd-f021b2ea7695" providerId="AD" clId="Web-{01385F48-5DE5-14CF-FD55-8C71A0CF0FD8}" dt="2026-08-28T03:28:32.066" v="2" actId="20577"/>
      <pc:docMkLst>
        <pc:docMk/>
      </pc:docMkLst>
      <pc:sldChg chg="modSp">
        <pc:chgData name="Tony TJ Wang (TW)" userId="S::tony.tj.wang@pwc.com::18033001-5856-41bf-97cd-f021b2ea7695" providerId="AD" clId="Web-{01385F48-5DE5-14CF-FD55-8C71A0CF0FD8}" dt="2026-08-28T03:28:32.066" v="2" actId="20577"/>
        <pc:sldMkLst>
          <pc:docMk/>
          <pc:sldMk cId="106630151" sldId="297"/>
        </pc:sldMkLst>
        <pc:spChg chg="mod">
          <ac:chgData name="Tony TJ Wang (TW)" userId="S::tony.tj.wang@pwc.com::18033001-5856-41bf-97cd-f021b2ea7695" providerId="AD" clId="Web-{01385F48-5DE5-14CF-FD55-8C71A0CF0FD8}" dt="2026-08-28T03:28:32.066" v="2" actId="20577"/>
          <ac:spMkLst>
            <pc:docMk/>
            <pc:sldMk cId="106630151" sldId="297"/>
            <ac:spMk id="5" creationId="{FA068CB2-23AF-6FCE-7A50-CFDF4DCD3FE4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13348-FCAA-44C2-BC77-1D93D3828209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92AE7-3EEB-4206-9110-6E986C15B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839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Relationship Id="rId3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69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8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5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2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4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9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51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3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2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34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77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2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7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46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06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574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3"/>
            <a:ext cx="11453638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364" y="885381"/>
            <a:ext cx="11454336" cy="521144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0265C7-5AAC-0489-DEB2-CECC63DAC28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9226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1">
  <p:cSld name="Content and Image 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419a44a17_0_521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53181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g11419a44a17_0_521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5318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1" name="Google Shape;411;g11419a44a17_0_521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g11419a44a17_0_521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70543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6867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bi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67" y="400337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27041-E9DC-98BB-04D1-2512170C5B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48993" y="369719"/>
            <a:ext cx="5674707" cy="3002132"/>
          </a:xfrm>
        </p:spPr>
        <p:txBody>
          <a:bodyPr/>
          <a:lstStyle>
            <a:lvl2pPr>
              <a:defRPr sz="1600"/>
            </a:lvl2pPr>
          </a:lstStyle>
          <a:p>
            <a:pPr lvl="1"/>
            <a:r>
              <a:rPr lang="en-GB"/>
              <a:t>Second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6EC276-3627-6ED3-ACC7-6D690C9922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83549" y="5139323"/>
            <a:ext cx="3723271" cy="800100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54573B6-45C7-9732-9BBF-56F180D537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607" y="4151313"/>
            <a:ext cx="1454150" cy="17875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E5F59E5-3BCA-20EA-D3B3-B0654D078B1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C591AE-859C-530C-6837-BFB4DC8D4B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14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_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7487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2766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80458" y="1921687"/>
            <a:ext cx="3238917" cy="2047291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411CC0-34B1-721C-48C1-951AB61EF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4522183"/>
            <a:ext cx="1285875" cy="142557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A09CFC-44F1-8A22-B3B7-44568585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71038" y="5045453"/>
            <a:ext cx="2252662" cy="926722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65C518D-AE96-1571-E3A5-E43E3AFB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09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One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22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4002088"/>
            <a:ext cx="1812697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537C81-8D77-5257-7438-91D290209EF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59949" y="1922690"/>
            <a:ext cx="2782075" cy="3525610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18350" y="1923975"/>
            <a:ext cx="4705350" cy="352432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6026069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Two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6163" y="399891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918" y="192843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BA4CE36-EFF2-1254-C89C-04B58ADD5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1756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88EBCEF-BA40-9584-6AE5-C7A98252EE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1756" y="400337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B9101461-B876-7D7A-B834-0387E08CC08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62686" y="192397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267673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Three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6435" y="1926393"/>
            <a:ext cx="1815590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29005" y="4002088"/>
            <a:ext cx="1813020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923" y="3484563"/>
            <a:ext cx="2779851" cy="2487612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D98C7A9-0033-A08C-5C2C-6910B5E66D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20272" y="1926393"/>
            <a:ext cx="1800225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0D2FD-01B8-FE51-DDAB-0CD8DD4EC5C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0067" y="4002088"/>
            <a:ext cx="1821208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53D0DB1F-A6EA-AECF-A117-E753C44395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01616" y="1926393"/>
            <a:ext cx="1822084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24AE2FE3-6FA3-4900-16ED-D0812C6C0D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001616" y="3998913"/>
            <a:ext cx="1822084" cy="19732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FAEB4F-DBB7-31DF-438C-7C91DAD4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0001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Four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9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3489910"/>
            <a:ext cx="2778478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FB0240B5-53DE-E0D1-1D5B-AFBA09737C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59001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183E717-A409-A034-5344-1947E3F983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59001" y="3482975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5C242D0-2328-C358-F50B-AFCBA02790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3728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491F5A2B-72AD-5B1E-1630-FEB88892F6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53727" y="3489910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0FD4528-E035-DDBD-ED86-A241F5FEC8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7566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72F79ED0-1F83-0104-4637-7DB4EA70741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43105" y="3489910"/>
            <a:ext cx="2780595" cy="247533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2014018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1883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56882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51881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F3CA5-5DA4-19BC-80CC-97F86033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67C69A2-1E84-3664-3630-A99E3EFC573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68300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8638270-30F0-9936-C8A6-BAB68548884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58699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3DF84AC-B16C-674A-06A0-5BECA0C9A0E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56882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3F004F4B-1B56-27E3-B963-18B1CAE0CC0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051881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1070834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5576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50438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50438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7EEEF-16DC-51E8-05EA-1F6E66B8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364238-EEEC-3531-E9AD-360B61A33D4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257550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65A86A6E-D0EF-949C-8C67-0573A2ABD8E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257550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B030D65C-F831-C537-C0CD-5D2246DC4DBD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047263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37E69513-40FB-5D75-6BE6-82A63FAB8F4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047263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6770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A6F20-3183-89C9-54E7-E4ACDCA1BD19}"/>
              </a:ext>
            </a:extLst>
          </p:cNvPr>
          <p:cNvCxnSpPr/>
          <p:nvPr userDrawn="1"/>
        </p:nvCxnSpPr>
        <p:spPr>
          <a:xfrm>
            <a:off x="2850147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EEB207-28DC-549F-C2B0-58055E671FC9}"/>
              </a:ext>
            </a:extLst>
          </p:cNvPr>
          <p:cNvCxnSpPr/>
          <p:nvPr userDrawn="1"/>
        </p:nvCxnSpPr>
        <p:spPr>
          <a:xfrm>
            <a:off x="582181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947F83-D89B-6628-15F9-FAC5866A9E4E}"/>
              </a:ext>
            </a:extLst>
          </p:cNvPr>
          <p:cNvCxnSpPr/>
          <p:nvPr userDrawn="1"/>
        </p:nvCxnSpPr>
        <p:spPr>
          <a:xfrm>
            <a:off x="883514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3B81DD67-9485-2892-F206-E91C7ED50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2502" y="1406525"/>
            <a:ext cx="2093372" cy="19399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5" name="Picture Placeholder 43">
            <a:extLst>
              <a:ext uri="{FF2B5EF4-FFF2-40B4-BE49-F238E27FC236}">
                <a16:creationId xmlns:a16="http://schemas.microsoft.com/office/drawing/2014/main" id="{A75F1099-E20F-F9CE-1544-216F25D4B7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46664" y="1856615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6" name="Picture Placeholder 43">
            <a:extLst>
              <a:ext uri="{FF2B5EF4-FFF2-40B4-BE49-F238E27FC236}">
                <a16:creationId xmlns:a16="http://schemas.microsoft.com/office/drawing/2014/main" id="{54C049AD-B670-6FA8-478A-42246603A7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53717" y="2952825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9" name="Picture Placeholder 43">
            <a:extLst>
              <a:ext uri="{FF2B5EF4-FFF2-40B4-BE49-F238E27FC236}">
                <a16:creationId xmlns:a16="http://schemas.microsoft.com/office/drawing/2014/main" id="{DFCCFE31-D96A-03E7-8B0C-7C81DAE880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53717" y="37757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0" name="Picture Placeholder 43">
            <a:extLst>
              <a:ext uri="{FF2B5EF4-FFF2-40B4-BE49-F238E27FC236}">
                <a16:creationId xmlns:a16="http://schemas.microsoft.com/office/drawing/2014/main" id="{709A4940-D1BB-7013-F2FE-DACDC2AAE6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53717" y="45885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1" name="Picture Placeholder 43">
            <a:extLst>
              <a:ext uri="{FF2B5EF4-FFF2-40B4-BE49-F238E27FC236}">
                <a16:creationId xmlns:a16="http://schemas.microsoft.com/office/drawing/2014/main" id="{D9A72C90-D9E8-D491-3497-24DB531EE6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53717" y="540218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E0196963-74D4-62E4-DBA4-A28466BE510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73290" y="3484562"/>
            <a:ext cx="2093368" cy="245427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4" name="Content Placeholder 52">
            <a:extLst>
              <a:ext uri="{FF2B5EF4-FFF2-40B4-BE49-F238E27FC236}">
                <a16:creationId xmlns:a16="http://schemas.microsoft.com/office/drawing/2014/main" id="{46FE757E-B05C-D13A-2993-3097F76DD88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7167" y="1849501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5" name="Content Placeholder 52">
            <a:extLst>
              <a:ext uri="{FF2B5EF4-FFF2-40B4-BE49-F238E27FC236}">
                <a16:creationId xmlns:a16="http://schemas.microsoft.com/office/drawing/2014/main" id="{3CDDB1B6-64C0-315A-3605-A92DFB8E06C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98965" y="295598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6" name="Content Placeholder 52">
            <a:extLst>
              <a:ext uri="{FF2B5EF4-FFF2-40B4-BE49-F238E27FC236}">
                <a16:creationId xmlns:a16="http://schemas.microsoft.com/office/drawing/2014/main" id="{6C7C3849-49F9-942D-717C-41E2CBE8704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98965" y="3771791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7" name="Content Placeholder 52">
            <a:extLst>
              <a:ext uri="{FF2B5EF4-FFF2-40B4-BE49-F238E27FC236}">
                <a16:creationId xmlns:a16="http://schemas.microsoft.com/office/drawing/2014/main" id="{D54496E2-99F7-2A6B-0035-0EA0460E2E2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98965" y="4587594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8" name="Content Placeholder 52">
            <a:extLst>
              <a:ext uri="{FF2B5EF4-FFF2-40B4-BE49-F238E27FC236}">
                <a16:creationId xmlns:a16="http://schemas.microsoft.com/office/drawing/2014/main" id="{2010DB3D-EBE2-2E5B-0D78-F29E12395AE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798965" y="5399049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9" name="Picture Placeholder 43">
            <a:extLst>
              <a:ext uri="{FF2B5EF4-FFF2-40B4-BE49-F238E27FC236}">
                <a16:creationId xmlns:a16="http://schemas.microsoft.com/office/drawing/2014/main" id="{2B2BB839-9B2F-0F73-5CB1-3ADFE293FE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1073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0" name="Picture Placeholder 43">
            <a:extLst>
              <a:ext uri="{FF2B5EF4-FFF2-40B4-BE49-F238E27FC236}">
                <a16:creationId xmlns:a16="http://schemas.microsoft.com/office/drawing/2014/main" id="{718DD6F0-5DCD-0835-B530-18A8F025BEB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948126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1" name="Picture Placeholder 43">
            <a:extLst>
              <a:ext uri="{FF2B5EF4-FFF2-40B4-BE49-F238E27FC236}">
                <a16:creationId xmlns:a16="http://schemas.microsoft.com/office/drawing/2014/main" id="{4C142BCC-188D-696E-44E7-6A710E9A2A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48126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2" name="Picture Placeholder 43">
            <a:extLst>
              <a:ext uri="{FF2B5EF4-FFF2-40B4-BE49-F238E27FC236}">
                <a16:creationId xmlns:a16="http://schemas.microsoft.com/office/drawing/2014/main" id="{F1318988-B64A-06EE-187B-DC71BA9F29C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48126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3" name="Picture Placeholder 43">
            <a:extLst>
              <a:ext uri="{FF2B5EF4-FFF2-40B4-BE49-F238E27FC236}">
                <a16:creationId xmlns:a16="http://schemas.microsoft.com/office/drawing/2014/main" id="{DD510472-5924-8787-2C9E-08AC89F629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48126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4" name="Content Placeholder 52">
            <a:extLst>
              <a:ext uri="{FF2B5EF4-FFF2-40B4-BE49-F238E27FC236}">
                <a16:creationId xmlns:a16="http://schemas.microsoft.com/office/drawing/2014/main" id="{93B5743B-317B-CC4D-E4AF-4C26D139284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951576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5" name="Content Placeholder 52">
            <a:extLst>
              <a:ext uri="{FF2B5EF4-FFF2-40B4-BE49-F238E27FC236}">
                <a16:creationId xmlns:a16="http://schemas.microsoft.com/office/drawing/2014/main" id="{2DE2C93E-A220-A125-AB00-7242BE79F93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793374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6" name="Content Placeholder 52">
            <a:extLst>
              <a:ext uri="{FF2B5EF4-FFF2-40B4-BE49-F238E27FC236}">
                <a16:creationId xmlns:a16="http://schemas.microsoft.com/office/drawing/2014/main" id="{130A4148-657E-CA2A-AD39-C1C60B47A2E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793374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7" name="Content Placeholder 52">
            <a:extLst>
              <a:ext uri="{FF2B5EF4-FFF2-40B4-BE49-F238E27FC236}">
                <a16:creationId xmlns:a16="http://schemas.microsoft.com/office/drawing/2014/main" id="{3B8B5468-901B-7B82-D8D3-DF6F47B26B3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93374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8" name="Content Placeholder 52">
            <a:extLst>
              <a:ext uri="{FF2B5EF4-FFF2-40B4-BE49-F238E27FC236}">
                <a16:creationId xmlns:a16="http://schemas.microsoft.com/office/drawing/2014/main" id="{43B694E8-3A07-E3A2-9F3F-697F039D904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793374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9" name="Picture Placeholder 43">
            <a:extLst>
              <a:ext uri="{FF2B5EF4-FFF2-40B4-BE49-F238E27FC236}">
                <a16:creationId xmlns:a16="http://schemas.microsoft.com/office/drawing/2014/main" id="{E19D1C64-222F-0744-20C8-0662359E691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33778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0" name="Picture Placeholder 43">
            <a:extLst>
              <a:ext uri="{FF2B5EF4-FFF2-40B4-BE49-F238E27FC236}">
                <a16:creationId xmlns:a16="http://schemas.microsoft.com/office/drawing/2014/main" id="{8D5DB854-0C4A-401B-87E8-5CAEA904F35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940831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1" name="Picture Placeholder 43">
            <a:extLst>
              <a:ext uri="{FF2B5EF4-FFF2-40B4-BE49-F238E27FC236}">
                <a16:creationId xmlns:a16="http://schemas.microsoft.com/office/drawing/2014/main" id="{BB0B7C6F-E2B7-F7E6-056F-E3FF400CB9C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940831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2" name="Picture Placeholder 43">
            <a:extLst>
              <a:ext uri="{FF2B5EF4-FFF2-40B4-BE49-F238E27FC236}">
                <a16:creationId xmlns:a16="http://schemas.microsoft.com/office/drawing/2014/main" id="{77751A25-C2A3-B5B4-8FBB-127A6616BD8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40831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3" name="Picture Placeholder 43">
            <a:extLst>
              <a:ext uri="{FF2B5EF4-FFF2-40B4-BE49-F238E27FC236}">
                <a16:creationId xmlns:a16="http://schemas.microsoft.com/office/drawing/2014/main" id="{DE2714AF-4313-7AA1-D7CD-E39C0A1F07D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40831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4" name="Content Placeholder 52">
            <a:extLst>
              <a:ext uri="{FF2B5EF4-FFF2-40B4-BE49-F238E27FC236}">
                <a16:creationId xmlns:a16="http://schemas.microsoft.com/office/drawing/2014/main" id="{B8073BB6-ACFE-F384-C36D-E495A757AB9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944281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5" name="Content Placeholder 52">
            <a:extLst>
              <a:ext uri="{FF2B5EF4-FFF2-40B4-BE49-F238E27FC236}">
                <a16:creationId xmlns:a16="http://schemas.microsoft.com/office/drawing/2014/main" id="{1A1F259C-8EB0-5D96-40FD-D099944BF340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786079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6" name="Content Placeholder 52">
            <a:extLst>
              <a:ext uri="{FF2B5EF4-FFF2-40B4-BE49-F238E27FC236}">
                <a16:creationId xmlns:a16="http://schemas.microsoft.com/office/drawing/2014/main" id="{D3C41004-FFC5-4EB9-1545-D7B24B936B2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9786079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7" name="Content Placeholder 52">
            <a:extLst>
              <a:ext uri="{FF2B5EF4-FFF2-40B4-BE49-F238E27FC236}">
                <a16:creationId xmlns:a16="http://schemas.microsoft.com/office/drawing/2014/main" id="{92567D26-CC94-BD45-CF55-A29A4E477FFB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786079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8" name="Content Placeholder 52">
            <a:extLst>
              <a:ext uri="{FF2B5EF4-FFF2-40B4-BE49-F238E27FC236}">
                <a16:creationId xmlns:a16="http://schemas.microsoft.com/office/drawing/2014/main" id="{B6E43B1D-4477-345E-4E27-069457E30EB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9786079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9" name="Content Placeholder 52">
            <a:extLst>
              <a:ext uri="{FF2B5EF4-FFF2-40B4-BE49-F238E27FC236}">
                <a16:creationId xmlns:a16="http://schemas.microsoft.com/office/drawing/2014/main" id="{9D4D08CE-4663-A5B8-3FEA-01A045F65D32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295371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0" name="Content Placeholder 52">
            <a:extLst>
              <a:ext uri="{FF2B5EF4-FFF2-40B4-BE49-F238E27FC236}">
                <a16:creationId xmlns:a16="http://schemas.microsoft.com/office/drawing/2014/main" id="{CD74F49C-4668-965D-013F-EA197AFED4F2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5939624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1" name="Content Placeholder 52">
            <a:extLst>
              <a:ext uri="{FF2B5EF4-FFF2-40B4-BE49-F238E27FC236}">
                <a16:creationId xmlns:a16="http://schemas.microsoft.com/office/drawing/2014/main" id="{58583576-3574-8BBB-274A-DDAF2CF9A77B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893377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8A9746-3FB8-5A95-9B1B-4D051BFC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7839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495320"/>
            <a:ext cx="3719076" cy="2451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690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514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901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4AAB0-21A6-A5E6-8408-219CAA26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E54221-5DBA-0D99-431D-6AD1DF6DC08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1639" y="3998913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D7CBDAE4-87B4-6E80-BB22-1E1B55D4682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9454" y="4002088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D63D7C9D-0E4E-53F0-D6B2-88D0860962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5215" y="1428751"/>
            <a:ext cx="3716812" cy="4515434"/>
          </a:xfrm>
          <a:solidFill>
            <a:srgbClr val="FFF5ED"/>
          </a:solidFill>
        </p:spPr>
        <p:txBody>
          <a:bodyPr lIns="144000" tIns="144000" rIns="144000" bIns="14400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37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5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18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339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36188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120932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232766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308132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93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874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280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255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893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959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04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956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0815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82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33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360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644289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576547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362653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051333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212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410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266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3224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132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963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0485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2466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3800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84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39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516736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728434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0601549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2917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459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899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283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200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9744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514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691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2280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2001" y="368300"/>
            <a:ext cx="4711700" cy="3003550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31A1-36E4-05EF-6AB7-93A548B9DE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039225" y="3492500"/>
            <a:ext cx="2784475" cy="24796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89952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373155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2188" y="373155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52188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121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x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52" y="3485833"/>
            <a:ext cx="2575470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8994" y="373290"/>
            <a:ext cx="2765424" cy="2777490"/>
          </a:xfrm>
          <a:prstGeom prst="rect">
            <a:avLst/>
          </a:prstGeo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11235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0511" y="373290"/>
            <a:ext cx="2765424" cy="2777490"/>
          </a:xfrm>
          <a:prstGeom prst="rect">
            <a:avLst/>
          </a:prstGeo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2752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8994" y="3281527"/>
            <a:ext cx="2765424" cy="2777490"/>
          </a:xfrm>
          <a:prstGeom prst="rect">
            <a:avLst/>
          </a:prstGeom>
          <a:solidFill>
            <a:srgbClr val="FFCDA8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1235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0511" y="3281527"/>
            <a:ext cx="2765424" cy="2777490"/>
          </a:xfrm>
          <a:prstGeom prst="rect">
            <a:avLst/>
          </a:prstGeom>
          <a:solidFill>
            <a:srgbClr val="FFF5ED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202752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670FEE5-9E0A-0502-9064-02C2958C24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9617" y="373290"/>
            <a:ext cx="2765424" cy="2777490"/>
          </a:xfrm>
          <a:prstGeom prst="rect">
            <a:avLst/>
          </a:prstGeom>
          <a:solidFill>
            <a:schemeClr val="accent2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347B6220-EA18-FCE3-B24E-B96EEBDB79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1858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0CC769-A58F-89B1-9B4D-4242345AA6F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9617" y="3281527"/>
            <a:ext cx="2765424" cy="2777490"/>
          </a:xfrm>
          <a:prstGeom prst="rect">
            <a:avLst/>
          </a:prstGeom>
          <a:solidFill>
            <a:schemeClr val="accent3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A5CE9CF-2B9A-9CCE-16EB-AF781F3473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21858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3243295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27520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17858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2439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5576" y="1408288"/>
            <a:ext cx="5237163" cy="4510088"/>
          </a:xfrm>
        </p:spPr>
        <p:txBody>
          <a:bodyPr/>
          <a:lstStyle/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87585-ED95-8AF2-4595-9E941DC9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9026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4.xml"/><Relationship Id="rId3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88.xml"/><Relationship Id="rId2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BCCF403-77F5-E64B-B3A1-43CAED52C50B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Lato Light" panose="020F050202020403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FA0A0-434E-E340-A675-5E45B45DDFED}"/>
              </a:ext>
            </a:extLst>
          </p:cNvPr>
          <p:cNvSpPr txBox="1"/>
          <p:nvPr userDrawn="1"/>
        </p:nvSpPr>
        <p:spPr>
          <a:xfrm>
            <a:off x="11208878" y="453222"/>
            <a:ext cx="1891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737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2"/>
          </a:solidFill>
          <a:latin typeface="Poppins" pitchFamily="2" charset="77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87DDA4-93F2-7A45-9BB3-0ED68A4AA170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Poppins Ligh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132A2-AB80-A845-8566-11C55587F84F}"/>
              </a:ext>
            </a:extLst>
          </p:cNvPr>
          <p:cNvSpPr txBox="1"/>
          <p:nvPr userDrawn="1"/>
        </p:nvSpPr>
        <p:spPr>
          <a:xfrm>
            <a:off x="11203853" y="442590"/>
            <a:ext cx="17793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6939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000" b="1" i="0" kern="120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9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6" r:id="rId16"/>
    <p:sldLayoutId id="2147483697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4068" r:id="rId29"/>
    <p:sldLayoutId id="2147484069" r:id="rId30"/>
    <p:sldLayoutId id="2147484070" r:id="rId31"/>
    <p:sldLayoutId id="2147484071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1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827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6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904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6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75" r:id="rId16"/>
    <p:sldLayoutId id="2147483976" r:id="rId17"/>
    <p:sldLayoutId id="2147483977" r:id="rId18"/>
    <p:sldLayoutId id="2147483978" r:id="rId19"/>
    <p:sldLayoutId id="2147483998" r:id="rId20"/>
    <p:sldLayoutId id="2147484045" r:id="rId21"/>
    <p:sldLayoutId id="2147484062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>
                <a:latin typeface="Microsoft JhengHei"/>
              </a:rPr>
              <a:t>保險 AI 進入規模化落地期：</a:t>
            </a:r>
          </a:p>
          <a:p>
            <a:r>
              <a:rPr sz="2800">
                <a:latin typeface="Microsoft JhengHei"/>
              </a:rPr>
              <a:t>FSC1 建議先推兩項服務包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>
                <a:latin typeface="Microsoft JhengHei"/>
              </a:rPr>
              <a:t>FSC1 保險組｜服務優先順序討論會｜2026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今天要回答一個問題、做四個決定：先推哪兩項服務、誰負責、90 天內交付什麼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280160"/>
            <a:ext cx="11384280" cy="7315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核心問題　</a:t>
            </a:r>
            <a:r>
              <a:rPr sz="1500" b="0">
                <a:solidFill>
                  <a:srgbClr val="FFFFFF"/>
                </a:solidFill>
                <a:latin typeface="Microsoft JhengHei"/>
              </a:rPr>
              <a:t>未來 12 個月，FSC1 保險組應優先把哪些保險科技機會做成可銷售的服務，並在 2026 年的需求窗口內拿下首案？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2240280"/>
            <a:ext cx="553212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D5108"/>
                </a:solidFill>
                <a:latin typeface="Microsoft JhengHei"/>
              </a:rPr>
              <a:t>今天討論的範圍 ✓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2670048"/>
            <a:ext cx="5532120" cy="0"/>
          </a:xfrm>
          <a:prstGeom prst="line">
            <a:avLst/>
          </a:prstGeom>
          <a:ln w="1905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1480" y="2761488"/>
            <a:ext cx="5532120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E1E1E"/>
                </a:solidFill>
                <a:latin typeface="Microsoft JhengHei"/>
              </a:rPr>
              <a:t>・全球與亞太過去 18 個月的保險科技變化，對台灣壽險與產險的意涵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328416"/>
            <a:ext cx="5532120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E1E1E"/>
                </a:solidFill>
                <a:latin typeface="Microsoft JhengHei"/>
              </a:rPr>
              <a:t>・四條既有服務線（AI 治理、數據應用、核心系統、人力委外）可以承接的機會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895344"/>
            <a:ext cx="5532120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E1E1E"/>
                </a:solidFill>
                <a:latin typeface="Microsoft JhengHei"/>
              </a:rPr>
              <a:t>・第一波服務包的切入方式、負責人與 90 天行動計畫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2240280"/>
            <a:ext cx="553212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E1E1E"/>
                </a:solidFill>
                <a:latin typeface="Microsoft JhengHei"/>
              </a:rPr>
              <a:t>不在今天範圍 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72200" y="2670048"/>
            <a:ext cx="5532120" cy="0"/>
          </a:xfrm>
          <a:prstGeom prst="line">
            <a:avLst/>
          </a:prstGeom>
          <a:ln w="1905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172200" y="2761488"/>
            <a:ext cx="5532120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E1E1E"/>
                </a:solidFill>
                <a:latin typeface="Microsoft JhengHei"/>
              </a:rPr>
              <a:t>・個別客戶的提案內容與報價（另案處理）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3328416"/>
            <a:ext cx="5532120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E1E1E"/>
                </a:solidFill>
                <a:latin typeface="Microsoft JhengHei"/>
              </a:rPr>
              <a:t>・自建保險科技產品或對外投資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895344"/>
            <a:ext cx="5532120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1E1E1E"/>
                </a:solidFill>
                <a:latin typeface="Microsoft JhengHei"/>
              </a:rPr>
              <a:t>・對外發布研究報告（本稿數字尚待回原文核對）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572000"/>
            <a:ext cx="11384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D5108"/>
                </a:solidFill>
                <a:latin typeface="Microsoft JhengHei"/>
              </a:rPr>
              <a:t>今天請決定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5029200"/>
            <a:ext cx="457200" cy="4572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4983480"/>
            <a:ext cx="2194560" cy="5486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E1E1E"/>
                </a:solidFill>
                <a:latin typeface="Microsoft JhengHei"/>
              </a:rPr>
              <a:t>第一波推哪兩項服務</a:t>
            </a:r>
          </a:p>
        </p:txBody>
      </p:sp>
      <p:sp>
        <p:nvSpPr>
          <p:cNvPr id="17" name="Oval 16"/>
          <p:cNvSpPr/>
          <p:nvPr/>
        </p:nvSpPr>
        <p:spPr>
          <a:xfrm>
            <a:off x="3291840" y="5029200"/>
            <a:ext cx="457200" cy="4572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4983480"/>
            <a:ext cx="2194560" cy="5486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E1E1E"/>
                </a:solidFill>
                <a:latin typeface="Microsoft JhengHei"/>
              </a:rPr>
              <a:t>每項服務包的負責人</a:t>
            </a:r>
          </a:p>
        </p:txBody>
      </p:sp>
      <p:sp>
        <p:nvSpPr>
          <p:cNvPr id="19" name="Oval 18"/>
          <p:cNvSpPr/>
          <p:nvPr/>
        </p:nvSpPr>
        <p:spPr>
          <a:xfrm>
            <a:off x="6172200" y="5029200"/>
            <a:ext cx="457200" cy="4572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4983480"/>
            <a:ext cx="2194560" cy="5486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E1E1E"/>
                </a:solidFill>
                <a:latin typeface="Microsoft JhengHei"/>
              </a:rPr>
              <a:t>90 天計畫與檢查點</a:t>
            </a:r>
          </a:p>
        </p:txBody>
      </p:sp>
      <p:sp>
        <p:nvSpPr>
          <p:cNvPr id="21" name="Oval 20"/>
          <p:cNvSpPr/>
          <p:nvPr/>
        </p:nvSpPr>
        <p:spPr>
          <a:xfrm>
            <a:off x="9052559" y="5029200"/>
            <a:ext cx="457200" cy="4572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199" y="4983480"/>
            <a:ext cx="2194560" cy="5486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E1E1E"/>
                </a:solidFill>
                <a:latin typeface="Microsoft JhengHei"/>
              </a:rPr>
              <a:t>研討會 AI 短片的主題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108192"/>
            <a:ext cx="11338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建議方案見第 3 頁（重點摘要）與第 19 頁（決策事項）。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重點摘要：需求已到、窗口在 2026 年，建議以 IFRS 17 與 AI 治理兩項服務包先行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280160"/>
            <a:ext cx="3383280" cy="3657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645919"/>
            <a:ext cx="3383280" cy="111556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保險業 AI 已從試點走向規模化：2026 Q1 全球保險科技募資 95.2% 流向 AI；63% 企業已把 AI 投入營運。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2852928"/>
            <a:ext cx="3383280" cy="3657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衝突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218688"/>
            <a:ext cx="3383280" cy="111556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但 95% 投資 AI 的企業還看不到財務回報；台灣同時面對 IFRS 17／TW-ICS 首年出表與 AI 指引落地查核。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4425696"/>
            <a:ext cx="3383280" cy="3657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問題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4791456"/>
            <a:ext cx="3383280" cy="111556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FSC1 該先把哪些機會做成服務，才能在 2026 年的窗口內拿下首案？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86200" y="3108960"/>
            <a:ext cx="320040" cy="457200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7498079" cy="9601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建議　</a:t>
            </a:r>
            <a:r>
              <a:rPr sz="1500" b="1">
                <a:solidFill>
                  <a:srgbClr val="FFFFFF"/>
                </a:solidFill>
                <a:latin typeface="Microsoft JhengHei"/>
              </a:rPr>
              <a:t>第一波先推 2 項服務包：① IFRS 17／TW-ICS 後財務轉型　② AI 清冊、模型驗證與護欄。另 3 項列為第二波。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0" y="2240280"/>
            <a:ext cx="0" cy="228600"/>
          </a:xfrm>
          <a:prstGeom prst="line">
            <a:avLst/>
          </a:prstGeom>
          <a:ln w="1905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297680" y="2468880"/>
            <a:ext cx="2395728" cy="5029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D5108"/>
                </a:solidFill>
                <a:latin typeface="Microsoft JhengHei"/>
              </a:rPr>
              <a:t>需求確定、有時限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017520"/>
            <a:ext cx="2395728" cy="18288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・2026-01-01 正式接軌，首年結帳仍高度人工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・金管會 AI 指引與公會自律規範帶來查核壓力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10144" y="2240280"/>
            <a:ext cx="0" cy="228600"/>
          </a:xfrm>
          <a:prstGeom prst="line">
            <a:avLst/>
          </a:prstGeom>
          <a:ln w="1905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821424" y="2468880"/>
            <a:ext cx="2395728" cy="5029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D5108"/>
                </a:solidFill>
                <a:latin typeface="Microsoft JhengHei"/>
              </a:rPr>
              <a:t>離既有服務最近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21424" y="3017520"/>
            <a:ext cx="2395728" cy="18288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・延伸既有駐點團隊與 AI 治理服務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・不需新增技術夥伴，可用短期診斷或健檢切入（AI 治理健檢 4–6 週）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33888" y="2240280"/>
            <a:ext cx="0" cy="228600"/>
          </a:xfrm>
          <a:prstGeom prst="line">
            <a:avLst/>
          </a:prstGeom>
          <a:ln w="1905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345167" y="2468880"/>
            <a:ext cx="2395728" cy="5029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D5108"/>
                </a:solidFill>
                <a:latin typeface="Microsoft JhengHei"/>
              </a:rPr>
              <a:t>能帶出長期合作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45167" y="3017520"/>
            <a:ext cx="2395728" cy="18288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・治理與財務資料是代理型 AI、核心現代化的前置條件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・可延伸為第二波三項服務與 1–3 年人力委外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5029200"/>
            <a:ext cx="7498079" cy="8686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D5108"/>
                </a:solidFill>
                <a:latin typeface="Microsoft JhengHei"/>
              </a:rPr>
              <a:t>今天請決定：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1E1E"/>
                </a:solidFill>
                <a:latin typeface="Microsoft JhengHei"/>
              </a:rPr>
              <a:t>同意第一波兩項服務、指派各 1 位負責人、核定 90 天計畫與第 4／8／12 週檢查點。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108192"/>
            <a:ext cx="11338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來源：Gallagher Re Global InsurTech Report Q1 2026（2026-05）；Bain 引述 MIT（2026-01）；金管會公告。數字待回原文核對。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我們把問題拆成三個子問題：需求在哪裡、我們能不能贏、怎麼開始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234440"/>
            <a:ext cx="21031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Microsoft JhengHei"/>
              </a:rPr>
              <a:t>核心問題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234440"/>
            <a:ext cx="237744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Microsoft JhengHei"/>
              </a:rPr>
              <a:t>子問題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349240" y="1234440"/>
            <a:ext cx="30175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Microsoft JhengHei"/>
              </a:rPr>
              <a:t>要回答的問題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0" y="1234440"/>
            <a:ext cx="251460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Microsoft JhengHei"/>
              </a:rPr>
              <a:t>初步答案（假設）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64240" y="1234440"/>
            <a:ext cx="73152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Microsoft JhengHei"/>
              </a:rPr>
              <a:t>狀態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2103120" cy="433425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未來 12 個月，FSC1 應優先把哪些保險科技機會做成可銷售的服務？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33472" y="2286000"/>
            <a:ext cx="0" cy="2962656"/>
          </a:xfrm>
          <a:prstGeom prst="line">
            <a:avLst/>
          </a:prstGeom>
          <a:ln w="1905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14600" y="2286000"/>
            <a:ext cx="228600" cy="0"/>
          </a:xfrm>
          <a:prstGeom prst="line">
            <a:avLst/>
          </a:prstGeom>
          <a:ln w="1905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0" y="1600200"/>
            <a:ext cx="2377440" cy="13716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D5108"/>
                </a:solidFill>
                <a:latin typeface="Microsoft JhengHei"/>
              </a:rPr>
              <a:t>A　需求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1E1E"/>
                </a:solidFill>
                <a:latin typeface="Microsoft JhengHei"/>
              </a:rPr>
              <a:t>哪些機會的需求明確且有時限？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30368" y="1938528"/>
            <a:ext cx="0" cy="694944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120640" y="1938528"/>
            <a:ext cx="228600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349240" y="1600200"/>
            <a:ext cx="3017520" cy="65836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全球資金與預算往哪裡走？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1600200"/>
            <a:ext cx="2514600" cy="658368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預算全面轉向 AI，但落地回報不足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p.6</a:t>
            </a:r>
          </a:p>
        </p:txBody>
      </p:sp>
      <p:sp>
        <p:nvSpPr>
          <p:cNvPr id="16" name="Oval 15"/>
          <p:cNvSpPr/>
          <p:nvPr/>
        </p:nvSpPr>
        <p:spPr>
          <a:xfrm>
            <a:off x="11201400" y="1719072"/>
            <a:ext cx="420624" cy="420624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20640" y="2651760"/>
            <a:ext cx="228600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349240" y="2313432"/>
            <a:ext cx="3017520" cy="65836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台灣的監理觸發點何時發生？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2313432"/>
            <a:ext cx="2514600" cy="658368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2026 年是 IFRS 17 與 AI 治理雙重觸發年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p.7</a:t>
            </a:r>
          </a:p>
        </p:txBody>
      </p:sp>
      <p:sp>
        <p:nvSpPr>
          <p:cNvPr id="20" name="Oval 19"/>
          <p:cNvSpPr/>
          <p:nvPr/>
        </p:nvSpPr>
        <p:spPr>
          <a:xfrm>
            <a:off x="11201400" y="2432304"/>
            <a:ext cx="420624" cy="420624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14600" y="3767328"/>
            <a:ext cx="228600" cy="0"/>
          </a:xfrm>
          <a:prstGeom prst="line">
            <a:avLst/>
          </a:prstGeom>
          <a:ln w="1905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743200" y="3081528"/>
            <a:ext cx="2377440" cy="13716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D5108"/>
                </a:solidFill>
                <a:latin typeface="Microsoft JhengHei"/>
              </a:rPr>
              <a:t>B　能力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1E1E"/>
                </a:solidFill>
                <a:latin typeface="Microsoft JhengHei"/>
              </a:rPr>
              <a:t>哪些機會我們比對手更有勝算？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230368" y="3419856"/>
            <a:ext cx="0" cy="694944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120640" y="3419856"/>
            <a:ext cx="228600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349240" y="3081528"/>
            <a:ext cx="3017520" cy="65836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與四條既有服務線距離多遠？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3081528"/>
            <a:ext cx="2514600" cy="658368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九項趨勢中五項可直接承接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p.9–11</a:t>
            </a:r>
          </a:p>
        </p:txBody>
      </p:sp>
      <p:sp>
        <p:nvSpPr>
          <p:cNvPr id="27" name="Oval 26"/>
          <p:cNvSpPr/>
          <p:nvPr/>
        </p:nvSpPr>
        <p:spPr>
          <a:xfrm>
            <a:off x="11201400" y="3200400"/>
            <a:ext cx="420624" cy="420624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120640" y="4133088"/>
            <a:ext cx="228600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349240" y="3794760"/>
            <a:ext cx="3017520" cy="65836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對手的做法有哪些侷限？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3794760"/>
            <a:ext cx="2514600" cy="658368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對手重藍圖與平台，缺在地確信與駐點人力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p.15</a:t>
            </a:r>
          </a:p>
        </p:txBody>
      </p:sp>
      <p:sp>
        <p:nvSpPr>
          <p:cNvPr id="31" name="Oval 30"/>
          <p:cNvSpPr/>
          <p:nvPr/>
        </p:nvSpPr>
        <p:spPr>
          <a:xfrm>
            <a:off x="11201400" y="3913632"/>
            <a:ext cx="420624" cy="420624"/>
          </a:xfrm>
          <a:prstGeom prst="ellipse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◐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514600" y="5248656"/>
            <a:ext cx="228600" cy="0"/>
          </a:xfrm>
          <a:prstGeom prst="line">
            <a:avLst/>
          </a:prstGeom>
          <a:ln w="1905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743200" y="4562856"/>
            <a:ext cx="2377440" cy="13716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D5108"/>
                </a:solidFill>
                <a:latin typeface="Microsoft JhengHei"/>
              </a:rPr>
              <a:t>C　路徑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E1E1E"/>
                </a:solidFill>
                <a:latin typeface="Microsoft JhengHei"/>
              </a:rPr>
              <a:t>如何最快拿下首案並擴大？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230368" y="4901184"/>
            <a:ext cx="0" cy="694944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120640" y="4901184"/>
            <a:ext cx="228600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349240" y="4562856"/>
            <a:ext cx="3017520" cy="65836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用什麼小案切入？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4562856"/>
            <a:ext cx="2514600" cy="658368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4–8 週健檢、診斷或 PoC 可降低決策門檻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p.14</a:t>
            </a:r>
          </a:p>
        </p:txBody>
      </p:sp>
      <p:sp>
        <p:nvSpPr>
          <p:cNvPr id="38" name="Oval 37"/>
          <p:cNvSpPr/>
          <p:nvPr/>
        </p:nvSpPr>
        <p:spPr>
          <a:xfrm>
            <a:off x="11201400" y="4681728"/>
            <a:ext cx="420624" cy="420624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?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120640" y="5614416"/>
            <a:ext cx="228600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349240" y="5276088"/>
            <a:ext cx="3017520" cy="65836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如何擴大成長期合作？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5276088"/>
            <a:ext cx="2514600" cy="658368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從顧問藍圖接上人力委外，形成 1–3 年經常性營收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p.14</a:t>
            </a:r>
          </a:p>
        </p:txBody>
      </p:sp>
      <p:sp>
        <p:nvSpPr>
          <p:cNvPr id="42" name="Oval 41"/>
          <p:cNvSpPr/>
          <p:nvPr/>
        </p:nvSpPr>
        <p:spPr>
          <a:xfrm>
            <a:off x="11201400" y="5394960"/>
            <a:ext cx="420624" cy="420624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6108192"/>
            <a:ext cx="11338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狀態：✓ 研究資料支持　◐ 部分支持（公開資料推論）　? 待驗證（需客戶訪談）。分類依 MECE 原則：需求（市場）× 能力（我們）× 路徑（執行）。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Microsoft JhengHei"/>
              </a:rPr>
              <a:t>需求：預算已轉向 AI，</a:t>
            </a:r>
          </a:p>
          <a:p>
            <a:r>
              <a:rPr sz="3000">
                <a:latin typeface="Microsoft JhengHei"/>
              </a:rPr>
              <a:t>台灣 2026 年出現監理窗口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Microsoft JhengHe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108192"/>
            <a:ext cx="7772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B6B6B"/>
                </a:solidFill>
                <a:latin typeface="Microsoft JhengHei"/>
              </a:rPr>
              <a:t>回答子問題 A：哪些機會的需求明確且有時限？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資金與預算已全面轉向 AI，但 95% 企業還看不到回報：落地缺口就是服務需求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280160"/>
            <a:ext cx="3611880" cy="1874519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71600"/>
            <a:ext cx="329184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FD5108"/>
                </a:solidFill>
                <a:latin typeface="Microsoft JhengHei"/>
              </a:rPr>
              <a:t>95.2%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21408"/>
            <a:ext cx="329184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1E1E"/>
                </a:solidFill>
                <a:latin typeface="Microsoft JhengHei"/>
              </a:rPr>
              <a:t>2026 Q1 全球保險科技募資流向 AI 相關企業的比例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816352"/>
            <a:ext cx="32918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來源：Gallagher Re, 2026-05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280160"/>
            <a:ext cx="3611880" cy="1874519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371600"/>
            <a:ext cx="329184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FD5108"/>
                </a:solidFill>
                <a:latin typeface="Microsoft JhengHei"/>
              </a:rPr>
              <a:t>63%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2121408"/>
            <a:ext cx="329184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1E1E"/>
                </a:solidFill>
                <a:latin typeface="Microsoft JhengHei"/>
              </a:rPr>
              <a:t>2025 年底已把 AI 投入實際營運的企業（2024 年為 45%）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816352"/>
            <a:ext cx="32918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來源：Gallagher Re, 2026-05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280160"/>
            <a:ext cx="3611880" cy="1874519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8275319" y="1371600"/>
            <a:ext cx="329184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FD5108"/>
                </a:solidFill>
                <a:latin typeface="Microsoft JhengHei"/>
              </a:rPr>
              <a:t>57%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19" y="2121408"/>
            <a:ext cx="329184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1E1E"/>
                </a:solidFill>
                <a:latin typeface="Microsoft JhengHei"/>
              </a:rPr>
              <a:t>保險高階主管把生成式與代理型 AI 列為 2026 首要科技投資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19" y="2816352"/>
            <a:ext cx="32918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來源：PwC 調查／Insurance Journal, 2025-11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291840"/>
            <a:ext cx="3611880" cy="187451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383280"/>
            <a:ext cx="329184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Microsoft JhengHei"/>
              </a:rPr>
              <a:t>95%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133088"/>
            <a:ext cx="329184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Microsoft JhengHei"/>
              </a:rPr>
              <a:t>投資 AI 但尚未看到可衡量財務回報的企業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828032"/>
            <a:ext cx="32918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來源：Bain 引述 MIT, 2026-01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3291840"/>
            <a:ext cx="3611880" cy="1874519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3383280"/>
            <a:ext cx="329184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FD5108"/>
                </a:solidFill>
                <a:latin typeface="Microsoft JhengHei"/>
              </a:rPr>
              <a:t>25–50%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4133088"/>
            <a:ext cx="329184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1E1E"/>
                </a:solidFill>
                <a:latin typeface="Microsoft JhengHei"/>
              </a:rPr>
              <a:t>用代理型 AI 做核心系統現代化的生產力提升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4828032"/>
            <a:ext cx="32918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來源：McKinsey, 2026-04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3291840"/>
            <a:ext cx="3611880" cy="1874519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8275319" y="3383280"/>
            <a:ext cx="329184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FD5108"/>
                </a:solidFill>
                <a:latin typeface="Microsoft JhengHei"/>
              </a:rPr>
              <a:t>92%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19" y="4133088"/>
            <a:ext cx="329184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E1E1E"/>
                </a:solidFill>
                <a:latin typeface="Microsoft JhengHei"/>
              </a:rPr>
              <a:t>曾因深偽相關事件遭受財務損失的企業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19" y="4828032"/>
            <a:ext cx="32918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來源：Swiss Re SONAR 2025, 2025-06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376672"/>
            <a:ext cx="91440" cy="6400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376672"/>
            <a:ext cx="11292840" cy="6400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D5108"/>
                </a:solidFill>
                <a:latin typeface="Microsoft JhengHei"/>
              </a:rPr>
              <a:t>所以呢：</a:t>
            </a:r>
            <a:r>
              <a:rPr sz="1200" b="0">
                <a:solidFill>
                  <a:srgbClr val="1E1E1E"/>
                </a:solidFill>
                <a:latin typeface="Microsoft JhengHei"/>
              </a:rPr>
              <a:t>客戶缺的不是 AI 工具，而是讓 AI 進入流程、通過查核、產生回報的落地能力；這正是四條服務線的交集。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台灣 2026 年同時出現三個需求觸發點，合規與轉型需求將集中在未來 12–18 個月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2148840"/>
            <a:ext cx="11109960" cy="0"/>
          </a:xfrm>
          <a:prstGeom prst="line">
            <a:avLst/>
          </a:prstGeom>
          <a:ln w="3175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252728" y="2011680"/>
            <a:ext cx="274320" cy="2743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7830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D5108"/>
                </a:solidFill>
                <a:latin typeface="Microsoft JhengHei"/>
              </a:rPr>
              <a:t>2024-08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423160"/>
            <a:ext cx="1783080" cy="8686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金管會《金融業運用 AI 指引》</a:t>
            </a:r>
          </a:p>
        </p:txBody>
      </p:sp>
      <p:sp>
        <p:nvSpPr>
          <p:cNvPr id="7" name="Oval 6"/>
          <p:cNvSpPr/>
          <p:nvPr/>
        </p:nvSpPr>
        <p:spPr>
          <a:xfrm>
            <a:off x="3136392" y="2011680"/>
            <a:ext cx="274320" cy="2743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386584" y="1417320"/>
            <a:ext cx="17830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D5108"/>
                </a:solidFill>
                <a:latin typeface="Microsoft JhengHei"/>
              </a:rPr>
              <a:t>2024-08</a:t>
            </a:r>
          </a:p>
        </p:txBody>
      </p:sp>
      <p:sp>
        <p:nvSpPr>
          <p:cNvPr id="9" name="Rectangle 8"/>
          <p:cNvSpPr/>
          <p:nvPr/>
        </p:nvSpPr>
        <p:spPr>
          <a:xfrm>
            <a:off x="2386584" y="2423160"/>
            <a:ext cx="1783080" cy="8686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保險業作業委外規範修正（雲端鬆綁）</a:t>
            </a:r>
          </a:p>
        </p:txBody>
      </p:sp>
      <p:sp>
        <p:nvSpPr>
          <p:cNvPr id="10" name="Oval 9"/>
          <p:cNvSpPr/>
          <p:nvPr/>
        </p:nvSpPr>
        <p:spPr>
          <a:xfrm>
            <a:off x="5020056" y="2011680"/>
            <a:ext cx="274320" cy="2743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417320"/>
            <a:ext cx="17830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D5108"/>
                </a:solidFill>
                <a:latin typeface="Microsoft JhengHei"/>
              </a:rPr>
              <a:t>2025-10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2423160"/>
            <a:ext cx="1783080" cy="8686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內部作業制度辦法草案預告（提升法令位階）</a:t>
            </a:r>
          </a:p>
        </p:txBody>
      </p:sp>
      <p:sp>
        <p:nvSpPr>
          <p:cNvPr id="13" name="Oval 12"/>
          <p:cNvSpPr/>
          <p:nvPr/>
        </p:nvSpPr>
        <p:spPr>
          <a:xfrm>
            <a:off x="6903720" y="2011680"/>
            <a:ext cx="274320" cy="274320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1417320"/>
            <a:ext cx="17830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6B6B6B"/>
                </a:solidFill>
                <a:latin typeface="Microsoft JhengHei"/>
              </a:rPr>
              <a:t>2025-11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2423160"/>
            <a:ext cx="1783080" cy="86868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MAS AI 風險管理指引（區域標竿）</a:t>
            </a:r>
          </a:p>
        </p:txBody>
      </p:sp>
      <p:sp>
        <p:nvSpPr>
          <p:cNvPr id="16" name="Oval 15"/>
          <p:cNvSpPr/>
          <p:nvPr/>
        </p:nvSpPr>
        <p:spPr>
          <a:xfrm>
            <a:off x="8787384" y="2011680"/>
            <a:ext cx="274320" cy="2743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37576" y="1417320"/>
            <a:ext cx="17830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D5108"/>
                </a:solidFill>
                <a:latin typeface="Microsoft JhengHei"/>
              </a:rPr>
              <a:t>2026-01-01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7576" y="2423160"/>
            <a:ext cx="1783080" cy="8686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IFRS 17／TW-ICS 正式接軌</a:t>
            </a:r>
          </a:p>
        </p:txBody>
      </p:sp>
      <p:sp>
        <p:nvSpPr>
          <p:cNvPr id="19" name="Oval 18"/>
          <p:cNvSpPr/>
          <p:nvPr/>
        </p:nvSpPr>
        <p:spPr>
          <a:xfrm>
            <a:off x="10671048" y="2011680"/>
            <a:ext cx="274320" cy="274320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9921240" y="1417320"/>
            <a:ext cx="17830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6B6B6B"/>
                </a:solidFill>
                <a:latin typeface="Microsoft JhengHei"/>
              </a:rPr>
              <a:t>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21240" y="2423160"/>
            <a:ext cx="1783080" cy="86868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NAIC 12 州試點 AI 系統評估工具（美國標竿）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520440"/>
            <a:ext cx="11384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D5108"/>
                </a:solidFill>
                <a:latin typeface="Microsoft JhengHei"/>
              </a:rPr>
              <a:t>三個觸發點 → 對應的服務需求</a:t>
            </a:r>
          </a:p>
        </p:txBody>
      </p:sp>
      <p:sp>
        <p:nvSpPr>
          <p:cNvPr id="23" name="Oval 22"/>
          <p:cNvSpPr/>
          <p:nvPr/>
        </p:nvSpPr>
        <p:spPr>
          <a:xfrm>
            <a:off x="411480" y="4023360"/>
            <a:ext cx="457200" cy="4572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3950208"/>
            <a:ext cx="3200400" cy="60350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E1E1E"/>
                </a:solidFill>
                <a:latin typeface="Microsoft JhengHei"/>
              </a:rPr>
              <a:t>IFRS 17／TW-ICS 首年出表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950208"/>
            <a:ext cx="4023360" cy="603504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結帳仍高度人工；覆蓋法退場造成損益波動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412480" y="4114800"/>
            <a:ext cx="365760" cy="274320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69680" y="3950208"/>
            <a:ext cx="2926080" cy="60350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IFRS 17 後財務轉型、CSM 與動態 ALM</a:t>
            </a:r>
          </a:p>
        </p:txBody>
      </p:sp>
      <p:sp>
        <p:nvSpPr>
          <p:cNvPr id="28" name="Oval 27"/>
          <p:cNvSpPr/>
          <p:nvPr/>
        </p:nvSpPr>
        <p:spPr>
          <a:xfrm>
            <a:off x="411480" y="4709160"/>
            <a:ext cx="457200" cy="4572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4636008"/>
            <a:ext cx="3200400" cy="60350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E1E1E"/>
                </a:solidFill>
                <a:latin typeface="Microsoft JhengHei"/>
              </a:rPr>
              <a:t>AI 指引與自律規範進入查核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4636008"/>
            <a:ext cx="4023360" cy="603504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多數只有紙本政策，缺模型驗證與 AI 清冊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412480" y="4800600"/>
            <a:ext cx="365760" cy="274320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9680" y="4636008"/>
            <a:ext cx="2926080" cy="60350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AI 清冊、模型驗證與執行期護欄</a:t>
            </a:r>
          </a:p>
        </p:txBody>
      </p:sp>
      <p:sp>
        <p:nvSpPr>
          <p:cNvPr id="33" name="Oval 32"/>
          <p:cNvSpPr/>
          <p:nvPr/>
        </p:nvSpPr>
        <p:spPr>
          <a:xfrm>
            <a:off x="411480" y="5394960"/>
            <a:ext cx="457200" cy="4572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" y="5321808"/>
            <a:ext cx="3200400" cy="60350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E1E1E"/>
                </a:solidFill>
                <a:latin typeface="Microsoft JhengHei"/>
              </a:rPr>
              <a:t>雲端委外鬆綁並提升法令位階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5321808"/>
            <a:ext cx="4023360" cy="603504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舊核心無法支援 API 與 AI 串接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412480" y="5486400"/>
            <a:ext cx="365760" cy="274320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69680" y="5321808"/>
            <a:ext cx="2926080" cy="60350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AI 加速核心現代化與雲端聯合查核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6108192"/>
            <a:ext cx="11338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橘色為台灣監理事件，灰色為國際標竿。「12–18 個月」為團隊依首年出表與查核時程的判斷。來源：金管會公告、MAS、NAIC（2026-04）、工商時報。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Microsoft JhengHei"/>
              </a:rPr>
              <a:t>機會：九項趨勢</a:t>
            </a:r>
          </a:p>
          <a:p>
            <a:r>
              <a:rPr sz="3000">
                <a:latin typeface="Microsoft JhengHei"/>
              </a:rPr>
              <a:t>篩選出五項優先服務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Microsoft JhengHe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108192"/>
            <a:ext cx="7772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B6B6B"/>
                </a:solidFill>
                <a:latin typeface="Microsoft JhengHei"/>
              </a:rPr>
              <a:t>回答子問題 B：哪些機會離我們最近、我們最有勝算？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用兩道篩選，把九項趨勢收斂成五項優先服務，其中兩項可立即推動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280160"/>
            <a:ext cx="3017520" cy="4572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九項趨勢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810512"/>
            <a:ext cx="3017520" cy="38404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1 代理型 AI 核保與理賠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2240280"/>
            <a:ext cx="3017520" cy="38404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2 AI 加速核心現代化與雲端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670048"/>
            <a:ext cx="3017520" cy="38404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3 營運化 AI 治理與護欄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099815"/>
            <a:ext cx="3017520" cy="38404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4 IFRS 17／TW-ICS 後財務轉型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529584"/>
            <a:ext cx="3017520" cy="38404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5 深偽理賠反詐欺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959352"/>
            <a:ext cx="3017520" cy="38404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6 AI 精算定價與數據平台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389120"/>
            <a:ext cx="3017520" cy="38404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7 嵌入式保險 API 平台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818888"/>
            <a:ext cx="3017520" cy="38404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8 參數型氣候巨災保險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248656"/>
            <a:ext cx="3017520" cy="384048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9 AI 表現保證保險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566160" y="3063240"/>
            <a:ext cx="868680" cy="640080"/>
          </a:xfrm>
          <a:prstGeom prst="rightArrow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3794760"/>
            <a:ext cx="960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篩選一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4114800"/>
            <a:ext cx="9601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6B6B6B"/>
                </a:solidFill>
                <a:latin typeface="Microsoft JhengHei"/>
              </a:rPr>
              <a:t>・台灣有明確的監理或損益壓力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B6B"/>
                </a:solidFill>
                <a:latin typeface="Microsoft JhengHei"/>
              </a:rPr>
              <a:t>・與四條既有服務線的距離近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18120" y="3063240"/>
            <a:ext cx="868680" cy="640080"/>
          </a:xfrm>
          <a:prstGeom prst="rightArrow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3794760"/>
            <a:ext cx="960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篩選二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4114800"/>
            <a:ext cx="96012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6B6B6B"/>
                </a:solidFill>
                <a:latin typeface="Microsoft JhengHei"/>
              </a:rPr>
              <a:t>・首案週期短（≤ 8 週）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B6B"/>
                </a:solidFill>
                <a:latin typeface="Microsoft JhengHei"/>
              </a:rPr>
              <a:t>・不需新增技術夥伴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B6B"/>
                </a:solidFill>
                <a:latin typeface="Microsoft JhengHei"/>
              </a:rPr>
              <a:t>・可先處理獨立性問題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280160"/>
            <a:ext cx="3108960" cy="45720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五項優先服務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810512"/>
            <a:ext cx="3108960" cy="42062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4 IFRS 17／TW-ICS 後財務轉型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286000"/>
            <a:ext cx="3108960" cy="42062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3 營運化 AI 治理與護欄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761488"/>
            <a:ext cx="3108960" cy="42062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1 代理型 AI 核保與理賠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3236976"/>
            <a:ext cx="3108960" cy="42062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2 AI 加速核心現代化與雲端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712464"/>
            <a:ext cx="3108960" cy="42062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5 深偽理賠反詐欺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4279392"/>
            <a:ext cx="3108960" cy="1691640"/>
          </a:xfrm>
          <a:prstGeom prst="rect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6B6B6B"/>
                </a:solidFill>
                <a:latin typeface="Microsoft JhengHei"/>
              </a:rPr>
              <a:t>未入選（6–9）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6B6B"/>
                </a:solidFill>
                <a:latin typeface="Microsoft JhengHei"/>
              </a:rPr>
              <a:t>6、7：需求分散，要個案診斷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6B6B"/>
                </a:solidFill>
                <a:latin typeface="Microsoft JhengHei"/>
              </a:rPr>
              <a:t>8、9：台灣市場仍在概念或早期採用，需求待驗證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6B6B"/>
                </a:solidFill>
                <a:latin typeface="Microsoft JhengHei"/>
              </a:rPr>
              <a:t>→ 持續觀察，客戶主動詢問時再接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60" y="1280160"/>
            <a:ext cx="2971800" cy="4572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第一波：立即推動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23960" y="1810512"/>
            <a:ext cx="2971800" cy="47548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4 IFRS 17／TW-ICS 後財務轉型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23960" y="2359152"/>
            <a:ext cx="2971800" cy="47548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3 營運化 AI 治理與護欄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23960" y="3017520"/>
            <a:ext cx="2971800" cy="13716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E1E1E"/>
                </a:solidFill>
                <a:latin typeface="Microsoft JhengHei"/>
              </a:rPr>
              <a:t>第二波（1、2、5）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1：需先有數據與治理基礎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2：週期長，需雲端業者配合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5：需整合技術夥伴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23960" y="4526280"/>
            <a:ext cx="91440" cy="144475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8915400" y="4526280"/>
            <a:ext cx="2880360" cy="144475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D5108"/>
                </a:solidFill>
                <a:latin typeface="Microsoft JhengHei"/>
              </a:rPr>
              <a:t>所以呢：</a:t>
            </a:r>
            <a:r>
              <a:rPr sz="1150" b="0">
                <a:solidFill>
                  <a:srgbClr val="1E1E1E"/>
                </a:solidFill>
                <a:latin typeface="Microsoft JhengHei"/>
              </a:rPr>
              <a:t>第一波兩項是第二波的地基：先拿到財務資料與 AI 治理的入口。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6108192"/>
            <a:ext cx="11338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趨勢定義與案例見附錄 A1–A3。篩選準則為團隊判斷，請會議校準。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五項優先服務都落在「需求高 × 離既有能力近」的象限，IFRS 17 與 AI 治理最靠近右上角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25880"/>
            <a:ext cx="3474720" cy="22174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25880"/>
            <a:ext cx="3474720" cy="22174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543300"/>
            <a:ext cx="3474720" cy="22174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543300"/>
            <a:ext cx="3474720" cy="22174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399032"/>
            <a:ext cx="2286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6B6B6B"/>
                </a:solidFill>
                <a:latin typeface="Microsoft JhengHei"/>
              </a:rPr>
              <a:t>找夥伴或觀察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399032"/>
            <a:ext cx="2286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D5108"/>
                </a:solidFill>
                <a:latin typeface="Microsoft JhengHei"/>
              </a:rPr>
              <a:t>優先推動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616452"/>
            <a:ext cx="2286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6B6B6B"/>
                </a:solidFill>
                <a:latin typeface="Microsoft JhengHei"/>
              </a:rPr>
              <a:t>持續觀察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3616452"/>
            <a:ext cx="2286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6B6B6B"/>
                </a:solidFill>
                <a:latin typeface="Microsoft JhengHei"/>
              </a:rPr>
              <a:t>順帶銷售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97280" y="5760720"/>
            <a:ext cx="6949439" cy="0"/>
          </a:xfrm>
          <a:prstGeom prst="line">
            <a:avLst/>
          </a:prstGeom>
          <a:ln w="1587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" y="1325880"/>
            <a:ext cx="0" cy="4434840"/>
          </a:xfrm>
          <a:prstGeom prst="line">
            <a:avLst/>
          </a:prstGeom>
          <a:ln w="1587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097280" y="5806440"/>
            <a:ext cx="694944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r">
              <a:spcAft>
                <a:spcPts val="300"/>
              </a:spcAft>
            </a:pPr>
            <a:r>
              <a:rPr sz="1100" b="0">
                <a:solidFill>
                  <a:srgbClr val="6B6B6B"/>
                </a:solidFill>
                <a:latin typeface="Microsoft JhengHei"/>
              </a:rPr>
              <a:t>與既有服務的距離　遠 → 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68980"/>
            <a:ext cx="77724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050" b="0">
                <a:solidFill>
                  <a:srgbClr val="6B6B6B"/>
                </a:solidFill>
                <a:latin typeface="Microsoft JhengHei"/>
              </a:rPr>
              <a:t>需求
迫切度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307592"/>
            <a:ext cx="7772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050" b="0">
                <a:solidFill>
                  <a:srgbClr val="6B6B6B"/>
                </a:solidFill>
                <a:latin typeface="Microsoft JhengHei"/>
              </a:rPr>
              <a:t>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486400"/>
            <a:ext cx="7772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050" b="0">
                <a:solidFill>
                  <a:srgbClr val="6B6B6B"/>
                </a:solidFill>
                <a:latin typeface="Microsoft JhengHei"/>
              </a:rPr>
              <a:t>低</a:t>
            </a:r>
          </a:p>
        </p:txBody>
      </p:sp>
      <p:sp>
        <p:nvSpPr>
          <p:cNvPr id="17" name="Oval 16"/>
          <p:cNvSpPr/>
          <p:nvPr/>
        </p:nvSpPr>
        <p:spPr>
          <a:xfrm>
            <a:off x="7253020" y="1442923"/>
            <a:ext cx="475488" cy="475488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6697065" y="1975104"/>
            <a:ext cx="475488" cy="475488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5899708" y="2277770"/>
            <a:ext cx="402336" cy="402336"/>
          </a:xfrm>
          <a:prstGeom prst="ellipse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0" name="Oval 19"/>
          <p:cNvSpPr/>
          <p:nvPr/>
        </p:nvSpPr>
        <p:spPr>
          <a:xfrm>
            <a:off x="5482742" y="2898647"/>
            <a:ext cx="402336" cy="402336"/>
          </a:xfrm>
          <a:prstGeom prst="ellipse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787798" y="2809951"/>
            <a:ext cx="402336" cy="402336"/>
          </a:xfrm>
          <a:prstGeom prst="ellipse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5899708" y="4051706"/>
            <a:ext cx="402336" cy="402336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23" name="Oval 22"/>
          <p:cNvSpPr/>
          <p:nvPr/>
        </p:nvSpPr>
        <p:spPr>
          <a:xfrm>
            <a:off x="3814876" y="3963009"/>
            <a:ext cx="402336" cy="402336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7</a:t>
            </a:r>
          </a:p>
        </p:txBody>
      </p:sp>
      <p:sp>
        <p:nvSpPr>
          <p:cNvPr id="24" name="Oval 23"/>
          <p:cNvSpPr/>
          <p:nvPr/>
        </p:nvSpPr>
        <p:spPr>
          <a:xfrm>
            <a:off x="2424988" y="4317796"/>
            <a:ext cx="402336" cy="402336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8</a:t>
            </a:r>
          </a:p>
        </p:txBody>
      </p:sp>
      <p:sp>
        <p:nvSpPr>
          <p:cNvPr id="25" name="Oval 24"/>
          <p:cNvSpPr/>
          <p:nvPr/>
        </p:nvSpPr>
        <p:spPr>
          <a:xfrm>
            <a:off x="1799539" y="4983022"/>
            <a:ext cx="402336" cy="402336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280160"/>
            <a:ext cx="33832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D5108"/>
                </a:solidFill>
                <a:latin typeface="Microsoft JhengHei"/>
              </a:rPr>
              <a:t>圖例</a:t>
            </a:r>
          </a:p>
        </p:txBody>
      </p:sp>
      <p:sp>
        <p:nvSpPr>
          <p:cNvPr id="27" name="Oval 26"/>
          <p:cNvSpPr/>
          <p:nvPr/>
        </p:nvSpPr>
        <p:spPr>
          <a:xfrm>
            <a:off x="8412480" y="1719072"/>
            <a:ext cx="274320" cy="274320"/>
          </a:xfrm>
          <a:prstGeom prst="ellipse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1673352"/>
            <a:ext cx="301752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代理型 AI 核保與理賠</a:t>
            </a:r>
          </a:p>
        </p:txBody>
      </p:sp>
      <p:sp>
        <p:nvSpPr>
          <p:cNvPr id="29" name="Oval 28"/>
          <p:cNvSpPr/>
          <p:nvPr/>
        </p:nvSpPr>
        <p:spPr>
          <a:xfrm>
            <a:off x="8412480" y="2084831"/>
            <a:ext cx="274320" cy="274320"/>
          </a:xfrm>
          <a:prstGeom prst="ellipse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2039112"/>
            <a:ext cx="301752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AI 加速核心現代化與雲端</a:t>
            </a:r>
          </a:p>
        </p:txBody>
      </p:sp>
      <p:sp>
        <p:nvSpPr>
          <p:cNvPr id="31" name="Oval 30"/>
          <p:cNvSpPr/>
          <p:nvPr/>
        </p:nvSpPr>
        <p:spPr>
          <a:xfrm>
            <a:off x="8412480" y="2450591"/>
            <a:ext cx="274320" cy="2743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0" y="2404872"/>
            <a:ext cx="301752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營運化 AI 治理與護欄</a:t>
            </a:r>
          </a:p>
        </p:txBody>
      </p:sp>
      <p:sp>
        <p:nvSpPr>
          <p:cNvPr id="33" name="Oval 32"/>
          <p:cNvSpPr/>
          <p:nvPr/>
        </p:nvSpPr>
        <p:spPr>
          <a:xfrm>
            <a:off x="8412480" y="2816352"/>
            <a:ext cx="274320" cy="2743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2770632"/>
            <a:ext cx="301752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IFRS 17／TW-ICS 後財務轉型</a:t>
            </a:r>
          </a:p>
        </p:txBody>
      </p:sp>
      <p:sp>
        <p:nvSpPr>
          <p:cNvPr id="35" name="Oval 34"/>
          <p:cNvSpPr/>
          <p:nvPr/>
        </p:nvSpPr>
        <p:spPr>
          <a:xfrm>
            <a:off x="8412480" y="3182112"/>
            <a:ext cx="274320" cy="274320"/>
          </a:xfrm>
          <a:prstGeom prst="ellipse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3136392"/>
            <a:ext cx="301752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深偽理賠反詐欺</a:t>
            </a:r>
          </a:p>
        </p:txBody>
      </p:sp>
      <p:sp>
        <p:nvSpPr>
          <p:cNvPr id="37" name="Oval 36"/>
          <p:cNvSpPr/>
          <p:nvPr/>
        </p:nvSpPr>
        <p:spPr>
          <a:xfrm>
            <a:off x="8412480" y="3547872"/>
            <a:ext cx="274320" cy="274320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3502152"/>
            <a:ext cx="301752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AI 精算定價與數據平台</a:t>
            </a:r>
          </a:p>
        </p:txBody>
      </p:sp>
      <p:sp>
        <p:nvSpPr>
          <p:cNvPr id="39" name="Oval 38"/>
          <p:cNvSpPr/>
          <p:nvPr/>
        </p:nvSpPr>
        <p:spPr>
          <a:xfrm>
            <a:off x="8412480" y="3913632"/>
            <a:ext cx="274320" cy="274320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3867912"/>
            <a:ext cx="301752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嵌入式保險 API 平台</a:t>
            </a:r>
          </a:p>
        </p:txBody>
      </p:sp>
      <p:sp>
        <p:nvSpPr>
          <p:cNvPr id="41" name="Oval 40"/>
          <p:cNvSpPr/>
          <p:nvPr/>
        </p:nvSpPr>
        <p:spPr>
          <a:xfrm>
            <a:off x="8412480" y="4279392"/>
            <a:ext cx="274320" cy="274320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78240" y="4233672"/>
            <a:ext cx="301752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參數型氣候巨災保險</a:t>
            </a:r>
          </a:p>
        </p:txBody>
      </p:sp>
      <p:sp>
        <p:nvSpPr>
          <p:cNvPr id="43" name="Oval 42"/>
          <p:cNvSpPr/>
          <p:nvPr/>
        </p:nvSpPr>
        <p:spPr>
          <a:xfrm>
            <a:off x="8412480" y="4645152"/>
            <a:ext cx="274320" cy="274320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4599432"/>
            <a:ext cx="3017520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AI 表現保證保險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5074920"/>
            <a:ext cx="91440" cy="8686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8503919" y="5074920"/>
            <a:ext cx="3291840" cy="8686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所以呢：</a:t>
            </a:r>
            <a:r>
              <a:rPr sz="1100" b="0">
                <a:solidFill>
                  <a:srgbClr val="1E1E1E"/>
                </a:solidFill>
                <a:latin typeface="Microsoft JhengHei"/>
              </a:rPr>
              <a:t>右上角兩項不需新能力即可開賣；其餘三項靠第一波累積的資料與信任推進。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6108192"/>
            <a:ext cx="11338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位置為團隊依研究報告與既有服務經驗的判斷，非量化評分；請會議校準。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五項準則綜合比較：IFRS 17 後財務轉型與 AI 治理在需求、距離與首案週期都最有利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80160"/>
          <a:ext cx="1138428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1463040"/>
                <a:gridCol w="1508760"/>
                <a:gridCol w="1508760"/>
                <a:gridCol w="1371600"/>
                <a:gridCol w="1508760"/>
                <a:gridCol w="105156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</a:rPr>
                        <a:t>服務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</a:rPr>
                        <a:t>需求迫切度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</a:rPr>
                        <a:t>與既有服務距離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</a:rPr>
                        <a:t>法規與市場時機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</a:rPr>
                        <a:t>首案週期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</a:rPr>
                        <a:t>獨立性風險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</a:rPr>
                        <a:t>建議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D5108"/>
                          </a:solidFill>
                          <a:latin typeface="Microsoft JhengHei"/>
                        </a:rPr>
                        <a:t>4　IFRS 17／TW-ICS 後財務轉型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首年正式出表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延伸既有駐點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覆蓋法退場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結帳瓶頸診斷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◐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審計客戶需評估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第一波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D5108"/>
                          </a:solidFill>
                          <a:latin typeface="Microsoft JhengHei"/>
                        </a:rPr>
                        <a:t>3　AI 清冊、模型驗證與護欄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查核壓力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AI 治理升級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金管會指引上路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4–6 週健檢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◐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確信角色需 R&amp;Q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第一波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D5108"/>
                          </a:solidFill>
                          <a:latin typeface="Microsoft JhengHei"/>
                        </a:rPr>
                        <a:t>1　代理型 AI 核保與理賠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突破單點助理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◐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需數據平台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全球轉向規模化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◐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6–8 週藍圖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低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D5108"/>
                          </a:solidFill>
                          <a:latin typeface="Microsoft JhengHei"/>
                        </a:rPr>
                        <a:t>第二波</a:t>
                      </a:r>
                    </a:p>
                  </a:txBody>
                  <a:tcPr marL="54864" marR="54864" marT="32004" marB="32004" anchor="ctr">
                    <a:solidFill>
                      <a:srgbClr val="FFE8D4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D5108"/>
                          </a:solidFill>
                          <a:latin typeface="Microsoft JhengHei"/>
                        </a:rPr>
                        <a:t>2　AI 加速核心現代化與雲端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◐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核心老舊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◐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核心導入＋委外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委外規範放寬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○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導入期長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◐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聯合查核需確認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D5108"/>
                          </a:solidFill>
                          <a:latin typeface="Microsoft JhengHei"/>
                        </a:rPr>
                        <a:t>第二波</a:t>
                      </a:r>
                    </a:p>
                  </a:txBody>
                  <a:tcPr marL="54864" marR="54864" marT="32004" marB="32004" anchor="ctr">
                    <a:solidFill>
                      <a:srgbClr val="FFE8D4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D5108"/>
                          </a:solidFill>
                          <a:latin typeface="Microsoft JhengHei"/>
                        </a:rPr>
                        <a:t>5　深偽理賠反詐欺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◐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損率壓力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○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需技術夥伴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◐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行動理賠普及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◐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PoC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FD5108"/>
                          </a:solidFill>
                          <a:latin typeface="Microsoft JhengHei"/>
                        </a:rPr>
                        <a:t>●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低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D5108"/>
                          </a:solidFill>
                          <a:latin typeface="Microsoft JhengHei"/>
                        </a:rPr>
                        <a:t>第二波</a:t>
                      </a:r>
                    </a:p>
                  </a:txBody>
                  <a:tcPr marL="54864" marR="54864" marT="32004" marB="32004" anchor="ctr">
                    <a:solidFill>
                      <a:srgbClr val="FFE8D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11480" y="5669280"/>
            <a:ext cx="91440" cy="4114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669280"/>
            <a:ext cx="11292840" cy="4114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D5108"/>
                </a:solidFill>
                <a:latin typeface="Microsoft JhengHei"/>
              </a:rPr>
              <a:t>所以呢：</a:t>
            </a:r>
            <a:r>
              <a:rPr sz="1150" b="0">
                <a:solidFill>
                  <a:srgbClr val="1E1E1E"/>
                </a:solidFill>
                <a:latin typeface="Microsoft JhengHei"/>
              </a:rPr>
              <a:t>兩項第一波服務唯一的黃燈都是獨立性，會議後第一週就要找 R&amp;Q 確認。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108192"/>
            <a:ext cx="11338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● 有利　◐ 中等　○ 不利（獨立性風險欄：● 代表風險低）。評等為團隊判斷。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Microsoft JhengHei"/>
              </a:rPr>
              <a:t>建議：第一波兩項服務包，</a:t>
            </a:r>
          </a:p>
          <a:p>
            <a:r>
              <a:rPr sz="3000">
                <a:latin typeface="Microsoft JhengHei"/>
              </a:rPr>
              <a:t>第二波三項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Microsoft JhengHe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108192"/>
            <a:ext cx="7772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B6B6B"/>
                </a:solidFill>
                <a:latin typeface="Microsoft JhengHei"/>
              </a:rPr>
              <a:t>回答子問題 C：用什麼小案切入、如何擴大成長期合作？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第一波兩項服務包：用短期診斷或健檢切入，再延伸為財務與治理的長期合作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828800"/>
            <a:ext cx="1508760" cy="6400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D5108"/>
                </a:solidFill>
                <a:latin typeface="Microsoft JhengHei"/>
              </a:rPr>
              <a:t>目標買方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2523744"/>
            <a:ext cx="1508760" cy="6400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D5108"/>
                </a:solidFill>
                <a:latin typeface="Microsoft JhengHei"/>
              </a:rPr>
              <a:t>客戶痛點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3218688"/>
            <a:ext cx="1508760" cy="6400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D5108"/>
                </a:solidFill>
                <a:latin typeface="Microsoft JhengHei"/>
              </a:rPr>
              <a:t>切入案（Land）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913632"/>
            <a:ext cx="1508760" cy="6400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D5108"/>
                </a:solidFill>
                <a:latin typeface="Microsoft JhengHei"/>
              </a:rPr>
              <a:t>延伸（Expand）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4608576"/>
            <a:ext cx="1508760" cy="6400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D5108"/>
                </a:solidFill>
                <a:latin typeface="Microsoft JhengHei"/>
              </a:rPr>
              <a:t>我們的優勢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5303520"/>
            <a:ext cx="1508760" cy="6400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D5108"/>
                </a:solidFill>
                <a:latin typeface="Microsoft JhengHei"/>
              </a:rPr>
              <a:t>要先確認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1280160"/>
            <a:ext cx="4818888" cy="47548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① IFRS 17／TW-ICS 後財務轉型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1828800"/>
            <a:ext cx="4818888" cy="640080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財務長、精算長、會計主管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2523744"/>
            <a:ext cx="481888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首年結帳仰賴人工與外包；覆蓋法退場使損益波動；通路仍以初年度保費考核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3218688"/>
            <a:ext cx="4818888" cy="640080"/>
          </a:xfrm>
          <a:prstGeom prst="rect">
            <a:avLst/>
          </a:prstGeom>
          <a:solidFill>
            <a:srgbClr val="F3F3F3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E1E1E"/>
                </a:solidFill>
                <a:latin typeface="Microsoft JhengHei"/>
              </a:rPr>
              <a:t>首年結帳瓶頸診斷＋CSM 管理儀表板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3913632"/>
            <a:ext cx="481888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結帳自動化、以 KRD 為核心的動態 ALM、通路 CSM KPI、精算財會人力委外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4608576"/>
            <a:ext cx="4818888" cy="640080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延伸既有駐點團隊；IFRS 17 資料庫可串 ALM、定價與通路 KPI，科技廠商難以跨過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5303520"/>
            <a:ext cx="481888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與所內 IFRS 17、審計團隊的分工與獨立性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22008" y="1280160"/>
            <a:ext cx="4818888" cy="47548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② AI 清冊、模型驗證與護欄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22008" y="1828800"/>
            <a:ext cx="4818888" cy="640080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風控長、法遵長、資訊長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22008" y="2523744"/>
            <a:ext cx="481888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多為紙本政策，缺跨精算、核保、IT 的模型驗證，看不到部門自用的外部 AI 工具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22008" y="3218688"/>
            <a:ext cx="4818888" cy="640080"/>
          </a:xfrm>
          <a:prstGeom prst="rect">
            <a:avLst/>
          </a:prstGeom>
          <a:solidFill>
            <a:srgbClr val="F3F3F3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E1E1E"/>
                </a:solidFill>
                <a:latin typeface="Microsoft JhengHei"/>
              </a:rPr>
              <a:t>4–6 週 AI 清冊盤點＋金管會指引合規健檢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3913632"/>
            <a:ext cx="481888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治理平台、模型驗證機制、代理變數偏見測試、緊急關閉機制、LLM 紅隊演練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22008" y="4608576"/>
            <a:ext cx="4818888" cy="640080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Assurance-by-Design：同一個案子同時交付創新與可稽核軌跡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22008" y="5303520"/>
            <a:ext cx="481888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確信類服務的獨立性（R&amp;Q）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108192"/>
            <a:ext cx="11338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切入案週期與內容取自研究報告建議；報價區間由負責人在第 4 週提出。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五項服務都走「先小案、後延伸」，第二波三項以第一波的數據與治理成果為基礎</a:t>
            </a:r>
          </a:p>
        </p:txBody>
      </p:sp>
      <p:sp>
        <p:nvSpPr>
          <p:cNvPr id="3" name="Rectangle 2"/>
          <p:cNvSpPr/>
          <p:nvPr/>
        </p:nvSpPr>
        <p:spPr>
          <a:xfrm>
            <a:off x="3291840" y="1234440"/>
            <a:ext cx="3657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D5108"/>
                </a:solidFill>
                <a:latin typeface="Microsoft JhengHei"/>
              </a:rPr>
              <a:t>切入（Land）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0" y="1234440"/>
            <a:ext cx="42062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D5108"/>
                </a:solidFill>
                <a:latin typeface="Microsoft JhengHei"/>
              </a:rPr>
              <a:t>延伸（Expand）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801368"/>
            <a:ext cx="868680" cy="4114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Microsoft JhengHei"/>
              </a:rPr>
              <a:t>第一波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645920"/>
            <a:ext cx="1828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E1E1E"/>
                </a:solidFill>
                <a:latin typeface="Microsoft JhengHei"/>
              </a:rPr>
              <a:t>IFRS 17 後財務轉型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645920"/>
            <a:ext cx="3657600" cy="7315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首年結帳瓶頸診斷＋CSM 管理儀表板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40880" y="1865376"/>
            <a:ext cx="411480" cy="292608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1645920"/>
            <a:ext cx="4206240" cy="7315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KRD 動態 ALM、通路 CSM KPI、常態精算財會人力委外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624328"/>
            <a:ext cx="868680" cy="4114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Microsoft JhengHei"/>
              </a:rPr>
              <a:t>第一波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468880"/>
            <a:ext cx="1828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E1E1E"/>
                </a:solidFill>
                <a:latin typeface="Microsoft JhengHei"/>
              </a:rPr>
              <a:t>AI 治理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468880"/>
            <a:ext cx="3657600" cy="7315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4–6 週 AI 清冊盤點與合規落差健檢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40880" y="2688336"/>
            <a:ext cx="411480" cy="292608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2468880"/>
            <a:ext cx="4206240" cy="7315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治理平台、代理變數偏見測試、緊急關閉機制、第三方 AI 認證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447288"/>
            <a:ext cx="868680" cy="4114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FD5108"/>
                </a:solidFill>
                <a:latin typeface="Microsoft JhengHei"/>
              </a:rPr>
              <a:t>第二波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291840"/>
            <a:ext cx="1828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E1E1E"/>
                </a:solidFill>
                <a:latin typeface="Microsoft JhengHei"/>
              </a:rPr>
              <a:t>代理型 AI 核保理賠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3291840"/>
            <a:ext cx="3657600" cy="7315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6–8 週單一險種代理型工作流藍圖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40880" y="3511296"/>
            <a:ext cx="411480" cy="292608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3291840"/>
            <a:ext cx="4206240" cy="7315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AI 代理編排層、核心系統 API 串接、人機協作作業導入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270248"/>
            <a:ext cx="868680" cy="4114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FD5108"/>
                </a:solidFill>
                <a:latin typeface="Microsoft JhengHei"/>
              </a:rPr>
              <a:t>第二波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114800"/>
            <a:ext cx="1828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E1E1E"/>
                </a:solidFill>
                <a:latin typeface="Microsoft JhengHei"/>
              </a:rPr>
              <a:t>核心現代化與雲端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4114800"/>
            <a:ext cx="3657600" cy="7315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雲端委外合規評估，或舊系統 AI 重寫 PoC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40880" y="4334256"/>
            <a:ext cx="411480" cy="292608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89520" y="4114800"/>
            <a:ext cx="4206240" cy="7315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核心中台解耦、同業聯合查核、遷移與測試人力委外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093208"/>
            <a:ext cx="868680" cy="4114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050" b="1">
                <a:solidFill>
                  <a:srgbClr val="FD5108"/>
                </a:solidFill>
                <a:latin typeface="Microsoft JhengHei"/>
              </a:rPr>
              <a:t>第二波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4937760"/>
            <a:ext cx="18288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E1E1E"/>
                </a:solidFill>
                <a:latin typeface="Microsoft JhengHei"/>
              </a:rPr>
              <a:t>深偽反詐欺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4937760"/>
            <a:ext cx="3657600" cy="7315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車損照片／醫療單據偽造偵測 PoC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040880" y="5157216"/>
            <a:ext cx="411480" cy="292608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89520" y="4937760"/>
            <a:ext cx="4206240" cy="7315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E1E1E"/>
                </a:solidFill>
                <a:latin typeface="Microsoft JhengHei"/>
              </a:rPr>
              <a:t>即時反詐欺評分、關聯圖譜分析、調查派案整合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715000"/>
            <a:ext cx="91440" cy="4114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715000"/>
            <a:ext cx="11292840" cy="41148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D5108"/>
                </a:solidFill>
                <a:latin typeface="Microsoft JhengHei"/>
              </a:rPr>
              <a:t>所以呢：</a:t>
            </a:r>
            <a:r>
              <a:rPr sz="1150" b="0">
                <a:solidFill>
                  <a:srgbClr val="1E1E1E"/>
                </a:solidFill>
                <a:latin typeface="Microsoft JhengHei"/>
              </a:rPr>
              <a:t>第一波兩項首案成立後，用同一批客戶關係與資料基礎提案第二波，降低每案的取得成本。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6108192"/>
            <a:ext cx="11338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來源：研究報告各趨勢的「第一步切入」建議。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國際顧問都在推代理型 AI 藍圖與平台，我們以「落地＋確信＋駐點人力」做出區隔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80160"/>
          <a:ext cx="6675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377440"/>
                <a:gridCol w="310896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</a:rPr>
                        <a:t>機構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</a:rPr>
                        <a:t>主打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</a:rPr>
                        <a:t>可能的交付侷限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D5108"/>
                          </a:solidFill>
                          <a:latin typeface="Microsoft JhengHei"/>
                        </a:rPr>
                        <a:t>Deloitte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Agentic AI Blueprint；預置代理庫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套到台灣客製化舊核心與繁中條款時，資料對接與在地合規需調適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D5108"/>
                          </a:solidFill>
                          <a:latin typeface="Microsoft JhengHei"/>
                        </a:rPr>
                        <a:t>EY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EY Nexus 平台；AI 治理與確信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偏新業務快速上線，大型壽險舊核心遷移與 IFRS 17 整合較難只靠平台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D5108"/>
                          </a:solidFill>
                          <a:latin typeface="Microsoft JhengHei"/>
                        </a:rPr>
                        <a:t>McKinsey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核保作業系統 UWOS；選擇性重寫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缺少在地法規確信團隊與長期駐點人力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D5108"/>
                          </a:solidFill>
                          <a:latin typeface="Microsoft JhengHei"/>
                        </a:rPr>
                        <a:t>Bain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12 週 Future-back；三層代理架構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1E1E"/>
                          </a:solidFill>
                          <a:latin typeface="Microsoft JhengHei"/>
                        </a:rPr>
                        <a:t>在台交付規模較小，大型核心導入人力有限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315200" y="1280160"/>
            <a:ext cx="4480560" cy="41148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我們的四個差異化</a:t>
            </a:r>
          </a:p>
        </p:txBody>
      </p:sp>
      <p:sp>
        <p:nvSpPr>
          <p:cNvPr id="5" name="Oval 4"/>
          <p:cNvSpPr/>
          <p:nvPr/>
        </p:nvSpPr>
        <p:spPr>
          <a:xfrm>
            <a:off x="7315200" y="1920240"/>
            <a:ext cx="438912" cy="43891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783080"/>
            <a:ext cx="3931920" cy="71323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E1E1E"/>
                </a:solidFill>
                <a:latin typeface="Microsoft JhengHei"/>
              </a:rPr>
              <a:t>Assurance-by-Design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設計 AI 工作流時同步內建稽核軌跡與護欄</a:t>
            </a:r>
          </a:p>
        </p:txBody>
      </p:sp>
      <p:sp>
        <p:nvSpPr>
          <p:cNvPr id="7" name="Oval 6"/>
          <p:cNvSpPr/>
          <p:nvPr/>
        </p:nvSpPr>
        <p:spPr>
          <a:xfrm>
            <a:off x="7315200" y="2697479"/>
            <a:ext cx="438912" cy="43891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2560320"/>
            <a:ext cx="3931920" cy="71323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E1E1E"/>
                </a:solidFill>
                <a:latin typeface="Microsoft JhengHei"/>
              </a:rPr>
              <a:t>顧問藍圖＋人力委外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小案切入，接上 1–3 年經常性人力</a:t>
            </a:r>
          </a:p>
        </p:txBody>
      </p:sp>
      <p:sp>
        <p:nvSpPr>
          <p:cNvPr id="9" name="Oval 8"/>
          <p:cNvSpPr/>
          <p:nvPr/>
        </p:nvSpPr>
        <p:spPr>
          <a:xfrm>
            <a:off x="7315200" y="3474720"/>
            <a:ext cx="438912" cy="43891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3337560"/>
            <a:ext cx="3931920" cy="71323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E1E1E"/>
                </a:solidFill>
                <a:latin typeface="Microsoft JhengHei"/>
              </a:rPr>
              <a:t>以 IFRS 17 資料庫為樞紐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把合規資料延伸到 ALM、定價與通路 KPI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4251960"/>
            <a:ext cx="438912" cy="438912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4114800"/>
            <a:ext cx="3931920" cy="71323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E1E1E"/>
                </a:solidFill>
                <a:latin typeface="Microsoft JhengHei"/>
              </a:rPr>
              <a:t>雲端與第三方 AI 聯合查核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多家保險公司共同委託，分攤成本 ⚠ 需確認獨立性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440680"/>
            <a:ext cx="91440" cy="54864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440680"/>
            <a:ext cx="11292840" cy="5486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D5108"/>
                </a:solidFill>
                <a:latin typeface="Microsoft JhengHei"/>
              </a:rPr>
              <a:t>所以呢：</a:t>
            </a:r>
            <a:r>
              <a:rPr sz="1150" b="0">
                <a:solidFill>
                  <a:srgbClr val="1E1E1E"/>
                </a:solidFill>
                <a:latin typeface="Microsoft JhengHei"/>
              </a:rPr>
              <a:t>對手賣的是藍圖與平台；我們賣「做得出來、查得過、有人長期顧」。此對比為公開資料推論，對外勿點名。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108192"/>
            <a:ext cx="11338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來源：各機構 2025–2026 公開發布的服務與研究（Deloitte 2026-05、EY 2026-09、McKinsey 2026-04／06、Bain 2026）。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Microsoft JhengHei"/>
              </a:rPr>
              <a:t>行動：90 天計畫、</a:t>
            </a:r>
          </a:p>
          <a:p>
            <a:r>
              <a:rPr sz="3000">
                <a:latin typeface="Microsoft JhengHei"/>
              </a:rPr>
              <a:t>風險與今天的決定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Microsoft JhengHe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108192"/>
            <a:ext cx="7772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B6B6B"/>
                </a:solidFill>
                <a:latin typeface="Microsoft JhengHei"/>
              </a:rPr>
              <a:t>把建議轉成負責人、時程與檢查點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90 天行動計畫：第 4 週服務包定稿、第 8 週完成內部審查、第 12 週提出首案建議書</a:t>
            </a:r>
          </a:p>
        </p:txBody>
      </p:sp>
      <p:sp>
        <p:nvSpPr>
          <p:cNvPr id="3" name="Rectangle 2"/>
          <p:cNvSpPr/>
          <p:nvPr/>
        </p:nvSpPr>
        <p:spPr>
          <a:xfrm>
            <a:off x="2788920" y="1280160"/>
            <a:ext cx="2947416" cy="4114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第 1–4 週｜打包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1200" y="1280160"/>
            <a:ext cx="2947416" cy="4114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第 5–8 週｜驗證</a:t>
            </a:r>
          </a:p>
        </p:txBody>
      </p:sp>
      <p:sp>
        <p:nvSpPr>
          <p:cNvPr id="5" name="Rectangle 4"/>
          <p:cNvSpPr/>
          <p:nvPr/>
        </p:nvSpPr>
        <p:spPr>
          <a:xfrm>
            <a:off x="8793480" y="1280160"/>
            <a:ext cx="2947416" cy="4114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第 9–12 週｜開賣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10512"/>
            <a:ext cx="2286000" cy="7772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D5108"/>
                </a:solidFill>
                <a:latin typeface="Microsoft JhengHei"/>
              </a:rPr>
              <a:t>① IFRS 17 服務包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856231"/>
            <a:ext cx="2947416" cy="6858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服務一頁紙、首案範圍與報價區間</a:t>
            </a:r>
          </a:p>
        </p:txBody>
      </p:sp>
      <p:sp>
        <p:nvSpPr>
          <p:cNvPr id="8" name="Rectangle 7"/>
          <p:cNvSpPr/>
          <p:nvPr/>
        </p:nvSpPr>
        <p:spPr>
          <a:xfrm>
            <a:off x="5791200" y="1856231"/>
            <a:ext cx="2947416" cy="6858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與所內 IFRS 17 團隊確認分工、選定目標客戶</a:t>
            </a:r>
          </a:p>
        </p:txBody>
      </p:sp>
      <p:sp>
        <p:nvSpPr>
          <p:cNvPr id="9" name="Rectangle 8"/>
          <p:cNvSpPr/>
          <p:nvPr/>
        </p:nvSpPr>
        <p:spPr>
          <a:xfrm>
            <a:off x="8793480" y="1856231"/>
            <a:ext cx="2947416" cy="6858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客戶對談、首案建議書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679191"/>
            <a:ext cx="2286000" cy="7772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D5108"/>
                </a:solidFill>
                <a:latin typeface="Microsoft JhengHei"/>
              </a:rPr>
              <a:t>② AI 治理服務包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2724911"/>
            <a:ext cx="2947416" cy="6858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健檢方法與 AI 清冊範本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91200" y="2724911"/>
            <a:ext cx="2947416" cy="6858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R&amp;Q 獨立性確認、內部試做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93480" y="2724911"/>
            <a:ext cx="2947416" cy="6858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客戶對談、首案建議書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547872"/>
            <a:ext cx="2286000" cy="7772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E7C39"/>
                </a:solidFill>
                <a:latin typeface="Microsoft JhengHei"/>
              </a:rPr>
              <a:t>第二波準備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91200" y="3593591"/>
            <a:ext cx="5949696" cy="685800"/>
          </a:xfrm>
          <a:prstGeom prst="rect">
            <a:avLst/>
          </a:prstGeom>
          <a:solidFill>
            <a:srgbClr val="FFE8D4"/>
          </a:solidFill>
          <a:ln w="9525">
            <a:solidFill>
              <a:srgbClr val="FE7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代理型 AI 藍圖方法、核心／雲端評估框架、反詐欺技術夥伴初篩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416552"/>
            <a:ext cx="2286000" cy="7772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E1E1E"/>
                </a:solidFill>
                <a:latin typeface="Microsoft JhengHei"/>
              </a:rPr>
              <a:t>素材與研究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4462272"/>
            <a:ext cx="2947416" cy="6858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研究數字回原文核對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91200" y="4462272"/>
            <a:ext cx="2947416" cy="6858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研討會 AI 短片定稿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93480" y="4462272"/>
            <a:ext cx="2947416" cy="6858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>研討會與客戶拜訪使用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88920" y="5440680"/>
            <a:ext cx="9006839" cy="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iamond 20"/>
          <p:cNvSpPr/>
          <p:nvPr/>
        </p:nvSpPr>
        <p:spPr>
          <a:xfrm>
            <a:off x="5608320" y="5303520"/>
            <a:ext cx="274320" cy="274320"/>
          </a:xfrm>
          <a:prstGeom prst="diamond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45280" y="5596128"/>
            <a:ext cx="16916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r">
              <a:spcAft>
                <a:spcPts val="300"/>
              </a:spcAft>
            </a:pPr>
            <a:r>
              <a:rPr sz="1050" b="1">
                <a:solidFill>
                  <a:srgbClr val="FD5108"/>
                </a:solidFill>
                <a:latin typeface="Microsoft JhengHei"/>
              </a:rPr>
              <a:t>W4　服務包定稿</a:t>
            </a:r>
          </a:p>
        </p:txBody>
      </p:sp>
      <p:sp>
        <p:nvSpPr>
          <p:cNvPr id="23" name="Diamond 22"/>
          <p:cNvSpPr/>
          <p:nvPr/>
        </p:nvSpPr>
        <p:spPr>
          <a:xfrm>
            <a:off x="8610600" y="5303520"/>
            <a:ext cx="274320" cy="274320"/>
          </a:xfrm>
          <a:prstGeom prst="diamond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47560" y="5596128"/>
            <a:ext cx="16916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r">
              <a:spcAft>
                <a:spcPts val="300"/>
              </a:spcAft>
            </a:pPr>
            <a:r>
              <a:rPr sz="1050" b="1">
                <a:solidFill>
                  <a:srgbClr val="FD5108"/>
                </a:solidFill>
                <a:latin typeface="Microsoft JhengHei"/>
              </a:rPr>
              <a:t>W8　內部審查</a:t>
            </a:r>
          </a:p>
        </p:txBody>
      </p:sp>
      <p:sp>
        <p:nvSpPr>
          <p:cNvPr id="25" name="Diamond 24"/>
          <p:cNvSpPr/>
          <p:nvPr/>
        </p:nvSpPr>
        <p:spPr>
          <a:xfrm>
            <a:off x="11612880" y="5303520"/>
            <a:ext cx="274320" cy="274320"/>
          </a:xfrm>
          <a:prstGeom prst="diamond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49840" y="5596128"/>
            <a:ext cx="16916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r">
              <a:spcAft>
                <a:spcPts val="300"/>
              </a:spcAft>
            </a:pPr>
            <a:r>
              <a:rPr sz="1050" b="1">
                <a:solidFill>
                  <a:srgbClr val="FD5108"/>
                </a:solidFill>
                <a:latin typeface="Microsoft JhengHei"/>
              </a:rPr>
              <a:t>W12　首案建議書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285232"/>
            <a:ext cx="2286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B6B6B"/>
                </a:solidFill>
                <a:latin typeface="Microsoft JhengHei"/>
              </a:rPr>
              <a:t>檢查點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6108192"/>
            <a:ext cx="11338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週數自會議決定日起算。負責人與人力配置待今天指派。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四個主要風險都有對應做法，最需要先處理的是資料可信度與獨立性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80160"/>
          <a:ext cx="113842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343400"/>
                <a:gridCol w="4023360"/>
                <a:gridCol w="1371600"/>
              </a:tblGrid>
              <a:tr h="7863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風險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可能的影響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對應做法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時點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D5108"/>
                          </a:solidFill>
                          <a:latin typeface="Microsoft JhengHei"/>
                        </a:rPr>
                        <a:t>資料可信度</a:t>
                      </a:r>
                    </a:p>
                  </a:txBody>
                  <a:tcPr marL="54864" marR="54864" marT="32004" marB="32004" anchor="ctr">
                    <a:solidFill>
                      <a:srgbClr val="FFE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研究由 Gemini Deep Research 彙整，部分數字為單一來源；直接引用可能被客戶質疑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對外前逐一回原文核對；單一來源數字標註或不用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第 1–4 週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D5108"/>
                          </a:solidFill>
                          <a:latin typeface="Microsoft JhengHei"/>
                        </a:rPr>
                        <a:t>獨立性</a:t>
                      </a:r>
                    </a:p>
                  </a:txBody>
                  <a:tcPr marL="54864" marR="54864" marT="32004" marB="32004" anchor="ctr">
                    <a:solidFill>
                      <a:srgbClr val="FFE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AI 治理健檢、第三方 AI 認證與聯合查核涉及確信角色；IFRS 17 顧問可能碰到審計客戶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推動前與 Risk &amp; Quality 確認；審計客戶另案評估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第 1 週起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D5108"/>
                          </a:solidFill>
                          <a:latin typeface="Microsoft JhengHei"/>
                        </a:rPr>
                        <a:t>交付產能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第一波與既有專案爭用同一批精算、財會與 AI 治理人力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首案前由既有團隊兼任；首案成立後再補人力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第 5–8 週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D5108"/>
                          </a:solidFill>
                          <a:latin typeface="Microsoft JhengHei"/>
                        </a:rPr>
                        <a:t>競爭者先行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國際顧問已推出代理型 AI 藍圖與平台，客戶可能已在洽談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主打在地確信與駐點人力；優先鎖定既有客戶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1E1E"/>
                          </a:solidFill>
                          <a:latin typeface="Microsoft JhengHei"/>
                        </a:rPr>
                        <a:t>持續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11480" y="5486400"/>
            <a:ext cx="9144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E1E1E"/>
                </a:solidFill>
                <a:latin typeface="Microsoft JhengHei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486400"/>
            <a:ext cx="11292840" cy="5029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FD5108"/>
                </a:solidFill>
                <a:latin typeface="Microsoft JhengHei"/>
              </a:rPr>
              <a:t>所以呢：</a:t>
            </a:r>
            <a:r>
              <a:rPr sz="1150" b="0">
                <a:solidFill>
                  <a:srgbClr val="1E1E1E"/>
                </a:solidFill>
                <a:latin typeface="Microsoft JhengHei"/>
              </a:rPr>
              <a:t>前兩項風險不先處理，第一波服務就無法對外；建議列入今天的決策事項。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108192"/>
            <a:ext cx="11338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單一來源待驗證數字：Celent 22% 計畫部署代理型 AI、亞太深偽網路險理賠 +233%、嵌入式保險市場規模、AI 精算定價 +30% 效率。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今天請決定四件事：以下為建議方案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80160"/>
          <a:ext cx="113842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743200"/>
                <a:gridCol w="5349240"/>
                <a:gridCol w="1554480"/>
                <a:gridCol w="1188720"/>
              </a:tblGrid>
              <a:tr h="78638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#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決策事項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建議方案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負責人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期限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D5108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Microsoft JhengHei"/>
                        </a:rPr>
                        <a:t>第一波推哪兩項服務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Microsoft JhengHei"/>
                        </a:rPr>
                        <a:t>IFRS 17／TW-ICS 後財務轉型、AI 清冊與模型驗證健檢</a:t>
                      </a:r>
                    </a:p>
                  </a:txBody>
                  <a:tcPr marL="54864" marR="54864" marT="32004" marB="32004" anchor="ctr">
                    <a:solidFill>
                      <a:srgbClr val="FFE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Microsoft JhengHei"/>
                        </a:rPr>
                        <a:t>主管決定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Microsoft JhengHei"/>
                        </a:rPr>
                        <a:t>今天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D5108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Microsoft JhengHei"/>
                        </a:rPr>
                        <a:t>每項服務包的負責人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Microsoft JhengHei"/>
                        </a:rPr>
                        <a:t>各指派 1 位負責人＋1 位支援；負責人第 1 週找 R&amp;Q 確認獨立性</a:t>
                      </a:r>
                    </a:p>
                  </a:txBody>
                  <a:tcPr marL="54864" marR="54864" marT="32004" marB="32004" anchor="ctr">
                    <a:solidFill>
                      <a:srgbClr val="FFE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Microsoft JhengHei"/>
                        </a:rPr>
                        <a:t>主管指派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Microsoft JhengHei"/>
                        </a:rPr>
                        <a:t>今天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D5108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Microsoft JhengHei"/>
                        </a:rPr>
                        <a:t>90 天計畫與檢查點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Microsoft JhengHei"/>
                        </a:rPr>
                        <a:t>核定第 4、8、12 週三次檢查點，每次 30 分鐘</a:t>
                      </a:r>
                    </a:p>
                  </a:txBody>
                  <a:tcPr marL="54864" marR="54864" marT="32004" marB="32004" anchor="ctr">
                    <a:solidFill>
                      <a:srgbClr val="FFE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Microsoft JhengHei"/>
                        </a:rPr>
                        <a:t>服務包負責人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Microsoft JhengHei"/>
                        </a:rPr>
                        <a:t>第 1 週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D5108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Microsoft JhengHei"/>
                        </a:rPr>
                        <a:t>研討會 AI 短片的主題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Microsoft JhengHei"/>
                        </a:rPr>
                        <a:t>以第一波服務為主題；原版／新版與結尾 CTA 二選一</a:t>
                      </a:r>
                    </a:p>
                  </a:txBody>
                  <a:tcPr marL="54864" marR="54864" marT="32004" marB="32004" anchor="ctr">
                    <a:solidFill>
                      <a:srgbClr val="FFE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Microsoft JhengHei"/>
                        </a:rPr>
                        <a:t>主管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Microsoft JhengHei"/>
                        </a:rPr>
                        <a:t>第 2 週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11480" y="5486400"/>
            <a:ext cx="11384280" cy="5029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D5108"/>
                </a:solidFill>
                <a:latin typeface="Microsoft JhengHei"/>
              </a:rPr>
              <a:t>會議後 48 小時內：</a:t>
            </a:r>
            <a:r>
              <a:rPr sz="1200" b="0">
                <a:solidFill>
                  <a:srgbClr val="1E1E1E"/>
                </a:solidFill>
                <a:latin typeface="Microsoft JhengHei"/>
              </a:rPr>
              <a:t>寄出會議紀錄與決策結果；負責人確認第 1 週工作與 R&amp;Q 會議時間。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Microsoft JhengHei"/>
              </a:rPr>
              <a:t>附錄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Microsoft JhengHei"/>
              </a:rPr>
              <a:t>A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108192"/>
            <a:ext cx="77724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6B6B6B"/>
                </a:solidFill>
                <a:latin typeface="Microsoft JhengHei"/>
              </a:rPr>
              <a:t>九項趨勢的定義、國際案例與台灣痛點；主要來源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A1｜九項趨勢明細（1／3）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828800"/>
            <a:ext cx="1234440" cy="7863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是什麼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2670048"/>
            <a:ext cx="1234440" cy="7863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國際案例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3511296"/>
            <a:ext cx="1234440" cy="7863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台灣痛點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352544"/>
            <a:ext cx="1234440" cy="7863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服務包裝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5193792"/>
            <a:ext cx="1234440" cy="7863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第一步切入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80160"/>
            <a:ext cx="324612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1｜代理型 AI 核保與理賠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828800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多代理協作自主完成收件解析、外部數據查核、風險分流與理賠審核，人只處理複雜案件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2670048"/>
            <a:ext cx="32461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Manulife MAUDE 核保系統、AmTrust 生成式 AI 理賠（Celent 2025／2026 獎）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3511296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已有核保、理賠智能助理，但停在單點知識檢索，無法跨核心系統自動觸發照會或給付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4352544"/>
            <a:ext cx="32461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核保／理賠三車道分流藍圖、工具目錄與 API 架構、AI 代理權限與護欄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5193792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6–8 週單一險種「價值量化與工作流重塑」工作坊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02352" y="1280160"/>
            <a:ext cx="324612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2｜AI 加速核心現代化與雲端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2352" y="1828800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AI 自動解析舊程式、資料映射與測試生成；客製化移出核心，改放雲端中台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2352" y="2670048"/>
            <a:ext cx="32461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John Hancock、MSIG USA 雲原生核心與數據平台（Celent 獎）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02352" y="3511296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核心替換動輒 5–8 年且超支；舊語言維護人力不足；舊核心無法支援 API 與 AI 串接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4352544"/>
            <a:ext cx="32461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AI 加速核心翻新評估、中台解耦架構、遷移測試人力、雲端業者聯合查核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2352" y="5193792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雲端委外合規落差評估，或周邊系統 AI 重寫 PoC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67344" y="1280160"/>
            <a:ext cx="324612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3｜營運化 AI 治理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67344" y="1828800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把原則轉成可查核的 AI 清冊、偏見測試與執行期護欄（權限、防注入、自動回滾、緊急關閉）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67344" y="2670048"/>
            <a:ext cx="32461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NAIC 12 州試點評估工具；MAS AI 風險指引；香港保監局 AI Cohort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67344" y="3511296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多由法遵寫紙本政策，缺少跨精算、核保、IT 的模型驗證，也看不到部門自用的外部 AI 工具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67344" y="4352544"/>
            <a:ext cx="32461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AI 清冊盤點與風險分級、模型驗證機制、第三方 AI 盡職調查範本、LLM 紅隊演練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67344" y="5193792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4–6 週 AI 清冊盤點＋金管會指引合規健檢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A2｜九項趨勢明細（2／3）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828800"/>
            <a:ext cx="1234440" cy="7863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是什麼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2670048"/>
            <a:ext cx="1234440" cy="7863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國際案例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3511296"/>
            <a:ext cx="1234440" cy="7863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台灣痛點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352544"/>
            <a:ext cx="1234440" cy="7863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服務包裝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5193792"/>
            <a:ext cx="1234440" cy="7863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第一步切入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80160"/>
            <a:ext cx="324612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4｜IFRS 17 後財務轉型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828800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開帳後轉向結帳與內控自動化、以 KRD 為核心的動態 ALM、新契約 CSM 納入通路 KPI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2670048"/>
            <a:ext cx="32461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Manulife、Zurich 將 CSM 納入核心 KPI；韓國接軌 K-ICS 後調整商品結構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3511296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結帳仰賴人工與外包；覆蓋法退場使損益劇烈波動；通路仍以初年度保費考核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4352544"/>
            <a:ext cx="32461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結帳自動化、ALM 分析平台、CSM 通路 KPI 設計、精算財會人力委外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5193792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首年結帳瓶頸診斷，或 CSM 管理儀表板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02352" y="1280160"/>
            <a:ext cx="324612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5｜深偽理賠反詐欺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2352" y="1828800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影像鑑識、文件中繼資料檢查、敘事矛盾比對，嵌入理賠調查工作流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2352" y="2670048"/>
            <a:ext cx="32461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Swiss Re SONAR 2025；FRISS、Verisk 多模態偽造偵測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02352" y="3511296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行動理賠普及，修圖車損、偽造醫療收據門檻變低，規則引擎辨識不了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4352544"/>
            <a:ext cx="32461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多模態偵測模型、跨保單與院所關聯圖譜、調查派案流程重塑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2352" y="5193792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歷史車損照片／醫療單據 AI 偽造偵測 PoC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67344" y="1280160"/>
            <a:ext cx="324612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6｜AI 精算定價與數據平台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67344" y="1828800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Lakehouse 數據平台＋AI 費率開發，自動化費率模擬、規則生成與版本控管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67344" y="2670048"/>
            <a:ext cx="32461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Roamly Actuarial Rater、AIA、Income Insurance（Celent 獎）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67344" y="3511296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費率配置進核心仰賴人工轉檔與核對，上市慢且有配置錯誤裁罰風險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67344" y="4352544"/>
            <a:ext cx="32461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三層數據架構（中繼資料、血緣、資料契約）、定價到上線自動化、數據工程人力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67344" y="5193792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新商品費率上線流程診斷與自動比對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A3｜九項趨勢明細（3／3）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828800"/>
            <a:ext cx="1234440" cy="7863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是什麼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2670048"/>
            <a:ext cx="1234440" cy="7863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國際案例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3511296"/>
            <a:ext cx="1234440" cy="7863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台灣痛點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352544"/>
            <a:ext cx="1234440" cy="7863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服務包裝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5193792"/>
            <a:ext cx="1234440" cy="7863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D5108"/>
                </a:solidFill>
                <a:latin typeface="Microsoft JhengHei"/>
              </a:rPr>
              <a:t>第一步切入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80160"/>
            <a:ext cx="324612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7｜嵌入式保險 API 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828800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標準 Open API 把場景化保單嵌入銀行、車廠、電信、旅遊平台，即時定價出單理賠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2670048"/>
            <a:ext cx="32461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bolttech、Chubb Studio、Qover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3511296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每接一家異業就要數月客製開發；缺少商品工廠與 API 閘道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4352544"/>
            <a:ext cx="32461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API 中台架構、異業分潤與資料共享合規架構、內嵌式理賠流程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5193792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高頻場景 API 商品工廠與快速串接藍圖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02352" y="1280160"/>
            <a:ext cx="324612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8｜參數型氣候巨災保險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2352" y="1828800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以風速、震度、淹水面積等參數觸發理賠，30 天內撥款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2352" y="2670048"/>
            <a:ext cx="32461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Swiss Re STORM／QUAKE／HAIL；紐約市參數型洪水險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02352" y="3511296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颱風、地震高風險；科技廠與綠能資產需求大；缺少地理空間建模與基差風險量化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4352544"/>
            <a:ext cx="32461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氣候實體風險數據整合、參數型商品設計、自動觸發數據管道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2352" y="5193792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企業巨災自負額填補可行性評估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67344" y="1280160"/>
            <a:ext cx="324612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9｜AI 表現保證保險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67344" y="1828800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模型表現不如預期或 AI 侵權時的保證與責任保險，以技術盡職調查為前提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67344" y="2670048"/>
            <a:ext cx="32461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Armilla AI（Lloyd's）、Munich Re aiSure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67344" y="3511296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企業採購 AI 擔心求償無門；產險承保 AI 資料中心面臨價值累積風險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67344" y="4352544"/>
            <a:ext cx="32461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第三方 AI 模型技術盡職調查、AI 責任險批單與資料中心核保顧問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67344" y="5193792"/>
            <a:ext cx="3246120" cy="786384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E1E1E"/>
                </a:solidFill>
                <a:latin typeface="Microsoft JhengHei"/>
              </a:rPr>
              <a:t>第三方 AI 供應商風險認證與合約保證條款設計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Microsoft JhengHei"/>
              </a:rPr>
              <a:t>A4｜主要來源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280160"/>
          <a:ext cx="11384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73836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</a:rPr>
                        <a:t>類別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JhengHei"/>
                        </a:rPr>
                        <a:t>來源（發布日期）</a:t>
                      </a:r>
                    </a:p>
                  </a:txBody>
                  <a:tcPr marL="54864" marR="54864" marT="32004" marB="32004" anchor="ctr">
                    <a:solidFill>
                      <a:srgbClr val="FD510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D5108"/>
                          </a:solidFill>
                          <a:latin typeface="Microsoft JhengHei"/>
                        </a:rPr>
                        <a:t>監理機關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金管會《金融業運用 AI 指引》（2024-08）</a:t>
                      </a:r>
                    </a:p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金管會《保險業作業委託他人處理應注意事項》修正（2024-08）；內部作業制度及程序辦法草案（2025-10 預告）</a:t>
                      </a:r>
                    </a:p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產壽險公會《保險業使用雲端服務自律規範》</a:t>
                      </a:r>
                    </a:p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NAIC AI Model Bulletin 實施追蹤（2026-04）</a:t>
                      </a:r>
                    </a:p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MAS AI 風險管理指引（2025-11）；香港保監局 AI Cohort（2025-08）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D5108"/>
                          </a:solidFill>
                          <a:latin typeface="Microsoft JhengHei"/>
                        </a:rPr>
                        <a:t>產業研究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Gallagher Re《Global InsurTech Report Q1 2026》（2026-05）、Q2 2026（2026-08）</a:t>
                      </a:r>
                    </a:p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Swiss Re SONAR 2025（2025-06）；參數型洪水保險（2026-03）</a:t>
                      </a:r>
                    </a:p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Celent Model Insurer 2025／2026；Shedding Light on Agentic AI（2025-05）</a:t>
                      </a:r>
                    </a:p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Armilla AI；Munich Re《Insuring Generative AI》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D5108"/>
                          </a:solidFill>
                          <a:latin typeface="Microsoft JhengHei"/>
                        </a:rPr>
                        <a:t>顧問與事務所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McKinsey：Agentic AI 核心現代化（2026-04）、UWOS（2026-06）</a:t>
                      </a:r>
                    </a:p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Bain：Reimagining Insurance for the AI Era（2026）、How to Architect for Agentic AI</a:t>
                      </a:r>
                    </a:p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Deloitte：Agentic AI Blueprint for Insurance；亞太壽險論文（2026-05）</a:t>
                      </a:r>
                    </a:p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EY：EY Nexus for Insurance；AI Risk and Governance Survey（2026-09）</a:t>
                      </a:r>
                    </a:p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PwC Taiwan：IFRS 17 關鍵議題（2025-11）、首份 IFRS 17 財報導讀（2026）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D5108"/>
                          </a:solidFill>
                          <a:latin typeface="Microsoft JhengHei"/>
                        </a:rPr>
                        <a:t>媒體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1E1E"/>
                          </a:solidFill>
                          <a:latin typeface="Microsoft JhengHei"/>
                        </a:rPr>
                        <a:t>Insurance Journal（2025-11）；工商時報（2024-06、2024-08、2025-09、2026-01、2026-02、2026-05）；Insurance Innovation Reporter（2026-06）</a:t>
                      </a:r>
                    </a:p>
                  </a:txBody>
                  <a:tcPr marL="54864" marR="54864" marT="32004" marB="32004" anchor="ctr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11480" y="6108192"/>
            <a:ext cx="11338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B6B6B"/>
                </a:solidFill>
                <a:latin typeface="Microsoft JhengHei"/>
              </a:rPr>
              <a:t>完整連結見研究報告原文。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AAAAAA"/>
      </a:dk1>
      <a:lt1>
        <a:srgbClr val="FFFFFF"/>
      </a:lt1>
      <a:dk2>
        <a:srgbClr val="08204C"/>
      </a:dk2>
      <a:lt2>
        <a:srgbClr val="FEFFFE"/>
      </a:lt2>
      <a:accent1>
        <a:srgbClr val="FEA200"/>
      </a:accent1>
      <a:accent2>
        <a:srgbClr val="61CAE2"/>
      </a:accent2>
      <a:accent3>
        <a:srgbClr val="FE7050"/>
      </a:accent3>
      <a:accent4>
        <a:srgbClr val="64D795"/>
      </a:accent4>
      <a:accent5>
        <a:srgbClr val="69449B"/>
      </a:accent5>
      <a:accent6>
        <a:srgbClr val="EBECEB"/>
      </a:accent6>
      <a:hlink>
        <a:srgbClr val="6B9F25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Default Theme">
  <a:themeElements>
    <a:clrScheme name="IGPIA - Theme 12 - Light">
      <a:dk1>
        <a:srgbClr val="737572"/>
      </a:dk1>
      <a:lt1>
        <a:srgbClr val="FFFFFF"/>
      </a:lt1>
      <a:dk2>
        <a:srgbClr val="445469"/>
      </a:dk2>
      <a:lt2>
        <a:srgbClr val="FFFFFF"/>
      </a:lt2>
      <a:accent1>
        <a:srgbClr val="5DCEDB"/>
      </a:accent1>
      <a:accent2>
        <a:srgbClr val="5ECB95"/>
      </a:accent2>
      <a:accent3>
        <a:srgbClr val="F0D065"/>
      </a:accent3>
      <a:accent4>
        <a:srgbClr val="EC9F56"/>
      </a:accent4>
      <a:accent5>
        <a:srgbClr val="DC653D"/>
      </a:accent5>
      <a:accent6>
        <a:srgbClr val="CAC9D0"/>
      </a:accent6>
      <a:hlink>
        <a:srgbClr val="216BA9"/>
      </a:hlink>
      <a:folHlink>
        <a:srgbClr val="1FB18A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4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68F217C4-1E00-F143-AAD3-4BCCBF0A5677}" vid="{0BD6579F-3F24-3941-8ED8-09116B1E7436}"/>
    </a:ext>
  </a:extLst>
</a:theme>
</file>

<file path=ppt/theme/theme5.xml><?xml version="1.0" encoding="utf-8"?>
<a:theme xmlns:a="http://schemas.openxmlformats.org/drawingml/2006/main" name="2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6.xml><?xml version="1.0" encoding="utf-8"?>
<a:theme xmlns:a="http://schemas.openxmlformats.org/drawingml/2006/main" name="3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45195d-0402-4561-91d6-fad97d760b90">
      <Terms xmlns="http://schemas.microsoft.com/office/infopath/2007/PartnerControls"/>
    </lcf76f155ced4ddcb4097134ff3c332f>
    <TaxCatchAll xmlns="4e47112c-55e5-4d87-b35d-79e596036eb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CEFDBAE80C59469568A37FF2AD9E46" ma:contentTypeVersion="15" ma:contentTypeDescription="Create a new document." ma:contentTypeScope="" ma:versionID="9b80cff5c45fe37fe7e79aba68c8730b">
  <xsd:schema xmlns:xsd="http://www.w3.org/2001/XMLSchema" xmlns:xs="http://www.w3.org/2001/XMLSchema" xmlns:p="http://schemas.microsoft.com/office/2006/metadata/properties" xmlns:ns2="3445195d-0402-4561-91d6-fad97d760b90" xmlns:ns3="4e47112c-55e5-4d87-b35d-79e596036ebc" targetNamespace="http://schemas.microsoft.com/office/2006/metadata/properties" ma:root="true" ma:fieldsID="6b6ba577ede3a76c2b1fbac158428f6a" ns2:_="" ns3:_="">
    <xsd:import namespace="3445195d-0402-4561-91d6-fad97d760b90"/>
    <xsd:import namespace="4e47112c-55e5-4d87-b35d-79e596036e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45195d-0402-4561-91d6-fad97d760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47112c-55e5-4d87-b35d-79e596036eb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7c682cc-33cd-40ab-8bfc-09a3a49d63b9}" ma:internalName="TaxCatchAll" ma:showField="CatchAllData" ma:web="4e47112c-55e5-4d87-b35d-79e596036e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46A3C2-4B54-413D-8C27-17731F2BCB53}">
  <ds:schemaRefs>
    <ds:schemaRef ds:uri="3445195d-0402-4561-91d6-fad97d760b90"/>
    <ds:schemaRef ds:uri="4e47112c-55e5-4d87-b35d-79e596036e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83975D9-63BD-47B2-B0FB-84D03020E5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F0BA2-F4F2-46E4-AB38-70E65A5766DC}">
  <ds:schemaRefs>
    <ds:schemaRef ds:uri="3445195d-0402-4561-91d6-fad97d760b90"/>
    <ds:schemaRef ds:uri="4e47112c-55e5-4d87-b35d-79e596036e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114</Slides>
  <Notes>24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114</vt:i4>
      </vt:variant>
    </vt:vector>
  </HeadingPairs>
  <TitlesOfParts>
    <vt:vector size="120" baseType="lpstr">
      <vt:lpstr>1_Office Theme</vt:lpstr>
      <vt:lpstr>Default Theme</vt:lpstr>
      <vt:lpstr>1_PwC Slide Master</vt:lpstr>
      <vt:lpstr>PwC Slide Master</vt:lpstr>
      <vt:lpstr>2_PwC Slide Master</vt:lpstr>
      <vt:lpstr>3_PwC Slide Master</vt:lpstr>
      <vt:lpstr>PowerPoint Presentation</vt:lpstr>
      <vt:lpstr>PowerPoint Presentation</vt:lpstr>
      <vt:lpstr>PowerPoint Presentation</vt:lpstr>
      <vt:lpstr>PowerPoint Presentation</vt:lpstr>
      <vt:lpstr>Agenda</vt:lpstr>
      <vt:lpstr>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在Discovery階段聚焦，PwC主要三個關鍵轉換點</vt:lpstr>
      <vt:lpstr>制定策略建議與行動計畫，PwC協助實現CRM Discovery Phase目標</vt:lpstr>
      <vt:lpstr>PwC 將主導制定一個從快速成果到長期成功的執行計劃</vt:lpstr>
      <vt:lpstr>A-1 訪談洞察：全面評估關鍵業務，規劃未來策略執行方向</vt:lpstr>
      <vt:lpstr>A-1 公司未來發展願景與策略目標對齊執行方式</vt:lpstr>
      <vt:lpstr>A-1 從準備到確認，業務單位訪談作業規劃</vt:lpstr>
      <vt:lpstr>Timeline</vt:lpstr>
      <vt:lpstr>Timeline</vt:lpstr>
      <vt:lpstr>Timeline</vt:lpstr>
      <vt:lpstr>Timeline</vt:lpstr>
      <vt:lpstr>Gantt Chart</vt:lpstr>
      <vt:lpstr>Gantt chart</vt:lpstr>
      <vt:lpstr>Gantt chart</vt:lpstr>
      <vt:lpstr>Gantt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</vt:lpstr>
      <vt:lpstr>Process</vt:lpstr>
      <vt:lpstr>Process</vt:lpstr>
      <vt:lpstr>Process</vt:lpstr>
      <vt:lpstr>Process</vt:lpstr>
      <vt:lpstr>全球環境動態資料轉換與應用實例：從一則情資到缺藥風險預警</vt:lpstr>
      <vt:lpstr>系統上線後的每日運作機制</vt:lpstr>
      <vt:lpstr>PowerPoint Presentation</vt:lpstr>
      <vt:lpstr>Process</vt:lpstr>
      <vt:lpstr>Process</vt:lpstr>
      <vt:lpstr>Process</vt:lpstr>
      <vt:lpstr>Four segments</vt:lpstr>
      <vt:lpstr>Four segments</vt:lpstr>
      <vt:lpstr>Four segments</vt:lpstr>
      <vt:lpstr>藥品短缺監控模型與風險燈號-雙模型優勢說明 本案將以「藥品短缺預測模型」與「重大短缺風險規則庫」建立兩道防線，第一道防線係以過往 貴署之資料進行短缺因子萃取，第二道防線係以過往 貴署資深同仁業務經驗/作業規範建立短缺防線。</vt:lpstr>
      <vt:lpstr>本案執行策略：先打底、快驗證、可交付、可發展 以資料基礎建設為起點，導入務實可用之 AI 應用，於專案期程內完成具驗證價值之藥品供應智慧監測 POC 雛形，並預留後續研究成果銜接與正式系統擴充空間。</vt:lpstr>
      <vt:lpstr>PowerPoint Presentation</vt:lpstr>
      <vt:lpstr>附件7 外部藥品資料庫擴充可行性評估(1/3)</vt:lpstr>
      <vt:lpstr>附件7 外部藥品資料庫擴充可行性評估(2/3) </vt:lpstr>
      <vt:lpstr>Table slide sample</vt:lpstr>
      <vt:lpstr>Table slide sample </vt:lpstr>
      <vt:lpstr>Table slide sample   </vt:lpstr>
      <vt:lpstr>Table slide sample    </vt:lpstr>
      <vt:lpstr>Short case studies</vt:lpstr>
      <vt:lpstr>Brand table 1</vt:lpstr>
      <vt:lpstr>PowerPoint Presentation</vt:lpstr>
      <vt:lpstr>PowerPoint Presentation</vt:lpstr>
      <vt:lpstr>One column chart </vt:lpstr>
      <vt:lpstr>Three images three content</vt:lpstr>
      <vt:lpstr>Graphs</vt:lpstr>
      <vt:lpstr>Graphs</vt:lpstr>
      <vt:lpstr>Charts</vt:lpstr>
      <vt:lpstr>Chart and two content</vt:lpstr>
      <vt:lpstr>Graphs</vt:lpstr>
      <vt:lpstr>Graphs</vt:lpstr>
      <vt:lpstr>Donut chart</vt:lpstr>
      <vt:lpstr>PowerPoint Presentation</vt:lpstr>
      <vt:lpstr>Text and large stat  lorem ipsum dolor sit amet, consectetuer adipiscing elit </vt:lpstr>
      <vt:lpstr>Text and large stat lorem ipsum dolor sit amet, consectetuer adipiscing elit </vt:lpstr>
      <vt:lpstr>Process</vt:lpstr>
      <vt:lpstr>Process</vt:lpstr>
      <vt:lpstr>PwC 顧問團隊 – Leadership</vt:lpstr>
      <vt:lpstr>Intro title</vt:lpstr>
      <vt:lpstr>Intro title</vt:lpstr>
      <vt:lpstr>Intro title</vt:lpstr>
      <vt:lpstr>CV—one person</vt:lpstr>
      <vt:lpstr>CV—one person</vt:lpstr>
      <vt:lpstr>CV—one person</vt:lpstr>
      <vt:lpstr>CV—two people</vt:lpstr>
      <vt:lpstr>CV—two people</vt:lpstr>
      <vt:lpstr>Bios—two people</vt:lpstr>
      <vt:lpstr>Bios—two people</vt:lpstr>
      <vt:lpstr>Bios—three people</vt:lpstr>
      <vt:lpstr>Bios—three people</vt:lpstr>
      <vt:lpstr>Bios—four people</vt:lpstr>
      <vt:lpstr>Bios—four people</vt:lpstr>
      <vt:lpstr>Four team images</vt:lpstr>
      <vt:lpstr>Four team images stacked</vt:lpstr>
      <vt:lpstr>Team chart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2026-08-13T06:16:32Z</dcterms:created>
  <dcterms:modified xsi:type="dcterms:W3CDTF">2026-08-28T08:56:35Z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0x01010057CEFDBAE80C59469568A37FF2AD9E46</vt:lpwstr>
  </property>
  <property fmtid="{D5CDD505-2E9C-101B-9397-08002B2CF9AE}" pid="3" name="MediaServiceImageTags">
    <vt:lpwstr/>
  </property>
</Properties>
</file>