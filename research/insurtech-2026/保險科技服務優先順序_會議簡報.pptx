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保險 AI 進入規模化落地期：</a:t>
            </a:r>
          </a:p>
          <a:p>
            <a:r>
              <a:rPr sz="2800">
                <a:latin typeface="Georgia"/>
                <a:ea typeface="微軟正黑體"/>
              </a:rPr>
              <a:t>FSC1 建議先推兩項服務包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 保險組｜服務優先順序討論會｜2026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今天要回答一個問題、做四個決定：先推哪兩項服務、誰負責、90 天內交付什麼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7315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核心問題　</a:t>
            </a:r>
            <a:r>
              <a:rPr sz="1500" b="0">
                <a:solidFill>
                  <a:srgbClr val="FFFFFF"/>
                </a:solidFill>
                <a:latin typeface="Arial"/>
                <a:ea typeface="微軟正黑體"/>
              </a:rPr>
              <a:t>未來 12 個月，FSC1 保險組應優先把哪些保險科技機會做成可銷售的服務，並在 2026 年的需求窗口內拿下首案？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240280"/>
            <a:ext cx="553212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微軟正黑體"/>
                <a:ea typeface="微軟正黑體"/>
              </a:rPr>
              <a:t>今天討論的範圍 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2670048"/>
            <a:ext cx="553212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11480" y="2761488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・全球與亞太過去 18 個月的保險科技變化，對台灣壽險與產險的意涵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28416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・四條既有服務線（AI 治理、數據應用、核心系統、人力委外）可以承接的機會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95344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・第一波服務包的切入方式、負責人與 90 天行動計畫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微軟正黑體"/>
                <a:ea typeface="微軟正黑體"/>
              </a:rPr>
              <a:t>不在今天範圍 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72200" y="2670048"/>
            <a:ext cx="553212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172200" y="2761488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・個別客戶的提案內容與報價（另案處理）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328416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・自建保險科技產品或對外投資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95344"/>
            <a:ext cx="5532120" cy="5303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・對外發布研究報告（本稿數字尚待回原文核對）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572000"/>
            <a:ext cx="11384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今天請決定</a:t>
            </a:r>
          </a:p>
        </p:txBody>
      </p:sp>
      <p:sp>
        <p:nvSpPr>
          <p:cNvPr id="19" name="Oval 18"/>
          <p:cNvSpPr/>
          <p:nvPr/>
        </p:nvSpPr>
        <p:spPr>
          <a:xfrm>
            <a:off x="411480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498348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第一波推哪兩項服務</a:t>
            </a:r>
          </a:p>
        </p:txBody>
      </p:sp>
      <p:sp>
        <p:nvSpPr>
          <p:cNvPr id="21" name="Oval 20"/>
          <p:cNvSpPr/>
          <p:nvPr/>
        </p:nvSpPr>
        <p:spPr>
          <a:xfrm>
            <a:off x="3291840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498348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每項服務包的負責人</a:t>
            </a:r>
          </a:p>
        </p:txBody>
      </p:sp>
      <p:sp>
        <p:nvSpPr>
          <p:cNvPr id="23" name="Oval 22"/>
          <p:cNvSpPr/>
          <p:nvPr/>
        </p:nvSpPr>
        <p:spPr>
          <a:xfrm>
            <a:off x="6172200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498348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90 天計畫與檢查點</a:t>
            </a:r>
          </a:p>
        </p:txBody>
      </p:sp>
      <p:sp>
        <p:nvSpPr>
          <p:cNvPr id="25" name="Oval 24"/>
          <p:cNvSpPr/>
          <p:nvPr/>
        </p:nvSpPr>
        <p:spPr>
          <a:xfrm>
            <a:off x="9052559" y="502920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01199" y="4983480"/>
            <a:ext cx="2194560" cy="5486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0000"/>
                </a:solidFill>
                <a:latin typeface="Arial"/>
                <a:ea typeface="微軟正黑體"/>
              </a:rPr>
              <a:t>研討會 AI 短片的主題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建議方案見第 3 頁（重點摘要）與第 19 頁（決策事項）。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重點摘要：需求已到、窗口在 2026 年，建議以 IFRS 17 與 AI 治理兩項服務包先行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383280" cy="365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情境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45919"/>
            <a:ext cx="3383280" cy="11155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保險業 AI 已從試點走向規模化：2026 Q1 全球保險科技募資 95.2% 流向 AI；63% 企業已把 AI 投入營運。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852928"/>
            <a:ext cx="3383280" cy="365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衝突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218688"/>
            <a:ext cx="3383280" cy="11155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但 95% 投資 AI 的企業還看不到財務回報；台灣同時面對 IFRS 17／TW-ICS 首年出表與 AI 指引落地查核。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25696"/>
            <a:ext cx="3383280" cy="365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問題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791456"/>
            <a:ext cx="3383280" cy="11155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FSC1 該先把哪些機會做成服務，才能在 2026 年的窗口內拿下首案？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886200" y="3108960"/>
            <a:ext cx="320040" cy="45720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7498079" cy="9601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建議　</a:t>
            </a: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第一波先推 2 項服務包：① IFRS 17／TW-ICS 後財務轉型　② AI 清冊、模型驗證與護欄。另 3 項列為第二波。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0" y="2240280"/>
            <a:ext cx="0" cy="22860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297680" y="2468880"/>
            <a:ext cx="2395728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需求確定、有時限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17520"/>
            <a:ext cx="2395728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・2026-01-01 正式接軌，首年結帳仍高度人工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・金管會 AI 指引與公會自律規範帶來查核壓力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0144" y="2240280"/>
            <a:ext cx="0" cy="22860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21424" y="2468880"/>
            <a:ext cx="2395728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離既有服務最近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1424" y="3017520"/>
            <a:ext cx="2395728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・延伸既有駐點團隊與 AI 治理服務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・不需新增技術夥伴，可用短期診斷或健檢切入（AI 治理健檢 4–6 週）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33888" y="2240280"/>
            <a:ext cx="0" cy="22860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345167" y="2468880"/>
            <a:ext cx="2395728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能帶出長期合作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45167" y="3017520"/>
            <a:ext cx="2395728" cy="1828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・治理與財務資料是代理型 AI、核心現代化的前置條件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・可延伸為第二波三項服務與 1–3 年人力委外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5029200"/>
            <a:ext cx="7498079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今天請決定：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同意第一波兩項服務、指派各 1 位負責人、核定 90 天計畫與第 4／8／12 週檢查點。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來源：Gallagher Re Global InsurTech Report Q1 2026（2026-05）；Bain 引述 MIT（2026-01）；金管會公告。數字待回原文核對。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我們把問題拆成三個子問題：需求在哪裡、我們能不能贏、怎麼開始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2103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595959"/>
                </a:solidFill>
                <a:latin typeface="Arial"/>
                <a:ea typeface="微軟正黑體"/>
              </a:rPr>
              <a:t>核心問題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234440"/>
            <a:ext cx="23774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595959"/>
                </a:solidFill>
                <a:latin typeface="Arial"/>
                <a:ea typeface="微軟正黑體"/>
              </a:rPr>
              <a:t>子問題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234440"/>
            <a:ext cx="30175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595959"/>
                </a:solidFill>
                <a:latin typeface="Arial"/>
                <a:ea typeface="微軟正黑體"/>
              </a:rPr>
              <a:t>要回答的問題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1234440"/>
            <a:ext cx="2514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595959"/>
                </a:solidFill>
                <a:latin typeface="Arial"/>
                <a:ea typeface="微軟正黑體"/>
              </a:rPr>
              <a:t>初步答案（假設）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064240" y="1234440"/>
            <a:ext cx="7315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595959"/>
                </a:solidFill>
                <a:latin typeface="Arial"/>
                <a:ea typeface="微軟正黑體"/>
              </a:rPr>
              <a:t>狀態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00200"/>
            <a:ext cx="2103120" cy="433425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未來 12 個月，FSC1 應優先把哪些保險科技機會做成可銷售的服務？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33472" y="2286000"/>
            <a:ext cx="0" cy="2962656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14600" y="2286000"/>
            <a:ext cx="22860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743200" y="1600200"/>
            <a:ext cx="2377440" cy="1371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　需求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哪些機會的需求明確且有時限？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30368" y="1938528"/>
            <a:ext cx="0" cy="694944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20640" y="1938528"/>
            <a:ext cx="22860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349240" y="1600200"/>
            <a:ext cx="301752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全球資金與預算往哪裡走？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1600200"/>
            <a:ext cx="2514600" cy="658368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預算全面轉向 AI，但落地回報不足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p.6</a:t>
            </a:r>
          </a:p>
        </p:txBody>
      </p:sp>
      <p:sp>
        <p:nvSpPr>
          <p:cNvPr id="20" name="Oval 19"/>
          <p:cNvSpPr/>
          <p:nvPr/>
        </p:nvSpPr>
        <p:spPr>
          <a:xfrm>
            <a:off x="11201400" y="1719072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20640" y="2651760"/>
            <a:ext cx="22860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349240" y="2313432"/>
            <a:ext cx="301752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台灣的監理觸發點何時發生？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2313432"/>
            <a:ext cx="2514600" cy="658368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2026 年是 IFRS 17 與 AI 治理雙重觸發年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p.7</a:t>
            </a:r>
          </a:p>
        </p:txBody>
      </p:sp>
      <p:sp>
        <p:nvSpPr>
          <p:cNvPr id="24" name="Oval 23"/>
          <p:cNvSpPr/>
          <p:nvPr/>
        </p:nvSpPr>
        <p:spPr>
          <a:xfrm>
            <a:off x="11201400" y="2432304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14600" y="3767328"/>
            <a:ext cx="22860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43200" y="3081528"/>
            <a:ext cx="2377440" cy="1371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B　能力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哪些機會我們比對手更有勝算？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30368" y="3419856"/>
            <a:ext cx="0" cy="694944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20640" y="3419856"/>
            <a:ext cx="22860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349240" y="3081528"/>
            <a:ext cx="301752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與四條既有服務線距離多遠？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3081528"/>
            <a:ext cx="2514600" cy="658368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九項趨勢中五項可直接承接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p.9–11</a:t>
            </a:r>
          </a:p>
        </p:txBody>
      </p:sp>
      <p:sp>
        <p:nvSpPr>
          <p:cNvPr id="31" name="Oval 30"/>
          <p:cNvSpPr/>
          <p:nvPr/>
        </p:nvSpPr>
        <p:spPr>
          <a:xfrm>
            <a:off x="11201400" y="3200400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✓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120640" y="4133088"/>
            <a:ext cx="22860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349240" y="3794760"/>
            <a:ext cx="301752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對手的做法有哪些侷限？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3794760"/>
            <a:ext cx="2514600" cy="658368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對手重藍圖與平台，缺在地確信與駐點人力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p.15</a:t>
            </a:r>
          </a:p>
        </p:txBody>
      </p:sp>
      <p:sp>
        <p:nvSpPr>
          <p:cNvPr id="35" name="Oval 34"/>
          <p:cNvSpPr/>
          <p:nvPr/>
        </p:nvSpPr>
        <p:spPr>
          <a:xfrm>
            <a:off x="11201400" y="3913632"/>
            <a:ext cx="420624" cy="420624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◐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514600" y="5248656"/>
            <a:ext cx="22860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743200" y="4562856"/>
            <a:ext cx="2377440" cy="13716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C　路徑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如何最快拿下首案並擴大？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30368" y="4901184"/>
            <a:ext cx="0" cy="694944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20640" y="4901184"/>
            <a:ext cx="22860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349240" y="4562856"/>
            <a:ext cx="301752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用什麼小案切入？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03920" y="4562856"/>
            <a:ext cx="2514600" cy="658368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4–8 週健檢、診斷或 PoC 可降低決策門檻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p.14</a:t>
            </a:r>
          </a:p>
        </p:txBody>
      </p:sp>
      <p:sp>
        <p:nvSpPr>
          <p:cNvPr id="42" name="Oval 41"/>
          <p:cNvSpPr/>
          <p:nvPr/>
        </p:nvSpPr>
        <p:spPr>
          <a:xfrm>
            <a:off x="11201400" y="4681728"/>
            <a:ext cx="420624" cy="420624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?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120640" y="5614416"/>
            <a:ext cx="228600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349240" y="5276088"/>
            <a:ext cx="301752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如何擴大成長期合作？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5276088"/>
            <a:ext cx="2514600" cy="658368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從顧問藍圖接上人力委外，形成 1–3 年經常性營收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p.14</a:t>
            </a:r>
          </a:p>
        </p:txBody>
      </p:sp>
      <p:sp>
        <p:nvSpPr>
          <p:cNvPr id="46" name="Oval 45"/>
          <p:cNvSpPr/>
          <p:nvPr/>
        </p:nvSpPr>
        <p:spPr>
          <a:xfrm>
            <a:off x="11201400" y="5394960"/>
            <a:ext cx="420624" cy="420624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微軟正黑體"/>
                <a:ea typeface="微軟正黑體"/>
              </a:rPr>
              <a:t>狀態：✓ 研究資料支持　◐ 部分支持（公開資料推論）　? 待驗證（需客戶訪談）。分類依 MECE 原則：需求（市場）× 能力（我們）× 路徑（執行）。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需求：預算已轉向 AI，</a:t>
            </a:r>
          </a:p>
          <a:p>
            <a:r>
              <a:rPr sz="3000">
                <a:latin typeface="Georgia"/>
                <a:ea typeface="微軟正黑體"/>
              </a:rPr>
              <a:t>台灣 2026 年出現監理窗口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回答子問題 A：哪些機會的需求明確且有時限？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資金與預算已全面轉向 AI，但 95% 企業還看不到回報：落地缺口就是服務需求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11880" cy="187451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37160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0">
                <a:solidFill>
                  <a:srgbClr val="FD5108"/>
                </a:solidFill>
                <a:latin typeface="Arial"/>
                <a:ea typeface="微軟正黑體"/>
              </a:rPr>
              <a:t>95.2%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2140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2026 Q1 全球保險科技募資流向 AI 相關企業的比例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8163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來源：Gallagher Re, 2026-05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11880" cy="187451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37160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0">
                <a:solidFill>
                  <a:srgbClr val="FD5108"/>
                </a:solidFill>
                <a:latin typeface="Arial"/>
                <a:ea typeface="微軟正黑體"/>
              </a:rPr>
              <a:t>63%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12140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2025 年底已把 AI 投入實際營運的企業（2024 年為 45%）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8163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來源：Gallagher Re, 2026-05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11880" cy="187451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275319" y="137160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0">
                <a:solidFill>
                  <a:srgbClr val="FD5108"/>
                </a:solidFill>
                <a:latin typeface="Arial"/>
                <a:ea typeface="微軟正黑體"/>
              </a:rPr>
              <a:t>57%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9" y="212140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保險高階主管把生成式與代理型 AI 列為 2026 首要科技投資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9" y="28163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來源：PwC 調查／Insurance Journal, 2025-11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91840"/>
            <a:ext cx="3611880" cy="187451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38328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0">
                <a:solidFill>
                  <a:srgbClr val="FFFFFF"/>
                </a:solidFill>
                <a:latin typeface="Arial"/>
                <a:ea typeface="微軟正黑體"/>
              </a:rP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13308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軟正黑體"/>
              </a:rPr>
              <a:t>投資 AI 但尚未看到可衡量財務回報的企業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82803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Arial"/>
                <a:ea typeface="微軟正黑體"/>
              </a:rPr>
              <a:t>來源：Bain 引述 MIT, 2026-01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291840"/>
            <a:ext cx="3611880" cy="187451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338328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0">
                <a:solidFill>
                  <a:srgbClr val="FD5108"/>
                </a:solidFill>
                <a:latin typeface="Arial"/>
                <a:ea typeface="微軟正黑體"/>
              </a:rPr>
              <a:t>25–50%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413308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用代理型 AI 做核心系統現代化的生產力提升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482803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來源：McKinsey, 2026-04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291840"/>
            <a:ext cx="3611880" cy="187451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8275319" y="3383280"/>
            <a:ext cx="32918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3600" b="0">
                <a:solidFill>
                  <a:srgbClr val="FD5108"/>
                </a:solidFill>
                <a:latin typeface="Arial"/>
                <a:ea typeface="微軟正黑體"/>
              </a:rPr>
              <a:t>92%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4133088"/>
            <a:ext cx="329184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曾因深偽相關事件遭受財務損失的企業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19" y="482803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來源：Swiss Re SONAR 2025, 2025-06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376672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76672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所以呢：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客戶缺的不是 AI 工具，而是讓 AI 進入流程、通過查核、產生回報的落地能力；這正是四條服務線的交集。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台灣 2026 年同時出現三個需求觸發點，合規與轉型需求將集中在未來 12–18 個月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Connector 6"/>
          <p:cNvCxnSpPr/>
          <p:nvPr/>
        </p:nvCxnSpPr>
        <p:spPr>
          <a:xfrm>
            <a:off x="548640" y="2148840"/>
            <a:ext cx="11109960" cy="0"/>
          </a:xfrm>
          <a:prstGeom prst="line">
            <a:avLst/>
          </a:prstGeom>
          <a:ln w="317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252728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2024-08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178308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金管會《金融業運用 AI 指引》</a:t>
            </a:r>
          </a:p>
        </p:txBody>
      </p:sp>
      <p:sp>
        <p:nvSpPr>
          <p:cNvPr id="11" name="Oval 10"/>
          <p:cNvSpPr/>
          <p:nvPr/>
        </p:nvSpPr>
        <p:spPr>
          <a:xfrm>
            <a:off x="3136392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386584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2024-08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86584" y="2423160"/>
            <a:ext cx="178308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保險業作業委外規範修正（雲端鬆綁）</a:t>
            </a:r>
          </a:p>
        </p:txBody>
      </p:sp>
      <p:sp>
        <p:nvSpPr>
          <p:cNvPr id="14" name="Oval 13"/>
          <p:cNvSpPr/>
          <p:nvPr/>
        </p:nvSpPr>
        <p:spPr>
          <a:xfrm>
            <a:off x="5020056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4270248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2025-10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0248" y="2423160"/>
            <a:ext cx="178308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內部作業制度辦法草案預告（提升法令位階）</a:t>
            </a:r>
          </a:p>
        </p:txBody>
      </p:sp>
      <p:sp>
        <p:nvSpPr>
          <p:cNvPr id="17" name="Oval 16"/>
          <p:cNvSpPr/>
          <p:nvPr/>
        </p:nvSpPr>
        <p:spPr>
          <a:xfrm>
            <a:off x="6903720" y="2011680"/>
            <a:ext cx="274320" cy="274320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595959"/>
                </a:solidFill>
                <a:latin typeface="Arial"/>
                <a:ea typeface="微軟正黑體"/>
              </a:rPr>
              <a:t>2025-11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3912" y="2423160"/>
            <a:ext cx="1783080" cy="868680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MAS AI 風險管理指引（區域標竿）</a:t>
            </a:r>
          </a:p>
        </p:txBody>
      </p:sp>
      <p:sp>
        <p:nvSpPr>
          <p:cNvPr id="20" name="Oval 19"/>
          <p:cNvSpPr/>
          <p:nvPr/>
        </p:nvSpPr>
        <p:spPr>
          <a:xfrm>
            <a:off x="8787384" y="2011680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37576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2026-01-01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7576" y="2423160"/>
            <a:ext cx="1783080" cy="868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正式接軌</a:t>
            </a:r>
          </a:p>
        </p:txBody>
      </p:sp>
      <p:sp>
        <p:nvSpPr>
          <p:cNvPr id="23" name="Oval 22"/>
          <p:cNvSpPr/>
          <p:nvPr/>
        </p:nvSpPr>
        <p:spPr>
          <a:xfrm>
            <a:off x="10671048" y="2011680"/>
            <a:ext cx="274320" cy="274320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9921240" y="1417320"/>
            <a:ext cx="17830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595959"/>
                </a:solidFill>
                <a:latin typeface="Arial"/>
                <a:ea typeface="微軟正黑體"/>
              </a:rPr>
              <a:t>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2423160"/>
            <a:ext cx="1783080" cy="868680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NAIC 12 州試點 AI 系統評估工具（美國標竿）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520440"/>
            <a:ext cx="11384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D5108"/>
                </a:solidFill>
                <a:latin typeface="微軟正黑體"/>
                <a:ea typeface="微軟正黑體"/>
              </a:rPr>
              <a:t>三個觸發點 → 對應的服務需求</a:t>
            </a:r>
          </a:p>
        </p:txBody>
      </p:sp>
      <p:sp>
        <p:nvSpPr>
          <p:cNvPr id="27" name="Oval 26"/>
          <p:cNvSpPr/>
          <p:nvPr/>
        </p:nvSpPr>
        <p:spPr>
          <a:xfrm>
            <a:off x="411480" y="402336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950208"/>
            <a:ext cx="320040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IFRS 17／TW-ICS 首年出表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950208"/>
            <a:ext cx="402336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結帳仍高度人工；覆蓋法退場造成損益波動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412480" y="4114800"/>
            <a:ext cx="365760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69680" y="3950208"/>
            <a:ext cx="2926080" cy="6035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IFRS 17 後財務轉型、CSM 與動態 ALM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" y="470916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4636008"/>
            <a:ext cx="320040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指引與自律規範進入查核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0" y="4636008"/>
            <a:ext cx="402336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多數只有紙本政策，缺模型驗證與 AI 清冊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412480" y="4800600"/>
            <a:ext cx="365760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869680" y="4636008"/>
            <a:ext cx="2926080" cy="6035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AI 清冊、模型驗證與執行期護欄</a:t>
            </a:r>
          </a:p>
        </p:txBody>
      </p:sp>
      <p:sp>
        <p:nvSpPr>
          <p:cNvPr id="37" name="Oval 36"/>
          <p:cNvSpPr/>
          <p:nvPr/>
        </p:nvSpPr>
        <p:spPr>
          <a:xfrm>
            <a:off x="411480" y="539496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5321808"/>
            <a:ext cx="320040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雲端委外鬆綁並提升法令位階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5321808"/>
            <a:ext cx="402336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舊核心無法支援 API 與 AI 串接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412480" y="5486400"/>
            <a:ext cx="365760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69680" y="5321808"/>
            <a:ext cx="2926080" cy="6035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AI 加速核心現代化與雲端聯合查核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橘色為台灣監理事件，灰色為國際標竿。「12–18 個月」為團隊依首年出表與查核時程的判斷。來源：金管會公告、MAS、NAIC（2026-04）、工商時報。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機會：九項趨勢</a:t>
            </a:r>
          </a:p>
          <a:p>
            <a:r>
              <a:rPr sz="3000">
                <a:latin typeface="Georgia"/>
                <a:ea typeface="微軟正黑體"/>
              </a:rPr>
              <a:t>篩選出五項優先服務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回答子問題 B：哪些機會離我們最近、我們最有勝算？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用兩道篩選，把九項趨勢收斂成五項優先服務，其中兩項可立即推動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01752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九項趨勢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10512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1 代理型 AI 核保與理賠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240280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2 AI 加速核心現代化與雲端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70048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3 營運化 AI 治理與護欄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099815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4 IFRS 17／TW-ICS 後財務轉型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529584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5 深偽理賠反詐欺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959352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6 AI 精算定價與數據平台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389120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7 嵌入式保險 API 平台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818888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8 參數型氣候巨災保險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5248656"/>
            <a:ext cx="3017520" cy="3840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9 AI 表現保證保險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566160" y="3063240"/>
            <a:ext cx="868680" cy="640080"/>
          </a:xfrm>
          <a:prstGeom prst="rightArrow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440" y="3794760"/>
            <a:ext cx="9601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篩選一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40" y="4114800"/>
            <a:ext cx="96012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・台灣有明確的監理或損益壓力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・與四條既有服務線的距離近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818120" y="3063240"/>
            <a:ext cx="868680" cy="640080"/>
          </a:xfrm>
          <a:prstGeom prst="rightArrow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3794760"/>
            <a:ext cx="9601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篩選二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114800"/>
            <a:ext cx="96012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・首案週期短（≤ 8 週）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・不需新增技術夥伴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・可先處理獨立性問題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1280160"/>
            <a:ext cx="3108960" cy="4572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五項優先服務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1810512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4 IFRS 17／TW-ICS 後財務轉型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2286000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3 營運化 AI 治理與護欄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2761488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1 代理型 AI 核保與理賠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3236976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2 AI 加速核心現代化與雲端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3712464"/>
            <a:ext cx="3108960" cy="42062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5 深偽理賠反詐欺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4279392"/>
            <a:ext cx="3108960" cy="1691640"/>
          </a:xfrm>
          <a:prstGeom prst="rect">
            <a:avLst/>
          </a:prstGeom>
          <a:noFill/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595959"/>
                </a:solidFill>
                <a:latin typeface="Arial"/>
                <a:ea typeface="微軟正黑體"/>
              </a:rPr>
              <a:t>未入選（6–9）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6、7：需求分散，要個案診斷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8、9：台灣市場仍在概念或早期採用，需求待驗證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微軟正黑體"/>
                <a:ea typeface="微軟正黑體"/>
              </a:rPr>
              <a:t>→ 持續觀察，客戶主動詢問時再接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23960" y="1280160"/>
            <a:ext cx="2971800" cy="4572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第一波：立即推動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1810512"/>
            <a:ext cx="2971800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 IFRS 17／TW-ICS 後財務轉型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23960" y="2359152"/>
            <a:ext cx="2971800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 營運化 AI 治理與護欄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017520"/>
            <a:ext cx="2971800" cy="1371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第二波（1、2、5）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1：需先有數據與治理基礎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2：週期長，需雲端業者配合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5：需整合技術夥伴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3960" y="4526280"/>
            <a:ext cx="91440" cy="1444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915400" y="4526280"/>
            <a:ext cx="2880360" cy="14447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所以呢：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第一波兩項是第二波的地基：先拿到財務資料與 AI 治理的入口。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趨勢定義與案例見附錄 A1–A3。篩選準則為團隊判斷，請會議校準。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五項優先服務都落在「需求高 × 離既有能力近」的象限，IFRS 17 與 AI 治理最靠近右上角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97280" y="1325880"/>
            <a:ext cx="3474720" cy="22174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325880"/>
            <a:ext cx="3474720" cy="22174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543300"/>
            <a:ext cx="3474720" cy="22174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543300"/>
            <a:ext cx="3474720" cy="22174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39903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找夥伴或觀察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39903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優先推動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61645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持續觀察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361645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順帶銷售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5760720"/>
            <a:ext cx="6949439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97280" y="1325880"/>
            <a:ext cx="0" cy="443484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097280" y="5806440"/>
            <a:ext cx="69494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微軟正黑體"/>
                <a:ea typeface="微軟正黑體"/>
              </a:rPr>
              <a:t>與既有服務的距離　遠 → 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268980"/>
            <a:ext cx="7772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需求
迫切度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307592"/>
            <a:ext cx="7772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5486400"/>
            <a:ext cx="7772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低</a:t>
            </a:r>
          </a:p>
        </p:txBody>
      </p:sp>
      <p:sp>
        <p:nvSpPr>
          <p:cNvPr id="21" name="Oval 20"/>
          <p:cNvSpPr/>
          <p:nvPr/>
        </p:nvSpPr>
        <p:spPr>
          <a:xfrm>
            <a:off x="7253020" y="1442923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22" name="Oval 21"/>
          <p:cNvSpPr/>
          <p:nvPr/>
        </p:nvSpPr>
        <p:spPr>
          <a:xfrm>
            <a:off x="6697065" y="1975104"/>
            <a:ext cx="475488" cy="47548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23" name="Oval 22"/>
          <p:cNvSpPr/>
          <p:nvPr/>
        </p:nvSpPr>
        <p:spPr>
          <a:xfrm>
            <a:off x="5899708" y="2277770"/>
            <a:ext cx="402336" cy="402336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5482742" y="2898647"/>
            <a:ext cx="402336" cy="402336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4787798" y="2809951"/>
            <a:ext cx="402336" cy="402336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</p:txBody>
      </p:sp>
      <p:sp>
        <p:nvSpPr>
          <p:cNvPr id="26" name="Oval 25"/>
          <p:cNvSpPr/>
          <p:nvPr/>
        </p:nvSpPr>
        <p:spPr>
          <a:xfrm>
            <a:off x="5899708" y="4051706"/>
            <a:ext cx="402336" cy="402336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6</a:t>
            </a:r>
          </a:p>
        </p:txBody>
      </p:sp>
      <p:sp>
        <p:nvSpPr>
          <p:cNvPr id="27" name="Oval 26"/>
          <p:cNvSpPr/>
          <p:nvPr/>
        </p:nvSpPr>
        <p:spPr>
          <a:xfrm>
            <a:off x="3814876" y="3963009"/>
            <a:ext cx="402336" cy="402336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7</a:t>
            </a:r>
          </a:p>
        </p:txBody>
      </p:sp>
      <p:sp>
        <p:nvSpPr>
          <p:cNvPr id="28" name="Oval 27"/>
          <p:cNvSpPr/>
          <p:nvPr/>
        </p:nvSpPr>
        <p:spPr>
          <a:xfrm>
            <a:off x="2424988" y="4317796"/>
            <a:ext cx="402336" cy="402336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8</a:t>
            </a:r>
          </a:p>
        </p:txBody>
      </p:sp>
      <p:sp>
        <p:nvSpPr>
          <p:cNvPr id="29" name="Oval 28"/>
          <p:cNvSpPr/>
          <p:nvPr/>
        </p:nvSpPr>
        <p:spPr>
          <a:xfrm>
            <a:off x="1799539" y="4983022"/>
            <a:ext cx="402336" cy="402336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1280160"/>
            <a:ext cx="3383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圖例</a:t>
            </a:r>
          </a:p>
        </p:txBody>
      </p:sp>
      <p:sp>
        <p:nvSpPr>
          <p:cNvPr id="31" name="Oval 30"/>
          <p:cNvSpPr/>
          <p:nvPr/>
        </p:nvSpPr>
        <p:spPr>
          <a:xfrm>
            <a:off x="8412480" y="1719072"/>
            <a:ext cx="274320" cy="27432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167335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核保與理賠</a:t>
            </a:r>
          </a:p>
        </p:txBody>
      </p:sp>
      <p:sp>
        <p:nvSpPr>
          <p:cNvPr id="33" name="Oval 32"/>
          <p:cNvSpPr/>
          <p:nvPr/>
        </p:nvSpPr>
        <p:spPr>
          <a:xfrm>
            <a:off x="8412480" y="2084831"/>
            <a:ext cx="274320" cy="27432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203911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加速核心現代化與雲端</a:t>
            </a:r>
          </a:p>
        </p:txBody>
      </p:sp>
      <p:sp>
        <p:nvSpPr>
          <p:cNvPr id="35" name="Oval 34"/>
          <p:cNvSpPr/>
          <p:nvPr/>
        </p:nvSpPr>
        <p:spPr>
          <a:xfrm>
            <a:off x="8412480" y="2450591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240487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營運化 AI 治理與護欄</a:t>
            </a:r>
          </a:p>
        </p:txBody>
      </p:sp>
      <p:sp>
        <p:nvSpPr>
          <p:cNvPr id="37" name="Oval 36"/>
          <p:cNvSpPr/>
          <p:nvPr/>
        </p:nvSpPr>
        <p:spPr>
          <a:xfrm>
            <a:off x="8412480" y="2816352"/>
            <a:ext cx="274320" cy="2743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277063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17／TW-ICS 後財務轉型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3182112"/>
            <a:ext cx="274320" cy="274320"/>
          </a:xfrm>
          <a:prstGeom prst="ellipse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313639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深偽理賠反詐欺</a:t>
            </a:r>
          </a:p>
        </p:txBody>
      </p:sp>
      <p:sp>
        <p:nvSpPr>
          <p:cNvPr id="41" name="Oval 40"/>
          <p:cNvSpPr/>
          <p:nvPr/>
        </p:nvSpPr>
        <p:spPr>
          <a:xfrm>
            <a:off x="8412480" y="3547872"/>
            <a:ext cx="274320" cy="274320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0" y="350215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精算定價與數據平台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0" y="3913632"/>
            <a:ext cx="274320" cy="274320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0" y="386791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嵌入式保險 API 平台</a:t>
            </a:r>
          </a:p>
        </p:txBody>
      </p:sp>
      <p:sp>
        <p:nvSpPr>
          <p:cNvPr id="45" name="Oval 44"/>
          <p:cNvSpPr/>
          <p:nvPr/>
        </p:nvSpPr>
        <p:spPr>
          <a:xfrm>
            <a:off x="8412480" y="4279392"/>
            <a:ext cx="274320" cy="274320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78240" y="423367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參數型氣候巨災保險</a:t>
            </a:r>
          </a:p>
        </p:txBody>
      </p:sp>
      <p:sp>
        <p:nvSpPr>
          <p:cNvPr id="47" name="Oval 46"/>
          <p:cNvSpPr/>
          <p:nvPr/>
        </p:nvSpPr>
        <p:spPr>
          <a:xfrm>
            <a:off x="8412480" y="4645152"/>
            <a:ext cx="274320" cy="274320"/>
          </a:xfrm>
          <a:prstGeom prst="ellips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軟正黑體"/>
              </a:rPr>
              <a:t>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78240" y="4599432"/>
            <a:ext cx="301752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表現保證保險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0" y="5074920"/>
            <a:ext cx="91440" cy="868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8503919" y="5074920"/>
            <a:ext cx="329184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所以呢：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右上角兩項不需新能力即可開賣；其餘三項靠第一波累積的資料與信任推進。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位置為團隊依研究報告與既有服務經驗的判斷，非量化評分；請會議校準。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五項準則綜合比較：IFRS 17 後財務轉型與 AI 治理在需求、距離與首案週期都最有利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463040"/>
                <a:gridCol w="1508760"/>
                <a:gridCol w="1508760"/>
                <a:gridCol w="1371600"/>
                <a:gridCol w="1508760"/>
                <a:gridCol w="1051560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服務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需求迫切度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與既有服務距離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法規與市場時機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首案週期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獨立性風險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建議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4　IFRS 17／TW-ICS 後財務轉型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首年正式出表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延伸既有駐點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覆蓋法退場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結帳瓶頸診斷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審計客戶需評估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第一波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3　AI 清冊、模型驗證與護欄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查核壓力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AI 治理升級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金管會指引上路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4–6 週健檢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確信角色需 R&amp;Q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第一波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1　代理型 AI 核保與理賠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突破單點助理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需數據平台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全球轉向規模化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6–8 週藍圖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低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第二波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2　AI 加速核心現代化與雲端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核心老舊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核心導入＋委外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委外規範放寬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○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導入期長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聯合查核需確認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第二波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5　深偽理賠反詐欺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損率壓力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○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需技術夥伴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行動理賠普及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◐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PoC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FD5108"/>
                          </a:solidFill>
                          <a:latin typeface="微軟正黑體"/>
                          <a:ea typeface="微軟正黑體"/>
                        </a:rPr>
                        <a:t>●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低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第二波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669280"/>
            <a:ext cx="9144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69280"/>
            <a:ext cx="1129284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所以呢：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兩項第一波服務唯一的黃燈都是獨立性，會議後第一週就要找 R&amp;Q 確認。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微軟正黑體"/>
                <a:ea typeface="微軟正黑體"/>
              </a:rPr>
              <a:t>● 有利　◐ 中等　○ 不利（獨立性風險欄：● 代表風險低）。評等為團隊判斷。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建議：第一波兩項服務包，</a:t>
            </a:r>
          </a:p>
          <a:p>
            <a:r>
              <a:rPr sz="3000">
                <a:latin typeface="Georgia"/>
                <a:ea typeface="微軟正黑體"/>
              </a:rPr>
              <a:t>第二波三項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回答子問題 C：用什麼小案切入、如何擴大成長期合作？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第一波兩項服務包：用短期診斷或健檢切入，再延伸為財務與治理的長期合作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目標買方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523744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客戶痛點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18688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切入案（Land）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913632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延伸（Expand）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608576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我們的優勢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50876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要先確認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1280160"/>
            <a:ext cx="4818888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① IFRS 17／TW-ICS 後財務轉型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1828800"/>
            <a:ext cx="4818888" cy="6400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財務長、精算長、會計主管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2523744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首年結帳仰賴人工與外包；覆蓋法退場使損益波動；通路仍以初年度保費考核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218688"/>
            <a:ext cx="4818888" cy="640080"/>
          </a:xfrm>
          <a:prstGeom prst="rect">
            <a:avLst/>
          </a:prstGeom>
          <a:solidFill>
            <a:srgbClr val="EBEBEB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首年結帳瓶頸診斷＋CSM 管理儀表板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3913632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結帳自動化、以 KRD 為核心的動態 ALM、通路 CSM KPI、精算財會人力委外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4608576"/>
            <a:ext cx="4818888" cy="6400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延伸既有駐點團隊；IFRS 17 資料庫可串 ALM、定價與通路 KPI，科技廠商難以跨過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5303520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與所內 IFRS 17、審計團隊的分工與獨立性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22008" y="1280160"/>
            <a:ext cx="4818888" cy="47548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② AI 清冊、模型驗證與護欄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22008" y="1828800"/>
            <a:ext cx="4818888" cy="6400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風控長、法遵長、資訊長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22008" y="2523744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多為紙本政策，缺跨精算、核保、IT 的模型驗證，看不到部門自用的外部 AI 工具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22008" y="3218688"/>
            <a:ext cx="4818888" cy="640080"/>
          </a:xfrm>
          <a:prstGeom prst="rect">
            <a:avLst/>
          </a:prstGeom>
          <a:solidFill>
            <a:srgbClr val="EBEBEB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4–6 週 AI 清冊盤點＋金管會指引合規健檢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22008" y="3913632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治理平台、模型驗證機制、代理變數偏見測試、緊急關閉機制、LLM 紅隊演練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22008" y="4608576"/>
            <a:ext cx="4818888" cy="6400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Assurance-by-Design：同一個案子同時交付創新與可稽核軌跡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22008" y="5303520"/>
            <a:ext cx="481888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確信類服務的獨立性（R&amp;Q）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切入案週期與內容取自研究報告建議；報價區間由負責人在第 4 週提出。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五項服務都走「先小案、後延伸」，第二波三項以第一波的數據與治理成果為基礎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91840" y="1234440"/>
            <a:ext cx="3657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切入（Land）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234440"/>
            <a:ext cx="4206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延伸（Expand）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01368"/>
            <a:ext cx="86868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第一波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64592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IFRS 17 後財務轉型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64592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首年結帳瓶頸診斷＋CSM 管理儀表板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40880" y="186537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1645920"/>
            <a:ext cx="42062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KRD 動態 ALM、通路 CSM KPI、常態精算財會人力委外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24328"/>
            <a:ext cx="86868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第一波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46888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治理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46888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4–6 週 AI 清冊盤點與合規落差健檢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40880" y="268833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2468880"/>
            <a:ext cx="42062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治理平台、代理變數偏見測試、緊急關閉機制、第三方 AI 認證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47288"/>
            <a:ext cx="86868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329184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代理型 AI 核保理賠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29184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6–8 週單一險種代理型工作流藍圖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40880" y="351129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89520" y="3291840"/>
            <a:ext cx="42062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代理編排層、核心系統 API 串接、人機協作作業導入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270248"/>
            <a:ext cx="86868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411480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核心現代化與雲端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411480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雲端委外合規評估，或舊系統 AI 重寫 PoC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040880" y="433425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89520" y="4114800"/>
            <a:ext cx="42062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核心中台解耦、同業聯合查核、遷移與測試人力委外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093208"/>
            <a:ext cx="86868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937760"/>
            <a:ext cx="18288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深偽反詐欺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4937760"/>
            <a:ext cx="365760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車損照片／醫療單據偽造偵測 PoC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040880" y="5157216"/>
            <a:ext cx="4114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89520" y="4937760"/>
            <a:ext cx="42062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即時反詐欺評分、關聯圖譜分析、調查派案整合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715000"/>
            <a:ext cx="9144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715000"/>
            <a:ext cx="11292840" cy="4114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所以呢：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第一波兩項首案成立後，用同一批客戶關係與資料基礎提案第二波，降低每案的取得成本。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來源：研究報告各趨勢的「第一步切入」建議。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國際顧問都在推代理型 AI 藍圖與平台，我們以「落地＋確信＋駐點人力」做出區隔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6675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377440"/>
                <a:gridCol w="310896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機構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主打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可能的交付侷限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Deloitte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Agentic AI Blueprint；預置代理庫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套到台灣客製化舊核心與繁中條款時，資料對接與在地合規需調適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EY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EY Nexus 平台；AI 治理與確信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偏新業務快速上線，大型壽險舊核心遷移與 IFRS 17 整合較難只靠平台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McKinsey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核保作業系統 UWOS；選擇性重寫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缺少在地法規確信團隊與長期駐點人力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Bain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12 週 Future-back；三層代理架構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在台交付規模較小，大型核心導入人力有限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0" y="1280160"/>
            <a:ext cx="4480560" cy="4114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我們的四個差異化</a:t>
            </a:r>
          </a:p>
        </p:txBody>
      </p:sp>
      <p:sp>
        <p:nvSpPr>
          <p:cNvPr id="9" name="Oval 8"/>
          <p:cNvSpPr/>
          <p:nvPr/>
        </p:nvSpPr>
        <p:spPr>
          <a:xfrm>
            <a:off x="7315200" y="1920240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783080"/>
            <a:ext cx="3931920" cy="71323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Assurance-by-Design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設計 AI 工作流時同步內建稽核軌跡與護欄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0" y="2697479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560320"/>
            <a:ext cx="3931920" cy="71323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顧問藍圖＋人力委外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小案切入，接上 1–3 年經常性人力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0" y="3474720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337560"/>
            <a:ext cx="3931920" cy="71323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以 IFRS 17 資料庫為樞紐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把合規資料延伸到 ALM、定價與通路 KPI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4251960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114800"/>
            <a:ext cx="3931920" cy="71323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雲端與第三方 AI 聯合查核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多家保險公司共同委託，分攤成本 ⚠ 需確認獨立性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44068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4068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所以呢：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對手賣的是藍圖與平台；我們賣「做得出來、查得過、有人長期顧」。此對比為公開資料推論，對外勿點名。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來源：各機構 2025–2026 公開發布的服務與研究（Deloitte 2026-05、EY 2026-09、McKinsey 2026-04／06、Bain 2026）。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行動：90 天計畫、</a:t>
            </a:r>
          </a:p>
          <a:p>
            <a:r>
              <a:rPr sz="3000">
                <a:latin typeface="Georgia"/>
                <a:ea typeface="微軟正黑體"/>
              </a:rPr>
              <a:t>風險與今天的決定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把建議轉成負責人、時程與檢查點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90 天行動計畫：第 4 週服務包定稿、第 8 週完成內部審查、第 12 週提出首案建議書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788920" y="1280160"/>
            <a:ext cx="2947416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第 1–4 週｜打包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1200" y="1280160"/>
            <a:ext cx="2947416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第 5–8 週｜驗證</a:t>
            </a:r>
          </a:p>
        </p:txBody>
      </p:sp>
      <p:sp>
        <p:nvSpPr>
          <p:cNvPr id="9" name="Rectangle 8"/>
          <p:cNvSpPr/>
          <p:nvPr/>
        </p:nvSpPr>
        <p:spPr>
          <a:xfrm>
            <a:off x="8793480" y="1280160"/>
            <a:ext cx="2947416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第 9–12 週｜開賣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10512"/>
            <a:ext cx="228600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D5108"/>
                </a:solidFill>
                <a:latin typeface="微軟正黑體"/>
                <a:ea typeface="微軟正黑體"/>
              </a:rPr>
              <a:t>① IFRS 17 服務包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85623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服務一頁紙、首案範圍與報價區間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91200" y="185623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與所內 IFRS 17 團隊確認分工、選定目標客戶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93480" y="185623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客戶對談、首案建議書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79191"/>
            <a:ext cx="228600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D5108"/>
                </a:solidFill>
                <a:latin typeface="微軟正黑體"/>
                <a:ea typeface="微軟正黑體"/>
              </a:rPr>
              <a:t>② AI 治理服務包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72491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健檢方法與 AI 清冊範本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91200" y="272491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R&amp;Q 獨立性確認、內部試做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93480" y="2724911"/>
            <a:ext cx="2947416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客戶對談、首案建議書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547872"/>
            <a:ext cx="228600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E7C39"/>
                </a:solidFill>
                <a:latin typeface="Arial"/>
                <a:ea typeface="微軟正黑體"/>
              </a:rPr>
              <a:t>第二波準備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0" y="3593591"/>
            <a:ext cx="5949696" cy="685800"/>
          </a:xfrm>
          <a:prstGeom prst="rect">
            <a:avLst/>
          </a:prstGeom>
          <a:solidFill>
            <a:srgbClr val="FFE8D4"/>
          </a:solidFill>
          <a:ln w="9525">
            <a:solidFill>
              <a:srgbClr val="FE7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代理型 AI 藍圖方法、核心／雲端評估框架、反詐欺技術夥伴初篩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416552"/>
            <a:ext cx="2286000" cy="7772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00000"/>
                </a:solidFill>
                <a:latin typeface="Arial"/>
                <a:ea typeface="微軟正黑體"/>
              </a:rPr>
              <a:t>素材與研究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4462272"/>
            <a:ext cx="2947416" cy="685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研究數字回原文核對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91200" y="4462272"/>
            <a:ext cx="2947416" cy="685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研討會 AI 短片定稿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93480" y="4462272"/>
            <a:ext cx="2947416" cy="6858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研討會與客戶拜訪使用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88920" y="5440680"/>
            <a:ext cx="9006839" cy="0"/>
          </a:xfrm>
          <a:prstGeom prst="line">
            <a:avLst/>
          </a:prstGeom>
          <a:ln w="1270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iamond 24"/>
          <p:cNvSpPr/>
          <p:nvPr/>
        </p:nvSpPr>
        <p:spPr>
          <a:xfrm>
            <a:off x="5608320" y="5303520"/>
            <a:ext cx="274320" cy="274320"/>
          </a:xfrm>
          <a:prstGeom prst="diamond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45280" y="5596128"/>
            <a:ext cx="16916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W4　服務包定稿</a:t>
            </a:r>
          </a:p>
        </p:txBody>
      </p:sp>
      <p:sp>
        <p:nvSpPr>
          <p:cNvPr id="27" name="Diamond 26"/>
          <p:cNvSpPr/>
          <p:nvPr/>
        </p:nvSpPr>
        <p:spPr>
          <a:xfrm>
            <a:off x="8610600" y="5303520"/>
            <a:ext cx="274320" cy="274320"/>
          </a:xfrm>
          <a:prstGeom prst="diamond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47560" y="5596128"/>
            <a:ext cx="16916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W8　內部審查</a:t>
            </a:r>
          </a:p>
        </p:txBody>
      </p:sp>
      <p:sp>
        <p:nvSpPr>
          <p:cNvPr id="29" name="Diamond 28"/>
          <p:cNvSpPr/>
          <p:nvPr/>
        </p:nvSpPr>
        <p:spPr>
          <a:xfrm>
            <a:off x="11612880" y="5303520"/>
            <a:ext cx="274320" cy="274320"/>
          </a:xfrm>
          <a:prstGeom prst="diamond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49840" y="5596128"/>
            <a:ext cx="16916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r">
              <a:spcAft>
                <a:spcPts val="3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W12　首案建議書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85232"/>
            <a:ext cx="22860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檢查點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週數自會議決定日起算。負責人與人力配置待今天指派。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四個主要風險都有對應做法，最需要先處理的是資料可信度與獨立性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343400"/>
                <a:gridCol w="4023360"/>
                <a:gridCol w="1371600"/>
              </a:tblGrid>
              <a:tr h="7863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風險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可能的影響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對應做法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時點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資料可信度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研究由 Gemini Deep Research 彙整，部分數字為單一來源；直接引用可能被客戶質疑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對外前逐一回原文核對；單一來源數字標註或不用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第 1–4 週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獨立性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AI 治理健檢、第三方 AI 認證與聯合查核涉及確信角色；IFRS 17 顧問可能碰到審計客戶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推動前與 Risk &amp; Quality 確認；審計客戶另案評估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第 1 週起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交付產能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第一波與既有專案爭用同一批精算、財會與 AI 治理人力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首案前由既有團隊兼任；首案成立後再補人力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第 5–8 週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競爭者先行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國際顧問已推出代理型 AI 藍圖與平台，客戶可能已在洽談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主打在地確信與駐點人力；優先鎖定既有客戶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持續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486400"/>
            <a:ext cx="9144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1129284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所以呢：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前兩項風險不先處理，第一波服務就無法對外；建議列入今天的決策事項。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單一來源待驗證數字：Celent 22% 計畫部署代理型 AI、亞太深偽網路險理賠 +233%、嵌入式保險市場規模、AI 精算定價 +30% 效率。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今天請決定四件事：以下為建議方案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5349240"/>
                <a:gridCol w="1554480"/>
                <a:gridCol w="1188720"/>
              </a:tblGrid>
              <a:tr h="7863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#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決策事項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建議方案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負責人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期限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1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第一波推哪兩項服務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IFRS 17／TW-ICS 後財務轉型、AI 清冊與模型驗證健檢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主管決定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今天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2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每項服務包的負責人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各指派 1 位負責人＋1 位支援；負責人第 1 週找 R&amp;Q 確認獨立性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主管指派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今天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3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90 天計畫與檢查點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核定第 4、8、12 週三次檢查點，每次 30 分鐘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服務包負責人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第 1 週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4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研討會 AI 短片的主題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以第一波服務為主題；原版／新版與結尾 CTA 二選一</a:t>
                      </a:r>
                    </a:p>
                  </a:txBody>
                  <a:tcPr marL="54864" marR="54864" marT="32004" marB="32004" anchor="ctr">
                    <a:solidFill>
                      <a:srgbClr val="FFE8D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主管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第 2 週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486400"/>
            <a:ext cx="11384280" cy="5029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會議後 48 小時內：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寄出會議紀錄與決策結果；負責人確認第 1 週工作與 R&amp;Q 會議時間。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108192"/>
            <a:ext cx="777240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九項趨勢的定義、國際案例與台灣痛點；主要來源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A1｜九項趨勢明細（1／3）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是什麼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70048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國際案例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11296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台灣痛點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52544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服務包裝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193792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第一步切入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1｜代理型 AI 核保與理賠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多代理協作自主完成收件解析、外部數據查核、風險分流與理賠審核，人只處理複雜案件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Manulife MAUDE 核保系統、AmTrust 生成式 AI 理賠（Celent 2025／2026 獎）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已有核保、理賠智能助理，但停在單點知識檢索，無法跨核心系統自動觸發照會或給付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核保／理賠三車道分流藍圖、工具目錄與 API 架構、AI 代理權限與護欄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6–8 週單一險種「價值量化與工作流重塑」工作坊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2｜AI 加速核心現代化與雲端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自動解析舊程式、資料映射與測試生成；客製化移出核心，改放雲端中台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John Hancock、MSIG USA 雲原生核心與數據平台（Celent 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核心替換動輒 5–8 年且超支；舊語言維護人力不足；舊核心無法支援 API 與 AI 串接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2352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加速核心翻新評估、中台解耦架構、遷移測試人力、雲端業者聯合查核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2352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雲端委外合規落差評估，或周邊系統 AI 重寫 PoC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3｜營運化 AI 治理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把原則轉成可查核的 AI 清冊、偏見測試與執行期護欄（權限、防注入、自動回滾、緊急關閉）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NAIC 12 州試點評估工具；MAS AI 風險指引；香港保監局 AI Cohort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67344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多由法遵寫紙本政策，缺少跨精算、核保、IT 的模型驗證，也看不到部門自用的外部 AI 工具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7344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清冊盤點與風險分級、模型驗證機制、第三方 AI 盡職調查範本、LLM 紅隊演練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4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4–6 週 AI 清冊盤點＋金管會指引合規健檢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A2｜九項趨勢明細（2／3）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是什麼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70048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國際案例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11296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台灣痛點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52544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服務包裝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193792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第一步切入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4｜IFRS 17 後財務轉型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開帳後轉向結帳與內控自動化、以 KRD 為核心的動態 ALM、新契約 CSM 納入通路 KPI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Manulife、Zurich 將 CSM 納入核心 KPI；韓國接軌 K-ICS 後調整商品結構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結帳仰賴人工與外包；覆蓋法退場使損益劇烈波動；通路仍以初年度保費考核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結帳自動化、ALM 分析平台、CSM 通路 KPI 設計、精算財會人力委外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首年結帳瓶頸診斷，或 CSM 管理儀表板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5｜深偽理賠反詐欺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影像鑑識、文件中繼資料檢查、敘事矛盾比對，嵌入理賠調查工作流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Swiss Re SONAR 2025；FRISS、Verisk 多模態偽造偵測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行動理賠普及，修圖車損、偽造醫療收據門檻變低，規則引擎辨識不了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2352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多模態偵測模型、跨保單與院所關聯圖譜、調查派案流程重塑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2352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歷史車損照片／醫療單據 AI 偽造偵測 PoC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6｜AI 精算定價與數據平台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Lakehouse 數據平台＋AI 費率開發，自動化費率模擬、規則生成與版本控管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Roamly Actuarial Rater、AIA、Income Insurance（Celent 獎）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67344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費率配置進核心仰賴人工轉檔與核對，上市慢且有配置錯誤裁罰風險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7344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三層數據架構（中繼資料、血緣、資料契約）、定價到上線自動化、數據工程人力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4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新商品費率上線流程診斷與自動比對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A3｜九項趨勢明細（3／3）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是什麼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70048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國際案例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11296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台灣痛點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52544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服務包裝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193792"/>
            <a:ext cx="1234440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第一步切入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7｜嵌入式保險 API 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標準 Open API 把場景化保單嵌入銀行、車廠、電信、旅遊平台，即時定價出單理賠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bolttech、Chubb Studio、Qover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每接一家異業就要數月客製開發；缺少商品工廠與 API 閘道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API 中台架構、異業分潤與資料共享合規架構、內嵌式理賠流程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高頻場景 API 商品工廠與快速串接藍圖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2352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8｜參數型氣候巨災保險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2352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以風速、震度、淹水面積等參數觸發理賠，30 天內撥款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Swiss Re STORM／QUAKE／HAIL；紐約市參數型洪水險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颱風、地震高風險；科技廠與綠能資產需求大；缺少地理空間建模與基差風險量化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02352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氣候實體風險數據整合、參數型商品設計、自動觸發數據管道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2352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企業巨災自負額填補可行性評估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67344" y="1280160"/>
            <a:ext cx="3246120" cy="5029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9｜AI 表現保證保險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7344" y="1828800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模型表現不如預期或 AI 侵權時的保證與責任保險，以技術盡職調查為前提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7344" y="2670048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Armilla AI（Lloyd's）、Munich Re aiSure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67344" y="3511296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企業採購 AI 擔心求償無門；產險承保 AI 資料中心面臨價值累積風險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67344" y="4352544"/>
            <a:ext cx="32461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第三方 AI 模型技術盡職調查、AI 責任險批單與資料中心核保顧問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67344" y="5193792"/>
            <a:ext cx="3246120" cy="786384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第三方 AI 供應商風險認證與合約保證條款設計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A4｜主要來源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保險組內部使用｜資料來源為公開研究，數字待回原文核對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280160"/>
          <a:ext cx="11384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738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類別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軟正黑體"/>
                        </a:rPr>
                        <a:t>來源（發布日期）</a:t>
                      </a:r>
                    </a:p>
                  </a:txBody>
                  <a:tcPr marL="54864" marR="54864" marT="32004" marB="32004" anchor="ctr">
                    <a:solidFill>
                      <a:srgbClr val="FD510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監理機關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金管會《金融業運用 AI 指引》（2024-08）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金管會《保險業作業委託他人處理應注意事項》修正（2024-08）；內部作業制度及程序辦法草案（2025-10 預告）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產壽險公會《保險業使用雲端服務自律規範》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NAIC AI Model Bulletin 實施追蹤（2026-04）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MAS AI 風險管理指引（2025-11）；香港保監局 AI Cohort（2025-08）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產業研究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Gallagher Re《Global InsurTech Report Q1 2026》（2026-05）、Q2 2026（2026-08）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Swiss Re SONAR 2025（2025-06）；參數型洪水保險（2026-03）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Celent Model Insurer 2025／2026；Shedding Light on Agentic AI（2025-05）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Armilla AI；Munich Re《Insuring Generative AI》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顧問與事務所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McKinsey：Agentic AI 核心現代化（2026-04）、UWOS（2026-06）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Bain：Reimagining Insurance for the AI Era（2026）、How to Architect for Agentic AI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Deloitte：Agentic AI Blueprint for Insurance；亞太壽險論文（2026-05）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EY：EY Nexus for Insurance；AI Risk and Governance Survey（2026-09）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PwC Taiwan：IFRS 17 關鍵議題（2025-11）、首份 IFRS 17 財報導讀（2026）</a:t>
                      </a:r>
                    </a:p>
                  </a:txBody>
                  <a:tcPr marL="54864" marR="54864" marT="32004" marB="3200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D5108"/>
                          </a:solidFill>
                          <a:latin typeface="Arial"/>
                          <a:ea typeface="微軟正黑體"/>
                        </a:rPr>
                        <a:t>媒體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Arial"/>
                          <a:ea typeface="微軟正黑體"/>
                        </a:rPr>
                        <a:t>Insurance Journal（2025-11）；工商時報（2024-06、2024-08、2025-09、2026-01、2026-02、2026-05）；Insurance Innovation Reporter（2026-06）</a:t>
                      </a:r>
                    </a:p>
                  </a:txBody>
                  <a:tcPr marL="54864" marR="54864" marT="32004" marB="32004" anchor="ctr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6108192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完整連結見研究報告原文。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